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c39241d284f85" /><Relationship Type="http://schemas.openxmlformats.org/officeDocument/2006/relationships/extended-properties" Target="/docProps/app.xml" Id="R00a280967556423b" /><Relationship Type="http://schemas.openxmlformats.org/officeDocument/2006/relationships/officeDocument" Target="/ppt/presentation.xml" Id="Ra2277d18e377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7ba15f26e94259"/>
  </p:sldMasterIdLst>
  <p:notesMasterIdLst>
    <p:notesMasterId xmlns:r="http://schemas.openxmlformats.org/officeDocument/2006/relationships" r:id="Rf692682d84eb4bba"/>
  </p:notesMasterIdLst>
  <p:sldIdLst>
    <p:sldId xmlns:r="http://schemas.openxmlformats.org/officeDocument/2006/relationships" id="256" r:id="R5dfaaada549a4adf"/>
    <p:sldId xmlns:r="http://schemas.openxmlformats.org/officeDocument/2006/relationships" id="257" r:id="R75702e9702a44290"/>
    <p:sldId xmlns:r="http://schemas.openxmlformats.org/officeDocument/2006/relationships" id="258" r:id="Rddd59088254749bd"/>
    <p:sldId xmlns:r="http://schemas.openxmlformats.org/officeDocument/2006/relationships" id="259" r:id="R1980024bb01f4063"/>
    <p:sldId xmlns:r="http://schemas.openxmlformats.org/officeDocument/2006/relationships" id="260" r:id="R12bfab96c8a7430d"/>
    <p:sldId xmlns:r="http://schemas.openxmlformats.org/officeDocument/2006/relationships" id="261" r:id="R1cd5ae7faed0479f"/>
    <p:sldId xmlns:r="http://schemas.openxmlformats.org/officeDocument/2006/relationships" id="262" r:id="R20f1a3a94ac2493d"/>
    <p:sldId xmlns:r="http://schemas.openxmlformats.org/officeDocument/2006/relationships" id="263" r:id="R44fef8d7c36b42cd"/>
    <p:sldId xmlns:r="http://schemas.openxmlformats.org/officeDocument/2006/relationships" id="264" r:id="R7c40bb5412244072"/>
    <p:sldId xmlns:r="http://schemas.openxmlformats.org/officeDocument/2006/relationships" id="265" r:id="Rd8ed09730fee4d2a"/>
    <p:sldId xmlns:r="http://schemas.openxmlformats.org/officeDocument/2006/relationships" id="266" r:id="R22173cf21f9a46cc"/>
    <p:sldId xmlns:r="http://schemas.openxmlformats.org/officeDocument/2006/relationships" id="267" r:id="Re48d13102f3048bc"/>
    <p:sldId xmlns:r="http://schemas.openxmlformats.org/officeDocument/2006/relationships" id="268" r:id="R59d76817b47044d9"/>
    <p:sldId xmlns:r="http://schemas.openxmlformats.org/officeDocument/2006/relationships" id="269" r:id="R4e1eb555cb9641e7"/>
    <p:sldId xmlns:r="http://schemas.openxmlformats.org/officeDocument/2006/relationships" id="270" r:id="Re6f3d5d005c24875"/>
    <p:sldId xmlns:r="http://schemas.openxmlformats.org/officeDocument/2006/relationships" id="271" r:id="R6f8c138cd72140a1"/>
    <p:sldId xmlns:r="http://schemas.openxmlformats.org/officeDocument/2006/relationships" id="272" r:id="R49f80f830e484bff"/>
    <p:sldId xmlns:r="http://schemas.openxmlformats.org/officeDocument/2006/relationships" id="273" r:id="R1baffc9303c5454f"/>
    <p:sldId xmlns:r="http://schemas.openxmlformats.org/officeDocument/2006/relationships" id="274" r:id="Rd1c75066542c4967"/>
    <p:sldId xmlns:r="http://schemas.openxmlformats.org/officeDocument/2006/relationships" id="275" r:id="R6617ffbe73ea404c"/>
    <p:sldId xmlns:r="http://schemas.openxmlformats.org/officeDocument/2006/relationships" id="276" r:id="R8859b4e88e854f5e"/>
    <p:sldId xmlns:r="http://schemas.openxmlformats.org/officeDocument/2006/relationships" id="277" r:id="R1338418d639c4d28"/>
    <p:sldId xmlns:r="http://schemas.openxmlformats.org/officeDocument/2006/relationships" id="278" r:id="R921898155daf48b3"/>
    <p:sldId xmlns:r="http://schemas.openxmlformats.org/officeDocument/2006/relationships" id="279" r:id="R4f07103ab363473a"/>
    <p:sldId xmlns:r="http://schemas.openxmlformats.org/officeDocument/2006/relationships" id="280" r:id="R1b213ea27c544c9c"/>
    <p:sldId xmlns:r="http://schemas.openxmlformats.org/officeDocument/2006/relationships" id="281" r:id="Re76201369ade45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ba15f26e94259" /><Relationship Type="http://schemas.openxmlformats.org/officeDocument/2006/relationships/theme" Target="/ppt/theme/theme1.xml" Id="R31755d26168e4edd" /><Relationship Type="http://schemas.openxmlformats.org/officeDocument/2006/relationships/notesMaster" Target="/ppt/notesMasters/notesMaster1.xml" Id="Rf692682d84eb4bba" /><Relationship Type="http://schemas.openxmlformats.org/officeDocument/2006/relationships/presProps" Target="/ppt/presProps.xml" Id="Rab1a74bfdc534ce7" /><Relationship Type="http://schemas.openxmlformats.org/officeDocument/2006/relationships/viewProps" Target="/ppt/viewProps.xml" Id="R54d1a45acc7a4a45" /><Relationship Type="http://schemas.openxmlformats.org/officeDocument/2006/relationships/tableStyles" Target="/ppt/tableStyles.xml" Id="R70114bbdf95b41d8" /><Relationship Type="http://schemas.openxmlformats.org/officeDocument/2006/relationships/slide" Target="/ppt/slides/slide1.xml" Id="R5dfaaada549a4adf" /><Relationship Type="http://schemas.openxmlformats.org/officeDocument/2006/relationships/slide" Target="/ppt/slides/slide2.xml" Id="R75702e9702a44290" /><Relationship Type="http://schemas.openxmlformats.org/officeDocument/2006/relationships/slide" Target="/ppt/slides/slide3.xml" Id="Rddd59088254749bd" /><Relationship Type="http://schemas.openxmlformats.org/officeDocument/2006/relationships/slide" Target="/ppt/slides/slide4.xml" Id="R1980024bb01f4063" /><Relationship Type="http://schemas.openxmlformats.org/officeDocument/2006/relationships/slide" Target="/ppt/slides/slide5.xml" Id="R12bfab96c8a7430d" /><Relationship Type="http://schemas.openxmlformats.org/officeDocument/2006/relationships/slide" Target="/ppt/slides/slide6.xml" Id="R1cd5ae7faed0479f" /><Relationship Type="http://schemas.openxmlformats.org/officeDocument/2006/relationships/slide" Target="/ppt/slides/slide7.xml" Id="R20f1a3a94ac2493d" /><Relationship Type="http://schemas.openxmlformats.org/officeDocument/2006/relationships/slide" Target="/ppt/slides/slide8.xml" Id="R44fef8d7c36b42cd" /><Relationship Type="http://schemas.openxmlformats.org/officeDocument/2006/relationships/slide" Target="/ppt/slides/slide9.xml" Id="R7c40bb5412244072" /><Relationship Type="http://schemas.openxmlformats.org/officeDocument/2006/relationships/slide" Target="/ppt/slides/slide10.xml" Id="Rd8ed09730fee4d2a" /><Relationship Type="http://schemas.openxmlformats.org/officeDocument/2006/relationships/slide" Target="/ppt/slides/slide11.xml" Id="R22173cf21f9a46cc" /><Relationship Type="http://schemas.openxmlformats.org/officeDocument/2006/relationships/slide" Target="/ppt/slides/slide12.xml" Id="Re48d13102f3048bc" /><Relationship Type="http://schemas.openxmlformats.org/officeDocument/2006/relationships/slide" Target="/ppt/slides/slide13.xml" Id="R59d76817b47044d9" /><Relationship Type="http://schemas.openxmlformats.org/officeDocument/2006/relationships/slide" Target="/ppt/slides/slide14.xml" Id="R4e1eb555cb9641e7" /><Relationship Type="http://schemas.openxmlformats.org/officeDocument/2006/relationships/slide" Target="/ppt/slides/slide15.xml" Id="Re6f3d5d005c24875" /><Relationship Type="http://schemas.openxmlformats.org/officeDocument/2006/relationships/slide" Target="/ppt/slides/slide16.xml" Id="R6f8c138cd72140a1" /><Relationship Type="http://schemas.openxmlformats.org/officeDocument/2006/relationships/slide" Target="/ppt/slides/slide17.xml" Id="R49f80f830e484bff" /><Relationship Type="http://schemas.openxmlformats.org/officeDocument/2006/relationships/slide" Target="/ppt/slides/slide18.xml" Id="R1baffc9303c5454f" /><Relationship Type="http://schemas.openxmlformats.org/officeDocument/2006/relationships/slide" Target="/ppt/slides/slide19.xml" Id="Rd1c75066542c4967" /><Relationship Type="http://schemas.openxmlformats.org/officeDocument/2006/relationships/slide" Target="/ppt/slides/slide20.xml" Id="R6617ffbe73ea404c" /><Relationship Type="http://schemas.openxmlformats.org/officeDocument/2006/relationships/slide" Target="/ppt/slides/slide21.xml" Id="R8859b4e88e854f5e" /><Relationship Type="http://schemas.openxmlformats.org/officeDocument/2006/relationships/slide" Target="/ppt/slides/slide22.xml" Id="R1338418d639c4d28" /><Relationship Type="http://schemas.openxmlformats.org/officeDocument/2006/relationships/slide" Target="/ppt/slides/slide23.xml" Id="R921898155daf48b3" /><Relationship Type="http://schemas.openxmlformats.org/officeDocument/2006/relationships/slide" Target="/ppt/slides/slide24.xml" Id="R4f07103ab363473a" /><Relationship Type="http://schemas.openxmlformats.org/officeDocument/2006/relationships/slide" Target="/ppt/slides/slide25.xml" Id="R1b213ea27c544c9c" /><Relationship Type="http://schemas.openxmlformats.org/officeDocument/2006/relationships/slide" Target="/ppt/slides/slide26.xml" Id="Re76201369ade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a4c2bfda66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ac702a34e6404c" /><Relationship Type="http://schemas.openxmlformats.org/officeDocument/2006/relationships/notesMaster" Target="/ppt/notesMasters/notesMaster1.xml" Id="R5d96516bb4a7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c8bc54b194945" /><Relationship Type="http://schemas.openxmlformats.org/officeDocument/2006/relationships/notesMaster" Target="/ppt/notesMasters/notesMaster1.xml" Id="R16a59f90ef3e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9e121eea24525" /><Relationship Type="http://schemas.openxmlformats.org/officeDocument/2006/relationships/notesMaster" Target="/ppt/notesMasters/notesMaster1.xml" Id="R9b22727ff03d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28275767b4491" /><Relationship Type="http://schemas.openxmlformats.org/officeDocument/2006/relationships/notesMaster" Target="/ppt/notesMasters/notesMaster1.xml" Id="R5e264e8cb04c42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4eb934330045aa" /><Relationship Type="http://schemas.openxmlformats.org/officeDocument/2006/relationships/notesMaster" Target="/ppt/notesMasters/notesMaster1.xml" Id="R2895ef40aef9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f3d9caaab48bd" /><Relationship Type="http://schemas.openxmlformats.org/officeDocument/2006/relationships/notesMaster" Target="/ppt/notesMasters/notesMaster1.xml" Id="R797548d4fd75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882a2f622421e" /><Relationship Type="http://schemas.openxmlformats.org/officeDocument/2006/relationships/notesMaster" Target="/ppt/notesMasters/notesMaster1.xml" Id="Rde0b627cb10247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96d4f4ca1468d" /><Relationship Type="http://schemas.openxmlformats.org/officeDocument/2006/relationships/notesMaster" Target="/ppt/notesMasters/notesMaster1.xml" Id="R1389b2a698524e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2c8c12e4a940dd" /><Relationship Type="http://schemas.openxmlformats.org/officeDocument/2006/relationships/notesMaster" Target="/ppt/notesMasters/notesMaster1.xml" Id="R52013562d01f4a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d78576dbc4d20" /><Relationship Type="http://schemas.openxmlformats.org/officeDocument/2006/relationships/notesMaster" Target="/ppt/notesMasters/notesMaster1.xml" Id="Rcc7bd7ba6b364e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7de015d81944dd" /><Relationship Type="http://schemas.openxmlformats.org/officeDocument/2006/relationships/notesMaster" Target="/ppt/notesMasters/notesMaster1.xml" Id="Rb03ebf4003004e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64802a995c4133" /><Relationship Type="http://schemas.openxmlformats.org/officeDocument/2006/relationships/notesMaster" Target="/ppt/notesMasters/notesMaster1.xml" Id="R67746a0615cd4d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0393021c194480" /><Relationship Type="http://schemas.openxmlformats.org/officeDocument/2006/relationships/notesMaster" Target="/ppt/notesMasters/notesMaster1.xml" Id="Ra1d5e1bc69e145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b9bdbf975b4836" /><Relationship Type="http://schemas.openxmlformats.org/officeDocument/2006/relationships/notesMaster" Target="/ppt/notesMasters/notesMaster1.xml" Id="Rf67fd9be5ab54f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ac9bc228604a3a" /><Relationship Type="http://schemas.openxmlformats.org/officeDocument/2006/relationships/notesMaster" Target="/ppt/notesMasters/notesMaster1.xml" Id="R3c7f1e31cf6649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8375db5fa24cf2" /><Relationship Type="http://schemas.openxmlformats.org/officeDocument/2006/relationships/notesMaster" Target="/ppt/notesMasters/notesMaster1.xml" Id="R636e80f9777d4f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ffbc5de68d462f" /><Relationship Type="http://schemas.openxmlformats.org/officeDocument/2006/relationships/notesMaster" Target="/ppt/notesMasters/notesMaster1.xml" Id="R2095a54b70f549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4972c685a447e6" /><Relationship Type="http://schemas.openxmlformats.org/officeDocument/2006/relationships/notesMaster" Target="/ppt/notesMasters/notesMaster1.xml" Id="Rdd8e68823f6e45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47309c63f14ef0" /><Relationship Type="http://schemas.openxmlformats.org/officeDocument/2006/relationships/notesMaster" Target="/ppt/notesMasters/notesMaster1.xml" Id="R4926338dfad74b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731ffd7f694583" /><Relationship Type="http://schemas.openxmlformats.org/officeDocument/2006/relationships/notesMaster" Target="/ppt/notesMasters/notesMaster1.xml" Id="Re593e668aaa34d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ff5f2bb6fe410c" /><Relationship Type="http://schemas.openxmlformats.org/officeDocument/2006/relationships/notesMaster" Target="/ppt/notesMasters/notesMaster1.xml" Id="Rab7436e8e8724c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9c1c317f2b4cba" /><Relationship Type="http://schemas.openxmlformats.org/officeDocument/2006/relationships/notesMaster" Target="/ppt/notesMasters/notesMaster1.xml" Id="R813a1aa1e20146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ebf7e41de5402d" /><Relationship Type="http://schemas.openxmlformats.org/officeDocument/2006/relationships/notesMaster" Target="/ppt/notesMasters/notesMaster1.xml" Id="R3d59cb0c42aa4f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62dc39e58d4fba" /><Relationship Type="http://schemas.openxmlformats.org/officeDocument/2006/relationships/notesMaster" Target="/ppt/notesMasters/notesMaster1.xml" Id="R061c5326e2484a1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ddf14ef9424eaa" /><Relationship Type="http://schemas.openxmlformats.org/officeDocument/2006/relationships/notesMaster" Target="/ppt/notesMasters/notesMaster1.xml" Id="Rdcb03352aa6643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3f7b0e74cd4188" /><Relationship Type="http://schemas.openxmlformats.org/officeDocument/2006/relationships/notesMaster" Target="/ppt/notesMasters/notesMaster1.xml" Id="R691d2b6daee4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各位老师、同学大家好。我们小组本次汇报的题目是“基于贪心、动态规划、回溯与分支限界的 0/1 背包问题求解性能比较”。这一页是封面，建议开场时不要急着进入数字，可以先把实验的核心定位讲清楚：我们不是只实现一个背包求解程序，而是把同一个 0/1 背包问题放到四类典型算法范式中进行可复核比较。四类算法分别对应快速近似构造、伪多项式状态转移、系统化解空间搜索，以及带上界估计的剪枝搜索。我们选取 Florida State University 公开数据中的三组实例作为统一测试对象，并把实验结果整理为 CSV，再基于同一组指标分析求解质量、运行时间、节点数和剪枝效果。今天的汇报会按照真实实验流程展开：先说明课程任务和问题模型，再说明数据来源、输入格式和公共代码设计，然后进入四种算法实现，最后用实验结果说明不同算法在最优性、效率和规模适应性之间的权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这一页说明本实验在课程任务中的定位。课程要求中的 2.3 问题求解类，强调的是围绕附件中的同一个问题，选择至少三个数据集，并使用至少三种算法求解，最后比较不同算法的复杂度、优缺点和实验表现。我们选择 0/1 背包问题，是因为它既有非常明确的数学模型，又是经典 NP-hard 组合优化问题，适合展示算法设计策略之间的差异。在数据方面，我们使用 FSU P01、P07 和 P08 三组公开实例，对应项目文件中的 FSU-01、FSU-02 和 FSU-03。在算法方面，我们实现了四种方法，比课程最低要求多一种：贪心算法代表局部选择策略，动态规划代表状态转移策略，回溯算法代表完整枚举搜索，分支限界代表在搜索中引入上界估计和剪枝。这样安排的学术意义在于，我们可以从“是否保证最优”“复杂度依赖 n 还是依赖 C”“实际搜索空间是否被压缩”三个层面形成横向对比。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这一页是整份汇报的路线图，也是实验过程的复盘。我们整个实验严格按照“数据到结论”的顺序推进。第一步是数据整理，把 FSU 原始的容量、重量、价值和最优选择文件整理成项目中的统一文本格式。第二步是输入格式设计，让三个数据集都包含 n、capacity、known_optimum、weights、profits 和 optimal_selection，避免每个算法单独解析不同格式。第三步是公共模块设计，主要在 knapsack01_common.h 中完成，包括实例结构、结果结构、文件读取、结果校验、相对误差计算和 CSV 输出。第四步才是四个算法本身的实现。第五步是用相同命令行入口进行编译和运行。第六步是输出单项 CSV 并汇总为 summary-knapsack01-FSU.csv。第七步是分析结果。这里可以做一个过渡：接下来我们先从问题定义开始，因为只有先统一模型，后面比较算法和结果才有共同标准。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这一页给出 0/1 背包问题的数学定义。给定 n 个物品，第 i 个物品有重量 w_i 和价值 p_i，背包容量为 C。我们需要决定每个物品是否放入背包，用决策变量 x_i 表示，x_i 只能取 0 或 1，所以这个问题不是连续优化，而是离散组合优化。目标函数是最大化 sum(p_i * x_i)，也就是所选物品的总价值；约束条件是 sum(w_i * x_i) 小于等于 C，也就是所选物品的总重量不能超过背包容量。这个模型的难点在于，单个物品的选择会影响后续容量，局部看起来收益最高的物品组合，未必能构成全局最优解。若直接枚举所有子集，最坏情况下需要考察 2^n 种方案。因此 0/1 背包常被用来比较贪心、动态规划、回溯和分支限界等不同算法思想。下一页开始说明我们使用的真实数据来源。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这一页说明实验数据来源。我们的数据来自 Florida State University 的 0/1 Knapsack Problem Data。这个数据源为每个实例提供容量文件、重量文件、价值文件和公开最优选择文件。本实验没有手工编造任何容量、重量、价值或最优结果，而是根据公开数据整理出统一输入文件，并依据公开最优选择计算 known_optimum。项目中的 FSU-01 对应原始 P01，FSU-02 对应 P07，FSU-03 对应 P08。这样命名一方面便于在项目内部统一管理，另一方面也保留了原始数据来源的可追溯性。在答辩时可以强调：后面所有结果页都只来自项目中的 data 文件、src 源码和 experiments 目录下的 CSV 文件，没有额外添加未运行的数据集、平均值或假设性实验环境参数。接下来我们看这三组数据在规模上的差异。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这一页进一步比较三组数据集的规模。FSU-01 对应 P01，物品数量 n 等于 10，容量 C 等于 165，已知最优值为 309。它规模较小，主要适合验证四个算法的基础正确性。FSU-02 对应 P07，n 增加到 15，容量为 750，已知最优值为 1458，它可以观察贪心算法开始出现误差，以及搜索节点数随规模增加的变化。FSU-03 对应 P08，n 是 24，看起来物品数量并不极端，但容量 C 达到 6404180，已知最优值为 13549094。这里要特别指出：动态规划的复杂度是 O(nC)，因此容量的数值规模会直接影响状态空间大小；而回溯和分支限界更主要受物品数量与搜索剪枝效果影响。也就是说，三组数据不是简单从小到大，而是覆盖了小规模、中等规模和大容量三种实验情形。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这一页展示统一输入格式。以 FSU-01 为例，文件中首先给出 n、capacity 和 known_optimum，然后分别列出 weights、profits 和 optimal_selection。n 表示物品数量，capacity 表示背包容量，known_optimum 是由公开最优选择计算得到的已知最优值。weights 和 profits 分别是每个物品的重量序列和价值序列。optimal_selection 是一个 0/1 序列，用来表示公开最优方案中每个物品是否被选择。统一输入格式的作用非常重要：第一，它让四个算法共用同一个 read_instance 函数，减少重复解析代码；第二，它保证实验变量主要来自算法策略本身，而不是输入处理差异；第三，它使 selected_items 可以与公开最优选择进行核对。讲完这一页可以自然过渡到公共代码设计，因为统一输入格式需要对应统一的数据结构。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这一页对应公共结构体设计，代码来自 src/knapsack01_common.h。KnapsackInstance 描述输入实例，包括 path、n、capacity、known_optimum、weights、profits 和 optimal_selection。AlgorithmResult 描述算法输出，包括 algorithm、dataset、objective、total_weight、relative_error、runtime_ms、nodes、pruned 和 selected。这个设计体现的是实验工程中的接口统一：不管内部算法是排序、数组转移、递归搜索还是优先队列搜索，最终都必须把结果封装为同一种 AlgorithmResult。这样后续 CSV 输出、误差计算和结果汇总都可以走同一条公共逻辑。这里可以重点强调两个字段：nodes 用于刻画状态规模或搜索规模，pruned 用于刻画分支限界的剪枝效果。也就是说，我们的代码不是只输出价值，还保留了能够解释算法行为的过程性指标。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这一页展示统一运行和计时流程，也来自公共头文件。每个算法程序最终都会调用 run_solver_cli 这个模板函数。程序先从命令行参数读取数据文件，构造 KnapsackInstance；然后记录开始时间，调用传入的 solver 函数；solver 完成后再记录结束时间，并将时间差转换为毫秒。随后 finalize_result 会根据 selected 数组重新计算 total_weight 和 objective，并按照 known_optimum 计算 relative_error。最后，print_csv_header 和 print_csv_result 负责输出统一 CSV。这个流程的价值在于，它把“算法实现”和“实验统计”分离开来，避免四个程序各自定义不同的计时边界或输出字段。需要注意的是，runtime_ms 是当前实验环境下一次运行的实测时间，适合在本实验内部做相对比较，而不是作为跨平台绝对性能结论。下一页我们正式定义这些指标的含义。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这一页解释评价指标。objective 是算法输出方案的总价值，用来判断是否达到已知最优值。total_weight 是所选物品的总重量，用来确认方案是否满足容量约束。relative_error 是相对误差，公式为 known_optimum 减 objective，再除以 known_optimum；当算法达到已知最优值时，该值为 0。runtime_ms 是程序运行时间，单位为毫秒。nodes 在不同算法中含义略有差异：对贪心算法，它等于被扫描的物品数；对动态规划，它记录 n * (C + 1) 的状态规模；对回溯和分支限界，它记录搜索节点数。pruned 表示被剪枝的节点数，在本实验中只有分支限界算法会出现非零值。这里要强调：我们把求解质量、运行效率和搜索规模放在同一张指标体系里，是为了避免只凭一个最优值判断算法好坏。接下来进入四种算法的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这一页讲贪心算法实现，代码来自 greedy-knapsack01.cpp。程序首先构造物品下标数组 order，然后按照价值重量比 p_i / w_i 从大到小排序。如果两个物品的比值非常接近，代码还会用价值更高、重量更低作为辅助比较条件，使排序结果更稳定。排序完成后，程序按顺序尝试把物品放入背包：如果当前总重量加上该物品重量不超过容量，就将 selected[idx] 标记为 1，并更新 total_weight。贪心算法的优势是非常快，主要时间开销是排序，因此时间复杂度为 O(n log n)。它的局限也很明确：算法只依据当前物品的单位重量价值进行局部选择，没有全局状态表，也不会回头修正早期选择。因此它能快速得到可行解，但不保证最优。后面的结果会看到，贪心在 FSU-01 上恰好最优，但在 FSU-02 和 FSU-03 上产生相对误差。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这一页讲动态规划的核心状态转移，代码来自 dp-knapsack01.cpp。程序定义一维数组 dp，其中 dp[c] 表示容量不超过 c 时能够获得的最大价值。对于第 i 个物品，设重量为 w，价值为 p，程序从 cap 向 w 逆序枚举容量 c，并计算候选值 dp[c - w] + p。如果候选值大于当前 dp[c]，就更新 dp[c]，同时在 take[i][c] 中记录该状态选择了第 i 个物品。这里的关键是逆序枚举容量，因为 0/1 背包中每个物品最多只能使用一次；如果改成正序枚举，同一轮更新后的 dp 值可能再次被当前物品使用，就会变成类似完全背包的效果。动态规划的优点是能够保证最优解，缺点是复杂度为 O(nC)。因此，当 C 很大时，即使 n 不大，状态空间也会显著扩大。FSU-03 的容量为 6404180，正好用来体现这一点。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这一页补充动态规划的路径恢复。仅有 dp 数组可以得到最优价值，但不能直接告诉我们具体选择了哪些物品。为了输出 selected_items，代码额外维护 take 表，take[i][c] 用于记录处理第 i 个物品、容量为 c 时是否选择该物品。求解结束后，程序从最后一个物品和最大容量 cap 开始反向追踪：如果 take[i][c] 为真，就把 selected[i] 标记为 1，同时把容量 c 减去该物品重量；如果为假，则继续看前一个物品。这个反向恢复过程使动态规划的结果不仅有 objective，也有 total_weight 和具体物品编号，便于写入 CSV 并与公开最优选择对照。这里还可以解释 nodes 字段：本实验将动态规划节点数记录为 n * (C + 1)，它不是搜索树节点，而是容量状态规模。FSU-03 中这个值达到 153700344，后面的节点分析会专门讨论。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这一页讲回溯算法实现，代码来自 backtracking-knapsack01.cpp。回溯算法把每个物品看作解空间树的一层，每一层有两个选择：选当前物品，或者不选当前物品。代码中的 dfs_backtracking 每进入一个节点就增加 nodes 计数。如果 index 等于 n，说明已经到达叶节点，此时如果 current_profit 大于 best_profit，就更新当前最优方案。对于“选择当前物品”分支，代码首先检查 current_weight 加上该物品重量是否不超过 capacity；如果可行，就修改 current、current_weight 和 current_profit，递归进入下一层，返回后再撤销选择。随后无论是否选择分支可行，都会继续搜索“不选择当前物品”的分支。回溯的优点是逻辑完整、能保证最优解，并且非常适合解释 0/1 决策树；缺点是最坏复杂度为 O(2^n)，当 n 增长时节点数会迅速膨胀。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这一页讲分支限界算法中的上界函数，代码来自 branch_bound-knapsack01.cpp。分支限界可以理解为在搜索基础上加入“这个分支是否值得继续”的判断。实验中先把物品按照价值重量比排序，然后使用分数背包思想计算 fractional_bound。具体来说，从当前 level 开始，凡是剩余容量能够完整装入的物品，就把它的价值完整加入 bound；当遇到一个无法完整装入的物品时，就只按剩余容量乘以该物品价值重量比，加入一个分数价值，然后停止。这里的 bound 不是一个 0/1 可行解，因为最后一个物品可能被分数选取；它是一个乐观上界。上界越接近真实最优可能性，剪枝越有效。也就是说，这一页的核心不是求解答案，而是建立一个判断标准：如果某个节点的乐观上界都不能超过当前最优值，那么它就没有继续扩展的必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这一页讲分支限界的剪枝逻辑。代码中如果 node.bound 小于或等于 best_profit，就说明该节点即使按照最乐观方式继续扩展，也无法得到比当前最优值更好的方案，因此直接 continue，并把 pruned 加一。对于选择当前物品的分支，如果加入后超过容量，也直接剪枝；如果没有超过容量，则更新可能的 best_profit，并重新计算上界。对于不选择当前物品的分支，也同样计算上界，只有上界仍大于 best_profit 时才放入优先队列。这里的优先队列使用 CompareByBound，让 bound 更大的节点优先被扩展。这样做的策略意义是：先探索更有潜力的分支，尽快提高 best_profit，再利用更高的当前最优值剪掉更多低潜力分支。与普通回溯相比，分支限界仍然保持精确最优性，但实际访问的节点数可能小很多。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这一页说明编译与运行方式。项目中的四个算法分别是独立 C++17 程序：greedy-knapsack01.cpp、dp-knapsack01.cpp、backtracking-knapsack01.cpp 和 branch_bound-knapsack01.cpp。编译命令统一使用 g++ -std=c++17 -O2，并开启 Wall、Wextra 和 pedantic 等警告选项。这样做的意义是保证四个程序在同一语言标准和优化级别下运行。运行时，每个程序都只需要传入一个数据文件路径，例如动态规划求解 FSU-03 时，命令就是 dp-knapsack01 加 data/knapsack01-FSU-03.txt。由于四个程序都调用公共的 run_solver_cli，所以输出格式一致，都是 CSV 字段。这里可以提醒听众：实验过程实际上是四个算法乘以三个数据集，一共 12 次核心运行；下一页就说明这些单项运行结果如何组织成文件，并最终形成总表。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这一页详细说明实验结果文件的组织方式。因为本实验有四种算法和三个数据集，所以单项结果共有 4 乘 3，也就是 12 个 CSV 文件。每个单项结果文件只对应一次具体运行：某一个算法，在某一个数据集上，得到一个 objective、total_weight、relative_error、runtime_ms、nodes 和 pruned。文件命名中包含算法名称、数据集编号和容量，例如 dp-knapsack01-FSU-03-capacity6404180.csv 表示动态规划算法在 FSU-03，也就是容量为 6404180 的实例上的运行结果；branch_bound-knapsack01-FSU-02-capacity750.csv 表示分支限界算法在 FSU-02 上的运行结果。这样命名具有很强的可追溯性，不打开文件也能知道它对应的实验条件。最后，项目把 12 条单项结果统一汇总到 summary-knapsack01-FSU.csv。后续所有结果分析都以这个 summary 文件为唯一依据，而不是临时手算或重新补充数据。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这一页是实验结果总表，也是整份 PPT 中最重要的证据页之一。表格一共有 12 行，正好对应四种算法乘以三个数据集。读这一页时建议先不要逐行念完，而是先给出整体观察。第一，在 FSU-01 上，四种算法的 objective 都是 309，相对误差都是 0，说明小规模实例上四种方法都得到已知最优值。第二，在 FSU-02 上，贪心算法得到 1441，而动态规划、回溯和分支限界都得到 1458；这说明贪心在这个实例上已经偏离最优。第三，在 FSU-03 上，贪心得到 13415886，而三种精确算法得到 13549094。除了 objective，表中还展示运行时间、节点数和剪枝数。尤其要注意 FSU-03 中动态规划 nodes 为 153700344，回溯 nodes 为 17770698，而分支限界 nodes 只有 425，pruned 为 213。这些数字支撑后面三页的分析。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这一页分析求解质量。这里的主结论是：动态规划、回溯和分支限界在三组数据上全部达到已知最优值，而贪心算法只在 FSU-01 上恰好达到最优，在 FSU-02 和 FSU-03 上存在相对误差。具体来说，FSU-01 的已知最优值是 309，贪心也得到 309，所以相对误差为 0。FSU-02 的已知最优值是 1458，贪心得到 1441，相对误差为 0.01165981。FSU-03 的已知最优值是 13549094，贪心得到 13415886，相对误差为 0.00983151。这里要强调，贪心的误差并不意味着它完全无效；相反，它在很短时间内得到接近最优的可行解。但由于它只按 p_i / w_i 进行局部选择，缺乏全局组合优化能力，所以无法保证最优性。三种精确算法能够达到已知最优，是因为它们通过状态转移或系统搜索覆盖了更完整的决策空间。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这一页分析运行时间。建议先指出：运行时间是当前环境下一次运行的实测值，主要用于本实验内部的相对比较。贪心算法在三组数据上都非常快，FSU-03 上也只有 0.004850 毫秒，因为它主要只是排序和一次线性扫描。动态规划在 FSU-01 和 FSU-02 上分别为 0.010735 毫秒和 0.025302 毫秒，表现很稳定；但在 FSU-03 上增加到 455.340946 毫秒。这个变化的根本原因不是 n 从 15 增加到 24，而是容量 C 从 750 增加到 6404180。动态规划复杂度为 O(nC)，容量直接决定状态数组长度和状态转移次数。回溯在 FSU-03 上为 70.338467 毫秒，比分支限界高很多；分支限界在 FSU-03 上为 0.079252 毫秒，体现出剪枝带来的实际效率优势。过渡到下一页时可以说：运行时间背后的原因，可以通过节点数进一步解释。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这一页分析搜索节点或状态规模，是解释运行时间差异的关键。FSU-03 上，动态规划节点数为 153700344，这个数字来自 n * (C + 1)，也就是 24 乘以 6404181。它说明动态规划虽然保证最优，但状态空间直接受到容量数值影响。普通回溯在 FSU-03 上访问 17770698 个节点，说明即使 n 只有 24，选与不选构成的二叉决策空间也已经非常庞大。相比之下，分支限界在 FSU-03 上只产生 425 个节点。这个对比是本实验最有说服力的结果之一：分支限界没有改变问题的最坏指数复杂度，但在这组数据上，价值重量比排序、分数背包上界和优先队列扩展共同压缩了实际搜索空间。这里可以总结一句：动态规划的问题是容量状态多，回溯的问题是组合分支多，而分支限界的优势在于尽早证明大量分支“不可能更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这一页专门分析分支限界的剪枝效果。表中显示，分支限界在 FSU-01 上 nodes 为 13，pruned 为 7；在 FSU-02 上 nodes 为 207，pruned 为 104；在 FSU-03 上 nodes 为 425，pruned 为 213。可以看到，随着实例规模增大，剪枝数量也更明显。这里的 pruned 不是装饰性指标，而是分支限界算法能否高效的核心证据。每一次剪枝都意味着算法通过上界判断，证明某个分支即使继续扩展也不可能超过当前 best_profit，因此不需要继续搜索。尤其在 FSU-03 上，普通回溯访问 17770698 个节点，而分支限界只产生 425 个节点，其中 213 个被剪枝。这个结果说明，在本实验数据分布下，分数背包上界对 0/1 背包搜索空间具有明显压缩作用。讲完这一页可以自然过渡到复杂度，因为剪枝解释的是实际表现，而复杂度解释的是理论边界。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这一页从复杂度和适用场景角度做归纳。贪心算法复杂度为 O(n log n)，主要成本是排序，适合快速得到近似可行解，但不保证最优。动态规划复杂度为 O(nC)，可以稳定得到最优解，但这是伪多项式复杂度，因为 C 是容量数值，不是简单的物品数量；当容量很大时，状态空间会迅速膨胀。回溯算法最坏复杂度为 O(2^n)，它能保证最优，也能清晰展示解空间树，但物品数量增加时节点数增长非常快。分支限界最坏复杂度仍是 O(2^n)，但它通过上界函数和优先队列减少实际访问节点数，效果依赖上界质量和数据分布。这里要给出学术化结论：算法选择不能只看“能不能最优”，还要看实例特征。如果容量适中且要求稳定最优，动态规划很合适；如果容量巨大但物品数相对有限，且上界剪枝有效，分支限界可能更具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这一页是实验总结。我们完成了从公开数据整理、统一输入输出设计、四种算法实现、单项 CSV 生成，到 summary 汇总和结果分析的完整流程。实验结果表明，不同算法在速度、最优性和可扩展性之间存在明确权衡。贪心算法速度最快，FSU-03 上 runtime_ms 只有 0.004850，但在 FSU-02 和 FSU-03 上存在相对误差。动态规划、回溯和分支限界都达到已知最优值，说明三种精确算法在求解质量上可靠；但动态规划在 FSU-03 上访问 153700344 个状态，体现出对容量 C 的敏感性；回溯在 FSU-03 上访问 17770698 个节点，体现出对物品数量和组合空间的敏感性；分支限界在 FSU-03 上只产生 425 个节点，说明上界剪枝在本实验中非常有效。最后可以升华一句：这个实验展示的不只是背包问题本身，而是算法设计中“问题结构、复杂度模型和工程实现”之间的相互制约。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 xml:space="preserve">这一页是结束页，可以照着读一段简洁但完整的收束。以上就是我们小组关于 0/1 背包问题多算法求解性能比较的汇报。我们基于 Florida State University 的三组公开数据，完成了贪心算法、动态规划、回溯算法和分支限界算法的 C++17 实现，并通过统一输入格式、统一运行入口和统一 CSV 指标保证实验结果可比较。通过实验可以看到，贪心算法适合快速获得高质量可行解，但不保证全局最优；动态规划具有稳定最优性，但对容量数值非常敏感；回溯算法能够完整搜索解空间，但节点数随问题规模增长明显；分支限界在本实验数据上借助分数背包上界显著减少了搜索节点，并保持最优性。感谢老师和同学们的聆听，欢迎大家对我们的算法实现、实验设计、指标选择和结果分析提出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5b8bacab841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69d93a5f47425d" /><Relationship Type="http://schemas.openxmlformats.org/officeDocument/2006/relationships/slideLayout" Target="/ppt/slideLayouts/slideLayout2.xml" Id="Rbb3ead63b7dc4d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3ead63b7dc4d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a70004710440a" /><Relationship Type="http://schemas.openxmlformats.org/officeDocument/2006/relationships/notesSlide" Target="/ppt/notesSlides/notesSlide1.xml" Id="R06c0df79b2ee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b7c80defe46ad" /><Relationship Type="http://schemas.openxmlformats.org/officeDocument/2006/relationships/notesSlide" Target="/ppt/notesSlides/notesSlide2.xml" Id="R37aee4b5347e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f4c32a703494e" /><Relationship Type="http://schemas.openxmlformats.org/officeDocument/2006/relationships/notesSlide" Target="/ppt/notesSlides/notesSlide3.xml" Id="R6bb553d0421346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f133ac1e143c6" /><Relationship Type="http://schemas.openxmlformats.org/officeDocument/2006/relationships/notesSlide" Target="/ppt/notesSlides/notesSlide4.xml" Id="R698ab51915594d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a1e3d50ebe4b38" /><Relationship Type="http://schemas.openxmlformats.org/officeDocument/2006/relationships/notesSlide" Target="/ppt/notesSlides/notesSlide5.xml" Id="R9df33f860bb749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ba5e090464bbd" /><Relationship Type="http://schemas.openxmlformats.org/officeDocument/2006/relationships/notesSlide" Target="/ppt/notesSlides/notesSlide6.xml" Id="R2c13c9949b52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a598d50d84eb2" /><Relationship Type="http://schemas.openxmlformats.org/officeDocument/2006/relationships/notesSlide" Target="/ppt/notesSlides/notesSlide7.xml" Id="Rdbe9ce3cfcfb41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1d838fb394a4e" /><Relationship Type="http://schemas.openxmlformats.org/officeDocument/2006/relationships/notesSlide" Target="/ppt/notesSlides/notesSlide8.xml" Id="Ref1a81a813dd46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0ded4928a4ee5" /><Relationship Type="http://schemas.openxmlformats.org/officeDocument/2006/relationships/notesSlide" Target="/ppt/notesSlides/notesSlide9.xml" Id="Re8a6f09c42cf40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bf184e6834e85" /><Relationship Type="http://schemas.openxmlformats.org/officeDocument/2006/relationships/notesSlide" Target="/ppt/notesSlides/notesSlide10.xml" Id="R27be7eb7ebe642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3b07e20cb4a2c" /><Relationship Type="http://schemas.openxmlformats.org/officeDocument/2006/relationships/notesSlide" Target="/ppt/notesSlides/notesSlide11.xml" Id="R20193eeec27d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ff5ce40134aef" /><Relationship Type="http://schemas.openxmlformats.org/officeDocument/2006/relationships/notesSlide" Target="/ppt/notesSlides/notesSlide12.xml" Id="R839d43c5905c4d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1cc10f75f4277" /><Relationship Type="http://schemas.openxmlformats.org/officeDocument/2006/relationships/notesSlide" Target="/ppt/notesSlides/notesSlide13.xml" Id="Re976cdb076b544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aa8362f644863" /><Relationship Type="http://schemas.openxmlformats.org/officeDocument/2006/relationships/notesSlide" Target="/ppt/notesSlides/notesSlide14.xml" Id="Rd6a350e6e5bd40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741772ff04449" /><Relationship Type="http://schemas.openxmlformats.org/officeDocument/2006/relationships/notesSlide" Target="/ppt/notesSlides/notesSlide15.xml" Id="Rff0f4ed28bdd4e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a64b0e3e94be8" /><Relationship Type="http://schemas.openxmlformats.org/officeDocument/2006/relationships/notesSlide" Target="/ppt/notesSlides/notesSlide16.xml" Id="R4d3ea3ce845f40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a83527fec4c25" /><Relationship Type="http://schemas.openxmlformats.org/officeDocument/2006/relationships/notesSlide" Target="/ppt/notesSlides/notesSlide17.xml" Id="Ra5c22d2746194b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1b405640a4f6f" /><Relationship Type="http://schemas.openxmlformats.org/officeDocument/2006/relationships/notesSlide" Target="/ppt/notesSlides/notesSlide18.xml" Id="Rc2575eee93bc4e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807091f384e80" /><Relationship Type="http://schemas.openxmlformats.org/officeDocument/2006/relationships/notesSlide" Target="/ppt/notesSlides/notesSlide19.xml" Id="R7c071898eb2243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b573a159d40d0" /><Relationship Type="http://schemas.openxmlformats.org/officeDocument/2006/relationships/notesSlide" Target="/ppt/notesSlides/notesSlide20.xml" Id="R8f91dd0b25c84f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a389f2d2a04991" /><Relationship Type="http://schemas.openxmlformats.org/officeDocument/2006/relationships/notesSlide" Target="/ppt/notesSlides/notesSlide21.xml" Id="R83639cf8ed5343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4889e5f204e66" /><Relationship Type="http://schemas.openxmlformats.org/officeDocument/2006/relationships/notesSlide" Target="/ppt/notesSlides/notesSlide22.xml" Id="R04bdb66e283a49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550f0b1584e5f" /><Relationship Type="http://schemas.openxmlformats.org/officeDocument/2006/relationships/notesSlide" Target="/ppt/notesSlides/notesSlide23.xml" Id="R8cbf4ea42d6f48b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0e2aa0923b464a" /><Relationship Type="http://schemas.openxmlformats.org/officeDocument/2006/relationships/notesSlide" Target="/ppt/notesSlides/notesSlide24.xml" Id="Rde39577ecc0941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ddda304584c35" /><Relationship Type="http://schemas.openxmlformats.org/officeDocument/2006/relationships/notesSlide" Target="/ppt/notesSlides/notesSlide25.xml" Id="Rba168cb7232b42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cd25e2ba6a42a0" /><Relationship Type="http://schemas.openxmlformats.org/officeDocument/2006/relationships/notesSlide" Target="/ppt/notesSlides/notesSlide26.xml" Id="R568b3878faf848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B1E2B-B21F-423A-A329-D1410B1A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DDF29-B65B-4E1C-8F49-1356DA34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9EB94-65E3-40DA-9A36-3E400C81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D927C-2573-438A-A512-FAE595F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020A8-ACCB-4E3A-8844-E829BE51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4E7C4-5353-4077-B5E7-E9765B5E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BC94-D341-46B7-8FF5-1ED2D20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D5083-3A01-4A91-9D0F-B751E64F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F06D6-3125-45E7-8C5C-DF2B0309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F0A92-E532-46E8-A428-FFF8172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04AAB-F7F2-49DC-9B86-55411AED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71C31-3A33-4F37-B1F4-1EE4142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2D614-3773-4208-BB7E-476BA91D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CA256-7336-4E03-82A3-3A6A5FC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69FAB-C987-4106-8E1D-76C5C15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A18FA-C262-4344-BC77-03FC090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7" name="kicker-Algorithm Analysis-marker">
            <a:extLst xmlns:a="http://schemas.openxmlformats.org/drawingml/2006/main">
              <a:ext uri="{FF2B5EF4-FFF2-40B4-BE49-F238E27FC236}">
                <a16:creationId xmlns:a16="http://schemas.microsoft.com/office/drawing/2014/main" id="{FCFE5B9A-A297-4BE6-94C1-B30BE10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Algorithm Analysis-label">
            <a:extLst xmlns:a="http://schemas.openxmlformats.org/drawingml/2006/main">
              <a:ext uri="{FF2B5EF4-FFF2-40B4-BE49-F238E27FC236}">
                <a16:creationId xmlns:a16="http://schemas.microsoft.com/office/drawing/2014/main" id="{A58579CF-9A69-4513-998D-CF26D4F3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ALGORITHM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D88EC-DDF0-4733-A338-E8E0476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基于贪心、动态规划、回溯与分支限界的</a:t>
            </a:r>
          </a:p>
          <a:p xmlns:a="http://schemas.openxmlformats.org/drawingml/2006/main">
            <a:pPr algn="l">
              <a:def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0/1 背包问题求解性能比较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6719B-5802-47EC-918A-C93C625A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0/1 Knapsack Problem · Multi-Algorithm Performance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0B56B-77A3-4CFE-A6EB-4E7414A4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《算法分析与设计》上机实验汇报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1D285-0785-4B18-A328-FA3B20F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组员：待填写  |  日期：2026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63032-92BF-498E-A8BD-073D699A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DBBE1-3FD1-4AEE-A4EC-AF8AAA8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67D1C-93B5-41AE-988F-1EF3BF9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求解算法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43DB5-3050-47FF-9D54-DC9F6A0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42E07-3A44-41EB-B338-D017DE0B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3E276-03FE-4662-A117-2EBC4D1A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57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 数据集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14F5C-373E-4C06-A174-26A31890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3B47C-C271-4FC5-BF05-74AAAAC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EA918-343D-4E43-90F9-E8ED1C1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带讲稿页数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D6AA9-511D-47D3-A376-6A073DD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56E6B-2E1F-4DB0-A061-73D1153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0909D-7588-4B81-B70E-EE7AB4B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24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真实实验结果</a:t>
            </a:r>
          </a:p>
        </p:txBody>
      </p:sp>
    </p:spTree>
    <p:extLst>
      <p:ext uri="{BB962C8B-B14F-4D97-AF65-F5344CB8AC3E}">
        <p14:creationId xmlns:p14="http://schemas.microsoft.com/office/powerpoint/2010/main" val="1522955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3FC9F-B270-4B54-B99F-84CE8300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5F301-9592-419D-B386-49A37C4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69EA-6C36-4ED1-929F-A0017B2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45E01-7EC6-48E0-B0E7-DC35B7E4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E31E5-A39C-4A4C-8CE1-EA047348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8699D-A108-4AEE-9535-94BDA35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48A3-6B7B-45F4-8A14-4EAFEEDF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10CF6-26EB-466B-8AD1-11DE495D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F4450-587E-4C75-A993-FDA80CD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3CCEC-B198-42CE-BA68-85FBEBE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13581-DD64-42A4-9C27-60CBC5E6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31A5B-2196-49C0-9D65-053940E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D7E23-3B3E-4F96-BF9D-B9A2712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53C43-13C2-44F1-B0AC-B9CAC2A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2CE62-F797-492E-928F-C12BBD83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59E75-B419-43A2-BE1B-70D6CAB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7" name="kicker-Task Positioning-marker">
            <a:extLst xmlns:a="http://schemas.openxmlformats.org/drawingml/2006/main">
              <a:ext uri="{FF2B5EF4-FFF2-40B4-BE49-F238E27FC236}">
                <a16:creationId xmlns:a16="http://schemas.microsoft.com/office/drawing/2014/main" id="{C31DB2ED-F153-43FE-8A00-70A5A6B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Task Positioning-label">
            <a:extLst xmlns:a="http://schemas.openxmlformats.org/drawingml/2006/main">
              <a:ext uri="{FF2B5EF4-FFF2-40B4-BE49-F238E27FC236}">
                <a16:creationId xmlns:a16="http://schemas.microsoft.com/office/drawing/2014/main" id="{D3DA61AA-28FA-4851-94C4-1875CEB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TASK POSITIONING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E03E5-C511-4965-BF57-E8309E2B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本实验满足问题求解类任务的核心要求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838D0-270D-4D49-A08E-EFE5983B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同一问题、三个数据集、四种算法、统一结果指标。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2CA83-A15B-40C2-A4A2-8BF56EE3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6C48B-20E0-48A3-B78C-BCEAE6D4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课程要求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E64F8-5FA6-4346-925A-6E788B72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F7834-552F-4A64-BCE3-CF7FF3A3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本实验对应实现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1486D-BFBB-4EFF-A71B-28C914E7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23CD0-6818-4652-B88A-4BB01D54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选题类型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EF936-B547-47AD-88DC-9D62663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AF3EA-813C-489E-96EF-C7FD04D6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2.3 问题求解类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1B35B-8B3E-41E6-81D2-9416F54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662B5-E909-478D-99B2-7920E44C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具体问题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385B0-7F7B-4A58-9721-FA8A251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0736-5B7A-4818-B516-D0647B1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0/1 背包问题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0E342-BC64-4A5E-90C8-D72E1E83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6E11D-84E2-46F1-B26B-6044B71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数据集数量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14528F-DAB5-4DDB-AECC-E4D6470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FECEB4-2169-4241-BB8A-D7314EC2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 P01 / P07 / P08 三组实例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B6B41D-D2FE-4C7F-AD8A-5A21734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C8ADF6-7003-4714-8F65-A4A60FE6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算法数量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64E614-9D98-4B59-BF3B-86800C7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6F3E71-AC7B-49AB-88E8-E735143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贪心、动态规划、回溯、分支限界四种算法</a:t>
            </a:r>
          </a:p>
        </p:txBody>
      </p:sp>
    </p:spTree>
    <p:extLst>
      <p:ext uri="{BB962C8B-B14F-4D97-AF65-F5344CB8AC3E}">
        <p14:creationId xmlns:p14="http://schemas.microsoft.com/office/powerpoint/2010/main" val="47997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0229A4-AE10-4440-AD29-F14E28DC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28511-BFB8-4C24-A500-9532F8C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630C0-4895-4D78-AAD1-2BA3E5D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BEB6E-1355-4B86-BF19-BA1E20C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E3428-9B1B-413F-860D-85FACE1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4A084-2BD7-4668-B1BA-DC7DE7A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8E0E5-AEC4-4ED9-85C7-E66C2AD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AA9DF-08C7-4B8A-8691-7454CAF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D14-7443-488B-A29C-C64E06F8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665F1-9242-4700-9A14-7E63CE5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FFACA-EAE7-4D9C-B2B3-7A2BE0D2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1BA12-9307-4968-BD77-42EE761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DA8A2-4E8D-4D3A-BEE0-DEF801C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5C962-AC3B-46A1-8F57-981AD7F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B9223-7E52-4AA1-B222-409D53A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9F200-EE9B-4883-B879-20D7BA1E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7" name="kicker-Workflow-marker">
            <a:extLst xmlns:a="http://schemas.openxmlformats.org/drawingml/2006/main">
              <a:ext uri="{FF2B5EF4-FFF2-40B4-BE49-F238E27FC236}">
                <a16:creationId xmlns:a16="http://schemas.microsoft.com/office/drawing/2014/main" id="{24AAE757-EC5F-4B12-AE89-7B4F0752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Workflow-label">
            <a:extLst xmlns:a="http://schemas.openxmlformats.org/drawingml/2006/main">
              <a:ext uri="{FF2B5EF4-FFF2-40B4-BE49-F238E27FC236}">
                <a16:creationId xmlns:a16="http://schemas.microsoft.com/office/drawing/2014/main" id="{C312E2E1-2356-413E-BE4E-D124FACE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4FA02-799B-4C2A-BBA4-87DA0C3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实验按照“数据到结论”的可复核流程展开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0099B-4E7C-40B3-944E-13FB39E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0D9C0-808B-40AB-9412-0BFB29E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25311-BD2D-46E5-A55A-0BB1E57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数据整理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35501-E74E-476F-A559-CCE03CE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1D0EF-6319-4F67-B76D-B622A59F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7C408-8A24-4A88-B01A-777CF539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A321F-FB1E-41E2-B57A-A585990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输入格式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B5B075-7662-4C03-A9D6-DC5B418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4CC29-69A5-4969-A33A-BE5087B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24233-436D-4160-A90E-6A3470D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D6045D-3C77-4C91-A251-B14FB450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公共模块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C4BEB-C21D-4533-8696-FAD93332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2CBC9-1B34-4D79-9849-895E316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EEDF1-0253-442C-B203-3AB2B82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9B463-87B8-4BB9-9921-8BBBF3EE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算法实现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F937CD-E30F-4ACC-90E2-AA7D8F9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EA096-0254-46F6-B123-D9B9B19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251D6-B814-405A-8EB4-3F1BDD4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5E0275-6056-446A-9AAA-29332A4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编译运行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277CBD-5EFE-495D-A2A6-24C057DD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C3509-4E14-4037-A0A8-51F7A6D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0646BC-2251-48F5-8691-05B2A5A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6CF549-06C7-4D2B-A5CC-0FC7CDE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CSV 汇总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E2553A-280B-4D66-B748-1C933EB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19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7300FD-3481-4BA1-BD21-847ECC6E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2B716-6BE7-45D8-86DE-C45D45A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0510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AD7FD-D381-4F1A-9FD4-33A7C7A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28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结果分析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04569F-1CFD-4392-9C8E-2FE54E8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汇报将沿这条流程逐步展开：先说明问题和数据，再解释代码实现，最后回到实验结果和复杂度结论。</a:t>
            </a:r>
          </a:p>
        </p:txBody>
      </p:sp>
    </p:spTree>
    <p:extLst>
      <p:ext uri="{BB962C8B-B14F-4D97-AF65-F5344CB8AC3E}">
        <p14:creationId xmlns:p14="http://schemas.microsoft.com/office/powerpoint/2010/main" val="38199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FAB41-3197-4681-9A68-EB28A858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15BBF-62C0-42D1-951D-E38EA909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3DD13-0A4F-48BB-A64D-3164C273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11ABA-FD91-4A16-9CBE-314FE33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A8141-2E36-42C6-973C-D55D56E2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2C2F0-AD71-4752-A266-C44B246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4357E-8424-4FB6-A029-AA93AB70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7874E-5AB6-47A8-8C46-4B36505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734F4-C36A-40F1-B064-47AFBD3E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667AF-31C9-4D8B-BFCC-1FA7A1FD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1C4B5-FD0F-42FB-A488-D6F6409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9A080-AB6F-4034-827E-027928BF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8986E-AC95-490F-8E45-0472364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14A6D-C750-42BB-B3B8-EE35576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E8057-103A-47DF-8E47-B7E8086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DFD74-D42C-4EC2-B00D-133D8049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7" name="kicker-Problem Definition-marker">
            <a:extLst xmlns:a="http://schemas.openxmlformats.org/drawingml/2006/main">
              <a:ext uri="{FF2B5EF4-FFF2-40B4-BE49-F238E27FC236}">
                <a16:creationId xmlns:a16="http://schemas.microsoft.com/office/drawing/2014/main" id="{AAEA46AE-86A2-4074-89CD-4CCA94B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Problem Definition-label">
            <a:extLst xmlns:a="http://schemas.openxmlformats.org/drawingml/2006/main">
              <a:ext uri="{FF2B5EF4-FFF2-40B4-BE49-F238E27FC236}">
                <a16:creationId xmlns:a16="http://schemas.microsoft.com/office/drawing/2014/main" id="{E7265E9A-BDDC-4878-B9BD-D105FEE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PROBLEM DEFINITION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19B27-6E73-44BB-956A-1BFA5AD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0/1 背包是带容量约束的二元组合优化模型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7AC67-3A9C-4EFF-AE92-3D02E7F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0EDE0-E9C2-4241-BF29-237C6A6E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86025"/>
            <a:ext cx="55626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maximize   sum(p_i * x_i)</a:t>
            </a:r>
          </a:p>
          <a:p xmlns:a="http://schemas.openxmlformats.org/drawingml/2006/main">
            <a:pPr algn="l">
              <a:def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subject to sum(w_i * x_i) &lt;= C</a:t>
            </a:r>
          </a:p>
          <a:p xmlns:a="http://schemas.openxmlformats.org/drawingml/2006/main">
            <a:pPr algn="l">
              <a:def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       x_i in {0, 1}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B789F-04D3-4AD8-A409-2BE4C90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17699-4908-4D9A-A78B-B297FE9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3BD73-9572-44F2-8BD5-723357D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05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物品数量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0D512-C8A0-45D0-8C34-4CCF2C2B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E7E89-4347-4B57-B7C7-129F09C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67ACB-4543-4C97-B6C2-899611EF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05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背包容量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E149F-4E7B-4CB2-9487-C99478F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7BF38-6B82-4FC6-89F0-1064543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w_i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8C2E8-5113-4EF7-BBB4-A8C7D82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48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第 i 个物品重量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B0D96D-D446-4039-82FF-FE47A4E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E7960B-ECBD-4FB7-BF46-853BE83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861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p_i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91D116-715C-47B1-9775-B52CAD33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第 i 个物品价值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1B2CB-5DC5-4D7D-A3A1-8BFC910E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每个物品只能选或不选，因此决策变量 x_i 只能取 0 或 1。</a:t>
            </a:r>
          </a:p>
        </p:txBody>
      </p:sp>
    </p:spTree>
    <p:extLst>
      <p:ext uri="{BB962C8B-B14F-4D97-AF65-F5344CB8AC3E}">
        <p14:creationId xmlns:p14="http://schemas.microsoft.com/office/powerpoint/2010/main" val="9242079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02EBA-86EA-47C8-A49D-C16C74F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BCBE2-3EC1-459C-930F-D777B56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CE37C-7BE0-4B0C-BE69-0E2E174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048A8-7F21-442F-9F2F-A00E03CF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EC5A6-7545-4622-B6CF-AC08679B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DDE43-C369-48DE-9508-B1CE8C1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7049D-C1B3-4DF3-AE31-9B216EE8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050FA-5A8B-4F3E-B932-8F24CCE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13BE2-00C7-440E-A584-31322BF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F07B-86BD-46E9-A310-7AC7AE7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383DA-156E-42E8-8F9A-C26E5822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F1319-A550-41AA-9679-56306E54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2EF0C-28F5-4F35-9B85-9A501E65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6D7D5-D391-454B-81CF-AA7E4F21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9A65D-A3A1-4E80-B2BA-AC78F58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21DAB-D7B9-4A96-9239-C1A6785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17" name="kicker-Data Source-marker">
            <a:extLst xmlns:a="http://schemas.openxmlformats.org/drawingml/2006/main">
              <a:ext uri="{FF2B5EF4-FFF2-40B4-BE49-F238E27FC236}">
                <a16:creationId xmlns:a16="http://schemas.microsoft.com/office/drawing/2014/main" id="{2E52D2F5-47A1-48F4-9503-1B780D5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Data Source-label">
            <a:extLst xmlns:a="http://schemas.openxmlformats.org/drawingml/2006/main">
              <a:ext uri="{FF2B5EF4-FFF2-40B4-BE49-F238E27FC236}">
                <a16:creationId xmlns:a16="http://schemas.microsoft.com/office/drawing/2014/main" id="{9F569A2A-A4F5-4441-B0E9-DB3729AD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DATA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D3746-F7AF-45AE-8332-84DB3CB8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实验数据来自 FSU 公开 0/1 Knapsack 数据集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B1033-2EBA-456E-A391-FBF2F77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953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3C3B6-C417-4808-99B4-FD09FDC1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Florida State University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5A161-A42E-440D-8DD4-36BE4B9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58743-2976-4857-80FB-4F3A773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原始数据包含容量、重量、价值、最优选择文件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32961-263E-46A5-987C-2579AB5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C3A20-AD74-4F89-8FA7-AD9FE15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6237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本实验整理为统一 0/1 背包输入格式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C68B0-6ABF-4DA8-AF7B-CC72393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6A090-86FF-4CBB-ADDF-893491BD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未编造数据，已知最优值来自公开最优选择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275D1-7369-4F98-BA93-0C01ED7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CCBE6-56F9-4323-8782-E4A2EB2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项目文件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7C43C-38F6-4512-8C4A-A41B210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51C81-6125-4C50-8976-4CDA50DD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原始实例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37F18-4906-4AE6-9793-6C4B49C3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45BCF-7F08-486E-A59B-2547B8E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6C287-E1BA-4CE4-B764-8E17A57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1D6D7F-C4FD-439E-8D7C-79D80A55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P01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0E264-463E-4EB3-9E75-0E71098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480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21A7A-EF46-43C9-8FE1-72D3A5E4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CA085-B318-46DD-B105-9DF8598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4F973-DA3A-4D6F-99E3-6625F7FE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P07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E22A4C-DCA8-4472-A90C-C4BF9EA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B9B3CD-8ECF-4AAD-B35B-C0F5BC30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FEEF9C-A4A2-45FD-9795-23D466A5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AA986A-E7B9-49AD-B13B-4C349F5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957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P08</a:t>
            </a:r>
          </a:p>
        </p:txBody>
      </p:sp>
    </p:spTree>
    <p:extLst>
      <p:ext uri="{BB962C8B-B14F-4D97-AF65-F5344CB8AC3E}">
        <p14:creationId xmlns:p14="http://schemas.microsoft.com/office/powerpoint/2010/main" val="1875325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20333-FD4E-4713-B180-E3F76442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31A69-E7BF-4C1C-8B73-6673AD1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CDC73-592B-4C2E-9A9B-92892BA8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94533-DDEA-4787-9107-9B153D84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D48B4-960E-4242-B6C3-DCFE82B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9908C-963B-4E8E-BA61-D3DE2AA3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0D901-F1B2-4CC5-927A-EE931BFF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5B24E-D63E-467D-B37C-8CA8239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9A381-64C4-4F7A-95AE-A4D7558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E73DC-E80D-4DB5-BE27-D2022B8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B3504-695F-42A9-B87B-EA309ED7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02786-DCBC-4EAC-BB1F-C542AE9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08C95-E51D-4368-B684-8DA44CF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3D766-6B82-43DA-A70D-7FD6E0D2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B191B-5943-4148-A7E9-9014D74F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DB7D0-7A7E-4F54-8F88-CF7AF5B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17" name="kicker-Dataset Scale-marker">
            <a:extLst xmlns:a="http://schemas.openxmlformats.org/drawingml/2006/main">
              <a:ext uri="{FF2B5EF4-FFF2-40B4-BE49-F238E27FC236}">
                <a16:creationId xmlns:a16="http://schemas.microsoft.com/office/drawing/2014/main" id="{14BAAC4D-D07D-47B5-B844-93268ADE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Dataset Scale-label">
            <a:extLst xmlns:a="http://schemas.openxmlformats.org/drawingml/2006/main">
              <a:ext uri="{FF2B5EF4-FFF2-40B4-BE49-F238E27FC236}">
                <a16:creationId xmlns:a16="http://schemas.microsoft.com/office/drawing/2014/main" id="{E3FECAD9-9CE4-4373-802E-D34DA1F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DATASET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C3D53-0E90-408B-B19E-1B811DC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三组实例覆盖小规模、中等规模和大容量场景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EAF86-B004-454B-80B3-634745A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64034-0709-4259-A9DA-9E50C1AB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实验文件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D0F0A-68E9-45B3-A603-8C5C6C2B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7D49A-DF8D-4F69-8CA6-3BA0447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原始实例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0CFCC-8AF4-46C7-AEB4-5E86956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40E9B-2D57-407A-BF81-0066A020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6B668-6BD8-4301-B5EF-5376433F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2B5DF-4043-4417-9F83-A7B44EE5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582AA4-3851-4BDD-AF28-F3DF13C4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472246-4EED-4D4D-877A-2DC8931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已知最优值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1A821-93AB-450A-B7D9-DCB1E532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18030-780A-49FB-9F83-4BE539ED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B612E-6AE7-45A6-B25A-BCD2B0E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72B0C-D200-4F94-8300-52B19F6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908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P01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EB96E-A764-40A0-9AA1-D8661649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C7C57E-8C86-478D-9299-2BC7B90E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B13CC-7AF6-4EB7-8ED9-7B1DF3B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242FED-747B-4206-99AB-BA75C43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253E04-C981-4562-90E9-AB7B65D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AAE482-601F-45A9-90AD-82719053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78565-F4D3-4551-A4B8-488122BA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646A9F-08A4-416F-89B2-1CE3572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CD0223-EFEC-44B8-85BD-5370EF06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24DE9B-F6CC-469F-9047-650878C1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P07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E2AA0-EDB6-4442-BF73-C08358F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01A9F4-4788-4AAF-9D6A-B2DBD29C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B24D16-4CBA-43CA-B54C-3142446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6E0AB1-34AC-404A-8204-973225D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750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99E936-AD7F-4914-80E2-AB8243E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7A3D69-9622-4519-A0E7-7803564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F255EC-AD15-4132-96B1-3939432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E3B098-E8C6-42D6-894D-9127D4B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B85F41-DB43-4AB9-80C2-EEE2D89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79608F-A6BF-43EE-980A-227BB4B2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P08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60CF03-4814-42EF-BB90-4E5DA1E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AE110C-6985-4F3C-BC36-F6B3B815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3387F9-B513-4462-85D6-ACBC6BB6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28F57-7ADD-4EF5-86F4-A53024D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71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6404180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10A32F-B01A-40A6-A3E2-0AF9414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8157EB-5E5B-4F42-81EA-806379B3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A9A04A-66CD-40FC-824F-FD3213A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7824AB-78FA-47CD-A33D-E5554E9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6,404,180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EE1711-A7B4-4F15-9566-0842DC08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FSU-03 容量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830DD1-90B4-4CC4-A979-49B2099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01A6B3-84CD-4A52-A938-2B963419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562798-BDAC-46CC-BC52-EFC1CED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529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FSU-03 物品数</a:t>
            </a:r>
          </a:p>
        </p:txBody>
      </p:sp>
    </p:spTree>
    <p:extLst>
      <p:ext uri="{BB962C8B-B14F-4D97-AF65-F5344CB8AC3E}">
        <p14:creationId xmlns:p14="http://schemas.microsoft.com/office/powerpoint/2010/main" val="3644750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8F371-3F6E-4CD8-BB02-B402C89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7D52C-5F91-4ABC-9E2F-CB94FED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D3C40-FDAA-4553-BE81-82B88DB3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29936-A31F-4339-9C93-5DEE0A2C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5F175-35E7-4849-9BD6-438F7204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9BAF-5F0D-4119-A556-1176B01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D36DD-E286-4E86-B867-8E405A1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4A851-61A3-4416-A865-33410928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15301-031B-4AB1-A875-34BD7CF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744F3-E11C-48F4-A8FC-362D4A6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15E66-2FDB-4A50-9CF7-47DCB00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63937-66A8-4831-92F7-11662622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82AE-B5E2-4F4A-9F22-20E8B64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8398C-6C46-4FEA-9C31-E8D26B4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24CE5-AB4F-48CA-8E70-F0B03C2E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12176-A11B-43B0-983D-9688EFF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17" name="kicker-Input Format-marker">
            <a:extLst xmlns:a="http://schemas.openxmlformats.org/drawingml/2006/main">
              <a:ext uri="{FF2B5EF4-FFF2-40B4-BE49-F238E27FC236}">
                <a16:creationId xmlns:a16="http://schemas.microsoft.com/office/drawing/2014/main" id="{D440C7CA-25A4-4E21-A4BC-E96F8CD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Input Format-label">
            <a:extLst xmlns:a="http://schemas.openxmlformats.org/drawingml/2006/main">
              <a:ext uri="{FF2B5EF4-FFF2-40B4-BE49-F238E27FC236}">
                <a16:creationId xmlns:a16="http://schemas.microsoft.com/office/drawing/2014/main" id="{DFD8EFF1-D400-4F2E-B9BA-96DBEC29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INPUT FORMAT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C5D8E-94A0-432A-85AA-CFDE9CB9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统一输入格式让四种算法共用同一读取逻辑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9400F-6610-46C9-9B0B-2102F58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810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5A656-2504-47D7-B3A4-4CDC778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4673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n 10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capacity 165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known_optimum 309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weights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23 31 29 44 53 38 63 85 89 82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profits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92 57 49 68 60 43 67 84 87 72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optimal_selection</a:t>
            </a:r>
          </a:p>
          <a:p xmlns:a="http://schemas.openxmlformats.org/drawingml/2006/main">
            <a:pPr algn="l">
              <a:def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1 1 1 1 0 1 0 0 0 0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3E9AF-51BD-4B0F-9089-9AF49ED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3619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50316-0C74-4DE5-A426-CEB7476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2975B-AC4F-429B-81A1-2FC91B3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n：物品数量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D7D15-37F7-42EA-86F7-66F88E5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7186E-BBAF-4E32-8DBF-8304D4CE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capacity：背包容量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8671A-55E6-41A4-82FB-7FEBC17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A9149-4244-4AA0-A043-02B9CCE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814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known_optimum：已知最优值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B73E9-7D82-4D39-BC6F-835D2E5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89635-2AFC-47EE-9285-ABA08BB2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weights / profits：重量与价值序列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33E71-8892-45CF-B3B2-15CE0769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81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294E63-BF15-4914-9C29-6CBAD845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optimal_selection：公开最优选择序列</a:t>
            </a:r>
          </a:p>
        </p:txBody>
      </p:sp>
    </p:spTree>
    <p:extLst>
      <p:ext uri="{BB962C8B-B14F-4D97-AF65-F5344CB8AC3E}">
        <p14:creationId xmlns:p14="http://schemas.microsoft.com/office/powerpoint/2010/main" val="278967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ED6C8-C329-4863-8F0F-807CBF9B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8470-3C81-4A6E-AFF9-9EF48275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F779E-D7C2-4263-BF09-50471C3F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19AAC-CBE3-41E1-B49D-7A9470C2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E9C5-6F98-46DF-9DA1-76EE4F21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CD9E4-ADC1-4C0D-BD91-76D7C70B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1FF47-BD11-4066-A1CA-49670E51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0DB98-3334-4C6D-9520-E056EED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0CD75-1A90-463D-83C7-BAAF2D50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7B147-835F-4A9B-8A5C-23F31383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4A168-B409-4EDD-8A43-1EC70209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3A257-F953-4055-AD59-77A34F8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C99A0-398F-4161-A937-4DDD1A3C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85805-6846-4D9F-9FC2-5B7400BE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79823-0190-4928-B0F0-00F1A494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34AAA-5C83-4BD0-A7C5-125A771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17" name="kicker-Data Structures-marker">
            <a:extLst xmlns:a="http://schemas.openxmlformats.org/drawingml/2006/main">
              <a:ext uri="{FF2B5EF4-FFF2-40B4-BE49-F238E27FC236}">
                <a16:creationId xmlns:a16="http://schemas.microsoft.com/office/drawing/2014/main" id="{F7F616C6-8AFC-41AD-A0AF-5EE12C9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Data Structures-label">
            <a:extLst xmlns:a="http://schemas.openxmlformats.org/drawingml/2006/main">
              <a:ext uri="{FF2B5EF4-FFF2-40B4-BE49-F238E27FC236}">
                <a16:creationId xmlns:a16="http://schemas.microsoft.com/office/drawing/2014/main" id="{343F1A56-3AE4-45D5-BDAE-D424AAF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DATA STRUCTURES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FDA76-44AD-40B6-AA67-27B3F6A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公共结构体保证输入和输出字段统一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1C287-8ED3-43CC-A23E-93FDDA6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99D22-7713-4F7B-8DF9-F932FAD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struct KnapsackInstance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string path;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int n;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capacity;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known_optimum;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vector&lt;long long&gt; weights;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vector&lt;long long&gt; profits;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struct AlgorithmResult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string algorithm, dataset;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objective;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total_weight;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double relative_error;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double runtime_ms;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nodes, pruned;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vector&lt;int&gt; selected;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5462D-D341-490E-B5DD-E94AC16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02FF4-3D59-4A49-BE2A-49E774D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48727-30C7-40C7-AD04-1045B30A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9AAFC-07C0-4AEE-98A1-58C92F8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输入实例与算法结果分离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1B3C9-19EA-4A3A-BD26-A4322EC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EC937-CD09-4902-AB64-83DA0FE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四个算法返回同一种 AlgorithmResult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B418F-AAB3-4093-BEEF-847A8659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B9A1B-87AF-4576-B677-F4D70AB5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CSV 汇总字段由公共模块统一生成</a:t>
            </a:r>
          </a:p>
        </p:txBody>
      </p:sp>
    </p:spTree>
    <p:extLst>
      <p:ext uri="{BB962C8B-B14F-4D97-AF65-F5344CB8AC3E}">
        <p14:creationId xmlns:p14="http://schemas.microsoft.com/office/powerpoint/2010/main" val="14557137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1706B-8251-48F8-8065-336A33ED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80C80-6A15-453F-9682-F47E192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B9623-CA2A-4622-88BD-6735757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66E36-04E6-44AD-8A1C-B0DBE451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37A29-3155-4F75-839E-14345EF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547B-2C4B-47C6-8337-BA9F32A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54A55-C143-4F4E-8268-0CDD57D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67E80-84C2-440E-A938-B5CF28F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6E223-16B8-43ED-921D-ED66EB0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21906-2F8D-4A1F-8930-87C7082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60592-B24B-42CB-8296-BD4A3C28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7E4FA-9B01-402B-8736-FED25B5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EF320-7B5F-41BA-B31C-EC88ED6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9EBAE-AD8D-48DB-85AE-C0E96C62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2C4FA-457A-4408-B77C-0DB1B72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F802-0270-48A8-8E6B-B6ECDD04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17" name="kicker-Runtime Wrapper-marker">
            <a:extLst xmlns:a="http://schemas.openxmlformats.org/drawingml/2006/main">
              <a:ext uri="{FF2B5EF4-FFF2-40B4-BE49-F238E27FC236}">
                <a16:creationId xmlns:a16="http://schemas.microsoft.com/office/drawing/2014/main" id="{1B1D7C6E-010C-449F-9162-FAF224F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Runtime Wrapper-label">
            <a:extLst xmlns:a="http://schemas.openxmlformats.org/drawingml/2006/main">
              <a:ext uri="{FF2B5EF4-FFF2-40B4-BE49-F238E27FC236}">
                <a16:creationId xmlns:a16="http://schemas.microsoft.com/office/drawing/2014/main" id="{BC96EDCE-9196-4F79-B84D-991855F9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RUNTIME WRAPPER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D4175-7AE2-45BF-BD21-13C782F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统一命令行入口保证计时和输出口径一致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AF591-480F-4B98-B659-D1DDB92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2C027-CCE4-4F39-937F-6AD4378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KnapsackInstance ins = read_instance(argv[1]);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auto start = steady_clock::now();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AlgorithmResult result = solver(ins);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auto finish = steady_clock::now();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result.algorithm = algorithm_name;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result.runtime_ms = duration&lt;double, milli&gt;(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finish - start).count();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finalize_result(ins, result);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print_csv_header(cout);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print_csv_result(cout, result);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11B2B-823C-4DCB-8C27-9E446480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14B62-6B8A-4EED-9188-51D488F8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754D4-8177-4CC6-970E-A54ACDF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150DF-11D7-4348-82EF-83DFC78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读取实例后才开始计时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236B5-1EDD-4584-A7A6-41132D37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67594-B263-4237-AA80-1C573A1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solver 可替换为任意算法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D0451-C8CB-41DB-B124-CF5A86B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8A20B-D2CD-4AE2-BE58-BA63B18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finalize_result 统一计算目标值、重量和误差</a:t>
            </a:r>
          </a:p>
        </p:txBody>
      </p:sp>
    </p:spTree>
    <p:extLst>
      <p:ext uri="{BB962C8B-B14F-4D97-AF65-F5344CB8AC3E}">
        <p14:creationId xmlns:p14="http://schemas.microsoft.com/office/powerpoint/2010/main" val="16076813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5F601C-52D0-46C9-A8FE-714A898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02DB6-E72A-45AD-AC19-47C9791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2793-42F0-43C9-9CB5-A719D54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8F16D-A192-4DDF-8102-7DEA5391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6C8D3-C62E-4295-8089-07A08629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0EA6C-5549-40A5-918C-F7DD0EF2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B5B89-6780-4FE4-96E3-2B2E4480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BD7E6-9595-404E-BA48-025A255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2AAF5-7EF1-4389-93A5-050C5DEF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3C53E-5479-40FF-8133-1FEA5E5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5AC6F-53BF-4AAC-AAAA-11E10304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B7270-A316-4B6B-9937-0EF15553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ED3CD-533A-4C5E-8B19-5FF6B41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1881C-DA3D-41C3-AF4B-013F462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01F18-5A3D-4D2D-B7D0-6CC1E45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6F190-87F8-4AD1-80A4-DCDA7CD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17" name="kicker-Evaluation Metrics-marker">
            <a:extLst xmlns:a="http://schemas.openxmlformats.org/drawingml/2006/main">
              <a:ext uri="{FF2B5EF4-FFF2-40B4-BE49-F238E27FC236}">
                <a16:creationId xmlns:a16="http://schemas.microsoft.com/office/drawing/2014/main" id="{0DDA09F9-8E1B-4593-B9B9-84125F6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Evaluation Metrics-label">
            <a:extLst xmlns:a="http://schemas.openxmlformats.org/drawingml/2006/main">
              <a:ext uri="{FF2B5EF4-FFF2-40B4-BE49-F238E27FC236}">
                <a16:creationId xmlns:a16="http://schemas.microsoft.com/office/drawing/2014/main" id="{6C5FE021-60FE-46A6-84E7-29989E4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EVALUATION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E84D4-BD1C-408A-AC0F-5042884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六个核心指标覆盖求解质量、运行效率和搜索规模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13EB7-4A3B-4BA9-8E89-C75D8B8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39C56-3B6A-47A7-A4DB-3F6BF8E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65046-9EC2-4FF8-BA52-5FF5624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算法目标值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1341D-55F4-484A-A647-161E858D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B7CA6-6234-44C1-82D7-A86157B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193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total_weight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EB281-A147-43F1-A9E8-ACF440C5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813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方案总重量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5FB8D-CB7D-422D-A44D-5F86262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B9FEE-62BF-4033-A09D-D3B63C7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relative_error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435BE-3683-4B10-BBF9-65C2B77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相对误差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71524-4F89-4C13-87C2-C054626C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87AE0-137B-4156-9150-37D11EF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runtime_ms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A1CBC-34D4-46C3-93BC-BBF8FD3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运行时间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AD228-5E23-40AF-8402-24186D6D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24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F31DA-2D63-4063-A6E4-95B9DA8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766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nodes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2B1C6-96E1-4ED3-99CC-0B22684A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386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状态数或搜索节点数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819EC-9BDA-4A7A-AD74-4A003AD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5B885-7D57-44EB-BB85-33BDD16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pruned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DFE561-04FD-435D-8DE4-AC61EA9F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386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剪枝节点数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D5C92-DFFF-4B35-A41A-AE0ED22B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relative_error = (known_optimum - objective) / known_optimum</a:t>
            </a:r>
          </a:p>
        </p:txBody>
      </p:sp>
    </p:spTree>
    <p:extLst>
      <p:ext uri="{BB962C8B-B14F-4D97-AF65-F5344CB8AC3E}">
        <p14:creationId xmlns:p14="http://schemas.microsoft.com/office/powerpoint/2010/main" val="12746220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FB8496-F2B7-4B44-B108-E642459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9508F-BF23-42AE-9530-67B2E729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6C00A-B99F-4CFE-92D6-006756B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AEB4-1032-4B77-978B-21D8C78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8AE8F-656E-4E62-AE44-803C24B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763AC-2673-410B-9420-0E9B935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DA000-811D-4403-8824-8A0C91C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99286-884C-494E-BCD0-E32CA84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FBAA8-F619-4456-94B2-1157E463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DC319-3696-4EFD-BF49-B595FCBA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CD7-9955-4B77-B508-3632D0AD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64753-65C6-40D8-A5A1-1A6CA5F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3EC64-94B8-4A90-9CFB-EBA8F6D8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2DD49-7D7E-4502-896D-3E1646F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B649-0C8B-410B-99F4-6C34B983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F059C-84F1-4459-A180-D193EC0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17" name="kicker-Greedy-marker">
            <a:extLst xmlns:a="http://schemas.openxmlformats.org/drawingml/2006/main">
              <a:ext uri="{FF2B5EF4-FFF2-40B4-BE49-F238E27FC236}">
                <a16:creationId xmlns:a16="http://schemas.microsoft.com/office/drawing/2014/main" id="{94E066D2-5463-4371-9D4D-37F4040D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Greedy-label">
            <a:extLst xmlns:a="http://schemas.openxmlformats.org/drawingml/2006/main">
              <a:ext uri="{FF2B5EF4-FFF2-40B4-BE49-F238E27FC236}">
                <a16:creationId xmlns:a16="http://schemas.microsoft.com/office/drawing/2014/main" id="{22FA66FA-9A50-4AD5-B4C1-41A123D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GREEDY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7B42A-7320-4A41-8D26-ECE5B2B0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贪心算法按价值重量比构造快速近似解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8F088-6F3A-4C7F-8F23-23A93158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5AA4F-C6A5-4167-BF71-D0AD9E6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sort(order.begin(), order.end(), [&amp;](int a, int b)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double ra = (long double)profits[a] / weights[a];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double rb = (long double)profits[b] / weights[b];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return ra &gt; rb;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for (int idx : order)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if (total_weight + weights[idx] &lt;= capacity)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selected[idx] = 1;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total_weight += weights[idx];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BB690-51D8-4796-841C-B8D3171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07866-E555-454B-BCB7-5B3664BA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B86B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BC470-2939-47A9-893A-ECF47A6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61A35-24EF-43A6-AE3E-A253A823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按 p_i / w_i 降序排序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92CF7-9EAB-47ED-B374-D04CF86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341F7-1EEC-4351-A76D-1EA4F7A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容量允许时立即选择物品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C5A14-3715-4B65-8AF3-AF42C2F7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88427-819E-4B4D-AF39-DCBCBEE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速度快，但不保证全局最优</a:t>
            </a:r>
          </a:p>
        </p:txBody>
      </p:sp>
    </p:spTree>
    <p:extLst>
      <p:ext uri="{BB962C8B-B14F-4D97-AF65-F5344CB8AC3E}">
        <p14:creationId xmlns:p14="http://schemas.microsoft.com/office/powerpoint/2010/main" val="5276347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310D6-7332-418E-9AE6-6D07AD6E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75431-6107-4ED2-837C-7F6E00C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8E63-8AD2-4E18-A9B3-7D71B4C1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4184-937F-4C48-9CC8-EC60893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2FB4-2A9E-4FD1-BFB1-06F0648B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1906-1CFA-46D9-B65F-19CB41F6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7B409-573D-4176-B446-6DD7756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1D32B-9739-42DC-957A-FE11C3EC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7717C-61A6-4A55-8464-4CFA11AC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13D4E-6CCC-4F04-8C51-3700EAD5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AF847-EC47-4546-A3ED-578D6ED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BAD87-BC16-4721-AFFE-2006C0B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E3E74-E49B-4F57-A149-B8A0E6E6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24515-4EA9-4D04-9661-5633E3E3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B5EE6-908F-4E80-A0CB-FE6E405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35C41-F209-4DF8-8273-938B9292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17" name="kicker-Dynamic Programming-marker">
            <a:extLst xmlns:a="http://schemas.openxmlformats.org/drawingml/2006/main">
              <a:ext uri="{FF2B5EF4-FFF2-40B4-BE49-F238E27FC236}">
                <a16:creationId xmlns:a16="http://schemas.microsoft.com/office/drawing/2014/main" id="{845E3E22-CA9B-4C99-AD75-02B1C96C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Dynamic Programming-label">
            <a:extLst xmlns:a="http://schemas.openxmlformats.org/drawingml/2006/main">
              <a:ext uri="{FF2B5EF4-FFF2-40B4-BE49-F238E27FC236}">
                <a16:creationId xmlns:a16="http://schemas.microsoft.com/office/drawing/2014/main" id="{717C00A0-4428-4F90-9FC9-ED78172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DYNAMIC PROGRAMMING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7E894-401B-4921-ABE7-22892C29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动态规划用容量状态转移获得精确最优解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245B9-36BB-4BBF-9F87-A92956F7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AA36C-3170-407F-9050-983AD781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vector&lt;long long&gt; dp(cap + 1, 0);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for (int i = 0; i &lt; n; ++i)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size_t w = weights[i];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long long p = profits[i];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for (size_t c = cap; c &gt;= w; --c)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long long cand = dp[c - w] + p;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if (cand &gt; dp[c])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  dp[c] = cand;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  take[i][c] = 1;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87B80-04F4-41D5-BB1B-C74634C9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632CD-8C93-48A9-87DA-2B5988F5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E3126-AF89-4BD9-BCF6-27FB5C39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A4DB9-2D4E-4A0A-816B-0A262AB2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dp[c] 表示容量 c 下最大价值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B0F5CE-7555-4CE4-8F12-C9A4B6C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CE817-C9E1-42AF-8CC0-4024E6A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逆序枚举容量保证每个物品最多使用一次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9ADFB-6CD8-4E3E-9984-CBB39184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50C58-4CC3-4FD3-88F5-48367095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时间复杂度 O(nC)，对容量 C 敏感</a:t>
            </a:r>
          </a:p>
        </p:txBody>
      </p:sp>
    </p:spTree>
    <p:extLst>
      <p:ext uri="{BB962C8B-B14F-4D97-AF65-F5344CB8AC3E}">
        <p14:creationId xmlns:p14="http://schemas.microsoft.com/office/powerpoint/2010/main" val="2447564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D5F30-E541-47F0-98D6-D13B4BAB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F5310-0608-464B-981F-36B79AA9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FCD90-5770-46A3-82EA-276A85F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DDB3-A211-4F49-8284-18C8E0C7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7F7AC-AC19-40BC-A67F-9504D68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413CD-C451-4B79-B26A-583FC6F6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F0E32-BB73-4E0A-9FD9-0076B2B1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F58F0-98C8-4FD5-BC64-ACE6DBA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30F17-EC10-405A-A1F6-90DF373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2113-1CE8-4A5F-8050-75325DE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52BED-BFF7-43AC-AC88-9D4090F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67E8F-A31A-4B3B-A7A5-B9315C21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1A7AB-BBC0-46F9-BEE2-AF0547B5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9C867-3036-4864-8C32-02AEEC2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3FC4B-1EF2-4BAE-8A75-C1A094CF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68A79-F093-41A4-916C-58CBD51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17" name="kicker-Path Recovery-marker">
            <a:extLst xmlns:a="http://schemas.openxmlformats.org/drawingml/2006/main">
              <a:ext uri="{FF2B5EF4-FFF2-40B4-BE49-F238E27FC236}">
                <a16:creationId xmlns:a16="http://schemas.microsoft.com/office/drawing/2014/main" id="{91635C83-A937-4285-B0A9-65EA5DAE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Path Recovery-label">
            <a:extLst xmlns:a="http://schemas.openxmlformats.org/drawingml/2006/main">
              <a:ext uri="{FF2B5EF4-FFF2-40B4-BE49-F238E27FC236}">
                <a16:creationId xmlns:a16="http://schemas.microsoft.com/office/drawing/2014/main" id="{6185409C-30CB-458D-AF75-093F609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PATH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EA572-6676-43EF-96AE-14960B3A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take 表记录选择信息，用于恢复选中物品编号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599DE-F7B0-42C8-9604-86A267E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912A8-9CFF-40AE-9EFC-D0A66A41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size_t c = cap;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for (int i = n - 1; i &gt;= 0; --i)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if (take[i][c])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result.selected[i] = 1;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c -= weights[i];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result.nodes = (long long)n * (cap + 1);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6FB6B-6987-41F9-BB42-B642BAA0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10A05-0A05-40A7-9DED-6014AC2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E66C0-3598-46B0-BA2C-97EB907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E6A9B-44EF-44FD-8EF3-160DA43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不仅输出最优价值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302B1-7B44-4BF9-8328-EB76487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2C799-DB0C-4603-B3BD-C1AE989C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还能输出 selected_items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66267-E0C1-49B4-AA77-7A7BFA5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329A8-74CF-4C40-B784-B6057659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本实验 DP 节点数按 n * (C + 1) 记录</a:t>
            </a:r>
          </a:p>
        </p:txBody>
      </p:sp>
    </p:spTree>
    <p:extLst>
      <p:ext uri="{BB962C8B-B14F-4D97-AF65-F5344CB8AC3E}">
        <p14:creationId xmlns:p14="http://schemas.microsoft.com/office/powerpoint/2010/main" val="15577327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6ECE3-DE28-42A3-92FC-25399B3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779A2-54E4-4CA7-AB45-9BB2315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56497-8CDD-4A9E-BCCB-CCE8DB36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5473B-9858-44A7-BD69-F296E7A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D06DF-B993-40DD-A23A-47519F0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21A8F-BE47-4AC6-B657-80F81653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6914F-AC46-4C14-AEEE-0267676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52A66-C9DA-4752-88F0-65BC7A6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29D5B-51D1-4551-95A9-AC3E5EF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C4656-C714-4038-BCD2-2EF0D19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6A72B-382C-4954-A823-8053C7B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7DB89-4D8D-496E-AD5E-36F162CC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B012F-2E27-4619-83A3-777C416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049C6-BF4B-4127-98EC-B09E4546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ED4B6-058F-4B19-AA11-A36B9272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E1C21-297C-43E2-A21C-6D99E49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17" name="kicker-Backtracking-marker">
            <a:extLst xmlns:a="http://schemas.openxmlformats.org/drawingml/2006/main">
              <a:ext uri="{FF2B5EF4-FFF2-40B4-BE49-F238E27FC236}">
                <a16:creationId xmlns:a16="http://schemas.microsoft.com/office/drawing/2014/main" id="{026C8B42-D306-4B16-A30E-AD30AECC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Backtracking-label">
            <a:extLst xmlns:a="http://schemas.openxmlformats.org/drawingml/2006/main">
              <a:ext uri="{FF2B5EF4-FFF2-40B4-BE49-F238E27FC236}">
                <a16:creationId xmlns:a16="http://schemas.microsoft.com/office/drawing/2014/main" id="{1A626DB3-074D-4362-A911-6621A0F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BACKTRACKING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669CA-8411-450B-AACC-CB43A0C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回溯算法系统枚举选与不选构成的解空间树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1CFD2-697E-43B6-9387-5989283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B8A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64371-9023-453C-B834-F6D4C9C0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void dfs(State&amp; st, int index)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++st.nodes;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if (index == st.ins-&gt;n)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update_best_solution();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return;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if (current_weight + w[index] &lt;= capacity)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choose_item(index);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dfs(st, index + 1);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undo_choose(index);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dfs(st, index + 1);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4DE5E-3167-48DC-979C-3C35796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B8A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66D7F-CC89-4695-8314-6C7791B2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A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B8A5FF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A330D-8D02-4AFC-A4BA-432D8B86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D9D4D-1C6C-4E1F-8791-EB931DD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每个物品对应一层搜索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2BF35-AD8B-4759-B4B0-ACD63F8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CC15A-58B0-47E3-86D6-D31831CE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可行时先尝试选择当前物品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6D317-1BF4-403F-B67C-EDC1D22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18520-D1DC-45B8-92FB-2256317F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最坏复杂度 O(2^n)，节点数随 n 增长</a:t>
            </a:r>
          </a:p>
        </p:txBody>
      </p:sp>
    </p:spTree>
    <p:extLst>
      <p:ext uri="{BB962C8B-B14F-4D97-AF65-F5344CB8AC3E}">
        <p14:creationId xmlns:p14="http://schemas.microsoft.com/office/powerpoint/2010/main" val="974153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AE71B-946A-4829-B1A6-42EDE6D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42C5D-A8FD-4B47-884B-AC2D2CFC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16937-3E5B-4A4C-8D06-10A9F1F8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9C960-4F76-4100-B333-3B14BA0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0D179-98FD-404C-9071-87C4CCC9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1969-F3D6-4A55-92AF-C44FAB3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F4A78-C1C1-4294-91E8-5F0DB7A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037A3-8AB6-497D-BE6A-33EAB943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73C81-A9A4-4141-9160-D5F62A8B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71875-C65A-4DCC-8E0B-3701F4E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F3B5B-2A33-41DD-BEE5-746D1695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AF287-3364-40E7-8B3A-8C9299C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54AB2-8B1B-4FAE-A125-BE6E8610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BA4C6-66D9-44F4-B270-9228013F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D70A0-F5FF-4395-8983-1FBA87D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88FDA-8957-472D-8AF4-F099904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17" name="kicker-Bound Function-marker">
            <a:extLst xmlns:a="http://schemas.openxmlformats.org/drawingml/2006/main">
              <a:ext uri="{FF2B5EF4-FFF2-40B4-BE49-F238E27FC236}">
                <a16:creationId xmlns:a16="http://schemas.microsoft.com/office/drawing/2014/main" id="{83269AD6-5EB1-4F51-9D9C-B40ED62D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Bound Function-label">
            <a:extLst xmlns:a="http://schemas.openxmlformats.org/drawingml/2006/main">
              <a:ext uri="{FF2B5EF4-FFF2-40B4-BE49-F238E27FC236}">
                <a16:creationId xmlns:a16="http://schemas.microsoft.com/office/drawing/2014/main" id="{B2BD1549-D4B9-4526-A626-59A2BEC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BOUND FUNCTION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6DC8D-3E21-496C-911B-44E8B8D2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分支限界使用分数背包思想估计乐观上界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EBA1E-57FA-4354-A1C2-C474F40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E3299-C850-473D-BA1D-B2D9695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long double bound = profit;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long long total_weight = weight;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for (int i = level; i &lt; items.size(); ++i)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if (total_weight + items[i].weight &lt;= capacity)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total_weight += items[i].weight;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bound += items[i].profit;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 else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long long remain = capacity - total_weight;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bound += remain * items[i].ratio;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  break;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18DB7-B35F-4977-BE5E-07F5D04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5919E-3E1F-4F7F-985D-CC9A26D7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19F2B-206E-4F29-A913-F089A215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5A6D4-50E9-45BD-90AD-933FCDC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按价值重量比排序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35AB7-15E6-41DA-A38E-99941A4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728FC-76D9-401E-B348-824A291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完整装入可行物品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B34D6-D767-4438-9B97-816D1025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D79C5-4DB4-4A34-94BC-7185D20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最后一个物品可按分数估计上界</a:t>
            </a:r>
          </a:p>
        </p:txBody>
      </p:sp>
    </p:spTree>
    <p:extLst>
      <p:ext uri="{BB962C8B-B14F-4D97-AF65-F5344CB8AC3E}">
        <p14:creationId xmlns:p14="http://schemas.microsoft.com/office/powerpoint/2010/main" val="11587912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A9CDD-8C4F-4B58-AC80-2B6D403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0D3D7-F059-4542-A758-4CC5CA2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5FBF3-FE98-4511-9F21-3CC69DA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6008-FF64-4062-8005-6F076A2F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B2670-7645-4738-9B33-70446C0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91DD8-02FD-495B-8097-DE8987A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32B9F-B52C-4B2C-A155-FE677E2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2F5A1-F411-462A-B5C8-D228804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CDC5-780C-497F-9BF2-D0EA3CE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AAE9A-AC98-4A65-9678-F050D80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98580-86E7-43BE-9B8B-B49E155D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4D161-682C-4FA0-99BD-5252DCF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048D9-64B2-47A1-B9FD-F616E85D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276BA-0CFC-411D-8994-6FAA43F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7D6E9-2E42-478B-A272-55FD278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16B34-988F-4AEA-9820-905A9A0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17" name="kicker-Pruning Logic-marker">
            <a:extLst xmlns:a="http://schemas.openxmlformats.org/drawingml/2006/main">
              <a:ext uri="{FF2B5EF4-FFF2-40B4-BE49-F238E27FC236}">
                <a16:creationId xmlns:a16="http://schemas.microsoft.com/office/drawing/2014/main" id="{3F008005-D385-4230-AAF6-5A2B47A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Pruning Logic-label">
            <a:extLst xmlns:a="http://schemas.openxmlformats.org/drawingml/2006/main">
              <a:ext uri="{FF2B5EF4-FFF2-40B4-BE49-F238E27FC236}">
                <a16:creationId xmlns:a16="http://schemas.microsoft.com/office/drawing/2014/main" id="{B26F28B8-2AF7-451A-99CD-C30F1A3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PRUNING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D8F82-5C21-4FCF-B69F-356C12E7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上界不优于当前最优值时直接剪枝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3A7CD-3F8C-4C00-A05E-7E8FE15F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810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08518-8FD1-4498-80E7-F14DEFD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467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if (node.bound &lt;= (long double)best_profit) {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++pruned;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  continue;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priority_queue&lt;BBNode, vector&lt;BBNode&gt;, CompareByBound&gt; pq;</a:t>
            </a:r>
          </a:p>
          <a:p xmlns:a="http://schemas.openxmlformats.org/drawingml/2006/main">
            <a:pPr algn="l">
              <a:def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// 优先扩展 bound 更大的节点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89AD4-CBAF-4B86-9DE2-98674F4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2A1E2-52D9-47D7-9003-028AB1D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CFFCB"/>
                </a:solidFill>
                <a:latin typeface="Microsoft YaHei UI"/>
                <a:ea typeface="Microsoft YaHei UI"/>
                <a:cs typeface="Microsoft YaHei UI"/>
              </a:rPr>
              <a:t>讲解要点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5E010-10FA-4E61-82EC-D73114D5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3ACCD-7116-4414-B4A2-C83EED9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bound &lt;= best_profit 表示不可能改进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01E5E-27DC-4729-8829-9785989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5639B-45A3-43A6-B364-64D17575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pruned 统计被剪掉的节点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3AB32-B347-45C4-AD67-EFD106B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CFA67-8A8D-4980-B4E1-C4075E9B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优先队列优先扩展上界更大的节点</a:t>
            </a:r>
          </a:p>
        </p:txBody>
      </p:sp>
    </p:spTree>
    <p:extLst>
      <p:ext uri="{BB962C8B-B14F-4D97-AF65-F5344CB8AC3E}">
        <p14:creationId xmlns:p14="http://schemas.microsoft.com/office/powerpoint/2010/main" val="59465439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486BC-230E-4F6B-9479-DC40F76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FB1EF-5970-430C-B594-667F91E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D21B1-49CE-4512-8C89-5A57C9A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AC7DD-C39F-4664-87C5-892363B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E8B0F-6D8C-40F4-A3A7-ED0618C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E8873-4EAF-4C78-BDED-86E68EA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91FD8-DEA6-43C0-BD87-3FD753E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1C5E-02E9-4873-997D-8FAE0A2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894BD-E3C4-40A4-9CCD-666F1F9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647EF-0469-4C3A-90B5-3B1E75A6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17BFE-1C33-4FE4-B5ED-29062B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B053-9A95-4D59-A16A-02CAA66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C8BEF-D49E-4089-9506-0A84F60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F6005-860E-4466-8DA9-B7AEB4C6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6C7C5-20FD-4AE7-93EB-E6039C0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628AB-9451-4DDD-8428-7C99BC1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17" name="kicker-Build And Run-marker">
            <a:extLst xmlns:a="http://schemas.openxmlformats.org/drawingml/2006/main">
              <a:ext uri="{FF2B5EF4-FFF2-40B4-BE49-F238E27FC236}">
                <a16:creationId xmlns:a16="http://schemas.microsoft.com/office/drawing/2014/main" id="{8A84E0F7-3673-471D-86A9-2E3BB7F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Build And Run-label">
            <a:extLst xmlns:a="http://schemas.openxmlformats.org/drawingml/2006/main">
              <a:ext uri="{FF2B5EF4-FFF2-40B4-BE49-F238E27FC236}">
                <a16:creationId xmlns:a16="http://schemas.microsoft.com/office/drawing/2014/main" id="{F4B1D306-6B46-4522-A14B-56FCBE5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BUILD AND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FD260-9376-4D06-986A-34346D2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四个 C++17 程序独立编译、统一传入数据文件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18E2F-94CD-40FC-9B67-E356411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3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3D380-E953-4FA5-B49A-608454B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9944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g++ -std=c++17 -O2 -Wall -Wextra -pedantic src/greedy-knapsack01.cpp -o greedy-knapsack01</a:t>
            </a:r>
          </a:p>
          <a:p xmlns:a="http://schemas.openxmlformats.org/drawingml/2006/main">
            <a:pPr algn="l">
              <a:def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g++ -std=c++17 -O2 -Wall -Wextra -pedantic src/dp-knapsack01.cpp -o dp-knapsack01</a:t>
            </a:r>
          </a:p>
          <a:p xmlns:a="http://schemas.openxmlformats.org/drawingml/2006/main">
            <a:pPr algn="l">
              <a:def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g++ -std=c++17 -O2 -Wall -Wextra -pedantic src/backtracking-knapsack01.cpp -o backtracking-knapsack01</a:t>
            </a:r>
          </a:p>
          <a:p xmlns:a="http://schemas.openxmlformats.org/drawingml/2006/main">
            <a:pPr algn="l">
              <a:def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g++ -std=c++17 -O2 -Wall -Wextra -pedantic src/branch_bound-knapsack01.cpp -o branch_bound-knapsack01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D7E7FF"/>
                </a:solidFill>
                <a:latin typeface="Cascadia Mono"/>
                <a:ea typeface="Cascadia Mono"/>
                <a:cs typeface="Cascadia Mono"/>
              </a:rPr>
              <a:t>./dp-knapsack01 data/knapsack01-FSU-03.txt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B4435-0EC5-4985-B574-03004E7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运行结果直接输出 CSV，后续按算法和数据集保存为 experiments 下的结果文件。</a:t>
            </a:r>
          </a:p>
        </p:txBody>
      </p:sp>
    </p:spTree>
    <p:extLst>
      <p:ext uri="{BB962C8B-B14F-4D97-AF65-F5344CB8AC3E}">
        <p14:creationId xmlns:p14="http://schemas.microsoft.com/office/powerpoint/2010/main" val="149251158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4F0D6-0F44-4ADF-A094-174C84A6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75ADF-FE3B-46B9-B071-1C93A798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DEC87-BDEA-42DB-9D6C-1E775FF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0AC11-AB79-4124-BEEC-7E66D17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C06AE-4A4E-439F-8034-ACD77D8A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86D57-8DA1-4C84-A984-1F23508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E5A43-F4BF-4A73-B19E-BFF6EE7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B4254-7FC0-43E9-986B-3401357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7A5DE-352A-4DE6-ADCB-1597232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6708B-0D36-4323-8E8B-C5244B2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9203A-427D-48F0-8EB1-D2809ADE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BA140-AD37-439C-B8D1-63AEDF2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9D8C6-59EF-46BF-944B-630E8D56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D5459-571D-4870-A276-5E53F77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3A392-8AE9-4EEE-8584-A2A35CB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92FA1-E417-4EAE-BE62-0D0A17B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17" name="kicker-Result Files-marker">
            <a:extLst xmlns:a="http://schemas.openxmlformats.org/drawingml/2006/main">
              <a:ext uri="{FF2B5EF4-FFF2-40B4-BE49-F238E27FC236}">
                <a16:creationId xmlns:a16="http://schemas.microsoft.com/office/drawing/2014/main" id="{200AB0F2-E6A4-42D0-90A3-BA49BBB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Result Files-label">
            <a:extLst xmlns:a="http://schemas.openxmlformats.org/drawingml/2006/main">
              <a:ext uri="{FF2B5EF4-FFF2-40B4-BE49-F238E27FC236}">
                <a16:creationId xmlns:a16="http://schemas.microsoft.com/office/drawing/2014/main" id="{4CBE9BD9-74C4-4929-A2A0-FD41DC5B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RESULT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5C658-392D-428A-A56C-06EB7DA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单项结果文件汇总为 summary-knapsack01-FSU.csv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28E99-E989-47CB-BFD5-2C51D1F8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18211-9798-496A-B9AF-33F8E0D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E6EF6-8992-48A6-8BCD-4262184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C77AF-ADA2-49F9-B015-07C9795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8020B-895E-4884-A61A-7C5D381A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4D209-C611-4E76-A1D7-2CDB558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单项结果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6C74E-5046-4FD7-A6B9-23D3E9E3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6D8DF-AB17-4033-9AD1-CC766735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dp-knapsack01-FSU-03-capacity6404180.csv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80871-FEB1-4479-8745-C15C6420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0B987-2BF8-442C-93A6-F052FDAA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单项结果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03BB4-0B7F-4692-9D99-88E07334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F5983-36C5-43E7-A389-3E991530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branch_bound-knapsack01-FSU-02-capacity750.csv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8265D-9128-4CD4-8E19-1F220F2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20A430-23B5-4B01-BDCF-3E616658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汇总结果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78B51-DAA4-49E1-8842-E9EEFAD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53700-7A30-402E-BE4D-3009A02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summary-knapsack01-FSU.csv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C8008-122A-4AD3-B256-EFA1D83B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CSV 字段覆盖 algorithm、dataset、n、capacity、known_optimum、objective、total_weight、relative_error、runtime_ms、nodes、pruned、selected_items、status。</a:t>
            </a:r>
          </a:p>
        </p:txBody>
      </p:sp>
    </p:spTree>
    <p:extLst>
      <p:ext uri="{BB962C8B-B14F-4D97-AF65-F5344CB8AC3E}">
        <p14:creationId xmlns:p14="http://schemas.microsoft.com/office/powerpoint/2010/main" val="13133702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D6707-E564-4E03-AD97-68ECEF0C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C20FA-8CF0-4D7B-97ED-D3C04B1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BD56D-AFEF-4F97-AD48-C8CA2E1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B7511-C901-4C06-BB0D-B19B41AC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FAEB7-CD86-42D7-9D99-E1D82F7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91BD0-8D8B-4E0C-8D54-1ECF846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0EAE-D6A5-4B9D-88E2-746D01B5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F79E8-9FF3-4251-9850-59B5C2E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81197-CB19-45D1-92F1-6092C30C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86C9A-C75D-4E09-A536-F91B87BA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EB7A1-D2E6-4D8D-8A10-CFD0309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98D83-17AD-4345-B81D-693D959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14D7B-8D63-4146-8F03-DDE1C50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EACB4-75AF-4A48-B41B-95E5B8AA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9619A-A499-40BB-8D7A-953BE75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252EB-55D2-4F89-ACE7-EC0E083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17" name="kicker-Result Table-marker">
            <a:extLst xmlns:a="http://schemas.openxmlformats.org/drawingml/2006/main">
              <a:ext uri="{FF2B5EF4-FFF2-40B4-BE49-F238E27FC236}">
                <a16:creationId xmlns:a16="http://schemas.microsoft.com/office/drawing/2014/main" id="{2543DEE2-80C2-4429-B486-B8FD3B8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Result Table-label">
            <a:extLst xmlns:a="http://schemas.openxmlformats.org/drawingml/2006/main">
              <a:ext uri="{FF2B5EF4-FFF2-40B4-BE49-F238E27FC236}">
                <a16:creationId xmlns:a16="http://schemas.microsoft.com/office/drawing/2014/main" id="{A52CDC2B-D53D-4658-8E1B-799B187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RESULT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85719-E4AA-4639-AE42-20EE1E2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12 条实验记录构成后续分析的唯一数据来源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7FC78-5EFF-456E-AC59-6068B9F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315F9-3D51-45FF-BE07-44996705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数据集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02042-26DA-4F57-AF71-A6013993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9567C-F2FA-4BE2-8323-5B43DAF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62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A65D5-6510-419C-803F-30019E3A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85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C010A-540F-4E90-A3CE-9F3AAE7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62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已知最优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FC29C-DF16-4EA1-BA2C-ECEC3EE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49B08-AD66-4B70-A6EF-1CC997C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算法值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0B4EC-74E2-4D70-8228-967B070E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D3398-3E53-4E71-901D-1094AD69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相对误差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F604D-955A-4350-881F-C456995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85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AC0B2-DAC3-4948-9C61-314105B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621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运行时间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D06B93-C92F-4E71-86EB-FFEA9A7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FFCCA-9CD0-43CD-B145-054B88B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节点数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DA9C86-34B4-49C7-A514-43A333F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87347F-03F0-4A98-B2D2-33CF896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剪枝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2ED2B2-A046-4171-BA39-BB22A06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1D69C-7287-49C2-A94E-0CB68D7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092E79-BE25-4B68-B7B6-DB151B4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59D5E6-57F8-4F58-916F-A930B89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FC0FAB-D042-4509-9BD5-116555D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EA1D8-8232-4CFC-8BF2-E58AC90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513301-6025-4E49-B5EB-0392C464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1F8D16-659A-4AF6-B92C-83B2F8AF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23517F-0D05-4B81-B669-6309C97B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C73D83-06AF-40DB-898C-CF29461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E5FBB-7C87-4846-82EA-BDC3FFA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215C5-6552-4D2C-906F-7BC3D8E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0.001129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98A651-00D1-4366-AA78-C531C29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6D2A75-7DD3-449B-9912-22725D9F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4B9EE0-6418-48E9-8F58-2E794BFC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D05CB7-4AAF-44B4-BDE7-2524299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4303BF-FE1C-4838-BE17-868ADAA8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1B24C7-AFD0-4BF0-82E7-E41232F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6222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4AD222-B95B-43B4-81C1-990AB3D4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0507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475989-0B16-4532-A86A-A18F807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135CA4-912F-4CA6-98F6-088F549F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050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634FF0-3A48-480D-8368-04D5AF4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622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9E8E24-A62E-439B-B3EC-51B77BD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050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D9CE0A-AAD1-43A1-A49A-0C1EE3A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622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E807B0-12AD-4FBA-BA03-F6AF661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F0DD65-F4EF-4BC4-B675-91FF7C01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6222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C8C254-E35C-4D56-9BE0-B42A239F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507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309898-1288-43D8-9E63-19B1295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6222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0.010735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CFA1BE-0008-4DCC-8336-7F3FC79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0507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BA01DE-92C5-4A0B-85FE-891D0210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1660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3E6BD9-78CE-4F72-924B-676CD7E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0507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5B99EC-68CF-4764-8043-63028A62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6222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E997D8-71EF-4AED-8DE1-5511141C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B24540-3E2B-4E9D-BEDF-519E1DE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2C3945-635A-4C7D-AF08-574F4EE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BC6AFC-1656-4C0D-AA68-FC321C1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1F9DD4-2C97-4FCF-9A94-0ADB047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03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D8E7E3-70ED-459E-9ED0-E6BED8C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AC1CE7-A5ED-4320-AC42-7FC6FE7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5DF3A8-FF6D-4DC4-B017-4356FA87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905C7F-A5F7-43D4-AE77-70F8DCA0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D334B4-A7C0-4332-BF1F-DE14A9B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DE1245-D1A6-4D69-BCAD-D2B7BCE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28FA56-808B-4A33-B640-CF964C6A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0.002948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5F0976-1484-441F-82C2-660B130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2A5723-ADB1-4B82-8D3C-FCD856EE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570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A1E10D-2F7E-4092-9D65-BB02572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E05F54-5B09-4C83-89CB-8FC6B23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7415D6-E985-4DFC-B8CC-E1B99803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7F741C8-A46E-4D5A-8F22-AEB7E643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5277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1DC9E4-3202-47E0-B29A-ED140DD4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024DDC-EB84-4E35-98B4-6F671D7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A507D4-BCF7-4905-9F5F-C7D53E0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3EE64AE-28D8-4748-A817-708E484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527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A5F486-D4A2-4C99-8F8E-06BE4336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956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02EFD2-5D8A-4010-8B86-4E724552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527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309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B34CA8-2A21-4FF6-BE61-47ED1D6D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70B40C-124E-4462-A560-7552E332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5277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51274-D22D-49FA-AC5E-4417DA8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9562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C3F136-91A5-42E5-85C1-24D9AFF4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5277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0.005137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6C086F-ED4D-4941-BA86-6547D9F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93C3C0-B96A-4B54-8E36-B154CE2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5277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C532B7-93C1-4E77-9535-40697BD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9562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7C426F-7293-4466-A99C-588D706F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5277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7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C1F136-7642-4A79-97E2-863FEE84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49506B-578F-415B-B8E6-ABD72061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362E65-AAEB-477E-80A5-4C9DFBB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9E12AF-4C93-45FD-A523-2A40C74A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6C62EC-46F8-4E9B-8C74-5BCC3C5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909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E825515-763E-4FE5-A9CC-C47C4B6E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7D1657-08CA-45C7-B2B2-76B40AB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E466B7-9FBD-4C21-ABBB-994AD0B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480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1441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8AC579-0694-4520-A6BC-59557E79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B4F4853-B965-48E9-8B95-F98612C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0.01165981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CF64B1-C169-4B43-97E3-CC0B9605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F708418-0CCC-4695-817C-089290A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0.002057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3CE81CE-494B-49DC-B0B2-F83FE95A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207292-7538-4E76-8E1E-B8F4C971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7122DF-A73D-44A8-BDC7-FE06BD16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1BF01B-7918-4AF7-87F2-F2424C12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4ECF44C-22AE-4C7C-A091-639EC98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EE03FFE-A039-4E50-8C2D-AA55B93D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4DFB84-4B2D-4A1F-95F6-784D954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745DF70-9593-474E-8C5D-6ECBFB42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433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C82213C-E88E-4DB7-874C-AF886606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861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46A963-7A38-45DA-8607-64F36FC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433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A98B194-E741-448B-8638-703E4FA3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861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A7FA05-5E0C-4D34-9523-A3CEF5C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433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CA9C95F-883D-409E-8644-058562A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8617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8C3552D-BF76-434F-A622-C35A8548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4332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DC3DA0-9DD7-4D56-ADED-6D4A0D8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8617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B9AFBF7-9D29-43F8-93BE-CFFF542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4332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0.025302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A7FBB3D-5A3C-4191-81E7-A82E5C6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8617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3087D3C-410E-472F-B3C6-032D522A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11265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444660E-C922-41EB-A663-DC70E1C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B24B35-82C7-40E1-BDF8-80EE411E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B47CFBA-61DC-40E0-AA48-AF36745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9BC595A-5C50-4C19-903D-F4B5DB22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3A3AE37-FBDB-456A-9ADB-89AFC1C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39F8352-627E-4C47-AD0F-F0C670F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A4FF8B2-4CAB-4FF5-9F4C-18A58C6B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B09C629-868C-41B1-AA4B-9308FD77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5012C5A-ED2D-441B-B90C-9B80CD2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814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D30AB68-874E-4DB0-898F-B99B4A2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386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F997AF7-56A0-4D5B-BE06-35C0CCC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9C63641-13EE-4DDA-B067-A2AE7C4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FC7B792-2315-4AAA-86BC-681A07CB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8145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37E38AC-F689-49E2-AD38-A2ABB227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860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0.106135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B03A2AC-73B7-494A-A4F4-95F8878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8D3AA75-98BC-4A78-BCDE-28E9E224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44448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6BC042D-3C7D-42E2-A0A5-A39A762F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C37CED8-E9A5-4352-9EAD-B1395D4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80C3370-FB49-4EA1-AC2B-D471E976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1490636-EFE8-4EDA-9945-8C057DAE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D10E8D5-DC56-4C64-B2C1-B89DF9A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7672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AAA7288-CE34-4BF1-B472-32EBCFD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B9DF55A-2E4A-41CA-AD62-0829765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47E28E7-9EC5-4537-BA22-DA0F81A0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0FEF7FC-C727-403C-BA8B-9598248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767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CB34982-9524-44C9-970E-D595666D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1458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269070-A02B-432E-A3B3-8C92FD74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767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48FD636-C33E-4838-8D21-F9E00FB7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0FBC5CE-C40D-4F88-AD54-6E92B167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7672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61219E9-8830-4206-8EBD-1B9DCCB9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3387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0.030877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85B1731-C530-4D16-A18A-69641652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7672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AB83551-4980-4A7B-9D5C-CE63B54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3387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207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C8BE8B2-FCA2-418E-ADAB-D873FEF9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7672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52DDB08-DCA0-40E2-915E-DDF5841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3387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104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5B192B0-0C02-4B31-BCE4-BF3EC4F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25573B6-357B-4C21-A233-F35B67DA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FB8D1B4-C310-4A61-BBE7-005DE37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4DAB6FE-4DEB-496D-BB96-35B4221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B4F59C4-4D09-4094-9A97-82AD5F62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FE9A2D2-F1A9-4B73-BEF5-69C20E4E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FB741AA-6F92-4B36-B5F3-05738E4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B0D13B4-7ABC-4827-88B8-AADA08B6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2915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13415886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8D0C1A9-9F28-4F35-9DC1-639997AB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664652C-5994-42D9-910B-16D4AB1C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0.00983151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D3FC0E8-43ED-4720-91B1-ED33DEB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5E5637E-AEF7-484B-B21E-94CFB18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0.004850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6DF76AD-8DDC-4745-BF8B-EDCF3E8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21453C8-E6E4-440E-A5E5-A015F9F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9592DE4-A164-474C-9ABB-A501BE0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6E7CDE5-C5FD-4D94-A495-D60B0304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B2885B2-552D-4E95-B89F-01C17B4E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11570D-C5DB-48B4-8F56-B2AF911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BD44EB1-978B-40F3-83D0-D608E79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6727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8762D18-DCFF-4BEA-A7BE-F099DDD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244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5BA0AA4-DA6A-4980-90AD-7D262EEB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672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900B5BC-4924-48AA-9C0D-D4CA505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178943A-4112-4AF4-B4E2-BB3F2D9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672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C00A23C-48FB-413F-9368-EC2261BE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2442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044C599-C8BE-4C42-8C8D-C59F8C2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6727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06B78E3-D29B-49D6-A18B-06A3D73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2442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79D1F2C-3CF6-4974-AA39-C059B0F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6727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78D9957-8936-41FB-8EA8-080EE71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2442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455.340946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6698D6E-43FF-4D93-AE7F-613F7F8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6727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8D9B571-35EB-49F0-B2F3-0F8C9A2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244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153700344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BB46EB5-0AAB-48E2-86FC-2CFF7D5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6727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F5837B3-B9D7-4162-8757-8AE3502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2442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BC85BC3-53FE-4779-827F-EDDC750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9E95592-1724-45ED-AE8E-80102D14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15B1439-EE1E-4265-BFA6-7658160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7F4E766-6612-4A7E-A741-E6525A9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13686A8-C978-4062-BD2D-F78CE87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483C1CE7-06AF-48A0-B035-3E863B0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A408041-A967-4849-80BA-76619B6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62550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C6DD74B-3C34-4C10-8A78-9F20634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9700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90B07A3-6BCF-45D3-9CF7-E90FC11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625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BABFEB7-9BEC-49DC-BB74-DE06B3B3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0D63F7D-BB4A-440F-92A7-08005D97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6255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1E35DBF-5192-4673-9947-3C4F45C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70.338467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8D63E82-EAF9-44B9-98FE-CF39DD74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62550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FE1CC66-A712-4177-8060-F9F04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970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17770698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1251D12-E929-4FCC-B03B-DF330746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62550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07EDD8D-9F25-4094-83EA-F882E95F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2137FC6-A867-4881-9C3A-CE98465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57825"/>
            <a:ext cx="781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45D2EFE-AB78-48EE-9A5A-8760FE3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14975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DB56752-A8BD-4BCA-BA60-F57C909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57825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8590377-A544-4510-949A-2F618F00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1497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5C8B144-38EE-4BB7-94FC-5F20B88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578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0AF56AF-0E68-4B3C-8901-488B876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149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EC28DF4-25C9-4661-8238-68753E3B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5782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75391E0-8B68-4971-A827-FC155D3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14975"/>
            <a:ext cx="876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13549094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E5442D8-8DF4-4306-9DF1-8FD99C70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578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2016648-8C36-4807-913B-15A58F6F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14975"/>
            <a:ext cx="1066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FB70593-1B13-4C98-90DD-BE4E814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57825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FBFA18D-D027-4345-BCDB-720A344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14975"/>
            <a:ext cx="1162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0.079252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A5511EE-34E2-433E-ACC9-2063E0C9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57825"/>
            <a:ext cx="1466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3ED0A7E-0C11-49DB-95C1-6A1C6711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1497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425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ACAC31B-A72B-4EAC-9AAB-7A01432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57825"/>
            <a:ext cx="819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25B557-68A4-4F54-A344-7307236F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14975"/>
            <a:ext cx="628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213</a:t>
            </a:r>
          </a:p>
        </p:txBody>
      </p:sp>
    </p:spTree>
    <p:extLst>
      <p:ext uri="{BB962C8B-B14F-4D97-AF65-F5344CB8AC3E}">
        <p14:creationId xmlns:p14="http://schemas.microsoft.com/office/powerpoint/2010/main" val="227940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A161F-D88E-4A43-92FE-6100B16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363E7-0DEB-41EC-8457-EAAAC138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93C5-4659-4E8D-A19C-9903A530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6FE22-3D04-491E-9790-2BF60483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AF783-40BF-4347-9056-786FD44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BA339-16E4-49D4-9019-99F42A7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281E3-D936-4A3A-B062-2D2131A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EC5FE-AEFC-4C7D-BEB4-F4F9302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458DD-9125-4638-A6D7-368B2942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A7E41-293E-4E5A-87F3-238B792A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23E58-B425-4AB6-95A8-5C0E68D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A2D71-A588-4BD8-8A5B-069CEC1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1A41B-A85A-4BCE-B52D-F456B004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6B076-DEA1-4367-92C5-475B36CA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42F06-C77F-49C2-98B0-69F2E86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0C5BA-7256-43FA-9700-6AF78156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17" name="kicker-Solution Quality-marker">
            <a:extLst xmlns:a="http://schemas.openxmlformats.org/drawingml/2006/main">
              <a:ext uri="{FF2B5EF4-FFF2-40B4-BE49-F238E27FC236}">
                <a16:creationId xmlns:a16="http://schemas.microsoft.com/office/drawing/2014/main" id="{955B91BB-0785-4C69-ABBC-AE94EA0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Solution Quality-label">
            <a:extLst xmlns:a="http://schemas.openxmlformats.org/drawingml/2006/main">
              <a:ext uri="{FF2B5EF4-FFF2-40B4-BE49-F238E27FC236}">
                <a16:creationId xmlns:a16="http://schemas.microsoft.com/office/drawing/2014/main" id="{B8BBEF04-69F2-417C-905D-11AE4CF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SOLUTION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38CF2-C481-44CC-8CB7-A6B21AD9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贪心在两组数据上有误差，三种精确算法均达到已知最优值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DC0FC-D387-47A2-9178-9AF29BF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976D2-1885-4CB5-AFE9-A0ADAD1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8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B86B"/>
                </a:solidFill>
                <a:latin typeface="Microsoft YaHei UI"/>
                <a:ea typeface="Microsoft YaHei UI"/>
                <a:cs typeface="Microsoft YaHei UI"/>
              </a:rPr>
              <a:t>贪心相对误差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8E01D-7D08-453B-954E-BFB893B4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146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9C3DF-C3C1-4BF4-86F1-E5AB72EE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52775"/>
            <a:ext cx="1866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FAC22-1CF4-4938-B279-DEB1FFC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527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0C928-0B78-4C41-90E1-83E8CC9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956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0.00000000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8B830-4D93-453F-97B6-EF729CF9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91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F92D8-11EC-4D77-85B2-8B0D96BF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97275"/>
            <a:ext cx="1866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3CE99-E086-4D78-A853-DAAA842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97275"/>
            <a:ext cx="18139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7CB06-C2E4-44C1-8CD9-53927C14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401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0.01165981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54725-949C-4150-B998-23953A75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36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9D85CB-29A6-4853-8080-37EAE6C5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41775"/>
            <a:ext cx="1866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C095B2-D210-4CA1-98FE-CCC5D5B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41775"/>
            <a:ext cx="152953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DB968E-854F-4430-B8A2-CB13206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846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0.00983151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F7C9D8-86B7-4C1A-8852-8F827AA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7EB725-9304-47F4-AB69-F25531D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7655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2550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9 / 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18D293-55FF-4B74-B809-FB113C42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动态规划、回溯、分支限界在三组数据上均达到已知最优值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711DC6-7C7C-4C96-A1F5-89A3DB6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结论：价值重量比排序可快速得到高质量可行解，但不能保证全局最优。</a:t>
            </a:r>
          </a:p>
        </p:txBody>
      </p:sp>
    </p:spTree>
    <p:extLst>
      <p:ext uri="{BB962C8B-B14F-4D97-AF65-F5344CB8AC3E}">
        <p14:creationId xmlns:p14="http://schemas.microsoft.com/office/powerpoint/2010/main" val="17266194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E04A9-1350-4BAC-9823-B629F29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82D8-4FEE-4702-A569-1B8D213C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BBB22-577D-4405-9DC5-BF1B512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89928-4B85-426A-BF34-B19634F9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2653-98C1-412E-B65D-5619C2E3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3CFDA-D287-49E4-985E-8409D7D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046E6-CD46-49C2-867D-E8EBAE7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CDB7C-AE26-49A8-A575-716EDBE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8A906-8A37-482A-94C3-2D833BE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AE0CF-8DBC-41DE-8695-4EF3DB3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0BB15-FF09-4C1D-8056-979C252C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70DC9-0091-4809-9647-4C1F2ECA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A5E32-16AD-4EFD-AA0E-28DE6A5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A73D4-F9E4-409F-9545-5B9BC98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20C62-9161-459B-B250-AD47E68A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8AEA4-0A20-412C-9D8F-E5538D1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17" name="kicker-Runtime-marker">
            <a:extLst xmlns:a="http://schemas.openxmlformats.org/drawingml/2006/main">
              <a:ext uri="{FF2B5EF4-FFF2-40B4-BE49-F238E27FC236}">
                <a16:creationId xmlns:a16="http://schemas.microsoft.com/office/drawing/2014/main" id="{5AF8719A-10A8-4758-B8C9-4DB610A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Runtime-label">
            <a:extLst xmlns:a="http://schemas.openxmlformats.org/drawingml/2006/main">
              <a:ext uri="{FF2B5EF4-FFF2-40B4-BE49-F238E27FC236}">
                <a16:creationId xmlns:a16="http://schemas.microsoft.com/office/drawing/2014/main" id="{A03DDCD0-74C7-43E4-8E3B-EDB20067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98B92-0912-4C1C-AA88-59394FD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 的大容量让动态规划运行时间明显上升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511AB-7D40-4BD6-B03A-6FF0A20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D556B-E0A6-4735-89AC-69BB570C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FSU-01 runtime_ms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68B18-47C3-4830-AC3B-18E61D8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51FB5-6365-45EA-9AD8-0B6245E6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1467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C83AC-647A-49D6-8B5A-C1592314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14675"/>
            <a:ext cx="5008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066CF-BDCA-4DBD-B026-8F4906C5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5752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0.001129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42F75-0244-4395-8C5A-525F3F0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900DA-F49A-45D2-809F-0E8790DC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971E5-B8FD-42CA-A152-93B3644E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E15420-A422-496E-89D1-39F921DA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909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0.010735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998D3-B866-44FA-8114-83358A60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0CD50A-D11C-4CF9-B6E1-D099215F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8142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70FC3-6FBF-4653-9A5A-17F5642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81425"/>
            <a:ext cx="13078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B29D1-76AE-4F32-9E90-75130A9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2427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0.002948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2566C-3A7F-41C6-BFB9-D7467404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F123F-6905-43AA-9A26-6D57FB16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40B9C-638C-4FC3-BC23-C657EA4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22789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58205-95FF-41D5-9D4D-444C1080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0.005137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AC6728-938A-4EEB-B2CD-44A8DCE1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7D1F94-04AC-4D3F-AB21-7BD111B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FSU-02 runtime_ms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DA79D7-AD96-4138-8CB5-3AC19B9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C1D68-DB9E-48C6-93C1-165AD6E5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EA1DCB-CE58-4C27-8A7F-E2FBEA16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6A7CE-4B22-4A82-880C-6E2A7978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0.002057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654B11-B75B-4314-A320-0F55E174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40B7CA-856E-4AB6-B0BF-7C3CE35A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930EB-2BF5-4B43-9CFB-7B25CCC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11353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D18245-99A6-48AC-B7B9-408B1340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0.025302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C5C0EA-81BE-4105-854D-79563FBE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593739-974C-4AF5-B547-C6D251F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7EC190-9415-4FA8-A58F-12713EE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D119FD-0F28-4643-82E0-F0B3417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2427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0.106135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C85CB2-4323-4827-9836-9B7EDD13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DB47C4-B7B1-4170-B6BF-1E718D4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5A0994-68D5-47F8-B494-435D1A29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3855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0DA392-D43F-43C1-904E-9D6E6C6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0.030877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0D3441-C546-41FF-BB6D-E803927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8E3188-64EF-4BC8-9608-7967F659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FSU-03 runtime_ms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8816AD-14A7-4883-8BE4-19F7B81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765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684F1F-A80C-4155-B52E-3CEB275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7F6EB2-23A6-4216-BE25-EC174B6F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512B45-D866-4521-9225-4D7A084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5752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0.004850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EC1A3E-602B-4661-9702-393616A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F00315-C9AF-4C38-88D5-3012FF6D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288682-671D-47FC-95A5-6773F06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64AED9-A11B-47CB-9D18-B1BE1E1B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909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455.340946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0A660A-E50E-4BA5-8B9E-1E28E49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43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A86B71-B7C9-4AFF-B38C-4416FA9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81425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BBD279-1DF8-4A37-9C0A-45E469EA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81425"/>
            <a:ext cx="7356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490041-0115-43AB-9FB8-3AA2897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2427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70.338467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EAC2D9-D295-4CAE-9422-41E6262B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2A6DED-543C-4E81-9114-6B16B897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5EE898-C771-4203-8C4A-0FDB441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63AC86-D700-4854-AFA1-1242FEF6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0.079252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647279-47DB-4C70-AF0F-703C6DC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FSU-03：dynamic_programming = 455.340946 ms，backtracking = 70.338467 ms，branch_and_bound = 0.079252 ms。</a:t>
            </a:r>
          </a:p>
        </p:txBody>
      </p:sp>
    </p:spTree>
    <p:extLst>
      <p:ext uri="{BB962C8B-B14F-4D97-AF65-F5344CB8AC3E}">
        <p14:creationId xmlns:p14="http://schemas.microsoft.com/office/powerpoint/2010/main" val="4185927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1EDE9-7826-438F-952E-D4DE035F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1C2CC-0978-4E56-AD13-D024AFA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329A1-8B06-42E6-A85D-8A85EA2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1F8F0-9160-4F21-B0E0-7770383E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A853F-ECBF-4EB8-A213-4AFBB81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AC68D-4CF9-40A3-91C4-7EA1623B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92B9B-2284-47B3-BA2D-2FB156FD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A8DA9-7E87-485B-BDE2-56E8F3D7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B034-3FF0-4A83-9C1F-09F7EA6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0A677-E735-4495-98AA-52C5703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E8033-E468-4ACB-B91F-9D97E55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DB35E-A929-450A-B623-79728A6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B0819-52DB-487B-A8D4-DBFADE7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B6A6D-68FE-4069-9E6A-CA09EBA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D4E52-CE0B-45E6-BF46-F0345DD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DC0C9-6E8F-421C-893C-487A024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17" name="kicker-Search Nodes-marker">
            <a:extLst xmlns:a="http://schemas.openxmlformats.org/drawingml/2006/main">
              <a:ext uri="{FF2B5EF4-FFF2-40B4-BE49-F238E27FC236}">
                <a16:creationId xmlns:a16="http://schemas.microsoft.com/office/drawing/2014/main" id="{5FE897BE-84BD-4CD6-AF15-214C5AA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Search Nodes-label">
            <a:extLst xmlns:a="http://schemas.openxmlformats.org/drawingml/2006/main">
              <a:ext uri="{FF2B5EF4-FFF2-40B4-BE49-F238E27FC236}">
                <a16:creationId xmlns:a16="http://schemas.microsoft.com/office/drawing/2014/main" id="{37B3154E-A5E5-417B-8024-30BF78D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SEARCH NODES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9C3E6-030D-41CF-B408-F1B757B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 中分支限界节点数远低于普通回溯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1DA98-5159-4770-957F-B4E1185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590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2"/>
          </a:solidFill>
          <a:ln xmlns:a="http://schemas.openxmlformats.org/drawingml/2006/main" w="9525">
            <a:solidFill>
              <a:srgbClr val="7CFF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1A435-1B33-4E2E-8901-ABD4DB02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D1E17-03D6-45D4-97B0-185FAD01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2105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F1D6D-467A-43CD-9046-B1BF7D36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DF23-8276-4127-969E-203704D0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6D5A4-0A72-459C-8636-0AE46DE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9463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20056-29C5-436C-8A6E-4659169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7563"/>
            <a:ext cx="2105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B6AB1-FC07-43F1-92B2-8BFCB3B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7563"/>
            <a:ext cx="2105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BD47F-B916-49CA-AF37-B7C33BA2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00413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153700344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B2D9C-DBBE-43E1-B988-790A1C3A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2655A9-205B-403C-8C3A-B6D7312A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2105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1CD04-6787-4D7E-8232-3497E59B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24338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5414D-1AF6-4A58-9547-0D8E4EA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957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17770698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7AA609-73F9-42F3-8835-1ECFB92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0038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B38B1-37A0-4A6E-8BAB-A2F168F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8138"/>
            <a:ext cx="2105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212283-6E36-4C83-AFD1-AF2DF576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8138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1A7A6-B767-4221-B168-4DBF492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0988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425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FEFA3E-9DCB-4170-989D-810939D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64A8D-07B9-4C6E-AFF6-9246780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153,700,344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E8C91-84CB-414B-9175-6616A23D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动态规划状态数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D59C81-53BD-425A-9DBB-25F3175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3D244A-41DB-4900-A5A1-D3DEC5A2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B8A5FF"/>
                </a:solidFill>
                <a:latin typeface="Cascadia Mono"/>
                <a:ea typeface="Cascadia Mono"/>
                <a:cs typeface="Cascadia Mono"/>
              </a:rPr>
              <a:t>17,770,698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C40C89-530D-412C-B828-A20FB123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回溯节点数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ED2FBF-BA56-4BF2-8FA0-3BE3601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23278-E02B-41E0-8EC3-0946BDA5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425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6BABDA-8A95-497C-A096-973CE77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分支限界节点数</a:t>
            </a:r>
          </a:p>
        </p:txBody>
      </p:sp>
    </p:spTree>
    <p:extLst>
      <p:ext uri="{BB962C8B-B14F-4D97-AF65-F5344CB8AC3E}">
        <p14:creationId xmlns:p14="http://schemas.microsoft.com/office/powerpoint/2010/main" val="11534693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F35B3-8367-4530-B24E-6C73D81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0A70C-0C2B-4FED-A134-7A69FA10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FC1F1-F0AD-43A7-9A76-BD5D4B5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965FC-B0DA-4B73-9162-1D9A9F6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EB41B-059E-416F-83C3-34A190D9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A1F65-5D29-4B1D-B3B1-37D26DF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15286-8320-49E9-9B5D-A249FAF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68981-3109-45AD-8F1F-611F5CF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AA989-56F3-4494-9279-F0F8B53D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75463-9058-4D50-9506-1C093DC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3299-EE42-49F3-A9B4-64EEDE6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C7C58-D859-44DB-9385-CCF5E82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553C3-5F18-417D-AC27-575D073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BFA7D-8A65-4EDA-8ED1-49799CC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A132A-D99D-47A2-805D-AACE959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DAB1A-2D17-4A30-8916-6C23391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23</a:t>
            </a:r>
          </a:p>
        </p:txBody>
      </p:sp>
      <p:sp>
        <p:nvSpPr>
          <p:cNvPr id="17" name="kicker-Pruning-marker">
            <a:extLst xmlns:a="http://schemas.openxmlformats.org/drawingml/2006/main">
              <a:ext uri="{FF2B5EF4-FFF2-40B4-BE49-F238E27FC236}">
                <a16:creationId xmlns:a16="http://schemas.microsoft.com/office/drawing/2014/main" id="{DCFFD502-84E5-407C-838F-03B6CB6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Pruning-label">
            <a:extLst xmlns:a="http://schemas.openxmlformats.org/drawingml/2006/main">
              <a:ext uri="{FF2B5EF4-FFF2-40B4-BE49-F238E27FC236}">
                <a16:creationId xmlns:a16="http://schemas.microsoft.com/office/drawing/2014/main" id="{015698AB-28C3-45BD-AB68-A6429C4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PRUNING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B823F-7138-4C41-A750-49958AB1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分支限界的剪枝数随实例规模增大而更明显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C67F9-4014-4B6E-BDEE-00E18C4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CFABD-D32E-44A8-AF49-9CE63268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数据集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0B19C-C5A0-455F-9964-D1BFDDE3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7B89C-B878-4C06-BF82-197DE64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节点数 nodes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7D5BE-FFEB-4B11-8706-CBEC4299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B2E22-C0DA-4FBD-B586-32FD489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574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剪枝数 pruned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025CA-5B8A-4456-888B-84DD54C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7A18F-33EF-40B6-9DA6-4931FEA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CAED0-485A-46F2-BACD-DAEDBBC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B9FC9-F973-41AB-BF39-50575C45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1D65F-9498-43E2-8441-1FE1AEF0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0510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2A5AB-4F5A-4962-B6B4-F224A46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622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77D289-E4DC-4250-B8C7-FF865E5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CCF05-DEE1-44F2-8E02-AB0A3AE9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37B5D-1A70-4A5E-BC96-EFEE27B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5BE9D-20A5-49C9-8154-754E92F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743C6C-18CA-4038-AC50-ECC3F35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844959-12F8-445A-B404-773377DF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104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46D2AA-C28D-43F1-AB1F-2FA63AC5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E5DF04-D775-4E9F-8472-CD4E4988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FSU-03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DCBF11-C10B-4C2D-9894-08B15202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3860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C3050-3E4A-4E83-B07D-2D968318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425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C35A26-8993-4263-AB88-8AB472E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3860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B4432B-F325-43B2-96DC-35BC3D3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E0417F-F4DB-49F8-A964-6269A6B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DFC241-FB7E-48CC-9F18-0673196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425 / 213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5FB81F-649E-4849-8DE4-E8D087E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FSU-03 节点数 / 剪枝数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CD6A97-4EBB-4BD6-99E0-113D5CFB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上界函数越能准确排除不可能优于当前最优解的分支，搜索空间就越小。</a:t>
            </a:r>
          </a:p>
        </p:txBody>
      </p:sp>
    </p:spTree>
    <p:extLst>
      <p:ext uri="{BB962C8B-B14F-4D97-AF65-F5344CB8AC3E}">
        <p14:creationId xmlns:p14="http://schemas.microsoft.com/office/powerpoint/2010/main" val="46457947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30113-708D-4265-BB16-59D2EE56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86731-6EBD-46AE-A2A4-7EC897B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8088E-0EF7-4616-B74D-AB1D96F6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FFCC-8654-44AB-9368-CC0C1B1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3D8EF-4AAE-495A-909C-7982052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DDF5A-979B-481C-BF25-AD3BA7C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87D1E-1845-4421-A3AF-C8A99C8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1817A-7999-4450-AA7C-E7766D4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90A6B-87D2-42FF-B708-AF70A62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D9455-507F-46C2-A6B5-1F504C4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FB474-7147-4EB8-A3DC-7E08679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136F9-896B-444C-BADD-F8AFC703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7CAF9-0130-4D8F-866D-2D7C2E3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93C83-C2D0-4639-8AC5-4C21158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DC396-929A-4C27-800A-AE75DB93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8988E-7272-46A9-802B-B10D7314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17" name="kicker-Complexity-marker">
            <a:extLst xmlns:a="http://schemas.openxmlformats.org/drawingml/2006/main">
              <a:ext uri="{FF2B5EF4-FFF2-40B4-BE49-F238E27FC236}">
                <a16:creationId xmlns:a16="http://schemas.microsoft.com/office/drawing/2014/main" id="{137F44B9-56A2-453B-B2BF-E4D38B3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Complexity-label">
            <a:extLst xmlns:a="http://schemas.openxmlformats.org/drawingml/2006/main">
              <a:ext uri="{FF2B5EF4-FFF2-40B4-BE49-F238E27FC236}">
                <a16:creationId xmlns:a16="http://schemas.microsoft.com/office/drawing/2014/main" id="{978205AB-874E-405F-96BB-D63FEC2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COMPLEXITY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53C14-938A-4BDF-96DA-78F1DB5A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复杂度解释了不同算法适用场景的差异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C29EE-4889-42DD-AE64-F54DAC3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D7891-8362-4303-A384-1AE5D46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4CDAA-EFF3-4F94-AAA9-52494B0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76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82490-337E-4735-BF0D-F814A12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52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时间复杂度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9DAA7-7D11-480C-92C9-CAD4020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78107-AD82-4C8D-A469-0CF7C5D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空间复杂度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C9D4D-5E72-4204-BF03-1EE65E4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5DD00-68C2-4901-BF47-76F6370E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保证最优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7AD3A-43DA-47EE-B8A2-32E4527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D45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A930C-37EE-4311-BA53-C989BE8D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526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8D5FF"/>
                </a:solidFill>
                <a:latin typeface="Microsoft YaHei UI"/>
                <a:ea typeface="Microsoft YaHei UI"/>
                <a:cs typeface="Microsoft YaHei U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08834-8CF9-4540-8122-9FEFF61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8B06F-47B9-4F0D-A830-30C73BCE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贪心算法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774B4D-6092-4386-9F30-33FF2AAD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00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B98FB1-F87B-43F5-9A39-D48A3FDF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574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O(n log n)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077425-96A0-4FAA-9065-95FFA46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FE3BE-C8FD-40FC-B279-46F54F8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O(n)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A6DE5-0C80-4FAE-AAFB-C96F9E01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8AF2F-9270-4773-93A3-33BDB68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2CCEF-1992-4CDB-97F8-A50A2AA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D1C373-74D9-42B1-BDFE-818F494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可能偏离最优解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E04712-FD1B-4BD8-85EB-355767BD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F50D65-5AFC-4BC7-9F5E-9743B09D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动态规划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6ADC8E-3952-42B0-BD4A-E1A3F95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52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6BB602-8BA5-4B55-A2B0-95B0713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O(nC)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8C3F02-D04D-4A59-A4D1-8D62C5F5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A3D2B2-96B1-4E59-9C3F-B6802BD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99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O(nC) 用于恢复路径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698E6E-E743-459A-94FD-552F1CB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EF4F0E-C70B-4580-96AD-D7D4F4AA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99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7B8FF6-7664-46F8-AA12-98735BB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52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D06A7-B2CB-4BA5-B112-B5C03CD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990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对容量数值敏感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B46C7C-6627-4C0F-826B-C88A258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E2F9EF-8569-484D-BE02-9EF9BB5C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回溯算法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460AAD-768D-47B5-8A5F-4C89F9A7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5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E4AE7D-F00A-4994-ABA7-F1DAF29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623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O(2^n)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174020-48B8-4DB8-AAC8-8214454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1698B9-3978-4236-A93C-5B502808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O(n)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185DF7-8DBD-4654-A17C-E9FAE525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052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CF6793-463F-48A7-9DF7-F65B41A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623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571468-557A-4901-92D2-45BF87F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556F0E-B0FE-4EB7-B815-BC50A74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623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物品数增加时增长迅速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AA6C69-2C86-4FFD-83EF-0B848CC5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B8A626-5A17-4FDB-B765-9851FAB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分支限界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5D6101-FE3A-4A33-8902-78CAADD1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57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4CD5C2-9D19-43E6-A362-1B9B265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148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最坏 O(2^n)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AAE158-A73C-4CF4-8F0B-43B6970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57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836C7A-0665-4B85-A18E-3135EA02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与优先队列规模有关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62A402-B053-4BBA-B535-B1F3545A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F27F5E-8A0F-4279-8A21-CF56A75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是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AEE4EB-5187-45B4-9FC8-698F105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1D304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5CEF97-CF1C-403D-8AAB-A953293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1480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依赖上界函数和数据分布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89C9D1-B1FA-464F-ACA2-1210E93A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动态规划的 O(nC) 是伪多项式复杂度；分支限界最坏仍为指数级，但实际效果依赖上界函数和数据分布。</a:t>
            </a:r>
          </a:p>
        </p:txBody>
      </p:sp>
    </p:spTree>
    <p:extLst>
      <p:ext uri="{BB962C8B-B14F-4D97-AF65-F5344CB8AC3E}">
        <p14:creationId xmlns:p14="http://schemas.microsoft.com/office/powerpoint/2010/main" val="6234211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F1A8D-47EF-4C28-AFF1-A704AC7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7968A-9586-438D-BF39-8D7314E4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7F669-E657-42F8-87FB-33C1685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B2E3F-A2ED-412B-B69C-6412153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A844-860B-432E-93C9-0823BE3D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A4C55-6064-4749-95A4-49B07233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2A8E8-C9FC-4D53-B91A-1DA056C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FDD3A-38D2-479E-B583-2048EB4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EE594-B6F6-4290-9CBF-5C2CC1C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D84FF-5495-4B33-AF5D-DF0CD98A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DD900-022B-4951-8956-3A3FE1B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BFEC2-1386-40B3-BADA-E26F3D0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2D911-11C1-4892-AEDD-802FE3C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D3AD8-2FD6-49D2-8544-3BE2C2C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F5755-5E7E-4B46-9A20-D59C6AD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CE5BD-FEE3-4E5D-BD25-F2BEFE5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25</a:t>
            </a:r>
          </a:p>
        </p:txBody>
      </p:sp>
      <p:sp>
        <p:nvSpPr>
          <p:cNvPr id="17" name="kicker-Conclusion-marker">
            <a:extLst xmlns:a="http://schemas.openxmlformats.org/drawingml/2006/main">
              <a:ext uri="{FF2B5EF4-FFF2-40B4-BE49-F238E27FC236}">
                <a16:creationId xmlns:a16="http://schemas.microsoft.com/office/drawing/2014/main" id="{83F26A43-D3AF-4B62-B02E-71BAE058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Conclusion-label">
            <a:extLst xmlns:a="http://schemas.openxmlformats.org/drawingml/2006/main">
              <a:ext uri="{FF2B5EF4-FFF2-40B4-BE49-F238E27FC236}">
                <a16:creationId xmlns:a16="http://schemas.microsoft.com/office/drawing/2014/main" id="{D3EFE71B-57C7-46A2-8E64-296022C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C509-0F4F-4960-88EA-3F5D598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速度、最优性和可扩展性之间存在明确权衡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568AB-3ADC-46F4-AD75-DF76DB3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DA0FC-3A79-45D4-AFF8-9F25CB27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FFB86B"/>
                </a:solidFill>
                <a:latin typeface="Cascadia Mono"/>
                <a:ea typeface="Cascadia Mono"/>
                <a:cs typeface="Cascadia Mono"/>
              </a:rPr>
              <a:t>快速近似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ED06E-FA1B-4A15-9FF5-16182135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贪心算法速度快，但不保证最优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E5AD5-4D3C-4B57-A7A6-FFF097F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A9829-BBEE-4D47-BB75-F3CA7E7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稳定最优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15CFB-A0A9-4BEB-A726-344D60CA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76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动态规划保证最优，但对容量敏感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2DE34-43AE-442E-B8D1-62923384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C1016-6BEA-4F7F-ACB5-E86F4F6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7CFFCB"/>
                </a:solidFill>
                <a:latin typeface="Cascadia Mono"/>
                <a:ea typeface="Cascadia Mono"/>
                <a:cs typeface="Cascadia Mono"/>
              </a:rPr>
              <a:t>剪枝有效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5723A-964B-496C-828E-CC5692A5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分支限界在本实验中以较少节点得到最优解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BDBB40-2BF7-4A19-AB53-B0D2E796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实验完成：数据整理、统一输入输出、四种算法实现、CSV 记录、结果分析。</a:t>
            </a:r>
          </a:p>
        </p:txBody>
      </p:sp>
    </p:spTree>
    <p:extLst>
      <p:ext uri="{BB962C8B-B14F-4D97-AF65-F5344CB8AC3E}">
        <p14:creationId xmlns:p14="http://schemas.microsoft.com/office/powerpoint/2010/main" val="124524797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8942C-6F7A-47B8-9E9A-0225114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D04A6-FD2C-4845-8602-B2C8E19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FE397-C74F-49C7-88FA-5B69811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7F35A-2BE0-46D9-B520-B7B573A8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782AF-1BC1-4A18-A883-7A8B6AE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F4834-548F-4906-8B15-E9FBA40D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F751D-3D39-40DC-A818-EF6B3122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2BAAE-1BC8-4588-B560-F0187E8B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54689-A624-4B51-99AC-54DC78B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1AFAA-B732-46C8-83B5-F6FC734C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1854F-DD5C-4DDE-AACF-C691ABC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5009B-17F6-480D-A9F3-56D83D4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F5FC4-7748-40A9-ACBE-23A1EC6B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509FB-9BA2-4EF3-81FD-C3B14BC2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92D09-49B5-458C-93C2-15770E4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738F"/>
                </a:solidFill>
                <a:latin typeface="Microsoft YaHei UI"/>
                <a:ea typeface="Microsoft YaHei UI"/>
                <a:cs typeface="Microsoft YaHei UI"/>
              </a:rPr>
              <a:t>0/1 Knapsack · FSU P01 / P07 / P08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CA6D2-D674-4C2E-AC59-3C26FC6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92A8C3"/>
                </a:solidFill>
                <a:latin typeface="Cascadia Mono"/>
                <a:ea typeface="Cascadia Mono"/>
                <a:cs typeface="Cascadia Mono"/>
              </a:rPr>
              <a:t>26</a:t>
            </a:r>
          </a:p>
        </p:txBody>
      </p:sp>
      <p:sp>
        <p:nvSpPr>
          <p:cNvPr id="17" name="kicker-Q&amp;A-marker">
            <a:extLst xmlns:a="http://schemas.openxmlformats.org/drawingml/2006/main">
              <a:ext uri="{FF2B5EF4-FFF2-40B4-BE49-F238E27FC236}">
                <a16:creationId xmlns:a16="http://schemas.microsoft.com/office/drawing/2014/main" id="{190BD55C-A7E2-4B47-AC8B-1F132619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Q&amp;A-label">
            <a:extLst xmlns:a="http://schemas.openxmlformats.org/drawingml/2006/main">
              <a:ext uri="{FF2B5EF4-FFF2-40B4-BE49-F238E27FC236}">
                <a16:creationId xmlns:a16="http://schemas.microsoft.com/office/drawing/2014/main" id="{F948D408-4494-4CEA-87F9-7AE28AF5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Q&amp;A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62801-B6DE-46BA-A2D3-5F9DB33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AF2FF"/>
                </a:solidFill>
                <a:latin typeface="Microsoft YaHei UI"/>
                <a:ea typeface="Microsoft YaHei UI"/>
                <a:cs typeface="Microsoft YaHei UI"/>
              </a:rPr>
              <a:t>谢谢聆听，欢迎批评指正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42B1F-0903-4EED-8ADE-0D85249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0/1 Knapsack Problem</a:t>
            </a:r>
          </a:p>
          <a:p xmlns:a="http://schemas.openxmlformats.org/drawingml/2006/main">
            <a:pPr algn="l">
              <a:defRPr sz="24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38D5FF"/>
                </a:solidFill>
                <a:latin typeface="Cascadia Mono"/>
                <a:ea typeface="Cascadia Mono"/>
                <a:cs typeface="Cascadia Mono"/>
              </a:rPr>
              <a:t>Multi-Algorithm Performance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34B9B-1CA6-4C09-9B49-F821E68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92A8C3"/>
                </a:solidFill>
                <a:latin typeface="Microsoft YaHei UI"/>
                <a:ea typeface="Microsoft YaHei UI"/>
                <a:cs typeface="Microsoft YaHei UI"/>
              </a:rPr>
              <a:t>本页备注区也写入了结束语，可以直接照读。</a:t>
            </a:r>
          </a:p>
        </p:txBody>
      </p:sp>
    </p:spTree>
    <p:extLst>
      <p:ext uri="{BB962C8B-B14F-4D97-AF65-F5344CB8AC3E}">
        <p14:creationId xmlns:p14="http://schemas.microsoft.com/office/powerpoint/2010/main" val="1758680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2026-06-06T12:29:20.7920000Z</dcterms:created>
  <dcterms:modified xsi:type="dcterms:W3CDTF">2026-06-06T12:29:20.7920000Z</dcterms:modified>
</coreProperties>
</file>