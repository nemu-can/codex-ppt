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9249" r:id="rId3"/>
    <p:sldId id="9250" r:id="rId4"/>
    <p:sldId id="9258" r:id="rId5"/>
    <p:sldId id="9261" r:id="rId6"/>
    <p:sldId id="9252" r:id="rId7"/>
    <p:sldId id="9251" r:id="rId8"/>
    <p:sldId id="9259" r:id="rId9"/>
    <p:sldId id="286" r:id="rId10"/>
    <p:sldId id="9262" r:id="rId11"/>
    <p:sldId id="9254" r:id="rId12"/>
    <p:sldId id="9253" r:id="rId13"/>
    <p:sldId id="9256" r:id="rId14"/>
    <p:sldId id="9255" r:id="rId15"/>
    <p:sldId id="9264" r:id="rId16"/>
    <p:sldId id="285" r:id="rId17"/>
    <p:sldId id="9257" r:id="rId18"/>
    <p:sldId id="9260" r:id="rId19"/>
    <p:sldId id="9263" r:id="rId20"/>
    <p:sldId id="279"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25"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佳伟 王" initials="佳伟" lastIdx="2" clrIdx="0">
    <p:extLst>
      <p:ext uri="{19B8F6BF-5375-455C-9EA6-DF929625EA0E}">
        <p15:presenceInfo xmlns:p15="http://schemas.microsoft.com/office/powerpoint/2012/main" userId="aaf613a43b2d49c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F487C"/>
    <a:srgbClr val="EAF3FB"/>
    <a:srgbClr val="F9F8FD"/>
    <a:srgbClr val="56CBF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065" autoAdjust="0"/>
    <p:restoredTop sz="84731" autoAdjust="0"/>
  </p:normalViewPr>
  <p:slideViewPr>
    <p:cSldViewPr snapToGrid="0" showGuides="1">
      <p:cViewPr varScale="1">
        <p:scale>
          <a:sx n="70" d="100"/>
          <a:sy n="70" d="100"/>
        </p:scale>
        <p:origin x="58" y="110"/>
      </p:cViewPr>
      <p:guideLst>
        <p:guide orient="horz" pos="1525"/>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232809-F9BF-4F9D-A953-8C3B992949FD}" type="datetimeFigureOut">
              <a:rPr lang="zh-CN" altLang="en-US" smtClean="0"/>
              <a:t>2026/6/10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0CAFC1-D942-407C-8CAF-54D3314C0DD0}" type="slidenum">
              <a:rPr lang="zh-CN" altLang="en-US" smtClean="0"/>
              <a:t>‹#›</a:t>
            </a:fld>
            <a:endParaRPr lang="zh-CN" altLang="en-US"/>
          </a:p>
        </p:txBody>
      </p:sp>
    </p:spTree>
    <p:extLst>
      <p:ext uri="{BB962C8B-B14F-4D97-AF65-F5344CB8AC3E}">
        <p14:creationId xmlns:p14="http://schemas.microsoft.com/office/powerpoint/2010/main" val="40007924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0F1115"/>
                </a:solidFill>
                <a:effectLst/>
                <a:latin typeface="quote-cjk-patch"/>
              </a:rPr>
              <a:t>“各位领导、各位专家、各位同学们，大家下午好。我今天汇报的主题是关于建设方案。</a:t>
            </a:r>
            <a:endParaRPr lang="zh-CN" altLang="en-US" dirty="0"/>
          </a:p>
        </p:txBody>
      </p:sp>
      <p:sp>
        <p:nvSpPr>
          <p:cNvPr id="4" name="灯片编号占位符 3"/>
          <p:cNvSpPr>
            <a:spLocks noGrp="1"/>
          </p:cNvSpPr>
          <p:nvPr>
            <p:ph type="sldNum" sz="quarter" idx="5"/>
          </p:nvPr>
        </p:nvSpPr>
        <p:spPr/>
        <p:txBody>
          <a:bodyPr/>
          <a:lstStyle/>
          <a:p>
            <a:fld id="{1C0CAFC1-D942-407C-8CAF-54D3314C0DD0}" type="slidenum">
              <a:rPr lang="zh-CN" altLang="en-US" smtClean="0"/>
              <a:t>1</a:t>
            </a:fld>
            <a:endParaRPr lang="zh-CN" altLang="en-US"/>
          </a:p>
        </p:txBody>
      </p:sp>
    </p:spTree>
    <p:extLst>
      <p:ext uri="{BB962C8B-B14F-4D97-AF65-F5344CB8AC3E}">
        <p14:creationId xmlns:p14="http://schemas.microsoft.com/office/powerpoint/2010/main" val="40852555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a:effectLst/>
                <a:ea typeface="宋体" panose="02010600030101010101" pitchFamily="2" charset="-122"/>
                <a:cs typeface="Times New Roman" panose="02020603050405020304" pitchFamily="18" charset="0"/>
              </a:rPr>
              <a:t>然而，兼具教育专业素养与人工智能素养的复合型人才严重短缺。传统单一学科培养模式已无法满足国家战略与行业发展对“教育</a:t>
            </a:r>
            <a:r>
              <a:rPr lang="en-US" altLang="zh-CN" sz="1800">
                <a:effectLst/>
                <a:ea typeface="宋体" panose="02010600030101010101" pitchFamily="2" charset="-122"/>
                <a:cs typeface="Times New Roman" panose="02020603050405020304" pitchFamily="18" charset="0"/>
              </a:rPr>
              <a:t>+</a:t>
            </a:r>
            <a:r>
              <a:rPr lang="zh-CN" altLang="zh-CN" sz="1800">
                <a:effectLst/>
                <a:ea typeface="宋体" panose="02010600030101010101" pitchFamily="2" charset="-122"/>
                <a:cs typeface="Times New Roman" panose="02020603050405020304" pitchFamily="18" charset="0"/>
              </a:rPr>
              <a:t>人工智能”跨界人才的需求。“教育</a:t>
            </a:r>
            <a:r>
              <a:rPr lang="en-US" altLang="zh-CN" sz="1800">
                <a:effectLst/>
                <a:ea typeface="宋体" panose="02010600030101010101" pitchFamily="2" charset="-122"/>
                <a:cs typeface="Times New Roman" panose="02020603050405020304" pitchFamily="18" charset="0"/>
              </a:rPr>
              <a:t>+</a:t>
            </a:r>
            <a:r>
              <a:rPr lang="zh-CN" altLang="zh-CN" sz="1800">
                <a:effectLst/>
                <a:ea typeface="宋体" panose="02010600030101010101" pitchFamily="2" charset="-122"/>
                <a:cs typeface="Times New Roman" panose="02020603050405020304" pitchFamily="18" charset="0"/>
              </a:rPr>
              <a:t>人工智能”双学士学位项目是对国家战略与行业迫切需求以及学科交叉融合必然趋势的精准回应。</a:t>
            </a:r>
            <a:endParaRPr lang="zh-CN" altLang="en-US" dirty="0"/>
          </a:p>
        </p:txBody>
      </p:sp>
      <p:sp>
        <p:nvSpPr>
          <p:cNvPr id="4" name="灯片编号占位符 3"/>
          <p:cNvSpPr>
            <a:spLocks noGrp="1"/>
          </p:cNvSpPr>
          <p:nvPr>
            <p:ph type="sldNum" sz="quarter" idx="5"/>
          </p:nvPr>
        </p:nvSpPr>
        <p:spPr/>
        <p:txBody>
          <a:bodyPr/>
          <a:lstStyle/>
          <a:p>
            <a:fld id="{1C0CAFC1-D942-407C-8CAF-54D3314C0DD0}" type="slidenum">
              <a:rPr lang="zh-CN" altLang="en-US" smtClean="0"/>
              <a:t>2</a:t>
            </a:fld>
            <a:endParaRPr lang="zh-CN" altLang="en-US"/>
          </a:p>
        </p:txBody>
      </p:sp>
    </p:spTree>
    <p:extLst>
      <p:ext uri="{BB962C8B-B14F-4D97-AF65-F5344CB8AC3E}">
        <p14:creationId xmlns:p14="http://schemas.microsoft.com/office/powerpoint/2010/main" val="20351348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C0CAFC1-D942-407C-8CAF-54D3314C0DD0}" type="slidenum">
              <a:rPr lang="zh-CN" altLang="en-US" smtClean="0"/>
              <a:t>3</a:t>
            </a:fld>
            <a:endParaRPr lang="zh-CN" altLang="en-US"/>
          </a:p>
        </p:txBody>
      </p:sp>
    </p:spTree>
    <p:extLst>
      <p:ext uri="{BB962C8B-B14F-4D97-AF65-F5344CB8AC3E}">
        <p14:creationId xmlns:p14="http://schemas.microsoft.com/office/powerpoint/2010/main" val="7182093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latin typeface="微软雅黑" panose="020B0503020204020204" charset="-122"/>
                <a:ea typeface="微软雅黑" panose="020B0503020204020204" charset="-122"/>
                <a:cs typeface="+mn-ea"/>
              </a:rPr>
              <a:t>党的二十大明确推进教育数字化，建设教育强国，为教育与人工智能融合提供根本遵循。</a:t>
            </a:r>
            <a:r>
              <a:rPr lang="en-US" altLang="zh-CN" b="1" dirty="0">
                <a:latin typeface="微软雅黑" panose="020B0503020204020204" charset="-122"/>
                <a:ea typeface="微软雅黑" panose="020B0503020204020204" charset="-122"/>
                <a:cs typeface="+mn-ea"/>
              </a:rPr>
              <a:t>《</a:t>
            </a:r>
            <a:r>
              <a:rPr lang="zh-CN" altLang="en-US" b="1" dirty="0">
                <a:latin typeface="微软雅黑" panose="020B0503020204020204" charset="-122"/>
                <a:ea typeface="微软雅黑" panose="020B0503020204020204" charset="-122"/>
                <a:cs typeface="+mn-ea"/>
              </a:rPr>
              <a:t>教育强国建设规划纲要（</a:t>
            </a:r>
            <a:r>
              <a:rPr lang="en-US" altLang="zh-CN" b="1" dirty="0">
                <a:latin typeface="微软雅黑" panose="020B0503020204020204" charset="-122"/>
                <a:ea typeface="微软雅黑" panose="020B0503020204020204" charset="-122"/>
                <a:cs typeface="+mn-ea"/>
              </a:rPr>
              <a:t>2024—2035</a:t>
            </a:r>
            <a:r>
              <a:rPr lang="zh-CN" altLang="en-US" b="1" dirty="0">
                <a:latin typeface="微软雅黑" panose="020B0503020204020204" charset="-122"/>
                <a:ea typeface="微软雅黑" panose="020B0503020204020204" charset="-122"/>
                <a:cs typeface="+mn-ea"/>
              </a:rPr>
              <a:t>年）</a:t>
            </a:r>
            <a:r>
              <a:rPr lang="en-US" altLang="zh-CN" b="1" dirty="0">
                <a:latin typeface="微软雅黑" panose="020B0503020204020204" charset="-122"/>
                <a:ea typeface="微软雅黑" panose="020B0503020204020204" charset="-122"/>
                <a:cs typeface="+mn-ea"/>
              </a:rPr>
              <a:t>》</a:t>
            </a:r>
            <a:r>
              <a:rPr lang="zh-CN" altLang="en-US" b="1" dirty="0">
                <a:latin typeface="微软雅黑" panose="020B0503020204020204" charset="-122"/>
                <a:ea typeface="微软雅黑" panose="020B0503020204020204" charset="-122"/>
                <a:cs typeface="+mn-ea"/>
              </a:rPr>
              <a:t>将智能教育列为关键任务，强化技术赋能教育转型。</a:t>
            </a:r>
          </a:p>
          <a:p>
            <a:endParaRPr lang="zh-CN" altLang="en-US" dirty="0"/>
          </a:p>
        </p:txBody>
      </p:sp>
      <p:sp>
        <p:nvSpPr>
          <p:cNvPr id="4" name="灯片编号占位符 3"/>
          <p:cNvSpPr>
            <a:spLocks noGrp="1"/>
          </p:cNvSpPr>
          <p:nvPr>
            <p:ph type="sldNum" sz="quarter" idx="5"/>
          </p:nvPr>
        </p:nvSpPr>
        <p:spPr/>
        <p:txBody>
          <a:bodyPr/>
          <a:lstStyle/>
          <a:p>
            <a:fld id="{1C0CAFC1-D942-407C-8CAF-54D3314C0DD0}" type="slidenum">
              <a:rPr lang="zh-CN" altLang="en-US" smtClean="0"/>
              <a:t>4</a:t>
            </a:fld>
            <a:endParaRPr lang="zh-CN" altLang="en-US"/>
          </a:p>
        </p:txBody>
      </p:sp>
    </p:spTree>
    <p:extLst>
      <p:ext uri="{BB962C8B-B14F-4D97-AF65-F5344CB8AC3E}">
        <p14:creationId xmlns:p14="http://schemas.microsoft.com/office/powerpoint/2010/main" val="37307654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latin typeface="微软雅黑" panose="020B0503020204020204" charset="-122"/>
                <a:ea typeface="微软雅黑" panose="020B0503020204020204" charset="-122"/>
                <a:cs typeface="+mn-ea"/>
              </a:rPr>
              <a:t>党的二十大明确推进教育数字化，建设教育强国，为教育与人工智能融合提供根本遵循。</a:t>
            </a:r>
            <a:r>
              <a:rPr lang="en-US" altLang="zh-CN" b="1" dirty="0">
                <a:latin typeface="微软雅黑" panose="020B0503020204020204" charset="-122"/>
                <a:ea typeface="微软雅黑" panose="020B0503020204020204" charset="-122"/>
                <a:cs typeface="+mn-ea"/>
              </a:rPr>
              <a:t>《</a:t>
            </a:r>
            <a:r>
              <a:rPr lang="zh-CN" altLang="en-US" b="1" dirty="0">
                <a:latin typeface="微软雅黑" panose="020B0503020204020204" charset="-122"/>
                <a:ea typeface="微软雅黑" panose="020B0503020204020204" charset="-122"/>
                <a:cs typeface="+mn-ea"/>
              </a:rPr>
              <a:t>教育强国建设规划纲要（</a:t>
            </a:r>
            <a:r>
              <a:rPr lang="en-US" altLang="zh-CN" b="1" dirty="0">
                <a:latin typeface="微软雅黑" panose="020B0503020204020204" charset="-122"/>
                <a:ea typeface="微软雅黑" panose="020B0503020204020204" charset="-122"/>
                <a:cs typeface="+mn-ea"/>
              </a:rPr>
              <a:t>2024—2035</a:t>
            </a:r>
            <a:r>
              <a:rPr lang="zh-CN" altLang="en-US" b="1" dirty="0">
                <a:latin typeface="微软雅黑" panose="020B0503020204020204" charset="-122"/>
                <a:ea typeface="微软雅黑" panose="020B0503020204020204" charset="-122"/>
                <a:cs typeface="+mn-ea"/>
              </a:rPr>
              <a:t>年）</a:t>
            </a:r>
            <a:r>
              <a:rPr lang="en-US" altLang="zh-CN" b="1" dirty="0">
                <a:latin typeface="微软雅黑" panose="020B0503020204020204" charset="-122"/>
                <a:ea typeface="微软雅黑" panose="020B0503020204020204" charset="-122"/>
                <a:cs typeface="+mn-ea"/>
              </a:rPr>
              <a:t>》</a:t>
            </a:r>
            <a:r>
              <a:rPr lang="zh-CN" altLang="en-US" b="1" dirty="0">
                <a:latin typeface="微软雅黑" panose="020B0503020204020204" charset="-122"/>
                <a:ea typeface="微软雅黑" panose="020B0503020204020204" charset="-122"/>
                <a:cs typeface="+mn-ea"/>
              </a:rPr>
              <a:t>将智能教育列为关键任务，强化技术赋能教育转型。</a:t>
            </a:r>
          </a:p>
          <a:p>
            <a:endParaRPr lang="zh-CN" altLang="en-US" dirty="0"/>
          </a:p>
        </p:txBody>
      </p:sp>
      <p:sp>
        <p:nvSpPr>
          <p:cNvPr id="4" name="灯片编号占位符 3"/>
          <p:cNvSpPr>
            <a:spLocks noGrp="1"/>
          </p:cNvSpPr>
          <p:nvPr>
            <p:ph type="sldNum" sz="quarter" idx="5"/>
          </p:nvPr>
        </p:nvSpPr>
        <p:spPr/>
        <p:txBody>
          <a:bodyPr/>
          <a:lstStyle/>
          <a:p>
            <a:fld id="{1C0CAFC1-D942-407C-8CAF-54D3314C0DD0}" type="slidenum">
              <a:rPr lang="zh-CN" altLang="en-US" smtClean="0"/>
              <a:t>5</a:t>
            </a:fld>
            <a:endParaRPr lang="zh-CN" altLang="en-US"/>
          </a:p>
        </p:txBody>
      </p:sp>
    </p:spTree>
    <p:extLst>
      <p:ext uri="{BB962C8B-B14F-4D97-AF65-F5344CB8AC3E}">
        <p14:creationId xmlns:p14="http://schemas.microsoft.com/office/powerpoint/2010/main" val="39142297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C0CAFC1-D942-407C-8CAF-54D3314C0DD0}" type="slidenum">
              <a:rPr lang="zh-CN" altLang="en-US" smtClean="0"/>
              <a:t>6</a:t>
            </a:fld>
            <a:endParaRPr lang="zh-CN" altLang="en-US"/>
          </a:p>
        </p:txBody>
      </p:sp>
    </p:spTree>
    <p:extLst>
      <p:ext uri="{BB962C8B-B14F-4D97-AF65-F5344CB8AC3E}">
        <p14:creationId xmlns:p14="http://schemas.microsoft.com/office/powerpoint/2010/main" val="8049621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C0CAFC1-D942-407C-8CAF-54D3314C0DD0}" type="slidenum">
              <a:rPr lang="zh-CN" altLang="en-US" smtClean="0"/>
              <a:t>7</a:t>
            </a:fld>
            <a:endParaRPr lang="zh-CN" altLang="en-US"/>
          </a:p>
        </p:txBody>
      </p:sp>
    </p:spTree>
    <p:extLst>
      <p:ext uri="{BB962C8B-B14F-4D97-AF65-F5344CB8AC3E}">
        <p14:creationId xmlns:p14="http://schemas.microsoft.com/office/powerpoint/2010/main" val="5956129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latin typeface="微软雅黑" panose="020B0503020204020204" pitchFamily="34" charset="-122"/>
                <a:ea typeface="微软雅黑" panose="020B0503020204020204" pitchFamily="34" charset="-122"/>
              </a:rPr>
              <a:t>本专业学生毕业体现“智能教育工程师</a:t>
            </a:r>
            <a:r>
              <a:rPr lang="en-US" altLang="zh-CN">
                <a:latin typeface="微软雅黑" panose="020B0503020204020204" pitchFamily="34" charset="-122"/>
                <a:ea typeface="微软雅黑" panose="020B0503020204020204" pitchFamily="34" charset="-122"/>
              </a:rPr>
              <a:t>+</a:t>
            </a:r>
            <a:r>
              <a:rPr lang="zh-CN" altLang="en-US">
                <a:latin typeface="微软雅黑" panose="020B0503020204020204" pitchFamily="34" charset="-122"/>
                <a:ea typeface="微软雅黑" panose="020B0503020204020204" pitchFamily="34" charset="-122"/>
              </a:rPr>
              <a:t>信息科技教师”双轨培养特色，涵盖思想政治、专业知识、教育教学、工程实践、数据分析、沟通协作等核心维度。</a:t>
            </a:r>
          </a:p>
          <a:p>
            <a:endParaRPr lang="zh-CN" altLang="en-US" dirty="0"/>
          </a:p>
        </p:txBody>
      </p:sp>
      <p:sp>
        <p:nvSpPr>
          <p:cNvPr id="4" name="灯片编号占位符 3"/>
          <p:cNvSpPr>
            <a:spLocks noGrp="1"/>
          </p:cNvSpPr>
          <p:nvPr>
            <p:ph type="sldNum" sz="quarter" idx="5"/>
          </p:nvPr>
        </p:nvSpPr>
        <p:spPr/>
        <p:txBody>
          <a:bodyPr/>
          <a:lstStyle/>
          <a:p>
            <a:fld id="{1C0CAFC1-D942-407C-8CAF-54D3314C0DD0}" type="slidenum">
              <a:rPr lang="zh-CN" altLang="en-US" smtClean="0"/>
              <a:t>8</a:t>
            </a:fld>
            <a:endParaRPr lang="zh-CN" altLang="en-US"/>
          </a:p>
        </p:txBody>
      </p:sp>
    </p:spTree>
    <p:extLst>
      <p:ext uri="{BB962C8B-B14F-4D97-AF65-F5344CB8AC3E}">
        <p14:creationId xmlns:p14="http://schemas.microsoft.com/office/powerpoint/2010/main" val="3928494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C0CAFC1-D942-407C-8CAF-54D3314C0DD0}" type="slidenum">
              <a:rPr lang="zh-CN" altLang="en-US" smtClean="0"/>
              <a:t>9</a:t>
            </a:fld>
            <a:endParaRPr lang="zh-CN" altLang="en-US"/>
          </a:p>
        </p:txBody>
      </p:sp>
    </p:spTree>
    <p:extLst>
      <p:ext uri="{BB962C8B-B14F-4D97-AF65-F5344CB8AC3E}">
        <p14:creationId xmlns:p14="http://schemas.microsoft.com/office/powerpoint/2010/main" val="34702743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C0CAFC1-D942-407C-8CAF-54D3314C0DD0}" type="slidenum">
              <a:rPr lang="zh-CN" altLang="en-US" smtClean="0"/>
              <a:t>10</a:t>
            </a:fld>
            <a:endParaRPr lang="zh-CN" altLang="en-US"/>
          </a:p>
        </p:txBody>
      </p:sp>
    </p:spTree>
    <p:extLst>
      <p:ext uri="{BB962C8B-B14F-4D97-AF65-F5344CB8AC3E}">
        <p14:creationId xmlns:p14="http://schemas.microsoft.com/office/powerpoint/2010/main" val="8772047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C0CAFC1-D942-407C-8CAF-54D3314C0DD0}" type="slidenum">
              <a:rPr lang="zh-CN" altLang="en-US" smtClean="0"/>
              <a:t>11</a:t>
            </a:fld>
            <a:endParaRPr lang="zh-CN" altLang="en-US"/>
          </a:p>
        </p:txBody>
      </p:sp>
    </p:spTree>
    <p:extLst>
      <p:ext uri="{BB962C8B-B14F-4D97-AF65-F5344CB8AC3E}">
        <p14:creationId xmlns:p14="http://schemas.microsoft.com/office/powerpoint/2010/main" val="26792885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C0CAFC1-D942-407C-8CAF-54D3314C0DD0}" type="slidenum">
              <a:rPr lang="zh-CN" altLang="en-US" smtClean="0"/>
              <a:t>12</a:t>
            </a:fld>
            <a:endParaRPr lang="zh-CN" altLang="en-US"/>
          </a:p>
        </p:txBody>
      </p:sp>
    </p:spTree>
    <p:extLst>
      <p:ext uri="{BB962C8B-B14F-4D97-AF65-F5344CB8AC3E}">
        <p14:creationId xmlns:p14="http://schemas.microsoft.com/office/powerpoint/2010/main" val="8448499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C0CAFC1-D942-407C-8CAF-54D3314C0DD0}" type="slidenum">
              <a:rPr lang="zh-CN" altLang="en-US" smtClean="0"/>
              <a:t>13</a:t>
            </a:fld>
            <a:endParaRPr lang="zh-CN" altLang="en-US"/>
          </a:p>
        </p:txBody>
      </p:sp>
    </p:spTree>
    <p:extLst>
      <p:ext uri="{BB962C8B-B14F-4D97-AF65-F5344CB8AC3E}">
        <p14:creationId xmlns:p14="http://schemas.microsoft.com/office/powerpoint/2010/main" val="14108538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C0CAFC1-D942-407C-8CAF-54D3314C0DD0}" type="slidenum">
              <a:rPr lang="zh-CN" altLang="en-US" smtClean="0"/>
              <a:t>14</a:t>
            </a:fld>
            <a:endParaRPr lang="zh-CN" altLang="en-US"/>
          </a:p>
        </p:txBody>
      </p:sp>
    </p:spTree>
    <p:extLst>
      <p:ext uri="{BB962C8B-B14F-4D97-AF65-F5344CB8AC3E}">
        <p14:creationId xmlns:p14="http://schemas.microsoft.com/office/powerpoint/2010/main" val="12638451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C0CAFC1-D942-407C-8CAF-54D3314C0DD0}" type="slidenum">
              <a:rPr lang="zh-CN" altLang="en-US" smtClean="0"/>
              <a:t>15</a:t>
            </a:fld>
            <a:endParaRPr lang="zh-CN" altLang="en-US"/>
          </a:p>
        </p:txBody>
      </p:sp>
    </p:spTree>
    <p:extLst>
      <p:ext uri="{BB962C8B-B14F-4D97-AF65-F5344CB8AC3E}">
        <p14:creationId xmlns:p14="http://schemas.microsoft.com/office/powerpoint/2010/main" val="14284070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C0CAFC1-D942-407C-8CAF-54D3314C0DD0}" type="slidenum">
              <a:rPr lang="zh-CN" altLang="en-US" smtClean="0"/>
              <a:t>16</a:t>
            </a:fld>
            <a:endParaRPr lang="zh-CN" altLang="en-US"/>
          </a:p>
        </p:txBody>
      </p:sp>
    </p:spTree>
    <p:extLst>
      <p:ext uri="{BB962C8B-B14F-4D97-AF65-F5344CB8AC3E}">
        <p14:creationId xmlns:p14="http://schemas.microsoft.com/office/powerpoint/2010/main" val="37093350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C0CAFC1-D942-407C-8CAF-54D3314C0DD0}" type="slidenum">
              <a:rPr lang="zh-CN" altLang="en-US" smtClean="0"/>
              <a:t>17</a:t>
            </a:fld>
            <a:endParaRPr lang="zh-CN" altLang="en-US"/>
          </a:p>
        </p:txBody>
      </p:sp>
    </p:spTree>
    <p:extLst>
      <p:ext uri="{BB962C8B-B14F-4D97-AF65-F5344CB8AC3E}">
        <p14:creationId xmlns:p14="http://schemas.microsoft.com/office/powerpoint/2010/main" val="42587422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C0CAFC1-D942-407C-8CAF-54D3314C0DD0}" type="slidenum">
              <a:rPr lang="zh-CN" altLang="en-US" smtClean="0"/>
              <a:t>18</a:t>
            </a:fld>
            <a:endParaRPr lang="zh-CN" altLang="en-US"/>
          </a:p>
        </p:txBody>
      </p:sp>
    </p:spTree>
    <p:extLst>
      <p:ext uri="{BB962C8B-B14F-4D97-AF65-F5344CB8AC3E}">
        <p14:creationId xmlns:p14="http://schemas.microsoft.com/office/powerpoint/2010/main" val="40918517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C0CAFC1-D942-407C-8CAF-54D3314C0DD0}" type="slidenum">
              <a:rPr lang="zh-CN" altLang="en-US" smtClean="0"/>
              <a:t>19</a:t>
            </a:fld>
            <a:endParaRPr lang="zh-CN" altLang="en-US"/>
          </a:p>
        </p:txBody>
      </p:sp>
    </p:spTree>
    <p:extLst>
      <p:ext uri="{BB962C8B-B14F-4D97-AF65-F5344CB8AC3E}">
        <p14:creationId xmlns:p14="http://schemas.microsoft.com/office/powerpoint/2010/main" val="3070621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a:solidFill>
                  <a:srgbClr val="0F1115"/>
                </a:solidFill>
                <a:effectLst/>
                <a:latin typeface="quote-cjk-patch"/>
              </a:rPr>
              <a:t>我的汇报到此结束，谢谢大家！</a:t>
            </a:r>
            <a:endParaRPr lang="zh-CN" altLang="en-US"/>
          </a:p>
        </p:txBody>
      </p:sp>
      <p:sp>
        <p:nvSpPr>
          <p:cNvPr id="4" name="灯片编号占位符 3"/>
          <p:cNvSpPr>
            <a:spLocks noGrp="1"/>
          </p:cNvSpPr>
          <p:nvPr>
            <p:ph type="sldNum" sz="quarter" idx="5"/>
          </p:nvPr>
        </p:nvSpPr>
        <p:spPr/>
        <p:txBody>
          <a:bodyPr/>
          <a:lstStyle/>
          <a:p>
            <a:fld id="{1C0CAFC1-D942-407C-8CAF-54D3314C0DD0}" type="slidenum">
              <a:rPr lang="zh-CN" altLang="en-US" smtClean="0"/>
              <a:t>20</a:t>
            </a:fld>
            <a:endParaRPr lang="zh-CN" altLang="en-US"/>
          </a:p>
        </p:txBody>
      </p:sp>
    </p:spTree>
    <p:extLst>
      <p:ext uri="{BB962C8B-B14F-4D97-AF65-F5344CB8AC3E}">
        <p14:creationId xmlns:p14="http://schemas.microsoft.com/office/powerpoint/2010/main" val="41221343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9A58EC-0D82-4638-8868-B75A2FEE42EA}"/>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E6D61F5A-DD44-43F8-B3EB-F6D986321D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2102B6DE-717C-45ED-AA45-7C0C78392B4B}"/>
              </a:ext>
            </a:extLst>
          </p:cNvPr>
          <p:cNvSpPr>
            <a:spLocks noGrp="1"/>
          </p:cNvSpPr>
          <p:nvPr>
            <p:ph type="dt" sz="half" idx="10"/>
          </p:nvPr>
        </p:nvSpPr>
        <p:spPr/>
        <p:txBody>
          <a:bodyPr/>
          <a:lstStyle/>
          <a:p>
            <a:fld id="{F8D38E1A-79E7-4B2B-B788-606060A7C18B}" type="datetimeFigureOut">
              <a:rPr lang="zh-CN" altLang="en-US" smtClean="0"/>
              <a:t>2026/6/10</a:t>
            </a:fld>
            <a:endParaRPr lang="zh-CN" altLang="en-US"/>
          </a:p>
        </p:txBody>
      </p:sp>
      <p:sp>
        <p:nvSpPr>
          <p:cNvPr id="5" name="页脚占位符 4">
            <a:extLst>
              <a:ext uri="{FF2B5EF4-FFF2-40B4-BE49-F238E27FC236}">
                <a16:creationId xmlns:a16="http://schemas.microsoft.com/office/drawing/2014/main" id="{0D4931CE-C4FA-4190-8FAA-9DA78E97993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1F87C24-FB5F-44C0-B014-C704BC907634}"/>
              </a:ext>
            </a:extLst>
          </p:cNvPr>
          <p:cNvSpPr>
            <a:spLocks noGrp="1"/>
          </p:cNvSpPr>
          <p:nvPr>
            <p:ph type="sldNum" sz="quarter" idx="12"/>
          </p:nvPr>
        </p:nvSpPr>
        <p:spPr/>
        <p:txBody>
          <a:bodyPr/>
          <a:lstStyle/>
          <a:p>
            <a:fld id="{8B8191DF-D6DF-41D7-843E-3FDA1FB82B70}" type="slidenum">
              <a:rPr lang="zh-CN" altLang="en-US" smtClean="0"/>
              <a:t>‹#›</a:t>
            </a:fld>
            <a:endParaRPr lang="zh-CN" altLang="en-US"/>
          </a:p>
        </p:txBody>
      </p:sp>
    </p:spTree>
    <p:extLst>
      <p:ext uri="{BB962C8B-B14F-4D97-AF65-F5344CB8AC3E}">
        <p14:creationId xmlns:p14="http://schemas.microsoft.com/office/powerpoint/2010/main" val="37484568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4C92E8-FF96-4FE0-AB18-07A3C2DA2CB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DB5BEBD-D1F4-40E6-9310-ADA82BA4101A}"/>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156C402-C843-470F-A328-3DF520945E17}"/>
              </a:ext>
            </a:extLst>
          </p:cNvPr>
          <p:cNvSpPr>
            <a:spLocks noGrp="1"/>
          </p:cNvSpPr>
          <p:nvPr>
            <p:ph type="dt" sz="half" idx="10"/>
          </p:nvPr>
        </p:nvSpPr>
        <p:spPr/>
        <p:txBody>
          <a:bodyPr/>
          <a:lstStyle/>
          <a:p>
            <a:fld id="{F8D38E1A-79E7-4B2B-B788-606060A7C18B}" type="datetimeFigureOut">
              <a:rPr lang="zh-CN" altLang="en-US" smtClean="0"/>
              <a:t>2026/6/10</a:t>
            </a:fld>
            <a:endParaRPr lang="zh-CN" altLang="en-US"/>
          </a:p>
        </p:txBody>
      </p:sp>
      <p:sp>
        <p:nvSpPr>
          <p:cNvPr id="5" name="页脚占位符 4">
            <a:extLst>
              <a:ext uri="{FF2B5EF4-FFF2-40B4-BE49-F238E27FC236}">
                <a16:creationId xmlns:a16="http://schemas.microsoft.com/office/drawing/2014/main" id="{A50FC093-4CBE-4B93-B9A3-29218B98AEA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B0601FF-9D86-4FBB-8F65-4EA6C4AC5B59}"/>
              </a:ext>
            </a:extLst>
          </p:cNvPr>
          <p:cNvSpPr>
            <a:spLocks noGrp="1"/>
          </p:cNvSpPr>
          <p:nvPr>
            <p:ph type="sldNum" sz="quarter" idx="12"/>
          </p:nvPr>
        </p:nvSpPr>
        <p:spPr/>
        <p:txBody>
          <a:bodyPr/>
          <a:lstStyle/>
          <a:p>
            <a:fld id="{8B8191DF-D6DF-41D7-843E-3FDA1FB82B70}" type="slidenum">
              <a:rPr lang="zh-CN" altLang="en-US" smtClean="0"/>
              <a:t>‹#›</a:t>
            </a:fld>
            <a:endParaRPr lang="zh-CN" altLang="en-US"/>
          </a:p>
        </p:txBody>
      </p:sp>
    </p:spTree>
    <p:extLst>
      <p:ext uri="{BB962C8B-B14F-4D97-AF65-F5344CB8AC3E}">
        <p14:creationId xmlns:p14="http://schemas.microsoft.com/office/powerpoint/2010/main" val="6346927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29EE82-3572-4D07-8165-5F66A5A27C4E}"/>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A3370CA-1C38-49FC-A978-96C3687D0F9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1F18A1A-8F36-45AC-B38A-BABEC8F47990}"/>
              </a:ext>
            </a:extLst>
          </p:cNvPr>
          <p:cNvSpPr>
            <a:spLocks noGrp="1"/>
          </p:cNvSpPr>
          <p:nvPr>
            <p:ph type="dt" sz="half" idx="10"/>
          </p:nvPr>
        </p:nvSpPr>
        <p:spPr/>
        <p:txBody>
          <a:bodyPr/>
          <a:lstStyle/>
          <a:p>
            <a:fld id="{F8D38E1A-79E7-4B2B-B788-606060A7C18B}" type="datetimeFigureOut">
              <a:rPr lang="zh-CN" altLang="en-US" smtClean="0"/>
              <a:t>2026/6/10</a:t>
            </a:fld>
            <a:endParaRPr lang="zh-CN" altLang="en-US"/>
          </a:p>
        </p:txBody>
      </p:sp>
      <p:sp>
        <p:nvSpPr>
          <p:cNvPr id="5" name="页脚占位符 4">
            <a:extLst>
              <a:ext uri="{FF2B5EF4-FFF2-40B4-BE49-F238E27FC236}">
                <a16:creationId xmlns:a16="http://schemas.microsoft.com/office/drawing/2014/main" id="{B7EE7A38-EDC2-4C43-88D9-C94F1D872E6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06672ED-A876-45BC-A415-A16D8F67219B}"/>
              </a:ext>
            </a:extLst>
          </p:cNvPr>
          <p:cNvSpPr>
            <a:spLocks noGrp="1"/>
          </p:cNvSpPr>
          <p:nvPr>
            <p:ph type="sldNum" sz="quarter" idx="12"/>
          </p:nvPr>
        </p:nvSpPr>
        <p:spPr/>
        <p:txBody>
          <a:bodyPr/>
          <a:lstStyle/>
          <a:p>
            <a:fld id="{8B8191DF-D6DF-41D7-843E-3FDA1FB82B70}" type="slidenum">
              <a:rPr lang="zh-CN" altLang="en-US" smtClean="0"/>
              <a:t>‹#›</a:t>
            </a:fld>
            <a:endParaRPr lang="zh-CN" altLang="en-US"/>
          </a:p>
        </p:txBody>
      </p:sp>
    </p:spTree>
    <p:extLst>
      <p:ext uri="{BB962C8B-B14F-4D97-AF65-F5344CB8AC3E}">
        <p14:creationId xmlns:p14="http://schemas.microsoft.com/office/powerpoint/2010/main" val="5338236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EA41B3-C955-410E-BA11-FD67DE0FC46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49B3DEC-98EC-45ED-9F9A-1068022A7F0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ACD1995-64DD-4D20-80DE-F8B2D8FFB93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29D44BB1-77FC-4A87-9F61-70C202394EC4}"/>
              </a:ext>
            </a:extLst>
          </p:cNvPr>
          <p:cNvSpPr>
            <a:spLocks noGrp="1"/>
          </p:cNvSpPr>
          <p:nvPr>
            <p:ph type="dt" sz="half" idx="10"/>
          </p:nvPr>
        </p:nvSpPr>
        <p:spPr/>
        <p:txBody>
          <a:bodyPr/>
          <a:lstStyle/>
          <a:p>
            <a:fld id="{F8D38E1A-79E7-4B2B-B788-606060A7C18B}" type="datetimeFigureOut">
              <a:rPr lang="zh-CN" altLang="en-US" smtClean="0"/>
              <a:t>2026/6/10</a:t>
            </a:fld>
            <a:endParaRPr lang="zh-CN" altLang="en-US"/>
          </a:p>
        </p:txBody>
      </p:sp>
      <p:sp>
        <p:nvSpPr>
          <p:cNvPr id="6" name="页脚占位符 5">
            <a:extLst>
              <a:ext uri="{FF2B5EF4-FFF2-40B4-BE49-F238E27FC236}">
                <a16:creationId xmlns:a16="http://schemas.microsoft.com/office/drawing/2014/main" id="{6D163CEF-E608-45BD-AC20-37DA67CEF9F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3587E5C-A681-4C35-8C4A-D3A6564B1512}"/>
              </a:ext>
            </a:extLst>
          </p:cNvPr>
          <p:cNvSpPr>
            <a:spLocks noGrp="1"/>
          </p:cNvSpPr>
          <p:nvPr>
            <p:ph type="sldNum" sz="quarter" idx="12"/>
          </p:nvPr>
        </p:nvSpPr>
        <p:spPr/>
        <p:txBody>
          <a:bodyPr/>
          <a:lstStyle/>
          <a:p>
            <a:fld id="{8B8191DF-D6DF-41D7-843E-3FDA1FB82B70}" type="slidenum">
              <a:rPr lang="zh-CN" altLang="en-US" smtClean="0"/>
              <a:t>‹#›</a:t>
            </a:fld>
            <a:endParaRPr lang="zh-CN" altLang="en-US"/>
          </a:p>
        </p:txBody>
      </p:sp>
    </p:spTree>
    <p:extLst>
      <p:ext uri="{BB962C8B-B14F-4D97-AF65-F5344CB8AC3E}">
        <p14:creationId xmlns:p14="http://schemas.microsoft.com/office/powerpoint/2010/main" val="702222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1920B1-0503-481A-AB5F-53D5E0F1510F}"/>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04C0872C-9BBF-4416-886A-405C04820B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2E994AB1-C794-4EC4-B3E4-0CCC94CFD433}"/>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15929DD6-1D84-485D-AE75-3CDDC9865A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5B0244A1-7F01-49A7-A618-C4DAAA9B8891}"/>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8D37383B-E190-4A06-A133-324BEF959D6A}"/>
              </a:ext>
            </a:extLst>
          </p:cNvPr>
          <p:cNvSpPr>
            <a:spLocks noGrp="1"/>
          </p:cNvSpPr>
          <p:nvPr>
            <p:ph type="dt" sz="half" idx="10"/>
          </p:nvPr>
        </p:nvSpPr>
        <p:spPr/>
        <p:txBody>
          <a:bodyPr/>
          <a:lstStyle/>
          <a:p>
            <a:fld id="{F8D38E1A-79E7-4B2B-B788-606060A7C18B}" type="datetimeFigureOut">
              <a:rPr lang="zh-CN" altLang="en-US" smtClean="0"/>
              <a:t>2026/6/10</a:t>
            </a:fld>
            <a:endParaRPr lang="zh-CN" altLang="en-US"/>
          </a:p>
        </p:txBody>
      </p:sp>
      <p:sp>
        <p:nvSpPr>
          <p:cNvPr id="8" name="页脚占位符 7">
            <a:extLst>
              <a:ext uri="{FF2B5EF4-FFF2-40B4-BE49-F238E27FC236}">
                <a16:creationId xmlns:a16="http://schemas.microsoft.com/office/drawing/2014/main" id="{D9B752B5-C7FA-4C44-AC64-9032521C585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4788EFB-B05D-4D7F-9048-716ADB4A3692}"/>
              </a:ext>
            </a:extLst>
          </p:cNvPr>
          <p:cNvSpPr>
            <a:spLocks noGrp="1"/>
          </p:cNvSpPr>
          <p:nvPr>
            <p:ph type="sldNum" sz="quarter" idx="12"/>
          </p:nvPr>
        </p:nvSpPr>
        <p:spPr/>
        <p:txBody>
          <a:bodyPr/>
          <a:lstStyle/>
          <a:p>
            <a:fld id="{8B8191DF-D6DF-41D7-843E-3FDA1FB82B70}" type="slidenum">
              <a:rPr lang="zh-CN" altLang="en-US" smtClean="0"/>
              <a:t>‹#›</a:t>
            </a:fld>
            <a:endParaRPr lang="zh-CN" altLang="en-US"/>
          </a:p>
        </p:txBody>
      </p:sp>
    </p:spTree>
    <p:extLst>
      <p:ext uri="{BB962C8B-B14F-4D97-AF65-F5344CB8AC3E}">
        <p14:creationId xmlns:p14="http://schemas.microsoft.com/office/powerpoint/2010/main" val="11758511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BF0917-2B37-4969-BEF3-C67D5A094CB0}"/>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D88B80D-1850-4581-A683-7D246F55085F}"/>
              </a:ext>
            </a:extLst>
          </p:cNvPr>
          <p:cNvSpPr>
            <a:spLocks noGrp="1"/>
          </p:cNvSpPr>
          <p:nvPr>
            <p:ph type="dt" sz="half" idx="10"/>
          </p:nvPr>
        </p:nvSpPr>
        <p:spPr/>
        <p:txBody>
          <a:bodyPr/>
          <a:lstStyle/>
          <a:p>
            <a:fld id="{F8D38E1A-79E7-4B2B-B788-606060A7C18B}" type="datetimeFigureOut">
              <a:rPr lang="zh-CN" altLang="en-US" smtClean="0"/>
              <a:t>2026/6/10</a:t>
            </a:fld>
            <a:endParaRPr lang="zh-CN" altLang="en-US"/>
          </a:p>
        </p:txBody>
      </p:sp>
      <p:sp>
        <p:nvSpPr>
          <p:cNvPr id="4" name="页脚占位符 3">
            <a:extLst>
              <a:ext uri="{FF2B5EF4-FFF2-40B4-BE49-F238E27FC236}">
                <a16:creationId xmlns:a16="http://schemas.microsoft.com/office/drawing/2014/main" id="{2542C6FF-F704-462E-8473-CB84942607E6}"/>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5DCABE0-9C58-4FF3-ABAB-13F77267BFE2}"/>
              </a:ext>
            </a:extLst>
          </p:cNvPr>
          <p:cNvSpPr>
            <a:spLocks noGrp="1"/>
          </p:cNvSpPr>
          <p:nvPr>
            <p:ph type="sldNum" sz="quarter" idx="12"/>
          </p:nvPr>
        </p:nvSpPr>
        <p:spPr/>
        <p:txBody>
          <a:bodyPr/>
          <a:lstStyle/>
          <a:p>
            <a:fld id="{8B8191DF-D6DF-41D7-843E-3FDA1FB82B70}" type="slidenum">
              <a:rPr lang="zh-CN" altLang="en-US" smtClean="0"/>
              <a:t>‹#›</a:t>
            </a:fld>
            <a:endParaRPr lang="zh-CN" altLang="en-US"/>
          </a:p>
        </p:txBody>
      </p:sp>
    </p:spTree>
    <p:extLst>
      <p:ext uri="{BB962C8B-B14F-4D97-AF65-F5344CB8AC3E}">
        <p14:creationId xmlns:p14="http://schemas.microsoft.com/office/powerpoint/2010/main" val="23142372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63D361C-078D-4A52-ACE4-35DF54987DAC}"/>
              </a:ext>
            </a:extLst>
          </p:cNvPr>
          <p:cNvSpPr>
            <a:spLocks noGrp="1"/>
          </p:cNvSpPr>
          <p:nvPr>
            <p:ph type="dt" sz="half" idx="10"/>
          </p:nvPr>
        </p:nvSpPr>
        <p:spPr/>
        <p:txBody>
          <a:bodyPr/>
          <a:lstStyle/>
          <a:p>
            <a:fld id="{F8D38E1A-79E7-4B2B-B788-606060A7C18B}" type="datetimeFigureOut">
              <a:rPr lang="zh-CN" altLang="en-US" smtClean="0"/>
              <a:t>2026/6/10</a:t>
            </a:fld>
            <a:endParaRPr lang="zh-CN" altLang="en-US"/>
          </a:p>
        </p:txBody>
      </p:sp>
      <p:sp>
        <p:nvSpPr>
          <p:cNvPr id="3" name="页脚占位符 2">
            <a:extLst>
              <a:ext uri="{FF2B5EF4-FFF2-40B4-BE49-F238E27FC236}">
                <a16:creationId xmlns:a16="http://schemas.microsoft.com/office/drawing/2014/main" id="{2C76DEA1-2A7B-4596-85DB-025E4EFAF4B0}"/>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9992959-3320-4A0C-BC19-E12BC6142BC0}"/>
              </a:ext>
            </a:extLst>
          </p:cNvPr>
          <p:cNvSpPr>
            <a:spLocks noGrp="1"/>
          </p:cNvSpPr>
          <p:nvPr>
            <p:ph type="sldNum" sz="quarter" idx="12"/>
          </p:nvPr>
        </p:nvSpPr>
        <p:spPr/>
        <p:txBody>
          <a:bodyPr/>
          <a:lstStyle/>
          <a:p>
            <a:fld id="{8B8191DF-D6DF-41D7-843E-3FDA1FB82B70}" type="slidenum">
              <a:rPr lang="zh-CN" altLang="en-US" smtClean="0"/>
              <a:t>‹#›</a:t>
            </a:fld>
            <a:endParaRPr lang="zh-CN" altLang="en-US"/>
          </a:p>
        </p:txBody>
      </p:sp>
    </p:spTree>
    <p:extLst>
      <p:ext uri="{BB962C8B-B14F-4D97-AF65-F5344CB8AC3E}">
        <p14:creationId xmlns:p14="http://schemas.microsoft.com/office/powerpoint/2010/main" val="22818687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0E5CC1-5B23-463B-86B9-B29F00534A4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35887708-F495-46E5-B9F7-9F731C628C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6C92E7CA-8AA4-43C6-A284-F3A4DA77ED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C7902F2-067D-4D58-AA96-27B2056E7CE5}"/>
              </a:ext>
            </a:extLst>
          </p:cNvPr>
          <p:cNvSpPr>
            <a:spLocks noGrp="1"/>
          </p:cNvSpPr>
          <p:nvPr>
            <p:ph type="dt" sz="half" idx="10"/>
          </p:nvPr>
        </p:nvSpPr>
        <p:spPr/>
        <p:txBody>
          <a:bodyPr/>
          <a:lstStyle/>
          <a:p>
            <a:fld id="{F8D38E1A-79E7-4B2B-B788-606060A7C18B}" type="datetimeFigureOut">
              <a:rPr lang="zh-CN" altLang="en-US" smtClean="0"/>
              <a:t>2026/6/10</a:t>
            </a:fld>
            <a:endParaRPr lang="zh-CN" altLang="en-US"/>
          </a:p>
        </p:txBody>
      </p:sp>
      <p:sp>
        <p:nvSpPr>
          <p:cNvPr id="6" name="页脚占位符 5">
            <a:extLst>
              <a:ext uri="{FF2B5EF4-FFF2-40B4-BE49-F238E27FC236}">
                <a16:creationId xmlns:a16="http://schemas.microsoft.com/office/drawing/2014/main" id="{6DEF06A6-203E-4EA7-B9D7-E83B7D26C4A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A1AF305-FA93-4E1F-B32B-C5AB5CC35CE6}"/>
              </a:ext>
            </a:extLst>
          </p:cNvPr>
          <p:cNvSpPr>
            <a:spLocks noGrp="1"/>
          </p:cNvSpPr>
          <p:nvPr>
            <p:ph type="sldNum" sz="quarter" idx="12"/>
          </p:nvPr>
        </p:nvSpPr>
        <p:spPr/>
        <p:txBody>
          <a:bodyPr/>
          <a:lstStyle/>
          <a:p>
            <a:fld id="{8B8191DF-D6DF-41D7-843E-3FDA1FB82B70}" type="slidenum">
              <a:rPr lang="zh-CN" altLang="en-US" smtClean="0"/>
              <a:t>‹#›</a:t>
            </a:fld>
            <a:endParaRPr lang="zh-CN" altLang="en-US"/>
          </a:p>
        </p:txBody>
      </p:sp>
    </p:spTree>
    <p:extLst>
      <p:ext uri="{BB962C8B-B14F-4D97-AF65-F5344CB8AC3E}">
        <p14:creationId xmlns:p14="http://schemas.microsoft.com/office/powerpoint/2010/main" val="14074102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45814E-8B55-436A-BAD1-A4E0681A735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39CD50D-E01C-4EAF-BF47-4E4D53DB97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CF4A8B4F-159D-45FE-90EE-39B119DB80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D347197-711C-47D1-90CF-845C263D3A1C}"/>
              </a:ext>
            </a:extLst>
          </p:cNvPr>
          <p:cNvSpPr>
            <a:spLocks noGrp="1"/>
          </p:cNvSpPr>
          <p:nvPr>
            <p:ph type="dt" sz="half" idx="10"/>
          </p:nvPr>
        </p:nvSpPr>
        <p:spPr/>
        <p:txBody>
          <a:bodyPr/>
          <a:lstStyle/>
          <a:p>
            <a:fld id="{F8D38E1A-79E7-4B2B-B788-606060A7C18B}" type="datetimeFigureOut">
              <a:rPr lang="zh-CN" altLang="en-US" smtClean="0"/>
              <a:t>2026/6/10</a:t>
            </a:fld>
            <a:endParaRPr lang="zh-CN" altLang="en-US"/>
          </a:p>
        </p:txBody>
      </p:sp>
      <p:sp>
        <p:nvSpPr>
          <p:cNvPr id="6" name="页脚占位符 5">
            <a:extLst>
              <a:ext uri="{FF2B5EF4-FFF2-40B4-BE49-F238E27FC236}">
                <a16:creationId xmlns:a16="http://schemas.microsoft.com/office/drawing/2014/main" id="{FF3F8508-0385-4150-8A22-4E4EE633F1A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4C7E82F-C948-402C-ACEE-3BB1039650AF}"/>
              </a:ext>
            </a:extLst>
          </p:cNvPr>
          <p:cNvSpPr>
            <a:spLocks noGrp="1"/>
          </p:cNvSpPr>
          <p:nvPr>
            <p:ph type="sldNum" sz="quarter" idx="12"/>
          </p:nvPr>
        </p:nvSpPr>
        <p:spPr/>
        <p:txBody>
          <a:bodyPr/>
          <a:lstStyle/>
          <a:p>
            <a:fld id="{8B8191DF-D6DF-41D7-843E-3FDA1FB82B70}" type="slidenum">
              <a:rPr lang="zh-CN" altLang="en-US" smtClean="0"/>
              <a:t>‹#›</a:t>
            </a:fld>
            <a:endParaRPr lang="zh-CN" altLang="en-US"/>
          </a:p>
        </p:txBody>
      </p:sp>
    </p:spTree>
    <p:extLst>
      <p:ext uri="{BB962C8B-B14F-4D97-AF65-F5344CB8AC3E}">
        <p14:creationId xmlns:p14="http://schemas.microsoft.com/office/powerpoint/2010/main" val="24171412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95CF3C-EC7E-4644-AB02-14786935217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ECFBBEC-CF25-4047-BAD7-E153F21CFA1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18D6F45-1043-4067-B36F-1D0D4D6CD8D9}"/>
              </a:ext>
            </a:extLst>
          </p:cNvPr>
          <p:cNvSpPr>
            <a:spLocks noGrp="1"/>
          </p:cNvSpPr>
          <p:nvPr>
            <p:ph type="dt" sz="half" idx="10"/>
          </p:nvPr>
        </p:nvSpPr>
        <p:spPr/>
        <p:txBody>
          <a:bodyPr/>
          <a:lstStyle/>
          <a:p>
            <a:fld id="{F8D38E1A-79E7-4B2B-B788-606060A7C18B}" type="datetimeFigureOut">
              <a:rPr lang="zh-CN" altLang="en-US" smtClean="0"/>
              <a:t>2026/6/10</a:t>
            </a:fld>
            <a:endParaRPr lang="zh-CN" altLang="en-US"/>
          </a:p>
        </p:txBody>
      </p:sp>
      <p:sp>
        <p:nvSpPr>
          <p:cNvPr id="5" name="页脚占位符 4">
            <a:extLst>
              <a:ext uri="{FF2B5EF4-FFF2-40B4-BE49-F238E27FC236}">
                <a16:creationId xmlns:a16="http://schemas.microsoft.com/office/drawing/2014/main" id="{66214019-FA91-4B44-9DBA-810A5F42505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F03066C-B691-46BA-A6EC-69C556C72756}"/>
              </a:ext>
            </a:extLst>
          </p:cNvPr>
          <p:cNvSpPr>
            <a:spLocks noGrp="1"/>
          </p:cNvSpPr>
          <p:nvPr>
            <p:ph type="sldNum" sz="quarter" idx="12"/>
          </p:nvPr>
        </p:nvSpPr>
        <p:spPr/>
        <p:txBody>
          <a:bodyPr/>
          <a:lstStyle/>
          <a:p>
            <a:fld id="{8B8191DF-D6DF-41D7-843E-3FDA1FB82B70}" type="slidenum">
              <a:rPr lang="zh-CN" altLang="en-US" smtClean="0"/>
              <a:t>‹#›</a:t>
            </a:fld>
            <a:endParaRPr lang="zh-CN" altLang="en-US"/>
          </a:p>
        </p:txBody>
      </p:sp>
    </p:spTree>
    <p:extLst>
      <p:ext uri="{BB962C8B-B14F-4D97-AF65-F5344CB8AC3E}">
        <p14:creationId xmlns:p14="http://schemas.microsoft.com/office/powerpoint/2010/main" val="23622779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7B23BFC-183B-4C6E-844A-A8CE34C78E9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5FCF75A-6068-4727-A0A2-E6DEBDF1B8F8}"/>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9ED1C8F-0DB9-447B-B4F1-ED835BB47681}"/>
              </a:ext>
            </a:extLst>
          </p:cNvPr>
          <p:cNvSpPr>
            <a:spLocks noGrp="1"/>
          </p:cNvSpPr>
          <p:nvPr>
            <p:ph type="dt" sz="half" idx="10"/>
          </p:nvPr>
        </p:nvSpPr>
        <p:spPr/>
        <p:txBody>
          <a:bodyPr/>
          <a:lstStyle/>
          <a:p>
            <a:fld id="{F8D38E1A-79E7-4B2B-B788-606060A7C18B}" type="datetimeFigureOut">
              <a:rPr lang="zh-CN" altLang="en-US" smtClean="0"/>
              <a:t>2026/6/10</a:t>
            </a:fld>
            <a:endParaRPr lang="zh-CN" altLang="en-US"/>
          </a:p>
        </p:txBody>
      </p:sp>
      <p:sp>
        <p:nvSpPr>
          <p:cNvPr id="5" name="页脚占位符 4">
            <a:extLst>
              <a:ext uri="{FF2B5EF4-FFF2-40B4-BE49-F238E27FC236}">
                <a16:creationId xmlns:a16="http://schemas.microsoft.com/office/drawing/2014/main" id="{34882891-C707-4490-8CB9-091BBAF8C77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0210B65-18CA-4013-A50B-012C236BB4B5}"/>
              </a:ext>
            </a:extLst>
          </p:cNvPr>
          <p:cNvSpPr>
            <a:spLocks noGrp="1"/>
          </p:cNvSpPr>
          <p:nvPr>
            <p:ph type="sldNum" sz="quarter" idx="12"/>
          </p:nvPr>
        </p:nvSpPr>
        <p:spPr/>
        <p:txBody>
          <a:bodyPr/>
          <a:lstStyle/>
          <a:p>
            <a:fld id="{8B8191DF-D6DF-41D7-843E-3FDA1FB82B70}" type="slidenum">
              <a:rPr lang="zh-CN" altLang="en-US" smtClean="0"/>
              <a:t>‹#›</a:t>
            </a:fld>
            <a:endParaRPr lang="zh-CN" altLang="en-US"/>
          </a:p>
        </p:txBody>
      </p:sp>
    </p:spTree>
    <p:extLst>
      <p:ext uri="{BB962C8B-B14F-4D97-AF65-F5344CB8AC3E}">
        <p14:creationId xmlns:p14="http://schemas.microsoft.com/office/powerpoint/2010/main" val="1356863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657BE3F-F89E-4F32-900C-0A756499A9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CCCFD998-D41C-4487-AE3F-3D2DD74313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20E9656-5679-4071-A986-BDEE68F989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D38E1A-79E7-4B2B-B788-606060A7C18B}" type="datetimeFigureOut">
              <a:rPr lang="zh-CN" altLang="en-US" smtClean="0"/>
              <a:t>2026/6/10</a:t>
            </a:fld>
            <a:endParaRPr lang="zh-CN" altLang="en-US"/>
          </a:p>
        </p:txBody>
      </p:sp>
      <p:sp>
        <p:nvSpPr>
          <p:cNvPr id="5" name="页脚占位符 4">
            <a:extLst>
              <a:ext uri="{FF2B5EF4-FFF2-40B4-BE49-F238E27FC236}">
                <a16:creationId xmlns:a16="http://schemas.microsoft.com/office/drawing/2014/main" id="{01E3FFF8-10CC-4448-B72F-58E1F09F25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6B7FEB8-84A4-404E-A0C7-44AE68C548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8191DF-D6DF-41D7-843E-3FDA1FB82B70}" type="slidenum">
              <a:rPr lang="zh-CN" altLang="en-US" smtClean="0"/>
              <a:t>‹#›</a:t>
            </a:fld>
            <a:endParaRPr lang="zh-CN" altLang="en-US"/>
          </a:p>
        </p:txBody>
      </p:sp>
    </p:spTree>
    <p:extLst>
      <p:ext uri="{BB962C8B-B14F-4D97-AF65-F5344CB8AC3E}">
        <p14:creationId xmlns:p14="http://schemas.microsoft.com/office/powerpoint/2010/main" val="10779540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5.jpeg"/><Relationship Id="rId7"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069C0879-973F-4C2A-8BB8-DBF8C229B49B}"/>
              </a:ext>
            </a:extLst>
          </p:cNvPr>
          <p:cNvSpPr/>
          <p:nvPr/>
        </p:nvSpPr>
        <p:spPr>
          <a:xfrm>
            <a:off x="0" y="2944246"/>
            <a:ext cx="12192000" cy="3012671"/>
          </a:xfrm>
          <a:prstGeom prst="rect">
            <a:avLst/>
          </a:prstGeom>
          <a:solidFill>
            <a:srgbClr val="1A3F6C"/>
          </a:solidFill>
          <a:ln w="12700" cap="flat" cmpd="sng" algn="ctr">
            <a:noFill/>
            <a:prstDash val="solid"/>
            <a:miter lim="800000"/>
          </a:ln>
          <a:effectLst/>
        </p:spPr>
        <p:txBody>
          <a:bodyPr lIns="121884" tIns="60941" rIns="121884" bIns="60941"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prstClr val="white"/>
              </a:solidFill>
              <a:effectLst/>
              <a:uLnTx/>
              <a:uFillTx/>
              <a:latin typeface="inpin heiti" charset="-122"/>
              <a:ea typeface="inpin heiti" charset="-122"/>
              <a:cs typeface="+mn-cs"/>
            </a:endParaRPr>
          </a:p>
        </p:txBody>
      </p:sp>
      <p:sp>
        <p:nvSpPr>
          <p:cNvPr id="19" name="TextBox 1">
            <a:extLst>
              <a:ext uri="{FF2B5EF4-FFF2-40B4-BE49-F238E27FC236}">
                <a16:creationId xmlns:a16="http://schemas.microsoft.com/office/drawing/2014/main" id="{C58906E1-A995-4E75-B281-85DC703D5FA0}"/>
              </a:ext>
            </a:extLst>
          </p:cNvPr>
          <p:cNvSpPr txBox="1"/>
          <p:nvPr/>
        </p:nvSpPr>
        <p:spPr>
          <a:xfrm>
            <a:off x="425797" y="3395382"/>
            <a:ext cx="11340406" cy="892129"/>
          </a:xfrm>
          <a:prstGeom prst="rect">
            <a:avLst/>
          </a:prstGeom>
          <a:noFill/>
        </p:spPr>
        <p:txBody>
          <a:bodyPr wrap="square" lIns="121884" tIns="60941" rIns="121884" bIns="60941" rtlCol="0">
            <a:spAutoFit/>
          </a:bodyPr>
          <a:lstStyle/>
          <a:p>
            <a:pPr algn="ctr" defTabSz="342900">
              <a:lnSpc>
                <a:spcPct val="125000"/>
              </a:lnSpc>
            </a:pPr>
            <a:r>
              <a:rPr lang="en-US" altLang="zh-CN" sz="4400" b="1" dirty="0">
                <a:solidFill>
                  <a:prstClr val="white"/>
                </a:solidFill>
                <a:latin typeface="微软雅黑" pitchFamily="34" charset="-122"/>
                <a:ea typeface="微软雅黑" pitchFamily="34" charset="-122"/>
                <a:cs typeface="Calibri" charset="0"/>
              </a:rPr>
              <a:t>“</a:t>
            </a:r>
            <a:r>
              <a:rPr lang="zh-CN" altLang="en-US" sz="4400" b="1" dirty="0">
                <a:solidFill>
                  <a:prstClr val="white"/>
                </a:solidFill>
                <a:latin typeface="微软雅黑" pitchFamily="34" charset="-122"/>
                <a:ea typeface="微软雅黑" pitchFamily="34" charset="-122"/>
                <a:cs typeface="Calibri" charset="0"/>
              </a:rPr>
              <a:t>教育学</a:t>
            </a:r>
            <a:r>
              <a:rPr lang="en-US" altLang="zh-CN" sz="4400" b="1" dirty="0">
                <a:solidFill>
                  <a:prstClr val="white"/>
                </a:solidFill>
                <a:latin typeface="微软雅黑" pitchFamily="34" charset="-122"/>
                <a:ea typeface="微软雅黑" pitchFamily="34" charset="-122"/>
                <a:cs typeface="Calibri" charset="0"/>
              </a:rPr>
              <a:t>+</a:t>
            </a:r>
            <a:r>
              <a:rPr lang="zh-CN" altLang="en-US" sz="4400" b="1" dirty="0">
                <a:solidFill>
                  <a:prstClr val="white"/>
                </a:solidFill>
                <a:latin typeface="微软雅黑" pitchFamily="34" charset="-122"/>
                <a:ea typeface="微软雅黑" pitchFamily="34" charset="-122"/>
                <a:cs typeface="Calibri" charset="0"/>
              </a:rPr>
              <a:t>人工智能</a:t>
            </a:r>
            <a:r>
              <a:rPr lang="en-US" altLang="zh-CN" sz="4400" b="1" dirty="0">
                <a:solidFill>
                  <a:prstClr val="white"/>
                </a:solidFill>
                <a:latin typeface="微软雅黑" pitchFamily="34" charset="-122"/>
                <a:ea typeface="微软雅黑" pitchFamily="34" charset="-122"/>
                <a:cs typeface="Calibri" charset="0"/>
              </a:rPr>
              <a:t>”</a:t>
            </a:r>
            <a:r>
              <a:rPr lang="zh-CN" altLang="en-US" sz="4400" b="1" dirty="0">
                <a:solidFill>
                  <a:prstClr val="white"/>
                </a:solidFill>
                <a:latin typeface="微软雅黑" pitchFamily="34" charset="-122"/>
                <a:ea typeface="微软雅黑" pitchFamily="34" charset="-122"/>
                <a:cs typeface="Calibri" charset="0"/>
              </a:rPr>
              <a:t>双学士学位介绍</a:t>
            </a:r>
            <a:endParaRPr lang="en-US" altLang="zh-CN" sz="4400" b="1" dirty="0">
              <a:solidFill>
                <a:prstClr val="white"/>
              </a:solidFill>
              <a:latin typeface="微软雅黑" pitchFamily="34" charset="-122"/>
              <a:ea typeface="微软雅黑" pitchFamily="34" charset="-122"/>
              <a:cs typeface="Calibri" charset="0"/>
            </a:endParaRPr>
          </a:p>
        </p:txBody>
      </p:sp>
      <p:sp>
        <p:nvSpPr>
          <p:cNvPr id="20" name="TextBox 1">
            <a:extLst>
              <a:ext uri="{FF2B5EF4-FFF2-40B4-BE49-F238E27FC236}">
                <a16:creationId xmlns:a16="http://schemas.microsoft.com/office/drawing/2014/main" id="{617ABA1A-C781-4C5E-B54E-AA92C55111C8}"/>
              </a:ext>
            </a:extLst>
          </p:cNvPr>
          <p:cNvSpPr txBox="1"/>
          <p:nvPr/>
        </p:nvSpPr>
        <p:spPr>
          <a:xfrm>
            <a:off x="0" y="5992509"/>
            <a:ext cx="12192000" cy="611796"/>
          </a:xfrm>
          <a:prstGeom prst="rect">
            <a:avLst/>
          </a:prstGeom>
          <a:noFill/>
        </p:spPr>
        <p:txBody>
          <a:bodyPr wrap="square" lIns="121884" tIns="60941" rIns="121884" bIns="60941" rtlCol="0">
            <a:spAutoFit/>
          </a:bodyPr>
          <a:lstStyle/>
          <a:p>
            <a:pPr algn="ctr">
              <a:lnSpc>
                <a:spcPct val="150000"/>
              </a:lnSpc>
            </a:pPr>
            <a:r>
              <a:rPr lang="en-US" altLang="zh-CN" sz="2400" b="1" dirty="0">
                <a:solidFill>
                  <a:srgbClr val="4472C4">
                    <a:lumMod val="50000"/>
                  </a:srgbClr>
                </a:solidFill>
                <a:latin typeface="微软雅黑"/>
                <a:ea typeface="微软雅黑"/>
              </a:rPr>
              <a:t>2026 </a:t>
            </a:r>
            <a:r>
              <a:rPr lang="zh-CN" altLang="en-US" sz="2400" b="1" dirty="0">
                <a:solidFill>
                  <a:srgbClr val="4472C4">
                    <a:lumMod val="50000"/>
                  </a:srgbClr>
                </a:solidFill>
                <a:latin typeface="微软雅黑"/>
                <a:ea typeface="微软雅黑"/>
              </a:rPr>
              <a:t>年 </a:t>
            </a:r>
            <a:r>
              <a:rPr lang="en-US" altLang="zh-CN" sz="2400" b="1" dirty="0">
                <a:solidFill>
                  <a:srgbClr val="4472C4">
                    <a:lumMod val="50000"/>
                  </a:srgbClr>
                </a:solidFill>
                <a:latin typeface="微软雅黑"/>
                <a:ea typeface="微软雅黑"/>
              </a:rPr>
              <a:t>6 </a:t>
            </a:r>
            <a:r>
              <a:rPr lang="zh-CN" altLang="en-US" sz="2400" b="1" dirty="0">
                <a:solidFill>
                  <a:srgbClr val="4472C4">
                    <a:lumMod val="50000"/>
                  </a:srgbClr>
                </a:solidFill>
                <a:latin typeface="微软雅黑"/>
                <a:ea typeface="微软雅黑"/>
              </a:rPr>
              <a:t>月 </a:t>
            </a:r>
            <a:r>
              <a:rPr lang="en-US" altLang="zh-CN" sz="2400" b="1" dirty="0">
                <a:solidFill>
                  <a:srgbClr val="4472C4">
                    <a:lumMod val="50000"/>
                  </a:srgbClr>
                </a:solidFill>
                <a:latin typeface="微软雅黑"/>
                <a:ea typeface="微软雅黑"/>
              </a:rPr>
              <a:t>11 </a:t>
            </a:r>
            <a:r>
              <a:rPr lang="zh-CN" altLang="en-US" sz="2400" b="1" dirty="0">
                <a:solidFill>
                  <a:srgbClr val="4472C4">
                    <a:lumMod val="50000"/>
                  </a:srgbClr>
                </a:solidFill>
                <a:latin typeface="微软雅黑"/>
                <a:ea typeface="微软雅黑"/>
              </a:rPr>
              <a:t>日</a:t>
            </a:r>
          </a:p>
        </p:txBody>
      </p:sp>
      <p:grpSp>
        <p:nvGrpSpPr>
          <p:cNvPr id="21" name="组合 20">
            <a:extLst>
              <a:ext uri="{FF2B5EF4-FFF2-40B4-BE49-F238E27FC236}">
                <a16:creationId xmlns:a16="http://schemas.microsoft.com/office/drawing/2014/main" id="{F91695C3-E8BC-43D7-822E-AEDEEEB0ECCB}"/>
              </a:ext>
            </a:extLst>
          </p:cNvPr>
          <p:cNvGrpSpPr/>
          <p:nvPr/>
        </p:nvGrpSpPr>
        <p:grpSpPr>
          <a:xfrm>
            <a:off x="2947452" y="0"/>
            <a:ext cx="6297095" cy="2998071"/>
            <a:chOff x="2813333" y="0"/>
            <a:chExt cx="6297095" cy="2998071"/>
          </a:xfrm>
        </p:grpSpPr>
        <p:grpSp>
          <p:nvGrpSpPr>
            <p:cNvPr id="22" name="组合 21">
              <a:extLst>
                <a:ext uri="{FF2B5EF4-FFF2-40B4-BE49-F238E27FC236}">
                  <a16:creationId xmlns:a16="http://schemas.microsoft.com/office/drawing/2014/main" id="{FA47ADF4-1FA1-4924-A598-A8FBD0B4FC8B}"/>
                </a:ext>
              </a:extLst>
            </p:cNvPr>
            <p:cNvGrpSpPr/>
            <p:nvPr/>
          </p:nvGrpSpPr>
          <p:grpSpPr>
            <a:xfrm>
              <a:off x="2813333" y="0"/>
              <a:ext cx="3355102" cy="2973644"/>
              <a:chOff x="4470683" y="-24427"/>
              <a:chExt cx="3355102" cy="2973644"/>
            </a:xfrm>
          </p:grpSpPr>
          <p:pic>
            <p:nvPicPr>
              <p:cNvPr id="28" name="Picture 2" descr="C:\Users\Administrator\Desktop\微立体创业计划\001.png">
                <a:extLst>
                  <a:ext uri="{FF2B5EF4-FFF2-40B4-BE49-F238E27FC236}">
                    <a16:creationId xmlns:a16="http://schemas.microsoft.com/office/drawing/2014/main" id="{A2CA3E06-46E3-497A-AA62-FDA7D9514790}"/>
                  </a:ext>
                </a:extLst>
              </p:cNvPr>
              <p:cNvPicPr>
                <a:picLocks noChangeAspect="1" noChangeArrowheads="1"/>
              </p:cNvPicPr>
              <p:nvPr/>
            </p:nvPicPr>
            <p:blipFill>
              <a:blip r:embed="rId3" cstate="screen">
                <a:extLst>
                  <a:ext uri="{BEBA8EAE-BF5A-486C-A8C5-ECC9F3942E4B}">
                    <a14:imgProps xmlns:a14="http://schemas.microsoft.com/office/drawing/2010/main">
                      <a14:imgLayer r:embed="rId4">
                        <a14:imgEffect>
                          <a14:brightnessContrast bright="-3000"/>
                        </a14:imgEffect>
                      </a14:imgLayer>
                    </a14:imgProps>
                  </a:ext>
                </a:extLst>
              </a:blip>
              <a:srcRect/>
              <a:stretch>
                <a:fillRect/>
              </a:stretch>
            </p:blipFill>
            <p:spPr bwMode="auto">
              <a:xfrm>
                <a:off x="4470683" y="75548"/>
                <a:ext cx="2622992" cy="2622637"/>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29" name="Picture 3" descr="C:\Users\Administrator\Desktop\微立体创业计划\002.png">
                <a:extLst>
                  <a:ext uri="{FF2B5EF4-FFF2-40B4-BE49-F238E27FC236}">
                    <a16:creationId xmlns:a16="http://schemas.microsoft.com/office/drawing/2014/main" id="{1A008785-345F-401B-AAB7-22F43AA5CA18}"/>
                  </a:ext>
                </a:extLst>
              </p:cNvPr>
              <p:cNvPicPr>
                <a:picLocks noChangeAspect="1" noChangeArrowheads="1"/>
              </p:cNvPicPr>
              <p:nvPr/>
            </p:nvPicPr>
            <p:blipFill>
              <a:blip r:embed="rId5" cstate="screen"/>
              <a:srcRect/>
              <a:stretch>
                <a:fillRect/>
              </a:stretch>
            </p:blipFill>
            <p:spPr bwMode="auto">
              <a:xfrm>
                <a:off x="4851738" y="-24427"/>
                <a:ext cx="2974047" cy="2973644"/>
              </a:xfrm>
              <a:prstGeom prst="rect">
                <a:avLst/>
              </a:prstGeom>
              <a:noFill/>
              <a:effectLst>
                <a:outerShdw blurRad="292100" dist="177800" dir="2460000" sx="99000" sy="99000" algn="l" rotWithShape="0">
                  <a:prstClr val="black">
                    <a:alpha val="39000"/>
                  </a:prstClr>
                </a:outerShdw>
              </a:effectLst>
              <a:extLst>
                <a:ext uri="{909E8E84-426E-40DD-AFC4-6F175D3DCCD1}">
                  <a14:hiddenFill xmlns:a14="http://schemas.microsoft.com/office/drawing/2010/main">
                    <a:solidFill>
                      <a:srgbClr val="FFFFFF"/>
                    </a:solidFill>
                  </a14:hiddenFill>
                </a:ext>
              </a:extLst>
            </p:spPr>
          </p:pic>
          <p:pic>
            <p:nvPicPr>
              <p:cNvPr id="30" name="图片 29">
                <a:extLst>
                  <a:ext uri="{FF2B5EF4-FFF2-40B4-BE49-F238E27FC236}">
                    <a16:creationId xmlns:a16="http://schemas.microsoft.com/office/drawing/2014/main" id="{5B7225E4-0B93-4E5C-A01D-2066EC08C110}"/>
                  </a:ext>
                </a:extLst>
              </p:cNvPr>
              <p:cNvPicPr>
                <a:picLocks noChangeAspect="1"/>
              </p:cNvPicPr>
              <p:nvPr/>
            </p:nvPicPr>
            <p:blipFill>
              <a:blip r:embed="rId6">
                <a:extLst>
                  <a:ext uri="{28A0092B-C50C-407E-A947-70E740481C1C}">
                    <a14:useLocalDpi xmlns:a14="http://schemas.microsoft.com/office/drawing/2010/main" val="0"/>
                  </a:ext>
                </a:extLst>
              </a:blip>
              <a:srcRect l="1133" r="1133"/>
              <a:stretch/>
            </p:blipFill>
            <p:spPr>
              <a:xfrm>
                <a:off x="5427832" y="548214"/>
                <a:ext cx="1818788" cy="1828995"/>
              </a:xfrm>
              <a:prstGeom prst="rect">
                <a:avLst/>
              </a:prstGeom>
            </p:spPr>
          </p:pic>
        </p:grpSp>
        <p:grpSp>
          <p:nvGrpSpPr>
            <p:cNvPr id="23" name="组合 22">
              <a:extLst>
                <a:ext uri="{FF2B5EF4-FFF2-40B4-BE49-F238E27FC236}">
                  <a16:creationId xmlns:a16="http://schemas.microsoft.com/office/drawing/2014/main" id="{9DD2D083-788A-4644-B86F-710C7BD4315F}"/>
                </a:ext>
              </a:extLst>
            </p:cNvPr>
            <p:cNvGrpSpPr/>
            <p:nvPr/>
          </p:nvGrpSpPr>
          <p:grpSpPr>
            <a:xfrm>
              <a:off x="5755326" y="24427"/>
              <a:ext cx="3355102" cy="2973644"/>
              <a:chOff x="5755326" y="24427"/>
              <a:chExt cx="3355102" cy="2973644"/>
            </a:xfrm>
          </p:grpSpPr>
          <p:grpSp>
            <p:nvGrpSpPr>
              <p:cNvPr id="24" name="组合 23">
                <a:extLst>
                  <a:ext uri="{FF2B5EF4-FFF2-40B4-BE49-F238E27FC236}">
                    <a16:creationId xmlns:a16="http://schemas.microsoft.com/office/drawing/2014/main" id="{4E086431-0EF9-4C7D-A36C-A9DF7072ABD4}"/>
                  </a:ext>
                </a:extLst>
              </p:cNvPr>
              <p:cNvGrpSpPr/>
              <p:nvPr/>
            </p:nvGrpSpPr>
            <p:grpSpPr>
              <a:xfrm>
                <a:off x="5755326" y="24427"/>
                <a:ext cx="3355102" cy="2973644"/>
                <a:chOff x="4470683" y="-24427"/>
                <a:chExt cx="3355102" cy="2973644"/>
              </a:xfrm>
            </p:grpSpPr>
            <p:pic>
              <p:nvPicPr>
                <p:cNvPr id="26" name="Picture 2" descr="C:\Users\Administrator\Desktop\微立体创业计划\001.png">
                  <a:extLst>
                    <a:ext uri="{FF2B5EF4-FFF2-40B4-BE49-F238E27FC236}">
                      <a16:creationId xmlns:a16="http://schemas.microsoft.com/office/drawing/2014/main" id="{5D493AAC-BE94-45C6-A19E-6FA8FBA5BEA7}"/>
                    </a:ext>
                  </a:extLst>
                </p:cNvPr>
                <p:cNvPicPr>
                  <a:picLocks noChangeAspect="1" noChangeArrowheads="1"/>
                </p:cNvPicPr>
                <p:nvPr/>
              </p:nvPicPr>
              <p:blipFill>
                <a:blip r:embed="rId3" cstate="screen">
                  <a:extLst>
                    <a:ext uri="{BEBA8EAE-BF5A-486C-A8C5-ECC9F3942E4B}">
                      <a14:imgProps xmlns:a14="http://schemas.microsoft.com/office/drawing/2010/main">
                        <a14:imgLayer r:embed="rId4">
                          <a14:imgEffect>
                            <a14:brightnessContrast bright="-3000"/>
                          </a14:imgEffect>
                        </a14:imgLayer>
                      </a14:imgProps>
                    </a:ext>
                  </a:extLst>
                </a:blip>
                <a:srcRect/>
                <a:stretch>
                  <a:fillRect/>
                </a:stretch>
              </p:blipFill>
              <p:spPr bwMode="auto">
                <a:xfrm>
                  <a:off x="4470683" y="75548"/>
                  <a:ext cx="2622992" cy="2622637"/>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27" name="Picture 3" descr="C:\Users\Administrator\Desktop\微立体创业计划\002.png">
                  <a:extLst>
                    <a:ext uri="{FF2B5EF4-FFF2-40B4-BE49-F238E27FC236}">
                      <a16:creationId xmlns:a16="http://schemas.microsoft.com/office/drawing/2014/main" id="{F12F6CDE-31C3-43D9-9255-954B1627B2CA}"/>
                    </a:ext>
                  </a:extLst>
                </p:cNvPr>
                <p:cNvPicPr>
                  <a:picLocks noChangeAspect="1" noChangeArrowheads="1"/>
                </p:cNvPicPr>
                <p:nvPr/>
              </p:nvPicPr>
              <p:blipFill>
                <a:blip r:embed="rId5" cstate="screen"/>
                <a:srcRect/>
                <a:stretch>
                  <a:fillRect/>
                </a:stretch>
              </p:blipFill>
              <p:spPr bwMode="auto">
                <a:xfrm>
                  <a:off x="4851738" y="-24427"/>
                  <a:ext cx="2974047" cy="2973644"/>
                </a:xfrm>
                <a:prstGeom prst="rect">
                  <a:avLst/>
                </a:prstGeom>
                <a:noFill/>
                <a:effectLst>
                  <a:outerShdw blurRad="292100" dist="177800" dir="2460000" sx="99000" sy="99000" algn="l" rotWithShape="0">
                    <a:prstClr val="black">
                      <a:alpha val="39000"/>
                    </a:prstClr>
                  </a:outerShdw>
                </a:effectLst>
                <a:extLst>
                  <a:ext uri="{909E8E84-426E-40DD-AFC4-6F175D3DCCD1}">
                    <a14:hiddenFill xmlns:a14="http://schemas.microsoft.com/office/drawing/2010/main">
                      <a:solidFill>
                        <a:srgbClr val="FFFFFF"/>
                      </a:solidFill>
                    </a14:hiddenFill>
                  </a:ext>
                </a:extLst>
              </p:spPr>
            </p:pic>
          </p:grpSp>
          <p:pic>
            <p:nvPicPr>
              <p:cNvPr id="25" name="图片 24">
                <a:extLst>
                  <a:ext uri="{FF2B5EF4-FFF2-40B4-BE49-F238E27FC236}">
                    <a16:creationId xmlns:a16="http://schemas.microsoft.com/office/drawing/2014/main" id="{41E2D802-ED2C-4209-A2F3-466CFD153BFA}"/>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6658295" y="546140"/>
                <a:ext cx="1930217" cy="1930217"/>
              </a:xfrm>
              <a:prstGeom prst="rect">
                <a:avLst/>
              </a:prstGeom>
            </p:spPr>
          </p:pic>
        </p:grpSp>
      </p:grpSp>
    </p:spTree>
    <p:extLst>
      <p:ext uri="{BB962C8B-B14F-4D97-AF65-F5344CB8AC3E}">
        <p14:creationId xmlns:p14="http://schemas.microsoft.com/office/powerpoint/2010/main" val="15568113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a:extLst>
              <a:ext uri="{FF2B5EF4-FFF2-40B4-BE49-F238E27FC236}">
                <a16:creationId xmlns:a16="http://schemas.microsoft.com/office/drawing/2014/main" id="{39AF018C-BD1E-4D1C-A575-89BC7165FB5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189341" y="28710"/>
            <a:ext cx="881729" cy="881729"/>
          </a:xfrm>
          <a:prstGeom prst="rect">
            <a:avLst/>
          </a:prstGeom>
        </p:spPr>
      </p:pic>
      <p:pic>
        <p:nvPicPr>
          <p:cNvPr id="24" name="图片 23">
            <a:extLst>
              <a:ext uri="{FF2B5EF4-FFF2-40B4-BE49-F238E27FC236}">
                <a16:creationId xmlns:a16="http://schemas.microsoft.com/office/drawing/2014/main" id="{118A43A9-C67F-4CB1-B9F4-63E761CBC2D0}"/>
              </a:ext>
            </a:extLst>
          </p:cNvPr>
          <p:cNvPicPr>
            <a:picLocks noChangeAspect="1"/>
          </p:cNvPicPr>
          <p:nvPr/>
        </p:nvPicPr>
        <p:blipFill>
          <a:blip r:embed="rId4" cstate="print">
            <a:extLst>
              <a:ext uri="{28A0092B-C50C-407E-A947-70E740481C1C}">
                <a14:useLocalDpi xmlns:a14="http://schemas.microsoft.com/office/drawing/2010/main" val="0"/>
              </a:ext>
            </a:extLst>
          </a:blip>
          <a:srcRect l="1133" r="1133"/>
          <a:stretch/>
        </p:blipFill>
        <p:spPr>
          <a:xfrm>
            <a:off x="274100" y="75737"/>
            <a:ext cx="802225" cy="806727"/>
          </a:xfrm>
          <a:prstGeom prst="rect">
            <a:avLst/>
          </a:prstGeom>
        </p:spPr>
      </p:pic>
      <p:grpSp>
        <p:nvGrpSpPr>
          <p:cNvPr id="25" name="组合 24">
            <a:extLst>
              <a:ext uri="{FF2B5EF4-FFF2-40B4-BE49-F238E27FC236}">
                <a16:creationId xmlns:a16="http://schemas.microsoft.com/office/drawing/2014/main" id="{AB339BCE-8890-428B-9337-AEAE49A22865}"/>
              </a:ext>
            </a:extLst>
          </p:cNvPr>
          <p:cNvGrpSpPr/>
          <p:nvPr/>
        </p:nvGrpSpPr>
        <p:grpSpPr>
          <a:xfrm>
            <a:off x="968820" y="2321576"/>
            <a:ext cx="11206106" cy="3511968"/>
            <a:chOff x="1110869" y="1707004"/>
            <a:chExt cx="11206106" cy="3511968"/>
          </a:xfrm>
        </p:grpSpPr>
        <p:grpSp>
          <p:nvGrpSpPr>
            <p:cNvPr id="26" name="组合 25">
              <a:extLst>
                <a:ext uri="{FF2B5EF4-FFF2-40B4-BE49-F238E27FC236}">
                  <a16:creationId xmlns:a16="http://schemas.microsoft.com/office/drawing/2014/main" id="{2CC9C77D-DFA8-4842-9A3B-D890E3137842}"/>
                </a:ext>
              </a:extLst>
            </p:cNvPr>
            <p:cNvGrpSpPr/>
            <p:nvPr/>
          </p:nvGrpSpPr>
          <p:grpSpPr>
            <a:xfrm>
              <a:off x="1110869" y="1707004"/>
              <a:ext cx="11206106" cy="2283377"/>
              <a:chOff x="1110869" y="4344575"/>
              <a:chExt cx="11206106" cy="2283377"/>
            </a:xfrm>
          </p:grpSpPr>
          <p:sp>
            <p:nvSpPr>
              <p:cNvPr id="34" name="椭圆 33">
                <a:extLst>
                  <a:ext uri="{FF2B5EF4-FFF2-40B4-BE49-F238E27FC236}">
                    <a16:creationId xmlns:a16="http://schemas.microsoft.com/office/drawing/2014/main" id="{C4A0B285-CD43-40D8-A74C-C125E7548F66}"/>
                  </a:ext>
                </a:extLst>
              </p:cNvPr>
              <p:cNvSpPr/>
              <p:nvPr/>
            </p:nvSpPr>
            <p:spPr>
              <a:xfrm>
                <a:off x="1110869" y="4401141"/>
                <a:ext cx="914400" cy="914400"/>
              </a:xfrm>
              <a:prstGeom prst="ellipse">
                <a:avLst/>
              </a:prstGeom>
              <a:solidFill>
                <a:srgbClr val="20457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3200" b="1" i="0" u="none" strike="noStrike" kern="0" cap="none" spc="0" normalizeH="0" baseline="0" noProof="0" dirty="0">
                  <a:ln>
                    <a:noFill/>
                  </a:ln>
                  <a:effectLst>
                    <a:outerShdw blurRad="38100" dist="38100" dir="2700000" algn="tl">
                      <a:srgbClr val="000000">
                        <a:alpha val="43137"/>
                      </a:srgbClr>
                    </a:outerShdw>
                  </a:effectLst>
                  <a:uLnTx/>
                  <a:uFillTx/>
                  <a:latin typeface="微软雅黑" panose="020B0503020204020204" charset="-122"/>
                  <a:ea typeface="微软雅黑" panose="020B0503020204020204" charset="-122"/>
                </a:endParaRPr>
              </a:p>
            </p:txBody>
          </p:sp>
          <p:sp>
            <p:nvSpPr>
              <p:cNvPr id="35" name="TextBox 29">
                <a:extLst>
                  <a:ext uri="{FF2B5EF4-FFF2-40B4-BE49-F238E27FC236}">
                    <a16:creationId xmlns:a16="http://schemas.microsoft.com/office/drawing/2014/main" id="{2AD3159A-F290-4D3D-8776-53FB1B69F8EC}"/>
                  </a:ext>
                </a:extLst>
              </p:cNvPr>
              <p:cNvSpPr txBox="1"/>
              <p:nvPr/>
            </p:nvSpPr>
            <p:spPr>
              <a:xfrm flipH="1">
                <a:off x="2298828" y="4344575"/>
                <a:ext cx="4861729" cy="427356"/>
              </a:xfrm>
              <a:prstGeom prst="rect">
                <a:avLst/>
              </a:prstGeom>
            </p:spPr>
            <p:txBody>
              <a:bodyPr vert="horz" lIns="91440" tIns="45720" rIns="91440" bIns="45720" rtlCol="0" anchor="b">
                <a:noAutofit/>
              </a:bodyPr>
              <a:lstStyle>
                <a:defPPr>
                  <a:defRPr lang="zh-CN"/>
                </a:defPPr>
                <a:lvl1pPr>
                  <a:lnSpc>
                    <a:spcPct val="90000"/>
                  </a:lnSpc>
                  <a:spcBef>
                    <a:spcPct val="0"/>
                  </a:spcBef>
                  <a:buNone/>
                  <a:defRPr sz="3200">
                    <a:solidFill>
                      <a:schemeClr val="tx1">
                        <a:lumMod val="75000"/>
                        <a:lumOff val="25000"/>
                      </a:schemeClr>
                    </a:solidFill>
                    <a:latin typeface="字魂59号-创粗黑" panose="00000500000000000000" pitchFamily="2" charset="-122"/>
                    <a:ea typeface="字魂59号-创粗黑" panose="00000500000000000000" pitchFamily="2" charset="-122"/>
                    <a:cs typeface="+mj-cs"/>
                  </a:defRPr>
                </a:lvl1pPr>
              </a:lstStyle>
              <a:p>
                <a:r>
                  <a:rPr lang="en-US" altLang="zh-CN" sz="2000" b="1">
                    <a:solidFill>
                      <a:srgbClr val="1F487C"/>
                    </a:solidFill>
                    <a:latin typeface="微软雅黑" panose="020B0503020204020204" charset="-122"/>
                    <a:ea typeface="微软雅黑" panose="020B0503020204020204" charset="-122"/>
                    <a:sym typeface="思源黑体" panose="020B0400000000000000" pitchFamily="34" charset="-122"/>
                  </a:rPr>
                  <a:t>1.</a:t>
                </a:r>
                <a:r>
                  <a:rPr lang="zh-CN" altLang="en-US" sz="2000" b="1">
                    <a:solidFill>
                      <a:srgbClr val="1F487C"/>
                    </a:solidFill>
                    <a:latin typeface="微软雅黑" panose="020B0503020204020204" charset="-122"/>
                    <a:ea typeface="微软雅黑" panose="020B0503020204020204" charset="-122"/>
                    <a:sym typeface="思源黑体" panose="020B0400000000000000" pitchFamily="34" charset="-122"/>
                  </a:rPr>
                  <a:t>政策引领</a:t>
                </a:r>
                <a:endParaRPr lang="zh-CN" altLang="en-US" sz="2000" b="1" dirty="0">
                  <a:solidFill>
                    <a:srgbClr val="1F487C"/>
                  </a:solidFill>
                  <a:latin typeface="微软雅黑" panose="020B0503020204020204" charset="-122"/>
                  <a:ea typeface="微软雅黑" panose="020B0503020204020204" charset="-122"/>
                  <a:sym typeface="思源黑体" panose="020B0400000000000000" pitchFamily="34" charset="-122"/>
                </a:endParaRPr>
              </a:p>
            </p:txBody>
          </p:sp>
          <p:sp>
            <p:nvSpPr>
              <p:cNvPr id="36" name="TextBox 30">
                <a:extLst>
                  <a:ext uri="{FF2B5EF4-FFF2-40B4-BE49-F238E27FC236}">
                    <a16:creationId xmlns:a16="http://schemas.microsoft.com/office/drawing/2014/main" id="{C9991E67-DC4A-46E5-989A-F14E20F2ED0C}"/>
                  </a:ext>
                </a:extLst>
              </p:cNvPr>
              <p:cNvSpPr txBox="1"/>
              <p:nvPr/>
            </p:nvSpPr>
            <p:spPr>
              <a:xfrm>
                <a:off x="2004139" y="4770199"/>
                <a:ext cx="10312836" cy="1857753"/>
              </a:xfrm>
              <a:prstGeom prst="rect">
                <a:avLst/>
              </a:prstGeom>
              <a:noFill/>
            </p:spPr>
            <p:txBody>
              <a:bodyPr wrap="square" rtlCol="0">
                <a:spAutoFit/>
              </a:bodyPr>
              <a:lstStyle/>
              <a:p>
                <a:pPr algn="just">
                  <a:lnSpc>
                    <a:spcPct val="130000"/>
                  </a:lnSpc>
                </a:pPr>
                <a:r>
                  <a:rPr lang="zh-CN" altLang="en-US" b="1" dirty="0">
                    <a:latin typeface="微软雅黑" panose="020B0503020204020204" charset="-122"/>
                    <a:ea typeface="微软雅黑" panose="020B0503020204020204" charset="-122"/>
                    <a:cs typeface="+mn-ea"/>
                  </a:rPr>
                  <a:t>党的二十大明确推进教育数字化</a:t>
                </a:r>
                <a:r>
                  <a:rPr lang="en-US" altLang="zh-CN" b="1" dirty="0">
                    <a:latin typeface="微软雅黑" panose="020B0503020204020204" charset="-122"/>
                    <a:ea typeface="微软雅黑" panose="020B0503020204020204" charset="-122"/>
                    <a:cs typeface="+mn-ea"/>
                  </a:rPr>
                  <a:t>;</a:t>
                </a:r>
              </a:p>
              <a:p>
                <a:pPr algn="just">
                  <a:lnSpc>
                    <a:spcPct val="130000"/>
                  </a:lnSpc>
                </a:pPr>
                <a:r>
                  <a:rPr lang="en-US" altLang="zh-CN" b="1" dirty="0">
                    <a:solidFill>
                      <a:srgbClr val="C00000"/>
                    </a:solidFill>
                    <a:latin typeface="微软雅黑" panose="020B0503020204020204" charset="-122"/>
                    <a:ea typeface="微软雅黑" panose="020B0503020204020204" charset="-122"/>
                    <a:cs typeface="+mn-ea"/>
                  </a:rPr>
                  <a:t>《</a:t>
                </a:r>
                <a:r>
                  <a:rPr lang="zh-CN" altLang="en-US" b="1" dirty="0">
                    <a:solidFill>
                      <a:srgbClr val="C00000"/>
                    </a:solidFill>
                    <a:latin typeface="微软雅黑" panose="020B0503020204020204" charset="-122"/>
                    <a:ea typeface="微软雅黑" panose="020B0503020204020204" charset="-122"/>
                    <a:cs typeface="+mn-ea"/>
                  </a:rPr>
                  <a:t>教育部等九部门关于加快推进教育数字化的意见</a:t>
                </a:r>
                <a:r>
                  <a:rPr lang="en-US" altLang="zh-CN" b="1" dirty="0">
                    <a:solidFill>
                      <a:srgbClr val="C00000"/>
                    </a:solidFill>
                    <a:latin typeface="微软雅黑" panose="020B0503020204020204" charset="-122"/>
                    <a:ea typeface="微软雅黑" panose="020B0503020204020204" charset="-122"/>
                    <a:cs typeface="+mn-ea"/>
                  </a:rPr>
                  <a:t>》</a:t>
                </a:r>
                <a:r>
                  <a:rPr lang="zh-CN" altLang="en-US" b="1" dirty="0">
                    <a:latin typeface="微软雅黑" panose="020B0503020204020204" charset="-122"/>
                    <a:ea typeface="微软雅黑" panose="020B0503020204020204" charset="-122"/>
                    <a:cs typeface="+mn-ea"/>
                  </a:rPr>
                  <a:t>提出探索“人工智能</a:t>
                </a:r>
                <a:r>
                  <a:rPr lang="en-US" altLang="zh-CN" b="1" dirty="0">
                    <a:latin typeface="微软雅黑" panose="020B0503020204020204" charset="-122"/>
                    <a:ea typeface="微软雅黑" panose="020B0503020204020204" charset="-122"/>
                    <a:cs typeface="+mn-ea"/>
                  </a:rPr>
                  <a:t>+</a:t>
                </a:r>
                <a:r>
                  <a:rPr lang="zh-CN" altLang="en-US" b="1" dirty="0">
                    <a:latin typeface="微软雅黑" panose="020B0503020204020204" charset="-122"/>
                    <a:ea typeface="微软雅黑" panose="020B0503020204020204" charset="-122"/>
                    <a:cs typeface="+mn-ea"/>
                  </a:rPr>
                  <a:t>教育”应用场景新范式，推动大模型与教育教学深度融合；</a:t>
                </a:r>
                <a:endParaRPr lang="en-US" altLang="zh-CN" b="1" dirty="0">
                  <a:latin typeface="微软雅黑" panose="020B0503020204020204" charset="-122"/>
                  <a:ea typeface="微软雅黑" panose="020B0503020204020204" charset="-122"/>
                  <a:cs typeface="+mn-ea"/>
                </a:endParaRPr>
              </a:p>
              <a:p>
                <a:pPr algn="just">
                  <a:lnSpc>
                    <a:spcPct val="130000"/>
                  </a:lnSpc>
                </a:pPr>
                <a:r>
                  <a:rPr lang="en-US" altLang="zh-CN" b="1" dirty="0">
                    <a:solidFill>
                      <a:srgbClr val="C00000"/>
                    </a:solidFill>
                    <a:latin typeface="微软雅黑" panose="020B0503020204020204" charset="-122"/>
                    <a:ea typeface="微软雅黑" panose="020B0503020204020204" charset="-122"/>
                    <a:cs typeface="+mn-ea"/>
                  </a:rPr>
                  <a:t>《</a:t>
                </a:r>
                <a:r>
                  <a:rPr lang="zh-CN" altLang="en-US" b="1" dirty="0">
                    <a:solidFill>
                      <a:srgbClr val="C00000"/>
                    </a:solidFill>
                    <a:latin typeface="微软雅黑" panose="020B0503020204020204" charset="-122"/>
                    <a:ea typeface="微软雅黑" panose="020B0503020204020204" charset="-122"/>
                    <a:cs typeface="+mn-ea"/>
                  </a:rPr>
                  <a:t>教育强国建设规划纲要（</a:t>
                </a:r>
                <a:r>
                  <a:rPr lang="en-US" altLang="zh-CN" b="1" dirty="0">
                    <a:solidFill>
                      <a:srgbClr val="C00000"/>
                    </a:solidFill>
                    <a:latin typeface="微软雅黑" panose="020B0503020204020204" charset="-122"/>
                    <a:ea typeface="微软雅黑" panose="020B0503020204020204" charset="-122"/>
                    <a:cs typeface="+mn-ea"/>
                  </a:rPr>
                  <a:t>2024—2035</a:t>
                </a:r>
                <a:r>
                  <a:rPr lang="zh-CN" altLang="en-US" b="1" dirty="0">
                    <a:solidFill>
                      <a:srgbClr val="C00000"/>
                    </a:solidFill>
                    <a:latin typeface="微软雅黑" panose="020B0503020204020204" charset="-122"/>
                    <a:ea typeface="微软雅黑" panose="020B0503020204020204" charset="-122"/>
                    <a:cs typeface="+mn-ea"/>
                  </a:rPr>
                  <a:t>年）</a:t>
                </a:r>
                <a:r>
                  <a:rPr lang="en-US" altLang="zh-CN" b="1" dirty="0">
                    <a:solidFill>
                      <a:srgbClr val="C00000"/>
                    </a:solidFill>
                    <a:latin typeface="微软雅黑" panose="020B0503020204020204" charset="-122"/>
                    <a:ea typeface="微软雅黑" panose="020B0503020204020204" charset="-122"/>
                    <a:cs typeface="+mn-ea"/>
                  </a:rPr>
                  <a:t>》</a:t>
                </a:r>
                <a:r>
                  <a:rPr lang="zh-CN" altLang="en-US" b="1" dirty="0">
                    <a:latin typeface="微软雅黑" panose="020B0503020204020204" charset="-122"/>
                    <a:ea typeface="微软雅黑" panose="020B0503020204020204" charset="-122"/>
                    <a:cs typeface="+mn-ea"/>
                  </a:rPr>
                  <a:t>将智能教育列为关键任务，强化技术赋能教育转型。</a:t>
                </a:r>
                <a:endParaRPr lang="en-US" altLang="zh-CN" b="1" dirty="0">
                  <a:latin typeface="微软雅黑" panose="020B0503020204020204" charset="-122"/>
                  <a:ea typeface="微软雅黑" panose="020B0503020204020204" charset="-122"/>
                  <a:cs typeface="+mn-ea"/>
                </a:endParaRPr>
              </a:p>
              <a:p>
                <a:pPr algn="just">
                  <a:lnSpc>
                    <a:spcPct val="130000"/>
                  </a:lnSpc>
                </a:pPr>
                <a:r>
                  <a:rPr lang="zh-CN" altLang="en-US" b="1" dirty="0">
                    <a:latin typeface="微软雅黑" panose="020B0503020204020204" charset="-122"/>
                    <a:ea typeface="微软雅黑" panose="020B0503020204020204" charset="-122"/>
                    <a:cs typeface="+mn-ea"/>
                  </a:rPr>
                  <a:t>教育部等五部门印发</a:t>
                </a:r>
                <a:r>
                  <a:rPr lang="en-US" altLang="zh-CN" b="1" dirty="0">
                    <a:solidFill>
                      <a:srgbClr val="C00000"/>
                    </a:solidFill>
                    <a:latin typeface="微软雅黑" panose="020B0503020204020204" charset="-122"/>
                    <a:ea typeface="微软雅黑" panose="020B0503020204020204" charset="-122"/>
                    <a:cs typeface="+mn-ea"/>
                  </a:rPr>
                  <a:t>《</a:t>
                </a:r>
                <a:r>
                  <a:rPr lang="zh-CN" altLang="en-US" b="1" dirty="0">
                    <a:solidFill>
                      <a:srgbClr val="C00000"/>
                    </a:solidFill>
                    <a:latin typeface="微软雅黑" panose="020B0503020204020204" charset="-122"/>
                    <a:ea typeface="微软雅黑" panose="020B0503020204020204" charset="-122"/>
                    <a:cs typeface="+mn-ea"/>
                  </a:rPr>
                  <a:t>“人工智能</a:t>
                </a:r>
                <a:r>
                  <a:rPr lang="en-US" altLang="zh-CN" b="1" dirty="0">
                    <a:solidFill>
                      <a:srgbClr val="C00000"/>
                    </a:solidFill>
                    <a:latin typeface="微软雅黑" panose="020B0503020204020204" charset="-122"/>
                    <a:ea typeface="微软雅黑" panose="020B0503020204020204" charset="-122"/>
                    <a:cs typeface="+mn-ea"/>
                  </a:rPr>
                  <a:t>+</a:t>
                </a:r>
                <a:r>
                  <a:rPr lang="zh-CN" altLang="en-US" b="1" dirty="0">
                    <a:solidFill>
                      <a:srgbClr val="C00000"/>
                    </a:solidFill>
                    <a:latin typeface="微软雅黑" panose="020B0503020204020204" charset="-122"/>
                    <a:ea typeface="微软雅黑" panose="020B0503020204020204" charset="-122"/>
                    <a:cs typeface="+mn-ea"/>
                  </a:rPr>
                  <a:t>教育”行动计划</a:t>
                </a:r>
                <a:r>
                  <a:rPr lang="en-US" altLang="zh-CN" b="1" dirty="0">
                    <a:solidFill>
                      <a:srgbClr val="C00000"/>
                    </a:solidFill>
                    <a:latin typeface="微软雅黑" panose="020B0503020204020204" charset="-122"/>
                    <a:ea typeface="微软雅黑" panose="020B0503020204020204" charset="-122"/>
                    <a:cs typeface="+mn-ea"/>
                  </a:rPr>
                  <a:t>》</a:t>
                </a:r>
                <a:r>
                  <a:rPr lang="zh-CN" altLang="en-US" b="1" dirty="0">
                    <a:latin typeface="微软雅黑" panose="020B0503020204020204" charset="-122"/>
                    <a:ea typeface="微软雅黑" panose="020B0503020204020204" charset="-122"/>
                    <a:cs typeface="+mn-ea"/>
                  </a:rPr>
                  <a:t>中指出要推动人工智能人才培养与素养提升。</a:t>
                </a:r>
              </a:p>
            </p:txBody>
          </p:sp>
          <p:pic>
            <p:nvPicPr>
              <p:cNvPr id="37" name="图形 36">
                <a:extLst>
                  <a:ext uri="{FF2B5EF4-FFF2-40B4-BE49-F238E27FC236}">
                    <a16:creationId xmlns:a16="http://schemas.microsoft.com/office/drawing/2014/main" id="{D0C1440F-00D0-4756-8193-2FC26CB3686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363282" y="4648791"/>
                <a:ext cx="409575" cy="419100"/>
              </a:xfrm>
              <a:prstGeom prst="rect">
                <a:avLst/>
              </a:prstGeom>
            </p:spPr>
          </p:pic>
        </p:grpSp>
        <p:grpSp>
          <p:nvGrpSpPr>
            <p:cNvPr id="27" name="组合 26">
              <a:extLst>
                <a:ext uri="{FF2B5EF4-FFF2-40B4-BE49-F238E27FC236}">
                  <a16:creationId xmlns:a16="http://schemas.microsoft.com/office/drawing/2014/main" id="{E5F1E1A3-ECFC-4E74-834C-78F5875B827A}"/>
                </a:ext>
              </a:extLst>
            </p:cNvPr>
            <p:cNvGrpSpPr/>
            <p:nvPr/>
          </p:nvGrpSpPr>
          <p:grpSpPr>
            <a:xfrm>
              <a:off x="1110869" y="4304572"/>
              <a:ext cx="914400" cy="914400"/>
              <a:chOff x="6304352" y="4985004"/>
              <a:chExt cx="914400" cy="914400"/>
            </a:xfrm>
          </p:grpSpPr>
          <p:sp>
            <p:nvSpPr>
              <p:cNvPr id="28" name="椭圆 27">
                <a:extLst>
                  <a:ext uri="{FF2B5EF4-FFF2-40B4-BE49-F238E27FC236}">
                    <a16:creationId xmlns:a16="http://schemas.microsoft.com/office/drawing/2014/main" id="{E89E37A7-C839-4DC4-A197-3E2F060CC697}"/>
                  </a:ext>
                </a:extLst>
              </p:cNvPr>
              <p:cNvSpPr/>
              <p:nvPr/>
            </p:nvSpPr>
            <p:spPr>
              <a:xfrm>
                <a:off x="6304352" y="4985004"/>
                <a:ext cx="914400" cy="914400"/>
              </a:xfrm>
              <a:prstGeom prst="ellipse">
                <a:avLst/>
              </a:prstGeom>
              <a:solidFill>
                <a:srgbClr val="AF1E2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3200" b="1" i="0" u="none" strike="noStrike" kern="0" cap="none" spc="0" normalizeH="0" baseline="0" noProof="0" dirty="0">
                  <a:ln>
                    <a:noFill/>
                  </a:ln>
                  <a:effectLst>
                    <a:outerShdw blurRad="38100" dist="38100" dir="2700000" algn="tl">
                      <a:srgbClr val="000000">
                        <a:alpha val="43137"/>
                      </a:srgbClr>
                    </a:outerShdw>
                  </a:effectLst>
                  <a:uLnTx/>
                  <a:uFillTx/>
                  <a:latin typeface="微软雅黑" panose="020B0503020204020204" charset="-122"/>
                  <a:ea typeface="微软雅黑" panose="020B0503020204020204" charset="-122"/>
                </a:endParaRPr>
              </a:p>
            </p:txBody>
          </p:sp>
          <p:pic>
            <p:nvPicPr>
              <p:cNvPr id="33" name="图形 32">
                <a:extLst>
                  <a:ext uri="{FF2B5EF4-FFF2-40B4-BE49-F238E27FC236}">
                    <a16:creationId xmlns:a16="http://schemas.microsoft.com/office/drawing/2014/main" id="{B3C2913B-7D04-4BFD-AFDF-76D117327AA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75815" y="5223129"/>
                <a:ext cx="371475" cy="438150"/>
              </a:xfrm>
              <a:prstGeom prst="rect">
                <a:avLst/>
              </a:prstGeom>
            </p:spPr>
          </p:pic>
        </p:grpSp>
      </p:grpSp>
      <p:sp>
        <p:nvSpPr>
          <p:cNvPr id="40" name="TextBox 29">
            <a:extLst>
              <a:ext uri="{FF2B5EF4-FFF2-40B4-BE49-F238E27FC236}">
                <a16:creationId xmlns:a16="http://schemas.microsoft.com/office/drawing/2014/main" id="{70EA1DF5-7100-43CF-A1AE-FA9BEA8D0ED3}"/>
              </a:ext>
            </a:extLst>
          </p:cNvPr>
          <p:cNvSpPr txBox="1"/>
          <p:nvPr/>
        </p:nvSpPr>
        <p:spPr>
          <a:xfrm flipH="1">
            <a:off x="2099738" y="4871069"/>
            <a:ext cx="5207163" cy="429895"/>
          </a:xfrm>
          <a:prstGeom prst="rect">
            <a:avLst/>
          </a:prstGeom>
        </p:spPr>
        <p:txBody>
          <a:bodyPr vert="horz" lIns="91440" tIns="45720" rIns="91440" bIns="45720" rtlCol="0" anchor="b">
            <a:noAutofit/>
          </a:bodyPr>
          <a:lstStyle>
            <a:defPPr>
              <a:defRPr lang="zh-CN"/>
            </a:defPPr>
            <a:lvl1pPr>
              <a:lnSpc>
                <a:spcPct val="90000"/>
              </a:lnSpc>
              <a:spcBef>
                <a:spcPct val="0"/>
              </a:spcBef>
              <a:buNone/>
              <a:defRPr sz="2400">
                <a:solidFill>
                  <a:schemeClr val="tx1">
                    <a:lumMod val="75000"/>
                    <a:lumOff val="25000"/>
                  </a:schemeClr>
                </a:solidFill>
                <a:latin typeface="字魂59号-创粗黑" panose="00000500000000000000" pitchFamily="2" charset="-122"/>
                <a:ea typeface="字魂59号-创粗黑" panose="00000500000000000000" pitchFamily="2" charset="-122"/>
                <a:cs typeface="+mj-cs"/>
              </a:defRPr>
            </a:lvl1pPr>
          </a:lstStyle>
          <a:p>
            <a:pPr lvl="0">
              <a:lnSpc>
                <a:spcPct val="100000"/>
              </a:lnSpc>
              <a:spcBef>
                <a:spcPts val="0"/>
              </a:spcBef>
            </a:pPr>
            <a:r>
              <a:rPr lang="en-US" altLang="zh-CN" sz="2000" b="1">
                <a:solidFill>
                  <a:srgbClr val="1F487C"/>
                </a:solidFill>
                <a:latin typeface="微软雅黑" panose="020B0503020204020204" charset="-122"/>
                <a:ea typeface="微软雅黑" panose="020B0503020204020204" charset="-122"/>
                <a:cs typeface="+mn-cs"/>
                <a:sym typeface="思源黑体" panose="020B0400000000000000" pitchFamily="34" charset="-122"/>
              </a:rPr>
              <a:t>2.</a:t>
            </a:r>
            <a:r>
              <a:rPr lang="zh-CN" altLang="en-US" sz="2000" b="1">
                <a:solidFill>
                  <a:srgbClr val="1F487C"/>
                </a:solidFill>
                <a:latin typeface="微软雅黑" panose="020B0503020204020204" charset="-122"/>
                <a:ea typeface="微软雅黑" panose="020B0503020204020204" charset="-122"/>
                <a:cs typeface="+mn-cs"/>
                <a:sym typeface="思源黑体" panose="020B0400000000000000" pitchFamily="34" charset="-122"/>
              </a:rPr>
              <a:t>发展契机</a:t>
            </a:r>
            <a:endParaRPr lang="zh-CN" altLang="en-US" sz="2000" b="1" dirty="0">
              <a:solidFill>
                <a:srgbClr val="1F487C"/>
              </a:solidFill>
              <a:latin typeface="微软雅黑" panose="020B0503020204020204" charset="-122"/>
              <a:ea typeface="微软雅黑" panose="020B0503020204020204" charset="-122"/>
              <a:cs typeface="+mn-cs"/>
              <a:sym typeface="思源黑体" panose="020B0400000000000000" pitchFamily="34" charset="-122"/>
            </a:endParaRPr>
          </a:p>
        </p:txBody>
      </p:sp>
      <p:sp>
        <p:nvSpPr>
          <p:cNvPr id="41" name="TextBox 30">
            <a:extLst>
              <a:ext uri="{FF2B5EF4-FFF2-40B4-BE49-F238E27FC236}">
                <a16:creationId xmlns:a16="http://schemas.microsoft.com/office/drawing/2014/main" id="{F92E1501-425C-428E-90B4-00831E83F346}"/>
              </a:ext>
            </a:extLst>
          </p:cNvPr>
          <p:cNvSpPr txBox="1"/>
          <p:nvPr/>
        </p:nvSpPr>
        <p:spPr>
          <a:xfrm>
            <a:off x="2099737" y="5298425"/>
            <a:ext cx="9360741" cy="1137556"/>
          </a:xfrm>
          <a:prstGeom prst="rect">
            <a:avLst/>
          </a:prstGeom>
          <a:noFill/>
        </p:spPr>
        <p:txBody>
          <a:bodyPr wrap="square" rtlCol="0">
            <a:spAutoFit/>
          </a:bodyPr>
          <a:lstStyle/>
          <a:p>
            <a:pPr algn="just">
              <a:lnSpc>
                <a:spcPct val="130000"/>
              </a:lnSpc>
            </a:pPr>
            <a:r>
              <a:rPr lang="zh-CN" altLang="en-US" b="1" dirty="0">
                <a:latin typeface="微软雅黑" panose="020B0503020204020204" charset="-122"/>
                <a:ea typeface="微软雅黑" panose="020B0503020204020204" charset="-122"/>
                <a:cs typeface="+mn-ea"/>
              </a:rPr>
              <a:t>为适配国家教育数字化战略与人工智能时代教育变革核心需求，同时结合我院教育学本科招生与学科发展实际，以</a:t>
            </a:r>
            <a:r>
              <a:rPr lang="zh-CN" altLang="en-US" b="1" dirty="0">
                <a:solidFill>
                  <a:srgbClr val="C00000"/>
                </a:solidFill>
                <a:latin typeface="微软雅黑" panose="020B0503020204020204" charset="-122"/>
                <a:ea typeface="微软雅黑" panose="020B0503020204020204" charset="-122"/>
                <a:cs typeface="+mn-ea"/>
              </a:rPr>
              <a:t>教师能力提升工程项目</a:t>
            </a:r>
            <a:r>
              <a:rPr lang="zh-CN" altLang="en-US" b="1" dirty="0">
                <a:latin typeface="微软雅黑" panose="020B0503020204020204" charset="-122"/>
                <a:ea typeface="微软雅黑" panose="020B0503020204020204" charset="-122"/>
                <a:cs typeface="+mn-ea"/>
              </a:rPr>
              <a:t>和</a:t>
            </a:r>
            <a:r>
              <a:rPr lang="zh-CN" altLang="en-US" b="1" dirty="0">
                <a:solidFill>
                  <a:srgbClr val="C00000"/>
                </a:solidFill>
                <a:latin typeface="微软雅黑" panose="020B0503020204020204" charset="-122"/>
                <a:ea typeface="微软雅黑" panose="020B0503020204020204" charset="-122"/>
                <a:cs typeface="+mn-ea"/>
              </a:rPr>
              <a:t>未来教师学院建设等为契机</a:t>
            </a:r>
            <a:r>
              <a:rPr lang="zh-CN" altLang="en-US" b="1" dirty="0">
                <a:latin typeface="微软雅黑" panose="020B0503020204020204" charset="-122"/>
                <a:ea typeface="微软雅黑" panose="020B0503020204020204" charset="-122"/>
                <a:cs typeface="+mn-ea"/>
              </a:rPr>
              <a:t>，依托</a:t>
            </a:r>
            <a:r>
              <a:rPr lang="zh-CN" altLang="en-US" b="1" dirty="0">
                <a:solidFill>
                  <a:srgbClr val="C00000"/>
                </a:solidFill>
                <a:latin typeface="微软雅黑" panose="020B0503020204020204" charset="-122"/>
                <a:ea typeface="微软雅黑" panose="020B0503020204020204" charset="-122"/>
                <a:cs typeface="+mn-ea"/>
              </a:rPr>
              <a:t>教育学和人工智能双学科</a:t>
            </a:r>
            <a:r>
              <a:rPr lang="zh-CN" altLang="en-US" b="1" dirty="0">
                <a:latin typeface="微软雅黑" panose="020B0503020204020204" charset="-122"/>
                <a:ea typeface="微软雅黑" panose="020B0503020204020204" charset="-122"/>
                <a:cs typeface="+mn-ea"/>
              </a:rPr>
              <a:t>的优势，申请增设“教育学</a:t>
            </a:r>
            <a:r>
              <a:rPr lang="en-US" altLang="zh-CN" b="1" dirty="0">
                <a:latin typeface="微软雅黑" panose="020B0503020204020204" charset="-122"/>
                <a:ea typeface="微软雅黑" panose="020B0503020204020204" charset="-122"/>
                <a:cs typeface="+mn-ea"/>
              </a:rPr>
              <a:t>+</a:t>
            </a:r>
            <a:r>
              <a:rPr lang="zh-CN" altLang="en-US" b="1" dirty="0">
                <a:latin typeface="微软雅黑" panose="020B0503020204020204" charset="-122"/>
                <a:ea typeface="微软雅黑" panose="020B0503020204020204" charset="-122"/>
                <a:cs typeface="+mn-ea"/>
              </a:rPr>
              <a:t>人工智能”双学士学位项目。</a:t>
            </a:r>
          </a:p>
        </p:txBody>
      </p:sp>
      <p:sp>
        <p:nvSpPr>
          <p:cNvPr id="42" name="文本框 41">
            <a:extLst>
              <a:ext uri="{FF2B5EF4-FFF2-40B4-BE49-F238E27FC236}">
                <a16:creationId xmlns:a16="http://schemas.microsoft.com/office/drawing/2014/main" id="{A2434E30-3775-4160-8F50-F8E70DF225E7}"/>
              </a:ext>
            </a:extLst>
          </p:cNvPr>
          <p:cNvSpPr txBox="1"/>
          <p:nvPr/>
        </p:nvSpPr>
        <p:spPr>
          <a:xfrm>
            <a:off x="6269498" y="489744"/>
            <a:ext cx="6157730" cy="406971"/>
          </a:xfrm>
          <a:prstGeom prst="rect">
            <a:avLst/>
          </a:prstGeom>
          <a:noFill/>
        </p:spPr>
        <p:txBody>
          <a:bodyPr wrap="square">
            <a:spAutoFit/>
          </a:bodyPr>
          <a:lstStyle/>
          <a:p>
            <a:pPr algn="ctr" defTabSz="342900">
              <a:lnSpc>
                <a:spcPct val="125000"/>
              </a:lnSpc>
            </a:pPr>
            <a:r>
              <a:rPr lang="zh-CN" altLang="en-US" b="1">
                <a:latin typeface="微软雅黑" pitchFamily="34" charset="-122"/>
                <a:ea typeface="微软雅黑" pitchFamily="34" charset="-122"/>
                <a:cs typeface="Calibri" charset="0"/>
              </a:rPr>
              <a:t>“教育学</a:t>
            </a:r>
            <a:r>
              <a:rPr lang="en-US" altLang="zh-CN" b="1">
                <a:latin typeface="微软雅黑" pitchFamily="34" charset="-122"/>
                <a:ea typeface="微软雅黑" pitchFamily="34" charset="-122"/>
                <a:cs typeface="Calibri" charset="0"/>
              </a:rPr>
              <a:t>+</a:t>
            </a:r>
            <a:r>
              <a:rPr lang="zh-CN" altLang="en-US" b="1">
                <a:latin typeface="微软雅黑" pitchFamily="34" charset="-122"/>
                <a:ea typeface="微软雅黑" pitchFamily="34" charset="-122"/>
                <a:cs typeface="Calibri" charset="0"/>
              </a:rPr>
              <a:t>人工智能”双学士学位复合型人才培养项目</a:t>
            </a:r>
            <a:endParaRPr lang="en-US" altLang="zh-CN" b="1">
              <a:latin typeface="微软雅黑" pitchFamily="34" charset="-122"/>
              <a:ea typeface="微软雅黑" pitchFamily="34" charset="-122"/>
              <a:cs typeface="Calibri" charset="0"/>
            </a:endParaRPr>
          </a:p>
        </p:txBody>
      </p:sp>
      <p:sp>
        <p:nvSpPr>
          <p:cNvPr id="29" name="矩形 28">
            <a:extLst>
              <a:ext uri="{FF2B5EF4-FFF2-40B4-BE49-F238E27FC236}">
                <a16:creationId xmlns:a16="http://schemas.microsoft.com/office/drawing/2014/main" id="{2FF68A62-37BE-45CB-9532-DBC3BA86A17E}"/>
              </a:ext>
            </a:extLst>
          </p:cNvPr>
          <p:cNvSpPr/>
          <p:nvPr/>
        </p:nvSpPr>
        <p:spPr>
          <a:xfrm>
            <a:off x="0" y="924560"/>
            <a:ext cx="12192000" cy="665627"/>
          </a:xfrm>
          <a:prstGeom prst="rect">
            <a:avLst/>
          </a:prstGeom>
          <a:solidFill>
            <a:srgbClr val="4472C4">
              <a:lumMod val="50000"/>
            </a:srgbClr>
          </a:solidFill>
          <a:ln w="12700" cap="flat" cmpd="sng" algn="ctr">
            <a:solidFill>
              <a:srgbClr val="4472C4">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a:ea typeface="微软雅黑"/>
              <a:cs typeface="+mn-cs"/>
            </a:endParaRPr>
          </a:p>
        </p:txBody>
      </p:sp>
      <p:sp>
        <p:nvSpPr>
          <p:cNvPr id="30" name="矩形 29">
            <a:extLst>
              <a:ext uri="{FF2B5EF4-FFF2-40B4-BE49-F238E27FC236}">
                <a16:creationId xmlns:a16="http://schemas.microsoft.com/office/drawing/2014/main" id="{BD0E7FDD-AF81-48A5-A091-95F4CEFC470C}"/>
              </a:ext>
            </a:extLst>
          </p:cNvPr>
          <p:cNvSpPr/>
          <p:nvPr/>
        </p:nvSpPr>
        <p:spPr>
          <a:xfrm>
            <a:off x="-1" y="924560"/>
            <a:ext cx="2152843" cy="665627"/>
          </a:xfrm>
          <a:prstGeom prst="rect">
            <a:avLst/>
          </a:prstGeom>
          <a:solidFill>
            <a:srgbClr val="FF9900"/>
          </a:solidFill>
          <a:ln w="12700" cap="flat" cmpd="sng" algn="ctr">
            <a:solidFill>
              <a:srgbClr val="FF99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Arial"/>
              <a:ea typeface="微软雅黑"/>
              <a:cs typeface="+mn-cs"/>
            </a:endParaRPr>
          </a:p>
        </p:txBody>
      </p:sp>
      <p:sp>
        <p:nvSpPr>
          <p:cNvPr id="31" name="文本框 14">
            <a:extLst>
              <a:ext uri="{FF2B5EF4-FFF2-40B4-BE49-F238E27FC236}">
                <a16:creationId xmlns:a16="http://schemas.microsoft.com/office/drawing/2014/main" id="{524E7B1D-ED3E-412A-9AEF-8511CAE7C7D7}"/>
              </a:ext>
            </a:extLst>
          </p:cNvPr>
          <p:cNvSpPr txBox="1"/>
          <p:nvPr/>
        </p:nvSpPr>
        <p:spPr>
          <a:xfrm>
            <a:off x="359003" y="1107051"/>
            <a:ext cx="1793840" cy="369332"/>
          </a:xfrm>
          <a:prstGeom prst="rect">
            <a:avLst/>
          </a:prstGeom>
          <a:noFill/>
        </p:spPr>
        <p:txBody>
          <a:bodyPr wrap="square" rtlCol="0">
            <a:spAutoFit/>
          </a:bodyPr>
          <a:lstStyle/>
          <a:p>
            <a:pPr algn="just"/>
            <a:r>
              <a:rPr lang="zh-CN" altLang="en-US" b="1">
                <a:solidFill>
                  <a:prstClr val="white"/>
                </a:solidFill>
                <a:latin typeface="Arial"/>
                <a:ea typeface="微软雅黑"/>
              </a:rPr>
              <a:t>一  总体思路</a:t>
            </a:r>
            <a:endParaRPr lang="zh-CN" altLang="en-US" b="1" dirty="0">
              <a:solidFill>
                <a:prstClr val="white"/>
              </a:solidFill>
              <a:latin typeface="Arial"/>
              <a:ea typeface="微软雅黑"/>
            </a:endParaRPr>
          </a:p>
        </p:txBody>
      </p:sp>
      <p:sp>
        <p:nvSpPr>
          <p:cNvPr id="32" name="文本框 14">
            <a:extLst>
              <a:ext uri="{FF2B5EF4-FFF2-40B4-BE49-F238E27FC236}">
                <a16:creationId xmlns:a16="http://schemas.microsoft.com/office/drawing/2014/main" id="{9FC9C5FD-CA2A-46FA-B841-1BE36217745E}"/>
              </a:ext>
            </a:extLst>
          </p:cNvPr>
          <p:cNvSpPr txBox="1"/>
          <p:nvPr/>
        </p:nvSpPr>
        <p:spPr>
          <a:xfrm>
            <a:off x="2642427" y="1107051"/>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二  课程体系实施</a:t>
            </a:r>
            <a:endParaRPr lang="zh-CN" altLang="en-US" b="1" dirty="0">
              <a:solidFill>
                <a:prstClr val="white"/>
              </a:solidFill>
              <a:latin typeface="Arial"/>
              <a:ea typeface="微软雅黑"/>
            </a:endParaRPr>
          </a:p>
        </p:txBody>
      </p:sp>
      <p:sp>
        <p:nvSpPr>
          <p:cNvPr id="38" name="文本框 14">
            <a:extLst>
              <a:ext uri="{FF2B5EF4-FFF2-40B4-BE49-F238E27FC236}">
                <a16:creationId xmlns:a16="http://schemas.microsoft.com/office/drawing/2014/main" id="{6842A5B3-B4F1-4631-A3EB-5D0284765E8F}"/>
              </a:ext>
            </a:extLst>
          </p:cNvPr>
          <p:cNvSpPr txBox="1"/>
          <p:nvPr/>
        </p:nvSpPr>
        <p:spPr>
          <a:xfrm>
            <a:off x="5054466" y="1071284"/>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三  实践体系实施</a:t>
            </a:r>
            <a:endParaRPr lang="zh-CN" altLang="en-US" b="1" dirty="0">
              <a:solidFill>
                <a:prstClr val="white"/>
              </a:solidFill>
              <a:latin typeface="Arial"/>
              <a:ea typeface="微软雅黑"/>
            </a:endParaRPr>
          </a:p>
        </p:txBody>
      </p:sp>
      <p:sp>
        <p:nvSpPr>
          <p:cNvPr id="39" name="文本框 14">
            <a:extLst>
              <a:ext uri="{FF2B5EF4-FFF2-40B4-BE49-F238E27FC236}">
                <a16:creationId xmlns:a16="http://schemas.microsoft.com/office/drawing/2014/main" id="{97872932-E8DD-467F-B64D-8AFC8D14A02B}"/>
              </a:ext>
            </a:extLst>
          </p:cNvPr>
          <p:cNvSpPr txBox="1"/>
          <p:nvPr/>
        </p:nvSpPr>
        <p:spPr>
          <a:xfrm>
            <a:off x="7338510" y="1071183"/>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四  导师制与学业指导</a:t>
            </a:r>
            <a:endParaRPr lang="zh-CN" altLang="en-US" b="1" dirty="0">
              <a:solidFill>
                <a:prstClr val="white"/>
              </a:solidFill>
              <a:latin typeface="Arial"/>
              <a:ea typeface="微软雅黑"/>
            </a:endParaRPr>
          </a:p>
        </p:txBody>
      </p:sp>
      <p:sp>
        <p:nvSpPr>
          <p:cNvPr id="43" name="文本框 14">
            <a:extLst>
              <a:ext uri="{FF2B5EF4-FFF2-40B4-BE49-F238E27FC236}">
                <a16:creationId xmlns:a16="http://schemas.microsoft.com/office/drawing/2014/main" id="{54994E25-6AC4-436B-8982-21BB1A539A39}"/>
              </a:ext>
            </a:extLst>
          </p:cNvPr>
          <p:cNvSpPr txBox="1"/>
          <p:nvPr/>
        </p:nvSpPr>
        <p:spPr>
          <a:xfrm>
            <a:off x="10133884" y="1058701"/>
            <a:ext cx="2058115" cy="369332"/>
          </a:xfrm>
          <a:prstGeom prst="rect">
            <a:avLst/>
          </a:prstGeom>
          <a:noFill/>
        </p:spPr>
        <p:txBody>
          <a:bodyPr wrap="square" rtlCol="0">
            <a:spAutoFit/>
          </a:bodyPr>
          <a:lstStyle/>
          <a:p>
            <a:pPr algn="just"/>
            <a:r>
              <a:rPr lang="zh-CN" altLang="en-US" b="1">
                <a:solidFill>
                  <a:prstClr val="white"/>
                </a:solidFill>
                <a:latin typeface="Arial"/>
                <a:ea typeface="微软雅黑"/>
              </a:rPr>
              <a:t>五  保障机制</a:t>
            </a:r>
            <a:endParaRPr lang="zh-CN" altLang="en-US" b="1" dirty="0">
              <a:solidFill>
                <a:prstClr val="white"/>
              </a:solidFill>
              <a:latin typeface="Arial"/>
              <a:ea typeface="微软雅黑"/>
            </a:endParaRPr>
          </a:p>
        </p:txBody>
      </p:sp>
      <p:sp>
        <p:nvSpPr>
          <p:cNvPr id="44" name="文本框 12">
            <a:extLst>
              <a:ext uri="{FF2B5EF4-FFF2-40B4-BE49-F238E27FC236}">
                <a16:creationId xmlns:a16="http://schemas.microsoft.com/office/drawing/2014/main" id="{D509E1AF-9361-4DE8-9BF1-0F2A41D47F2F}"/>
              </a:ext>
            </a:extLst>
          </p:cNvPr>
          <p:cNvSpPr txBox="1"/>
          <p:nvPr/>
        </p:nvSpPr>
        <p:spPr>
          <a:xfrm>
            <a:off x="359003" y="1760040"/>
            <a:ext cx="1925527" cy="461665"/>
          </a:xfrm>
          <a:prstGeom prst="rect">
            <a:avLst/>
          </a:prstGeom>
          <a:noFill/>
        </p:spPr>
        <p:txBody>
          <a:bodyPr wrap="none" rtlCol="0">
            <a:spAutoFit/>
          </a:bodyPr>
          <a:lstStyle/>
          <a:p>
            <a:pPr marL="457200" marR="0" lvl="0" indent="-457200" algn="l" defTabSz="914400" rtl="0" eaLnBrk="1" fontAlgn="auto" latinLnBrk="0" hangingPunct="1">
              <a:lnSpc>
                <a:spcPct val="100000"/>
              </a:lnSpc>
              <a:spcBef>
                <a:spcPts val="0"/>
              </a:spcBef>
              <a:spcAft>
                <a:spcPts val="0"/>
              </a:spcAft>
              <a:buClr>
                <a:srgbClr val="C00000"/>
              </a:buClr>
              <a:buSzTx/>
              <a:buFont typeface="Wingdings" panose="05000000000000000000" pitchFamily="2" charset="2"/>
              <a:buChar char="p"/>
              <a:tabLst/>
              <a:defRPr/>
            </a:pPr>
            <a:r>
              <a:rPr lang="zh-CN" altLang="en-US" sz="2400" b="1" kern="0">
                <a:solidFill>
                  <a:srgbClr val="004E86"/>
                </a:solidFill>
                <a:latin typeface="微软雅黑" panose="020B0503020204020204" pitchFamily="34" charset="-122"/>
                <a:ea typeface="微软雅黑" panose="020B0503020204020204" pitchFamily="34" charset="-122"/>
              </a:rPr>
              <a:t>项目背景</a:t>
            </a:r>
            <a:endParaRPr kumimoji="0" lang="zh-CN" altLang="en-US" b="1" i="0" u="none" strike="noStrike" kern="0" cap="none" spc="0" normalizeH="0" baseline="0" noProof="0" dirty="0">
              <a:ln>
                <a:noFill/>
              </a:ln>
              <a:solidFill>
                <a:srgbClr val="004E86"/>
              </a:solidFill>
              <a:effectLst/>
              <a:uLnTx/>
              <a:uFillTx/>
              <a:latin typeface="微软雅黑" panose="020B0503020204020204" pitchFamily="34" charset="-122"/>
              <a:ea typeface="微软雅黑" panose="020B0503020204020204" pitchFamily="34" charset="-122"/>
              <a:cs typeface="+mn-cs"/>
            </a:endParaRPr>
          </a:p>
        </p:txBody>
      </p:sp>
      <p:cxnSp>
        <p:nvCxnSpPr>
          <p:cNvPr id="45" name="直接连接符 7">
            <a:extLst>
              <a:ext uri="{FF2B5EF4-FFF2-40B4-BE49-F238E27FC236}">
                <a16:creationId xmlns:a16="http://schemas.microsoft.com/office/drawing/2014/main" id="{202C5C04-6A94-49C3-AA4B-1896522F0372}"/>
              </a:ext>
            </a:extLst>
          </p:cNvPr>
          <p:cNvCxnSpPr>
            <a:cxnSpLocks/>
          </p:cNvCxnSpPr>
          <p:nvPr/>
        </p:nvCxnSpPr>
        <p:spPr bwMode="auto">
          <a:xfrm flipH="1">
            <a:off x="463090" y="2213957"/>
            <a:ext cx="7928881" cy="0"/>
          </a:xfrm>
          <a:prstGeom prst="line">
            <a:avLst/>
          </a:prstGeom>
          <a:noFill/>
          <a:ln w="28575" cap="flat" cmpd="sng" algn="ctr">
            <a:solidFill>
              <a:srgbClr val="F65C5C"/>
            </a:solidFill>
            <a:prstDash val="sysDash"/>
            <a:round/>
            <a:headEnd type="none" w="med" len="med"/>
            <a:tailEnd type="none" w="med" len="med"/>
          </a:ln>
          <a:effectLst/>
        </p:spPr>
      </p:cxnSp>
    </p:spTree>
    <p:extLst>
      <p:ext uri="{BB962C8B-B14F-4D97-AF65-F5344CB8AC3E}">
        <p14:creationId xmlns:p14="http://schemas.microsoft.com/office/powerpoint/2010/main" val="9814149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a:extLst>
              <a:ext uri="{FF2B5EF4-FFF2-40B4-BE49-F238E27FC236}">
                <a16:creationId xmlns:a16="http://schemas.microsoft.com/office/drawing/2014/main" id="{39AF018C-BD1E-4D1C-A575-89BC7165FB5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189341" y="28710"/>
            <a:ext cx="881729" cy="881729"/>
          </a:xfrm>
          <a:prstGeom prst="rect">
            <a:avLst/>
          </a:prstGeom>
        </p:spPr>
      </p:pic>
      <p:pic>
        <p:nvPicPr>
          <p:cNvPr id="24" name="图片 23">
            <a:extLst>
              <a:ext uri="{FF2B5EF4-FFF2-40B4-BE49-F238E27FC236}">
                <a16:creationId xmlns:a16="http://schemas.microsoft.com/office/drawing/2014/main" id="{118A43A9-C67F-4CB1-B9F4-63E761CBC2D0}"/>
              </a:ext>
            </a:extLst>
          </p:cNvPr>
          <p:cNvPicPr>
            <a:picLocks noChangeAspect="1"/>
          </p:cNvPicPr>
          <p:nvPr/>
        </p:nvPicPr>
        <p:blipFill>
          <a:blip r:embed="rId4" cstate="print">
            <a:extLst>
              <a:ext uri="{28A0092B-C50C-407E-A947-70E740481C1C}">
                <a14:useLocalDpi xmlns:a14="http://schemas.microsoft.com/office/drawing/2010/main" val="0"/>
              </a:ext>
            </a:extLst>
          </a:blip>
          <a:srcRect l="1133" r="1133"/>
          <a:stretch/>
        </p:blipFill>
        <p:spPr>
          <a:xfrm>
            <a:off x="274100" y="75737"/>
            <a:ext cx="802225" cy="806727"/>
          </a:xfrm>
          <a:prstGeom prst="rect">
            <a:avLst/>
          </a:prstGeom>
        </p:spPr>
      </p:pic>
      <p:sp>
        <p:nvSpPr>
          <p:cNvPr id="49" name="文本框 14">
            <a:extLst>
              <a:ext uri="{FF2B5EF4-FFF2-40B4-BE49-F238E27FC236}">
                <a16:creationId xmlns:a16="http://schemas.microsoft.com/office/drawing/2014/main" id="{1468C16D-84D0-4B5D-92BA-1BB4D58F722E}"/>
              </a:ext>
            </a:extLst>
          </p:cNvPr>
          <p:cNvSpPr txBox="1"/>
          <p:nvPr/>
        </p:nvSpPr>
        <p:spPr>
          <a:xfrm>
            <a:off x="0" y="1059901"/>
            <a:ext cx="12191999" cy="707886"/>
          </a:xfrm>
          <a:prstGeom prst="rect">
            <a:avLst/>
          </a:prstGeom>
          <a:noFill/>
        </p:spPr>
        <p:txBody>
          <a:bodyPr wrap="square" rtlCol="0">
            <a:spAutoFit/>
          </a:bodyPr>
          <a:lstStyle/>
          <a:p>
            <a:pPr algn="ctr"/>
            <a:r>
              <a:rPr lang="zh-CN" altLang="en-US" sz="2000" b="1" dirty="0">
                <a:solidFill>
                  <a:prstClr val="white"/>
                </a:solidFill>
                <a:latin typeface="Arial"/>
                <a:ea typeface="微软雅黑"/>
              </a:rPr>
              <a:t>教育学</a:t>
            </a:r>
            <a:r>
              <a:rPr lang="en-US" altLang="zh-CN" sz="2000" b="1" dirty="0">
                <a:solidFill>
                  <a:prstClr val="white"/>
                </a:solidFill>
                <a:latin typeface="Arial"/>
                <a:ea typeface="微软雅黑"/>
              </a:rPr>
              <a:t>+</a:t>
            </a:r>
            <a:r>
              <a:rPr lang="zh-CN" altLang="en-US" sz="2000" b="1" dirty="0">
                <a:solidFill>
                  <a:prstClr val="white"/>
                </a:solidFill>
                <a:latin typeface="Arial"/>
                <a:ea typeface="微软雅黑"/>
              </a:rPr>
              <a:t>人工智能”双学士学位复合型人才培养项目</a:t>
            </a:r>
            <a:endParaRPr lang="en-US" altLang="zh-CN" sz="2000" b="1" dirty="0">
              <a:solidFill>
                <a:prstClr val="white"/>
              </a:solidFill>
              <a:latin typeface="Arial"/>
              <a:ea typeface="微软雅黑"/>
            </a:endParaRPr>
          </a:p>
          <a:p>
            <a:pPr algn="just"/>
            <a:endParaRPr lang="zh-CN" altLang="en-US" sz="2000" b="1" dirty="0">
              <a:solidFill>
                <a:prstClr val="white"/>
              </a:solidFill>
              <a:latin typeface="Arial"/>
              <a:ea typeface="微软雅黑"/>
            </a:endParaRPr>
          </a:p>
        </p:txBody>
      </p:sp>
      <p:sp>
        <p:nvSpPr>
          <p:cNvPr id="25" name="文本框 24">
            <a:extLst>
              <a:ext uri="{FF2B5EF4-FFF2-40B4-BE49-F238E27FC236}">
                <a16:creationId xmlns:a16="http://schemas.microsoft.com/office/drawing/2014/main" id="{D2B29A73-493F-45ED-A593-8D7573299A30}"/>
              </a:ext>
            </a:extLst>
          </p:cNvPr>
          <p:cNvSpPr txBox="1"/>
          <p:nvPr/>
        </p:nvSpPr>
        <p:spPr>
          <a:xfrm>
            <a:off x="6313868" y="337344"/>
            <a:ext cx="6157730" cy="406971"/>
          </a:xfrm>
          <a:prstGeom prst="rect">
            <a:avLst/>
          </a:prstGeom>
          <a:noFill/>
        </p:spPr>
        <p:txBody>
          <a:bodyPr wrap="square">
            <a:spAutoFit/>
          </a:bodyPr>
          <a:lstStyle/>
          <a:p>
            <a:pPr algn="ctr" defTabSz="342900">
              <a:lnSpc>
                <a:spcPct val="125000"/>
              </a:lnSpc>
            </a:pPr>
            <a:endParaRPr lang="en-US" altLang="zh-CN" b="1">
              <a:latin typeface="微软雅黑" pitchFamily="34" charset="-122"/>
              <a:ea typeface="微软雅黑" pitchFamily="34" charset="-122"/>
              <a:cs typeface="Calibri" charset="0"/>
            </a:endParaRPr>
          </a:p>
        </p:txBody>
      </p:sp>
      <p:sp>
        <p:nvSpPr>
          <p:cNvPr id="26" name="文本框 11">
            <a:extLst>
              <a:ext uri="{FF2B5EF4-FFF2-40B4-BE49-F238E27FC236}">
                <a16:creationId xmlns:a16="http://schemas.microsoft.com/office/drawing/2014/main" id="{D7D3FDA0-EE55-4DA0-9A6C-9EE877927692}"/>
              </a:ext>
            </a:extLst>
          </p:cNvPr>
          <p:cNvSpPr txBox="1"/>
          <p:nvPr/>
        </p:nvSpPr>
        <p:spPr>
          <a:xfrm>
            <a:off x="1975284" y="1632283"/>
            <a:ext cx="498855"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400" b="0"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rPr>
              <a:t>1</a:t>
            </a:r>
            <a:endParaRPr kumimoji="0" lang="zh-CN" altLang="en-US" sz="4400" b="0"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27" name="文本框 12">
            <a:extLst>
              <a:ext uri="{FF2B5EF4-FFF2-40B4-BE49-F238E27FC236}">
                <a16:creationId xmlns:a16="http://schemas.microsoft.com/office/drawing/2014/main" id="{68A62499-6F06-4E26-845E-7CA94DC6CE82}"/>
              </a:ext>
            </a:extLst>
          </p:cNvPr>
          <p:cNvSpPr txBox="1"/>
          <p:nvPr/>
        </p:nvSpPr>
        <p:spPr>
          <a:xfrm>
            <a:off x="359003" y="1760040"/>
            <a:ext cx="1877437" cy="461665"/>
          </a:xfrm>
          <a:prstGeom prst="rect">
            <a:avLst/>
          </a:prstGeom>
          <a:noFill/>
        </p:spPr>
        <p:txBody>
          <a:bodyPr wrap="none" rtlCol="0">
            <a:spAutoFit/>
          </a:bodyPr>
          <a:lstStyle/>
          <a:p>
            <a:pPr marL="457200" marR="0" lvl="0" indent="-457200" algn="l" defTabSz="914400" rtl="0" eaLnBrk="1" fontAlgn="auto" latinLnBrk="0" hangingPunct="1">
              <a:lnSpc>
                <a:spcPct val="100000"/>
              </a:lnSpc>
              <a:spcBef>
                <a:spcPts val="0"/>
              </a:spcBef>
              <a:spcAft>
                <a:spcPts val="0"/>
              </a:spcAft>
              <a:buClr>
                <a:srgbClr val="C00000"/>
              </a:buClr>
              <a:buSzTx/>
              <a:buFont typeface="Wingdings" panose="05000000000000000000" pitchFamily="2" charset="2"/>
              <a:buChar char="p"/>
              <a:tabLst/>
              <a:defRPr/>
            </a:pPr>
            <a:r>
              <a:rPr lang="zh-CN" altLang="en-US" sz="2400" b="1" kern="0">
                <a:solidFill>
                  <a:srgbClr val="004E86"/>
                </a:solidFill>
                <a:latin typeface="微软雅黑" panose="020B0503020204020204" pitchFamily="34" charset="-122"/>
                <a:ea typeface="微软雅黑" panose="020B0503020204020204" pitchFamily="34" charset="-122"/>
              </a:rPr>
              <a:t>核心理念</a:t>
            </a:r>
            <a:endParaRPr kumimoji="0" lang="zh-CN" altLang="en-US" b="1" i="0" u="none" strike="noStrike" kern="0" cap="none" spc="0" normalizeH="0" baseline="0" noProof="0" dirty="0">
              <a:ln>
                <a:noFill/>
              </a:ln>
              <a:solidFill>
                <a:srgbClr val="004E86"/>
              </a:solidFill>
              <a:effectLst/>
              <a:uLnTx/>
              <a:uFillTx/>
              <a:latin typeface="微软雅黑" panose="020B0503020204020204" pitchFamily="34" charset="-122"/>
              <a:ea typeface="微软雅黑" panose="020B0503020204020204" pitchFamily="34" charset="-122"/>
              <a:cs typeface="+mn-cs"/>
            </a:endParaRPr>
          </a:p>
        </p:txBody>
      </p:sp>
      <p:cxnSp>
        <p:nvCxnSpPr>
          <p:cNvPr id="28" name="直接连接符 7">
            <a:extLst>
              <a:ext uri="{FF2B5EF4-FFF2-40B4-BE49-F238E27FC236}">
                <a16:creationId xmlns:a16="http://schemas.microsoft.com/office/drawing/2014/main" id="{097550A1-66E1-4860-AEE0-1D16B9FAFDB3}"/>
              </a:ext>
            </a:extLst>
          </p:cNvPr>
          <p:cNvCxnSpPr>
            <a:cxnSpLocks/>
          </p:cNvCxnSpPr>
          <p:nvPr/>
        </p:nvCxnSpPr>
        <p:spPr bwMode="auto">
          <a:xfrm flipH="1">
            <a:off x="463090" y="2213957"/>
            <a:ext cx="7928881" cy="0"/>
          </a:xfrm>
          <a:prstGeom prst="line">
            <a:avLst/>
          </a:prstGeom>
          <a:noFill/>
          <a:ln w="28575" cap="flat" cmpd="sng" algn="ctr">
            <a:solidFill>
              <a:srgbClr val="F65C5C"/>
            </a:solidFill>
            <a:prstDash val="sysDash"/>
            <a:round/>
            <a:headEnd type="none" w="med" len="med"/>
            <a:tailEnd type="none" w="med" len="med"/>
          </a:ln>
          <a:effectLst/>
        </p:spPr>
      </p:cxnSp>
      <p:sp>
        <p:nvSpPr>
          <p:cNvPr id="14" name="矩形 13">
            <a:extLst>
              <a:ext uri="{FF2B5EF4-FFF2-40B4-BE49-F238E27FC236}">
                <a16:creationId xmlns:a16="http://schemas.microsoft.com/office/drawing/2014/main" id="{14F0E0CB-C31F-4C6B-9D93-1762A66C753F}"/>
              </a:ext>
            </a:extLst>
          </p:cNvPr>
          <p:cNvSpPr/>
          <p:nvPr/>
        </p:nvSpPr>
        <p:spPr>
          <a:xfrm>
            <a:off x="0" y="924560"/>
            <a:ext cx="12192000" cy="665627"/>
          </a:xfrm>
          <a:prstGeom prst="rect">
            <a:avLst/>
          </a:prstGeom>
          <a:solidFill>
            <a:srgbClr val="4472C4">
              <a:lumMod val="50000"/>
            </a:srgbClr>
          </a:solidFill>
          <a:ln w="12700" cap="flat" cmpd="sng" algn="ctr">
            <a:solidFill>
              <a:srgbClr val="4472C4">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a:ea typeface="微软雅黑"/>
              <a:cs typeface="+mn-cs"/>
            </a:endParaRPr>
          </a:p>
        </p:txBody>
      </p:sp>
      <p:sp>
        <p:nvSpPr>
          <p:cNvPr id="15" name="矩形 14">
            <a:extLst>
              <a:ext uri="{FF2B5EF4-FFF2-40B4-BE49-F238E27FC236}">
                <a16:creationId xmlns:a16="http://schemas.microsoft.com/office/drawing/2014/main" id="{BADC9021-918C-4043-85A0-C1E69BC22DAE}"/>
              </a:ext>
            </a:extLst>
          </p:cNvPr>
          <p:cNvSpPr/>
          <p:nvPr/>
        </p:nvSpPr>
        <p:spPr>
          <a:xfrm>
            <a:off x="-1" y="924560"/>
            <a:ext cx="2152843" cy="665627"/>
          </a:xfrm>
          <a:prstGeom prst="rect">
            <a:avLst/>
          </a:prstGeom>
          <a:solidFill>
            <a:srgbClr val="FF9900"/>
          </a:solidFill>
          <a:ln w="12700" cap="flat" cmpd="sng" algn="ctr">
            <a:solidFill>
              <a:srgbClr val="FF99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Arial"/>
              <a:ea typeface="微软雅黑"/>
              <a:cs typeface="+mn-cs"/>
            </a:endParaRPr>
          </a:p>
        </p:txBody>
      </p:sp>
      <p:sp>
        <p:nvSpPr>
          <p:cNvPr id="17" name="文本框 14">
            <a:extLst>
              <a:ext uri="{FF2B5EF4-FFF2-40B4-BE49-F238E27FC236}">
                <a16:creationId xmlns:a16="http://schemas.microsoft.com/office/drawing/2014/main" id="{1468C16D-84D0-4B5D-92BA-1BB4D58F722E}"/>
              </a:ext>
            </a:extLst>
          </p:cNvPr>
          <p:cNvSpPr txBox="1"/>
          <p:nvPr/>
        </p:nvSpPr>
        <p:spPr>
          <a:xfrm>
            <a:off x="359003" y="1107051"/>
            <a:ext cx="1793840" cy="369332"/>
          </a:xfrm>
          <a:prstGeom prst="rect">
            <a:avLst/>
          </a:prstGeom>
          <a:noFill/>
        </p:spPr>
        <p:txBody>
          <a:bodyPr wrap="square" rtlCol="0">
            <a:spAutoFit/>
          </a:bodyPr>
          <a:lstStyle/>
          <a:p>
            <a:pPr algn="just"/>
            <a:r>
              <a:rPr lang="zh-CN" altLang="en-US" b="1">
                <a:solidFill>
                  <a:prstClr val="white"/>
                </a:solidFill>
                <a:latin typeface="Arial"/>
                <a:ea typeface="微软雅黑"/>
              </a:rPr>
              <a:t>一  总体思路</a:t>
            </a:r>
            <a:endParaRPr lang="zh-CN" altLang="en-US" b="1" dirty="0">
              <a:solidFill>
                <a:prstClr val="white"/>
              </a:solidFill>
              <a:latin typeface="Arial"/>
              <a:ea typeface="微软雅黑"/>
            </a:endParaRPr>
          </a:p>
        </p:txBody>
      </p:sp>
      <p:sp>
        <p:nvSpPr>
          <p:cNvPr id="21" name="文本框 14">
            <a:extLst>
              <a:ext uri="{FF2B5EF4-FFF2-40B4-BE49-F238E27FC236}">
                <a16:creationId xmlns:a16="http://schemas.microsoft.com/office/drawing/2014/main" id="{10C85DC5-A8B4-4693-AD6B-50C12039FB2C}"/>
              </a:ext>
            </a:extLst>
          </p:cNvPr>
          <p:cNvSpPr txBox="1"/>
          <p:nvPr/>
        </p:nvSpPr>
        <p:spPr>
          <a:xfrm>
            <a:off x="2642427" y="1107051"/>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二  课程体系实施</a:t>
            </a:r>
            <a:endParaRPr lang="zh-CN" altLang="en-US" b="1" dirty="0">
              <a:solidFill>
                <a:prstClr val="white"/>
              </a:solidFill>
              <a:latin typeface="Arial"/>
              <a:ea typeface="微软雅黑"/>
            </a:endParaRPr>
          </a:p>
        </p:txBody>
      </p:sp>
      <p:sp>
        <p:nvSpPr>
          <p:cNvPr id="22" name="文本框 14">
            <a:extLst>
              <a:ext uri="{FF2B5EF4-FFF2-40B4-BE49-F238E27FC236}">
                <a16:creationId xmlns:a16="http://schemas.microsoft.com/office/drawing/2014/main" id="{65F33E34-1AA8-4EF4-B50A-C2011DAE5EB4}"/>
              </a:ext>
            </a:extLst>
          </p:cNvPr>
          <p:cNvSpPr txBox="1"/>
          <p:nvPr/>
        </p:nvSpPr>
        <p:spPr>
          <a:xfrm>
            <a:off x="5054466" y="1071284"/>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三  实践体系实施</a:t>
            </a:r>
            <a:endParaRPr lang="zh-CN" altLang="en-US" b="1" dirty="0">
              <a:solidFill>
                <a:prstClr val="white"/>
              </a:solidFill>
              <a:latin typeface="Arial"/>
              <a:ea typeface="微软雅黑"/>
            </a:endParaRPr>
          </a:p>
        </p:txBody>
      </p:sp>
      <p:sp>
        <p:nvSpPr>
          <p:cNvPr id="29" name="文本框 14">
            <a:extLst>
              <a:ext uri="{FF2B5EF4-FFF2-40B4-BE49-F238E27FC236}">
                <a16:creationId xmlns:a16="http://schemas.microsoft.com/office/drawing/2014/main" id="{744CA436-F4C5-4B89-B473-9BF78F09FD26}"/>
              </a:ext>
            </a:extLst>
          </p:cNvPr>
          <p:cNvSpPr txBox="1"/>
          <p:nvPr/>
        </p:nvSpPr>
        <p:spPr>
          <a:xfrm>
            <a:off x="7338510" y="1071183"/>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四  导师制与学业指导</a:t>
            </a:r>
            <a:endParaRPr lang="zh-CN" altLang="en-US" b="1" dirty="0">
              <a:solidFill>
                <a:prstClr val="white"/>
              </a:solidFill>
              <a:latin typeface="Arial"/>
              <a:ea typeface="微软雅黑"/>
            </a:endParaRPr>
          </a:p>
        </p:txBody>
      </p:sp>
      <p:sp>
        <p:nvSpPr>
          <p:cNvPr id="30" name="文本框 14">
            <a:extLst>
              <a:ext uri="{FF2B5EF4-FFF2-40B4-BE49-F238E27FC236}">
                <a16:creationId xmlns:a16="http://schemas.microsoft.com/office/drawing/2014/main" id="{7B1B9B55-FBFC-4338-B5F1-2BFA3F2A06C3}"/>
              </a:ext>
            </a:extLst>
          </p:cNvPr>
          <p:cNvSpPr txBox="1"/>
          <p:nvPr/>
        </p:nvSpPr>
        <p:spPr>
          <a:xfrm>
            <a:off x="10133884" y="1058701"/>
            <a:ext cx="2058115" cy="369332"/>
          </a:xfrm>
          <a:prstGeom prst="rect">
            <a:avLst/>
          </a:prstGeom>
          <a:noFill/>
        </p:spPr>
        <p:txBody>
          <a:bodyPr wrap="square" rtlCol="0">
            <a:spAutoFit/>
          </a:bodyPr>
          <a:lstStyle/>
          <a:p>
            <a:pPr algn="just"/>
            <a:r>
              <a:rPr lang="zh-CN" altLang="en-US" b="1">
                <a:solidFill>
                  <a:prstClr val="white"/>
                </a:solidFill>
                <a:latin typeface="Arial"/>
                <a:ea typeface="微软雅黑"/>
              </a:rPr>
              <a:t>五  保障机制</a:t>
            </a:r>
            <a:endParaRPr lang="zh-CN" altLang="en-US" b="1" dirty="0">
              <a:solidFill>
                <a:prstClr val="white"/>
              </a:solidFill>
              <a:latin typeface="Arial"/>
              <a:ea typeface="微软雅黑"/>
            </a:endParaRPr>
          </a:p>
        </p:txBody>
      </p:sp>
      <p:sp>
        <p:nvSpPr>
          <p:cNvPr id="18" name="文本框 17">
            <a:extLst>
              <a:ext uri="{FF2B5EF4-FFF2-40B4-BE49-F238E27FC236}">
                <a16:creationId xmlns:a16="http://schemas.microsoft.com/office/drawing/2014/main" id="{4C0D621A-BA30-4D0D-AE75-F1251D29CFDC}"/>
              </a:ext>
            </a:extLst>
          </p:cNvPr>
          <p:cNvSpPr txBox="1"/>
          <p:nvPr/>
        </p:nvSpPr>
        <p:spPr>
          <a:xfrm>
            <a:off x="6269498" y="489744"/>
            <a:ext cx="6157730" cy="406971"/>
          </a:xfrm>
          <a:prstGeom prst="rect">
            <a:avLst/>
          </a:prstGeom>
          <a:noFill/>
        </p:spPr>
        <p:txBody>
          <a:bodyPr wrap="square">
            <a:spAutoFit/>
          </a:bodyPr>
          <a:lstStyle/>
          <a:p>
            <a:pPr algn="ctr" defTabSz="342900">
              <a:lnSpc>
                <a:spcPct val="125000"/>
              </a:lnSpc>
            </a:pPr>
            <a:r>
              <a:rPr lang="zh-CN" altLang="en-US" b="1">
                <a:latin typeface="微软雅黑" pitchFamily="34" charset="-122"/>
                <a:ea typeface="微软雅黑" pitchFamily="34" charset="-122"/>
                <a:cs typeface="Calibri" charset="0"/>
              </a:rPr>
              <a:t>“教育学</a:t>
            </a:r>
            <a:r>
              <a:rPr lang="en-US" altLang="zh-CN" b="1">
                <a:latin typeface="微软雅黑" pitchFamily="34" charset="-122"/>
                <a:ea typeface="微软雅黑" pitchFamily="34" charset="-122"/>
                <a:cs typeface="Calibri" charset="0"/>
              </a:rPr>
              <a:t>+</a:t>
            </a:r>
            <a:r>
              <a:rPr lang="zh-CN" altLang="en-US" b="1">
                <a:latin typeface="微软雅黑" pitchFamily="34" charset="-122"/>
                <a:ea typeface="微软雅黑" pitchFamily="34" charset="-122"/>
                <a:cs typeface="Calibri" charset="0"/>
              </a:rPr>
              <a:t>人工智能”双学士学位复合型人才培养项目</a:t>
            </a:r>
            <a:endParaRPr lang="en-US" altLang="zh-CN" b="1">
              <a:latin typeface="微软雅黑" pitchFamily="34" charset="-122"/>
              <a:ea typeface="微软雅黑" pitchFamily="34" charset="-122"/>
              <a:cs typeface="Calibri" charset="0"/>
            </a:endParaRPr>
          </a:p>
        </p:txBody>
      </p:sp>
      <p:sp>
        <p:nvSpPr>
          <p:cNvPr id="20" name="Card 以工强教">
            <a:extLst>
              <a:ext uri="{FF2B5EF4-FFF2-40B4-BE49-F238E27FC236}">
                <a16:creationId xmlns:a16="http://schemas.microsoft.com/office/drawing/2014/main" id="{F57ED3D7-5B9B-4B7B-BA4A-CCDCE028EFB3}"/>
              </a:ext>
            </a:extLst>
          </p:cNvPr>
          <p:cNvSpPr/>
          <p:nvPr/>
        </p:nvSpPr>
        <p:spPr>
          <a:xfrm>
            <a:off x="659157" y="2667875"/>
            <a:ext cx="4892040" cy="1536192"/>
          </a:xfrm>
          <a:prstGeom prst="roundRect">
            <a:avLst/>
          </a:prstGeom>
          <a:solidFill>
            <a:srgbClr val="FCEDEE"/>
          </a:solidFill>
          <a:ln w="12700">
            <a:solidFill>
              <a:srgbClr val="D9E1EC"/>
            </a:solidFill>
          </a:ln>
        </p:spPr>
        <p:txBody>
          <a:bodyPr/>
          <a:lstStyle/>
          <a:p>
            <a:endParaRPr lang="zh-CN" altLang="en-US"/>
          </a:p>
        </p:txBody>
      </p:sp>
      <p:sp>
        <p:nvSpPr>
          <p:cNvPr id="31" name="Line">
            <a:extLst>
              <a:ext uri="{FF2B5EF4-FFF2-40B4-BE49-F238E27FC236}">
                <a16:creationId xmlns:a16="http://schemas.microsoft.com/office/drawing/2014/main" id="{07268E1E-3737-44E7-A229-B53001539104}"/>
              </a:ext>
            </a:extLst>
          </p:cNvPr>
          <p:cNvSpPr/>
          <p:nvPr/>
        </p:nvSpPr>
        <p:spPr>
          <a:xfrm>
            <a:off x="659157" y="2667875"/>
            <a:ext cx="73152" cy="1536192"/>
          </a:xfrm>
          <a:prstGeom prst="rect">
            <a:avLst/>
          </a:prstGeom>
          <a:solidFill>
            <a:srgbClr val="C5282F"/>
          </a:solidFill>
          <a:ln>
            <a:noFill/>
          </a:ln>
        </p:spPr>
        <p:txBody>
          <a:bodyPr/>
          <a:lstStyle/>
          <a:p>
            <a:endParaRPr lang="zh-CN" altLang="en-US"/>
          </a:p>
        </p:txBody>
      </p:sp>
      <p:sp>
        <p:nvSpPr>
          <p:cNvPr id="32" name="Text">
            <a:extLst>
              <a:ext uri="{FF2B5EF4-FFF2-40B4-BE49-F238E27FC236}">
                <a16:creationId xmlns:a16="http://schemas.microsoft.com/office/drawing/2014/main" id="{CDD31A3E-E487-4443-82C2-B0347A7C4135}"/>
              </a:ext>
            </a:extLst>
          </p:cNvPr>
          <p:cNvSpPr txBox="1"/>
          <p:nvPr/>
        </p:nvSpPr>
        <p:spPr>
          <a:xfrm>
            <a:off x="823749" y="2777603"/>
            <a:ext cx="4599432" cy="292608"/>
          </a:xfrm>
          <a:prstGeom prst="rect">
            <a:avLst/>
          </a:prstGeom>
          <a:noFill/>
          <a:ln>
            <a:noFill/>
          </a:ln>
        </p:spPr>
        <p:txBody>
          <a:bodyPr wrap="square" lIns="60000" tIns="40000" rIns="60000" bIns="40000" anchor="t"/>
          <a:lstStyle/>
          <a:p>
            <a:pPr algn="l"/>
            <a:r>
              <a:rPr lang="zh-CN" sz="2200" b="1">
                <a:solidFill>
                  <a:srgbClr val="C5282F"/>
                </a:solidFill>
                <a:latin typeface="Microsoft YaHei"/>
                <a:ea typeface="Microsoft YaHei"/>
                <a:cs typeface="Microsoft YaHei"/>
              </a:rPr>
              <a:t>以工强教</a:t>
            </a:r>
          </a:p>
        </p:txBody>
      </p:sp>
      <p:sp>
        <p:nvSpPr>
          <p:cNvPr id="33" name="Text">
            <a:extLst>
              <a:ext uri="{FF2B5EF4-FFF2-40B4-BE49-F238E27FC236}">
                <a16:creationId xmlns:a16="http://schemas.microsoft.com/office/drawing/2014/main" id="{B66F5BDA-47CE-4C4B-958E-CA59F685FB1C}"/>
              </a:ext>
            </a:extLst>
          </p:cNvPr>
          <p:cNvSpPr txBox="1"/>
          <p:nvPr/>
        </p:nvSpPr>
        <p:spPr>
          <a:xfrm>
            <a:off x="842037" y="3295763"/>
            <a:ext cx="4709160" cy="969264"/>
          </a:xfrm>
          <a:prstGeom prst="rect">
            <a:avLst/>
          </a:prstGeom>
          <a:noFill/>
          <a:ln>
            <a:noFill/>
          </a:ln>
        </p:spPr>
        <p:txBody>
          <a:bodyPr wrap="square" lIns="60000" tIns="40000" rIns="60000" bIns="40000" anchor="t"/>
          <a:lstStyle/>
          <a:p>
            <a:pPr marL="230000" indent="-120000" algn="l">
              <a:buFont typeface="Arial"/>
              <a:buChar char="•"/>
            </a:pPr>
            <a:r>
              <a:rPr lang="zh-CN" sz="1400" b="1">
                <a:solidFill>
                  <a:srgbClr val="5B677A"/>
                </a:solidFill>
                <a:latin typeface="Microsoft YaHei"/>
                <a:ea typeface="Microsoft YaHei"/>
                <a:cs typeface="Microsoft YaHei"/>
              </a:rPr>
              <a:t>将工程方法、产品思维和系统开发能力嵌入教育学培养</a:t>
            </a:r>
          </a:p>
          <a:p>
            <a:pPr marL="230000" indent="-120000" algn="l">
              <a:buFont typeface="Arial"/>
              <a:buChar char="•"/>
            </a:pPr>
            <a:r>
              <a:rPr lang="zh-CN" sz="1400" b="1">
                <a:solidFill>
                  <a:srgbClr val="5B677A"/>
                </a:solidFill>
                <a:latin typeface="Microsoft YaHei"/>
                <a:ea typeface="Microsoft YaHei"/>
                <a:cs typeface="Microsoft YaHei"/>
              </a:rPr>
              <a:t>让学生能解决真实教育场景问题</a:t>
            </a:r>
          </a:p>
        </p:txBody>
      </p:sp>
      <p:sp>
        <p:nvSpPr>
          <p:cNvPr id="34" name="Card 科教融汇">
            <a:extLst>
              <a:ext uri="{FF2B5EF4-FFF2-40B4-BE49-F238E27FC236}">
                <a16:creationId xmlns:a16="http://schemas.microsoft.com/office/drawing/2014/main" id="{2B841032-9599-476E-B7B4-5E8CB3C00D60}"/>
              </a:ext>
            </a:extLst>
          </p:cNvPr>
          <p:cNvSpPr/>
          <p:nvPr/>
        </p:nvSpPr>
        <p:spPr>
          <a:xfrm>
            <a:off x="6191277" y="2667875"/>
            <a:ext cx="4892040" cy="1536192"/>
          </a:xfrm>
          <a:prstGeom prst="roundRect">
            <a:avLst/>
          </a:prstGeom>
          <a:solidFill>
            <a:srgbClr val="EAF3FB"/>
          </a:solidFill>
          <a:ln w="12700">
            <a:solidFill>
              <a:srgbClr val="D9E1EC"/>
            </a:solidFill>
          </a:ln>
        </p:spPr>
        <p:txBody>
          <a:bodyPr/>
          <a:lstStyle/>
          <a:p>
            <a:endParaRPr lang="zh-CN" altLang="en-US"/>
          </a:p>
        </p:txBody>
      </p:sp>
      <p:sp>
        <p:nvSpPr>
          <p:cNvPr id="36" name="Line">
            <a:extLst>
              <a:ext uri="{FF2B5EF4-FFF2-40B4-BE49-F238E27FC236}">
                <a16:creationId xmlns:a16="http://schemas.microsoft.com/office/drawing/2014/main" id="{F22DF526-BC34-4562-BD02-95BA69F1C134}"/>
              </a:ext>
            </a:extLst>
          </p:cNvPr>
          <p:cNvSpPr/>
          <p:nvPr/>
        </p:nvSpPr>
        <p:spPr>
          <a:xfrm>
            <a:off x="6191277" y="2667875"/>
            <a:ext cx="73152" cy="1536192"/>
          </a:xfrm>
          <a:prstGeom prst="rect">
            <a:avLst/>
          </a:prstGeom>
          <a:solidFill>
            <a:srgbClr val="1F6FB2"/>
          </a:solidFill>
          <a:ln>
            <a:noFill/>
          </a:ln>
        </p:spPr>
        <p:txBody>
          <a:bodyPr/>
          <a:lstStyle/>
          <a:p>
            <a:endParaRPr lang="zh-CN" altLang="en-US"/>
          </a:p>
        </p:txBody>
      </p:sp>
      <p:sp>
        <p:nvSpPr>
          <p:cNvPr id="37" name="Text">
            <a:extLst>
              <a:ext uri="{FF2B5EF4-FFF2-40B4-BE49-F238E27FC236}">
                <a16:creationId xmlns:a16="http://schemas.microsoft.com/office/drawing/2014/main" id="{61FB3557-7B0A-4E2B-9E78-B7593FA3103E}"/>
              </a:ext>
            </a:extLst>
          </p:cNvPr>
          <p:cNvSpPr txBox="1"/>
          <p:nvPr/>
        </p:nvSpPr>
        <p:spPr>
          <a:xfrm>
            <a:off x="6355869" y="2777603"/>
            <a:ext cx="4599432" cy="292608"/>
          </a:xfrm>
          <a:prstGeom prst="rect">
            <a:avLst/>
          </a:prstGeom>
          <a:noFill/>
          <a:ln>
            <a:noFill/>
          </a:ln>
        </p:spPr>
        <p:txBody>
          <a:bodyPr wrap="square" lIns="60000" tIns="40000" rIns="60000" bIns="40000" anchor="t"/>
          <a:lstStyle/>
          <a:p>
            <a:pPr algn="l"/>
            <a:r>
              <a:rPr lang="zh-CN" sz="2200" b="1">
                <a:solidFill>
                  <a:srgbClr val="1F6FB2"/>
                </a:solidFill>
                <a:latin typeface="Microsoft YaHei"/>
                <a:ea typeface="Microsoft YaHei"/>
                <a:cs typeface="Microsoft YaHei"/>
              </a:rPr>
              <a:t>科教融汇</a:t>
            </a:r>
          </a:p>
        </p:txBody>
      </p:sp>
      <p:sp>
        <p:nvSpPr>
          <p:cNvPr id="38" name="Text">
            <a:extLst>
              <a:ext uri="{FF2B5EF4-FFF2-40B4-BE49-F238E27FC236}">
                <a16:creationId xmlns:a16="http://schemas.microsoft.com/office/drawing/2014/main" id="{8B6AA84C-6060-4760-A015-CF92DFD03536}"/>
              </a:ext>
            </a:extLst>
          </p:cNvPr>
          <p:cNvSpPr txBox="1"/>
          <p:nvPr/>
        </p:nvSpPr>
        <p:spPr>
          <a:xfrm>
            <a:off x="6374157" y="3295763"/>
            <a:ext cx="4562856" cy="969264"/>
          </a:xfrm>
          <a:prstGeom prst="rect">
            <a:avLst/>
          </a:prstGeom>
          <a:noFill/>
          <a:ln>
            <a:noFill/>
          </a:ln>
        </p:spPr>
        <p:txBody>
          <a:bodyPr wrap="square" lIns="60000" tIns="40000" rIns="60000" bIns="40000" anchor="t"/>
          <a:lstStyle/>
          <a:p>
            <a:pPr marL="230000" indent="-120000">
              <a:buFont typeface="Arial"/>
              <a:buChar char="•"/>
            </a:pPr>
            <a:r>
              <a:rPr lang="zh-CN" altLang="en-US" sz="1400" b="1">
                <a:solidFill>
                  <a:srgbClr val="5B677A"/>
                </a:solidFill>
                <a:latin typeface="Microsoft YaHei"/>
                <a:ea typeface="Microsoft YaHei"/>
              </a:rPr>
              <a:t>以智能教育理论研究反哺课程建设</a:t>
            </a:r>
          </a:p>
          <a:p>
            <a:pPr marL="230000" indent="-120000">
              <a:buFont typeface="Arial"/>
              <a:buChar char="•"/>
            </a:pPr>
            <a:r>
              <a:rPr lang="zh-CN" altLang="en-US" sz="1400" b="1">
                <a:solidFill>
                  <a:srgbClr val="5B677A"/>
                </a:solidFill>
                <a:latin typeface="Microsoft YaHei"/>
                <a:ea typeface="Microsoft YaHei"/>
              </a:rPr>
              <a:t>让前沿技术与教育科学同步进入课堂</a:t>
            </a:r>
          </a:p>
        </p:txBody>
      </p:sp>
      <p:sp>
        <p:nvSpPr>
          <p:cNvPr id="39" name="Card 交叉融合">
            <a:extLst>
              <a:ext uri="{FF2B5EF4-FFF2-40B4-BE49-F238E27FC236}">
                <a16:creationId xmlns:a16="http://schemas.microsoft.com/office/drawing/2014/main" id="{6466014B-75E7-475F-9703-8548D86C9C00}"/>
              </a:ext>
            </a:extLst>
          </p:cNvPr>
          <p:cNvSpPr/>
          <p:nvPr/>
        </p:nvSpPr>
        <p:spPr>
          <a:xfrm>
            <a:off x="659157" y="4633835"/>
            <a:ext cx="4892040" cy="1536192"/>
          </a:xfrm>
          <a:prstGeom prst="roundRect">
            <a:avLst/>
          </a:prstGeom>
          <a:solidFill>
            <a:srgbClr val="E8F7F7"/>
          </a:solidFill>
          <a:ln w="12700">
            <a:solidFill>
              <a:srgbClr val="D9E1EC"/>
            </a:solidFill>
          </a:ln>
        </p:spPr>
        <p:txBody>
          <a:bodyPr/>
          <a:lstStyle/>
          <a:p>
            <a:endParaRPr lang="zh-CN" altLang="en-US"/>
          </a:p>
        </p:txBody>
      </p:sp>
      <p:sp>
        <p:nvSpPr>
          <p:cNvPr id="40" name="Line">
            <a:extLst>
              <a:ext uri="{FF2B5EF4-FFF2-40B4-BE49-F238E27FC236}">
                <a16:creationId xmlns:a16="http://schemas.microsoft.com/office/drawing/2014/main" id="{D9EA1DAF-D7EA-42B6-8A20-45B01CF3459E}"/>
              </a:ext>
            </a:extLst>
          </p:cNvPr>
          <p:cNvSpPr/>
          <p:nvPr/>
        </p:nvSpPr>
        <p:spPr>
          <a:xfrm>
            <a:off x="659157" y="4633835"/>
            <a:ext cx="73152" cy="1536192"/>
          </a:xfrm>
          <a:prstGeom prst="rect">
            <a:avLst/>
          </a:prstGeom>
          <a:solidFill>
            <a:srgbClr val="00A6A6"/>
          </a:solidFill>
          <a:ln>
            <a:noFill/>
          </a:ln>
        </p:spPr>
        <p:txBody>
          <a:bodyPr/>
          <a:lstStyle/>
          <a:p>
            <a:endParaRPr lang="zh-CN" altLang="en-US"/>
          </a:p>
        </p:txBody>
      </p:sp>
      <p:sp>
        <p:nvSpPr>
          <p:cNvPr id="41" name="Text">
            <a:extLst>
              <a:ext uri="{FF2B5EF4-FFF2-40B4-BE49-F238E27FC236}">
                <a16:creationId xmlns:a16="http://schemas.microsoft.com/office/drawing/2014/main" id="{CDA7CB8E-7B86-4DB0-AF6D-3658FA01982C}"/>
              </a:ext>
            </a:extLst>
          </p:cNvPr>
          <p:cNvSpPr txBox="1"/>
          <p:nvPr/>
        </p:nvSpPr>
        <p:spPr>
          <a:xfrm>
            <a:off x="823749" y="4743563"/>
            <a:ext cx="4599432" cy="292608"/>
          </a:xfrm>
          <a:prstGeom prst="rect">
            <a:avLst/>
          </a:prstGeom>
          <a:noFill/>
          <a:ln>
            <a:noFill/>
          </a:ln>
        </p:spPr>
        <p:txBody>
          <a:bodyPr wrap="square" lIns="60000" tIns="40000" rIns="60000" bIns="40000" anchor="t"/>
          <a:lstStyle/>
          <a:p>
            <a:pPr algn="l"/>
            <a:r>
              <a:rPr lang="zh-CN" sz="2200" b="1">
                <a:solidFill>
                  <a:srgbClr val="00A6A6"/>
                </a:solidFill>
                <a:latin typeface="Microsoft YaHei"/>
                <a:ea typeface="Microsoft YaHei"/>
                <a:cs typeface="Microsoft YaHei"/>
              </a:rPr>
              <a:t>交叉融合</a:t>
            </a:r>
          </a:p>
        </p:txBody>
      </p:sp>
      <p:sp>
        <p:nvSpPr>
          <p:cNvPr id="43" name="Text">
            <a:extLst>
              <a:ext uri="{FF2B5EF4-FFF2-40B4-BE49-F238E27FC236}">
                <a16:creationId xmlns:a16="http://schemas.microsoft.com/office/drawing/2014/main" id="{C02F0668-3927-4FC0-928C-5A5D74AF271D}"/>
              </a:ext>
            </a:extLst>
          </p:cNvPr>
          <p:cNvSpPr txBox="1"/>
          <p:nvPr/>
        </p:nvSpPr>
        <p:spPr>
          <a:xfrm>
            <a:off x="842037" y="5261723"/>
            <a:ext cx="4562856" cy="969264"/>
          </a:xfrm>
          <a:prstGeom prst="rect">
            <a:avLst/>
          </a:prstGeom>
          <a:noFill/>
          <a:ln>
            <a:noFill/>
          </a:ln>
        </p:spPr>
        <p:txBody>
          <a:bodyPr wrap="square" lIns="60000" tIns="40000" rIns="60000" bIns="40000" anchor="t"/>
          <a:lstStyle/>
          <a:p>
            <a:pPr marL="230000" indent="-120000" algn="l">
              <a:buFont typeface="Arial"/>
              <a:buChar char="•"/>
            </a:pPr>
            <a:r>
              <a:rPr lang="zh-CN" sz="1400" b="1" dirty="0">
                <a:solidFill>
                  <a:srgbClr val="5B677A"/>
                </a:solidFill>
                <a:latin typeface="Microsoft YaHei"/>
                <a:ea typeface="Microsoft YaHei"/>
                <a:cs typeface="Microsoft YaHei"/>
              </a:rPr>
              <a:t>教育学主干与AI主干双螺旋重构</a:t>
            </a:r>
          </a:p>
          <a:p>
            <a:pPr marL="230000" indent="-120000" algn="l">
              <a:buFont typeface="Arial"/>
              <a:buChar char="•"/>
            </a:pPr>
            <a:r>
              <a:rPr lang="zh-CN" sz="1400" b="1" dirty="0">
                <a:solidFill>
                  <a:srgbClr val="5B677A"/>
                </a:solidFill>
                <a:latin typeface="Microsoft YaHei"/>
                <a:ea typeface="Microsoft YaHei"/>
                <a:cs typeface="Microsoft YaHei"/>
              </a:rPr>
              <a:t>通过</a:t>
            </a:r>
            <a:r>
              <a:rPr lang="zh-CN" sz="1400" b="1" dirty="0">
                <a:solidFill>
                  <a:srgbClr val="C00000"/>
                </a:solidFill>
                <a:latin typeface="Microsoft YaHei"/>
                <a:ea typeface="Microsoft YaHei"/>
                <a:cs typeface="Microsoft YaHei"/>
              </a:rPr>
              <a:t>课程群和项目制学习</a:t>
            </a:r>
            <a:r>
              <a:rPr lang="zh-CN" sz="1400" b="1" dirty="0">
                <a:solidFill>
                  <a:srgbClr val="5B677A"/>
                </a:solidFill>
                <a:latin typeface="Microsoft YaHei"/>
                <a:ea typeface="Microsoft YaHei"/>
                <a:cs typeface="Microsoft YaHei"/>
              </a:rPr>
              <a:t>形成能力合成</a:t>
            </a:r>
          </a:p>
        </p:txBody>
      </p:sp>
      <p:sp>
        <p:nvSpPr>
          <p:cNvPr id="44" name="Card 产教协同">
            <a:extLst>
              <a:ext uri="{FF2B5EF4-FFF2-40B4-BE49-F238E27FC236}">
                <a16:creationId xmlns:a16="http://schemas.microsoft.com/office/drawing/2014/main" id="{ECE26020-3DFE-4130-B597-A4B8496E4936}"/>
              </a:ext>
            </a:extLst>
          </p:cNvPr>
          <p:cNvSpPr/>
          <p:nvPr/>
        </p:nvSpPr>
        <p:spPr>
          <a:xfrm>
            <a:off x="6191277" y="4633835"/>
            <a:ext cx="4892040" cy="1536192"/>
          </a:xfrm>
          <a:prstGeom prst="roundRect">
            <a:avLst/>
          </a:prstGeom>
          <a:solidFill>
            <a:srgbClr val="FFF7E6"/>
          </a:solidFill>
          <a:ln w="12700">
            <a:solidFill>
              <a:srgbClr val="D9E1EC"/>
            </a:solidFill>
          </a:ln>
        </p:spPr>
        <p:txBody>
          <a:bodyPr/>
          <a:lstStyle/>
          <a:p>
            <a:endParaRPr lang="zh-CN" altLang="en-US"/>
          </a:p>
        </p:txBody>
      </p:sp>
      <p:sp>
        <p:nvSpPr>
          <p:cNvPr id="45" name="Line">
            <a:extLst>
              <a:ext uri="{FF2B5EF4-FFF2-40B4-BE49-F238E27FC236}">
                <a16:creationId xmlns:a16="http://schemas.microsoft.com/office/drawing/2014/main" id="{F3A70260-29E3-4F78-8830-18622FD3A853}"/>
              </a:ext>
            </a:extLst>
          </p:cNvPr>
          <p:cNvSpPr/>
          <p:nvPr/>
        </p:nvSpPr>
        <p:spPr>
          <a:xfrm>
            <a:off x="6191277" y="4633835"/>
            <a:ext cx="73152" cy="1536192"/>
          </a:xfrm>
          <a:prstGeom prst="rect">
            <a:avLst/>
          </a:prstGeom>
          <a:solidFill>
            <a:srgbClr val="D9A441"/>
          </a:solidFill>
          <a:ln>
            <a:noFill/>
          </a:ln>
        </p:spPr>
        <p:txBody>
          <a:bodyPr/>
          <a:lstStyle/>
          <a:p>
            <a:endParaRPr lang="zh-CN" altLang="en-US"/>
          </a:p>
        </p:txBody>
      </p:sp>
      <p:sp>
        <p:nvSpPr>
          <p:cNvPr id="46" name="Text">
            <a:extLst>
              <a:ext uri="{FF2B5EF4-FFF2-40B4-BE49-F238E27FC236}">
                <a16:creationId xmlns:a16="http://schemas.microsoft.com/office/drawing/2014/main" id="{4E95C3A3-5FED-4750-8CB8-804C6EB94C16}"/>
              </a:ext>
            </a:extLst>
          </p:cNvPr>
          <p:cNvSpPr txBox="1"/>
          <p:nvPr/>
        </p:nvSpPr>
        <p:spPr>
          <a:xfrm>
            <a:off x="6355869" y="4743563"/>
            <a:ext cx="4599432" cy="292608"/>
          </a:xfrm>
          <a:prstGeom prst="rect">
            <a:avLst/>
          </a:prstGeom>
          <a:noFill/>
          <a:ln>
            <a:noFill/>
          </a:ln>
        </p:spPr>
        <p:txBody>
          <a:bodyPr wrap="square" lIns="60000" tIns="40000" rIns="60000" bIns="40000" anchor="t"/>
          <a:lstStyle/>
          <a:p>
            <a:pPr algn="l"/>
            <a:r>
              <a:rPr lang="zh-CN" sz="2200" b="1">
                <a:solidFill>
                  <a:srgbClr val="D9A441"/>
                </a:solidFill>
                <a:latin typeface="Microsoft YaHei"/>
                <a:ea typeface="Microsoft YaHei"/>
                <a:cs typeface="Microsoft YaHei"/>
              </a:rPr>
              <a:t>产教协同</a:t>
            </a:r>
          </a:p>
        </p:txBody>
      </p:sp>
      <p:sp>
        <p:nvSpPr>
          <p:cNvPr id="47" name="Text">
            <a:extLst>
              <a:ext uri="{FF2B5EF4-FFF2-40B4-BE49-F238E27FC236}">
                <a16:creationId xmlns:a16="http://schemas.microsoft.com/office/drawing/2014/main" id="{3BB67B06-CF87-4D39-AAD5-B3FE0518F44B}"/>
              </a:ext>
            </a:extLst>
          </p:cNvPr>
          <p:cNvSpPr txBox="1"/>
          <p:nvPr/>
        </p:nvSpPr>
        <p:spPr>
          <a:xfrm>
            <a:off x="6374157" y="5261723"/>
            <a:ext cx="4562856" cy="969264"/>
          </a:xfrm>
          <a:prstGeom prst="rect">
            <a:avLst/>
          </a:prstGeom>
          <a:noFill/>
          <a:ln>
            <a:noFill/>
          </a:ln>
        </p:spPr>
        <p:txBody>
          <a:bodyPr wrap="square" lIns="60000" tIns="40000" rIns="60000" bIns="40000" anchor="t"/>
          <a:lstStyle/>
          <a:p>
            <a:pPr marL="230000" indent="-120000" algn="l">
              <a:buFont typeface="Arial"/>
              <a:buChar char="•"/>
            </a:pPr>
            <a:r>
              <a:rPr lang="zh-CN" sz="1400" b="1" dirty="0">
                <a:solidFill>
                  <a:srgbClr val="5B677A"/>
                </a:solidFill>
                <a:latin typeface="Microsoft YaHei"/>
                <a:ea typeface="Microsoft YaHei"/>
                <a:cs typeface="Microsoft YaHei"/>
              </a:rPr>
              <a:t>联合学校、企业和平台开展场景化实战</a:t>
            </a:r>
          </a:p>
          <a:p>
            <a:pPr marL="230000" indent="-120000" algn="l">
              <a:buFont typeface="Arial"/>
              <a:buChar char="•"/>
            </a:pPr>
            <a:r>
              <a:rPr lang="zh-CN" sz="1400" b="1" dirty="0">
                <a:solidFill>
                  <a:srgbClr val="5B677A"/>
                </a:solidFill>
                <a:latin typeface="Microsoft YaHei"/>
                <a:ea typeface="Microsoft YaHei"/>
                <a:cs typeface="Microsoft YaHei"/>
              </a:rPr>
              <a:t>把</a:t>
            </a:r>
            <a:r>
              <a:rPr lang="zh-CN" sz="1400" b="1" dirty="0">
                <a:solidFill>
                  <a:srgbClr val="C00000"/>
                </a:solidFill>
                <a:latin typeface="Microsoft YaHei"/>
                <a:ea typeface="Microsoft YaHei"/>
                <a:cs typeface="Microsoft YaHei"/>
              </a:rPr>
              <a:t>人才培养出口与岗位需求</a:t>
            </a:r>
            <a:r>
              <a:rPr lang="zh-CN" sz="1400" b="1" dirty="0">
                <a:solidFill>
                  <a:srgbClr val="5B677A"/>
                </a:solidFill>
                <a:latin typeface="Microsoft YaHei"/>
                <a:ea typeface="Microsoft YaHei"/>
                <a:cs typeface="Microsoft YaHei"/>
              </a:rPr>
              <a:t>打通</a:t>
            </a:r>
          </a:p>
        </p:txBody>
      </p:sp>
    </p:spTree>
    <p:extLst>
      <p:ext uri="{BB962C8B-B14F-4D97-AF65-F5344CB8AC3E}">
        <p14:creationId xmlns:p14="http://schemas.microsoft.com/office/powerpoint/2010/main" val="2128555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a:extLst>
              <a:ext uri="{FF2B5EF4-FFF2-40B4-BE49-F238E27FC236}">
                <a16:creationId xmlns:a16="http://schemas.microsoft.com/office/drawing/2014/main" id="{39AF018C-BD1E-4D1C-A575-89BC7165FB5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189341" y="28710"/>
            <a:ext cx="881729" cy="881729"/>
          </a:xfrm>
          <a:prstGeom prst="rect">
            <a:avLst/>
          </a:prstGeom>
        </p:spPr>
      </p:pic>
      <p:pic>
        <p:nvPicPr>
          <p:cNvPr id="24" name="图片 23">
            <a:extLst>
              <a:ext uri="{FF2B5EF4-FFF2-40B4-BE49-F238E27FC236}">
                <a16:creationId xmlns:a16="http://schemas.microsoft.com/office/drawing/2014/main" id="{118A43A9-C67F-4CB1-B9F4-63E761CBC2D0}"/>
              </a:ext>
            </a:extLst>
          </p:cNvPr>
          <p:cNvPicPr>
            <a:picLocks noChangeAspect="1"/>
          </p:cNvPicPr>
          <p:nvPr/>
        </p:nvPicPr>
        <p:blipFill>
          <a:blip r:embed="rId4" cstate="print">
            <a:extLst>
              <a:ext uri="{28A0092B-C50C-407E-A947-70E740481C1C}">
                <a14:useLocalDpi xmlns:a14="http://schemas.microsoft.com/office/drawing/2010/main" val="0"/>
              </a:ext>
            </a:extLst>
          </a:blip>
          <a:srcRect l="1133" r="1133"/>
          <a:stretch/>
        </p:blipFill>
        <p:spPr>
          <a:xfrm>
            <a:off x="274100" y="75737"/>
            <a:ext cx="802225" cy="806727"/>
          </a:xfrm>
          <a:prstGeom prst="rect">
            <a:avLst/>
          </a:prstGeom>
        </p:spPr>
      </p:pic>
      <p:sp>
        <p:nvSpPr>
          <p:cNvPr id="25" name="文本框 24">
            <a:extLst>
              <a:ext uri="{FF2B5EF4-FFF2-40B4-BE49-F238E27FC236}">
                <a16:creationId xmlns:a16="http://schemas.microsoft.com/office/drawing/2014/main" id="{D2B29A73-493F-45ED-A593-8D7573299A30}"/>
              </a:ext>
            </a:extLst>
          </p:cNvPr>
          <p:cNvSpPr txBox="1"/>
          <p:nvPr/>
        </p:nvSpPr>
        <p:spPr>
          <a:xfrm>
            <a:off x="6313868" y="337344"/>
            <a:ext cx="6157730" cy="406971"/>
          </a:xfrm>
          <a:prstGeom prst="rect">
            <a:avLst/>
          </a:prstGeom>
          <a:noFill/>
        </p:spPr>
        <p:txBody>
          <a:bodyPr wrap="square">
            <a:spAutoFit/>
          </a:bodyPr>
          <a:lstStyle/>
          <a:p>
            <a:pPr algn="ctr" defTabSz="342900">
              <a:lnSpc>
                <a:spcPct val="125000"/>
              </a:lnSpc>
            </a:pPr>
            <a:endParaRPr lang="en-US" altLang="zh-CN" b="1">
              <a:latin typeface="微软雅黑" pitchFamily="34" charset="-122"/>
              <a:ea typeface="微软雅黑" pitchFamily="34" charset="-122"/>
              <a:cs typeface="Calibri" charset="0"/>
            </a:endParaRPr>
          </a:p>
        </p:txBody>
      </p:sp>
      <p:sp>
        <p:nvSpPr>
          <p:cNvPr id="26" name="文本框 11">
            <a:extLst>
              <a:ext uri="{FF2B5EF4-FFF2-40B4-BE49-F238E27FC236}">
                <a16:creationId xmlns:a16="http://schemas.microsoft.com/office/drawing/2014/main" id="{D7D3FDA0-EE55-4DA0-9A6C-9EE877927692}"/>
              </a:ext>
            </a:extLst>
          </p:cNvPr>
          <p:cNvSpPr txBox="1"/>
          <p:nvPr/>
        </p:nvSpPr>
        <p:spPr>
          <a:xfrm>
            <a:off x="1975284" y="1632283"/>
            <a:ext cx="498855"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400" b="0"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rPr>
              <a:t>1</a:t>
            </a:r>
            <a:endParaRPr kumimoji="0" lang="zh-CN" altLang="en-US" sz="4400" b="0"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35" name="文本框 34">
            <a:extLst>
              <a:ext uri="{FF2B5EF4-FFF2-40B4-BE49-F238E27FC236}">
                <a16:creationId xmlns:a16="http://schemas.microsoft.com/office/drawing/2014/main" id="{740F1DFA-E178-4C8D-A1C6-EC3CC6FACE96}"/>
              </a:ext>
            </a:extLst>
          </p:cNvPr>
          <p:cNvSpPr txBox="1"/>
          <p:nvPr/>
        </p:nvSpPr>
        <p:spPr>
          <a:xfrm>
            <a:off x="101726" y="2326632"/>
            <a:ext cx="12253748" cy="418191"/>
          </a:xfrm>
          <a:prstGeom prst="rect">
            <a:avLst/>
          </a:prstGeom>
          <a:noFill/>
        </p:spPr>
        <p:txBody>
          <a:bodyPr wrap="square">
            <a:spAutoFit/>
          </a:bodyPr>
          <a:lstStyle/>
          <a:p>
            <a:pPr algn="just">
              <a:lnSpc>
                <a:spcPct val="150000"/>
              </a:lnSpc>
            </a:pPr>
            <a:r>
              <a:rPr lang="zh-CN" altLang="en-US" sz="1600" b="1" dirty="0">
                <a:solidFill>
                  <a:schemeClr val="accent5">
                    <a:lumMod val="50000"/>
                  </a:schemeClr>
                </a:solidFill>
                <a:latin typeface="微软雅黑" panose="020B0503020204020204" pitchFamily="34" charset="-122"/>
                <a:ea typeface="微软雅黑" panose="020B0503020204020204" pitchFamily="34" charset="-122"/>
              </a:rPr>
              <a:t>本项目立足国家教育数字化战略，面向人工智能时代教育变革需求，培养“</a:t>
            </a:r>
            <a:r>
              <a:rPr lang="zh-CN" altLang="en-US" sz="1600" b="1" dirty="0">
                <a:solidFill>
                  <a:srgbClr val="C00000"/>
                </a:solidFill>
                <a:latin typeface="微软雅黑" panose="020B0503020204020204" pitchFamily="34" charset="-122"/>
                <a:ea typeface="微软雅黑" panose="020B0503020204020204" pitchFamily="34" charset="-122"/>
              </a:rPr>
              <a:t>厚基础、善教学、精技术、强创新”的复合型高端人才</a:t>
            </a:r>
            <a:r>
              <a:rPr lang="zh-CN" altLang="en-US" sz="1600" b="1" dirty="0">
                <a:solidFill>
                  <a:schemeClr val="accent5">
                    <a:lumMod val="50000"/>
                  </a:schemeClr>
                </a:solidFill>
                <a:latin typeface="微软雅黑" panose="020B0503020204020204" pitchFamily="34" charset="-122"/>
                <a:ea typeface="微软雅黑" panose="020B0503020204020204" pitchFamily="34" charset="-122"/>
              </a:rPr>
              <a:t>。</a:t>
            </a:r>
            <a:endParaRPr lang="en-US" altLang="zh-CN" sz="1600" b="1" dirty="0">
              <a:solidFill>
                <a:schemeClr val="accent5">
                  <a:lumMod val="50000"/>
                </a:schemeClr>
              </a:solidFill>
              <a:latin typeface="微软雅黑" panose="020B0503020204020204" pitchFamily="34" charset="-122"/>
              <a:ea typeface="微软雅黑" panose="020B0503020204020204" pitchFamily="34" charset="-122"/>
            </a:endParaRPr>
          </a:p>
        </p:txBody>
      </p:sp>
      <p:sp>
        <p:nvSpPr>
          <p:cNvPr id="20" name="矩形: 圆角 19">
            <a:extLst>
              <a:ext uri="{FF2B5EF4-FFF2-40B4-BE49-F238E27FC236}">
                <a16:creationId xmlns:a16="http://schemas.microsoft.com/office/drawing/2014/main" id="{9B4912C5-A23E-4BF0-BF74-DF101E617299}"/>
              </a:ext>
            </a:extLst>
          </p:cNvPr>
          <p:cNvSpPr/>
          <p:nvPr/>
        </p:nvSpPr>
        <p:spPr>
          <a:xfrm>
            <a:off x="4247263" y="5422387"/>
            <a:ext cx="3216682" cy="1198550"/>
          </a:xfrm>
          <a:prstGeom prst="roundRect">
            <a:avLst>
              <a:gd name="adj" fmla="val 12189"/>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圆角 20">
            <a:extLst>
              <a:ext uri="{FF2B5EF4-FFF2-40B4-BE49-F238E27FC236}">
                <a16:creationId xmlns:a16="http://schemas.microsoft.com/office/drawing/2014/main" id="{4715A62E-65CC-46BF-B00F-3A6863943511}"/>
              </a:ext>
            </a:extLst>
          </p:cNvPr>
          <p:cNvSpPr/>
          <p:nvPr/>
        </p:nvSpPr>
        <p:spPr>
          <a:xfrm>
            <a:off x="7663734" y="5411698"/>
            <a:ext cx="2968531" cy="1198550"/>
          </a:xfrm>
          <a:prstGeom prst="roundRect">
            <a:avLst>
              <a:gd name="adj" fmla="val 12189"/>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a:extLst>
              <a:ext uri="{FF2B5EF4-FFF2-40B4-BE49-F238E27FC236}">
                <a16:creationId xmlns:a16="http://schemas.microsoft.com/office/drawing/2014/main" id="{D865FB51-A8C9-490A-9374-0C4E1D09FC59}"/>
              </a:ext>
            </a:extLst>
          </p:cNvPr>
          <p:cNvSpPr/>
          <p:nvPr/>
        </p:nvSpPr>
        <p:spPr>
          <a:xfrm>
            <a:off x="1281550" y="5448423"/>
            <a:ext cx="2774980" cy="1198550"/>
          </a:xfrm>
          <a:prstGeom prst="roundRect">
            <a:avLst>
              <a:gd name="adj" fmla="val 12189"/>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7" name="图片 26">
            <a:extLst>
              <a:ext uri="{FF2B5EF4-FFF2-40B4-BE49-F238E27FC236}">
                <a16:creationId xmlns:a16="http://schemas.microsoft.com/office/drawing/2014/main" id="{7289441D-1C40-4DE1-A0EE-03693CDDDF6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70705" y="5622562"/>
            <a:ext cx="952500" cy="895350"/>
          </a:xfrm>
          <a:prstGeom prst="rect">
            <a:avLst/>
          </a:prstGeom>
        </p:spPr>
      </p:pic>
      <p:pic>
        <p:nvPicPr>
          <p:cNvPr id="28" name="图片 27">
            <a:extLst>
              <a:ext uri="{FF2B5EF4-FFF2-40B4-BE49-F238E27FC236}">
                <a16:creationId xmlns:a16="http://schemas.microsoft.com/office/drawing/2014/main" id="{18E68B57-8187-4ACB-8A24-BED34979F50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69351" y="5692123"/>
            <a:ext cx="1000125" cy="857250"/>
          </a:xfrm>
          <a:prstGeom prst="rect">
            <a:avLst/>
          </a:prstGeom>
        </p:spPr>
      </p:pic>
      <p:pic>
        <p:nvPicPr>
          <p:cNvPr id="29" name="图片 28">
            <a:extLst>
              <a:ext uri="{FF2B5EF4-FFF2-40B4-BE49-F238E27FC236}">
                <a16:creationId xmlns:a16="http://schemas.microsoft.com/office/drawing/2014/main" id="{5B11FFDF-0B78-4624-8C15-C00A022CB41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191211" y="5682360"/>
            <a:ext cx="952500" cy="895350"/>
          </a:xfrm>
          <a:prstGeom prst="rect">
            <a:avLst/>
          </a:prstGeom>
        </p:spPr>
      </p:pic>
      <p:sp>
        <p:nvSpPr>
          <p:cNvPr id="30" name="文本框 29">
            <a:extLst>
              <a:ext uri="{FF2B5EF4-FFF2-40B4-BE49-F238E27FC236}">
                <a16:creationId xmlns:a16="http://schemas.microsoft.com/office/drawing/2014/main" id="{4DD8F1BF-C8CD-452B-83D9-EEDB3B4FF4C9}"/>
              </a:ext>
            </a:extLst>
          </p:cNvPr>
          <p:cNvSpPr txBox="1"/>
          <p:nvPr/>
        </p:nvSpPr>
        <p:spPr>
          <a:xfrm>
            <a:off x="2246864" y="5448423"/>
            <a:ext cx="1586338" cy="418191"/>
          </a:xfrm>
          <a:prstGeom prst="rect">
            <a:avLst/>
          </a:prstGeom>
          <a:noFill/>
        </p:spPr>
        <p:txBody>
          <a:bodyPr wrap="square">
            <a:spAutoFit/>
          </a:bodyPr>
          <a:lstStyle/>
          <a:p>
            <a:pPr algn="ctr">
              <a:lnSpc>
                <a:spcPct val="150000"/>
              </a:lnSpc>
            </a:pPr>
            <a:r>
              <a:rPr lang="zh-CN" altLang="en-US" sz="1600" b="1" dirty="0">
                <a:solidFill>
                  <a:schemeClr val="accent5">
                    <a:lumMod val="50000"/>
                  </a:schemeClr>
                </a:solidFill>
                <a:latin typeface="微软雅黑" panose="020B0503020204020204" pitchFamily="34" charset="-122"/>
                <a:ea typeface="微软雅黑" panose="020B0503020204020204" pitchFamily="34" charset="-122"/>
              </a:rPr>
              <a:t>理念学习</a:t>
            </a:r>
          </a:p>
        </p:txBody>
      </p:sp>
      <p:sp>
        <p:nvSpPr>
          <p:cNvPr id="31" name="文本框 30">
            <a:extLst>
              <a:ext uri="{FF2B5EF4-FFF2-40B4-BE49-F238E27FC236}">
                <a16:creationId xmlns:a16="http://schemas.microsoft.com/office/drawing/2014/main" id="{454DF98A-F094-44CE-95D0-09FCFC25DCF0}"/>
              </a:ext>
            </a:extLst>
          </p:cNvPr>
          <p:cNvSpPr txBox="1"/>
          <p:nvPr/>
        </p:nvSpPr>
        <p:spPr>
          <a:xfrm>
            <a:off x="5058772" y="5430747"/>
            <a:ext cx="2260433" cy="418191"/>
          </a:xfrm>
          <a:prstGeom prst="rect">
            <a:avLst/>
          </a:prstGeom>
          <a:noFill/>
        </p:spPr>
        <p:txBody>
          <a:bodyPr wrap="square">
            <a:spAutoFit/>
          </a:bodyPr>
          <a:lstStyle/>
          <a:p>
            <a:pPr algn="ctr">
              <a:lnSpc>
                <a:spcPct val="150000"/>
              </a:lnSpc>
            </a:pPr>
            <a:r>
              <a:rPr lang="zh-CN" altLang="en-US" sz="1600" b="1" dirty="0">
                <a:solidFill>
                  <a:schemeClr val="accent5">
                    <a:lumMod val="50000"/>
                  </a:schemeClr>
                </a:solidFill>
                <a:latin typeface="微软雅黑" panose="020B0503020204020204" pitchFamily="34" charset="-122"/>
                <a:ea typeface="微软雅黑" panose="020B0503020204020204" pitchFamily="34" charset="-122"/>
              </a:rPr>
              <a:t>实践拓展</a:t>
            </a:r>
          </a:p>
        </p:txBody>
      </p:sp>
      <p:sp>
        <p:nvSpPr>
          <p:cNvPr id="32" name="文本框 31">
            <a:extLst>
              <a:ext uri="{FF2B5EF4-FFF2-40B4-BE49-F238E27FC236}">
                <a16:creationId xmlns:a16="http://schemas.microsoft.com/office/drawing/2014/main" id="{99390B5B-D699-4A2A-B0BB-89992D680222}"/>
              </a:ext>
            </a:extLst>
          </p:cNvPr>
          <p:cNvSpPr txBox="1"/>
          <p:nvPr/>
        </p:nvSpPr>
        <p:spPr>
          <a:xfrm>
            <a:off x="8569476" y="5411697"/>
            <a:ext cx="1812643" cy="418191"/>
          </a:xfrm>
          <a:prstGeom prst="rect">
            <a:avLst/>
          </a:prstGeom>
          <a:noFill/>
        </p:spPr>
        <p:txBody>
          <a:bodyPr wrap="square">
            <a:spAutoFit/>
          </a:bodyPr>
          <a:lstStyle/>
          <a:p>
            <a:pPr algn="ctr">
              <a:lnSpc>
                <a:spcPct val="150000"/>
              </a:lnSpc>
            </a:pPr>
            <a:r>
              <a:rPr lang="zh-CN" altLang="en-US" sz="1600" b="1">
                <a:solidFill>
                  <a:schemeClr val="accent5">
                    <a:lumMod val="50000"/>
                  </a:schemeClr>
                </a:solidFill>
                <a:latin typeface="微软雅黑" panose="020B0503020204020204" pitchFamily="34" charset="-122"/>
                <a:ea typeface="微软雅黑" panose="020B0503020204020204" pitchFamily="34" charset="-122"/>
              </a:rPr>
              <a:t>能力培养</a:t>
            </a:r>
          </a:p>
        </p:txBody>
      </p:sp>
      <p:sp>
        <p:nvSpPr>
          <p:cNvPr id="33" name="文本框 32">
            <a:extLst>
              <a:ext uri="{FF2B5EF4-FFF2-40B4-BE49-F238E27FC236}">
                <a16:creationId xmlns:a16="http://schemas.microsoft.com/office/drawing/2014/main" id="{241143FA-18D0-461F-B88C-0B02BEBB6DAF}"/>
              </a:ext>
            </a:extLst>
          </p:cNvPr>
          <p:cNvSpPr txBox="1"/>
          <p:nvPr/>
        </p:nvSpPr>
        <p:spPr>
          <a:xfrm>
            <a:off x="1928166" y="5913927"/>
            <a:ext cx="2159340" cy="738664"/>
          </a:xfrm>
          <a:prstGeom prst="rect">
            <a:avLst/>
          </a:prstGeom>
          <a:noFill/>
        </p:spPr>
        <p:txBody>
          <a:bodyPr wrap="square">
            <a:spAutoFit/>
          </a:bodyPr>
          <a:lstStyle/>
          <a:p>
            <a:pPr algn="ctr"/>
            <a:r>
              <a:rPr lang="zh-CN" altLang="en-US" sz="1400" b="1" dirty="0">
                <a:latin typeface="微软雅黑" panose="020B0503020204020204" pitchFamily="34" charset="-122"/>
                <a:ea typeface="微软雅黑" panose="020B0503020204020204" pitchFamily="34" charset="-122"/>
              </a:rPr>
              <a:t>现代教育科学理论</a:t>
            </a:r>
            <a:endParaRPr lang="en-US" altLang="zh-CN" sz="1400" b="1" dirty="0">
              <a:latin typeface="微软雅黑" panose="020B0503020204020204" pitchFamily="34" charset="-122"/>
              <a:ea typeface="微软雅黑" panose="020B0503020204020204" pitchFamily="34" charset="-122"/>
            </a:endParaRPr>
          </a:p>
          <a:p>
            <a:pPr algn="ctr"/>
            <a:r>
              <a:rPr lang="zh-CN" altLang="en-US" sz="1400" b="1" dirty="0">
                <a:latin typeface="微软雅黑" panose="020B0503020204020204" pitchFamily="34" charset="-122"/>
                <a:ea typeface="微软雅黑" panose="020B0503020204020204" pitchFamily="34" charset="-122"/>
              </a:rPr>
              <a:t>人工智能</a:t>
            </a:r>
            <a:r>
              <a:rPr lang="en-US" altLang="zh-CN" sz="1400" b="1" dirty="0">
                <a:latin typeface="微软雅黑" panose="020B0503020204020204" pitchFamily="34" charset="-122"/>
                <a:ea typeface="微软雅黑" panose="020B0503020204020204" pitchFamily="34" charset="-122"/>
              </a:rPr>
              <a:t>+</a:t>
            </a:r>
            <a:r>
              <a:rPr lang="zh-CN" altLang="en-US" sz="1400" b="1" dirty="0">
                <a:latin typeface="微软雅黑" panose="020B0503020204020204" pitchFamily="34" charset="-122"/>
                <a:ea typeface="微软雅黑" panose="020B0503020204020204" pitchFamily="34" charset="-122"/>
              </a:rPr>
              <a:t>技术方法</a:t>
            </a:r>
            <a:endParaRPr lang="en-US" altLang="zh-CN" sz="1400" b="1" dirty="0">
              <a:latin typeface="微软雅黑" panose="020B0503020204020204" pitchFamily="34" charset="-122"/>
              <a:ea typeface="微软雅黑" panose="020B0503020204020204" pitchFamily="34" charset="-122"/>
            </a:endParaRPr>
          </a:p>
          <a:p>
            <a:pPr algn="ctr"/>
            <a:endParaRPr lang="zh-CN" altLang="en-US" sz="1400" b="1" dirty="0">
              <a:latin typeface="微软雅黑" panose="020B0503020204020204" pitchFamily="34" charset="-122"/>
              <a:ea typeface="微软雅黑" panose="020B0503020204020204" pitchFamily="34" charset="-122"/>
            </a:endParaRPr>
          </a:p>
        </p:txBody>
      </p:sp>
      <p:sp>
        <p:nvSpPr>
          <p:cNvPr id="34" name="文本框 33">
            <a:extLst>
              <a:ext uri="{FF2B5EF4-FFF2-40B4-BE49-F238E27FC236}">
                <a16:creationId xmlns:a16="http://schemas.microsoft.com/office/drawing/2014/main" id="{C1CD1B95-E11B-4F49-A888-2D3585991D66}"/>
              </a:ext>
            </a:extLst>
          </p:cNvPr>
          <p:cNvSpPr txBox="1"/>
          <p:nvPr/>
        </p:nvSpPr>
        <p:spPr>
          <a:xfrm>
            <a:off x="4535655" y="5829888"/>
            <a:ext cx="3342351" cy="738664"/>
          </a:xfrm>
          <a:prstGeom prst="rect">
            <a:avLst/>
          </a:prstGeom>
          <a:noFill/>
        </p:spPr>
        <p:txBody>
          <a:bodyPr wrap="square">
            <a:spAutoFit/>
          </a:bodyPr>
          <a:lstStyle/>
          <a:p>
            <a:pPr algn="ctr"/>
            <a:r>
              <a:rPr lang="zh-CN" altLang="en-US" sz="1400" b="1" dirty="0">
                <a:latin typeface="微软雅黑" panose="020B0503020204020204" pitchFamily="34" charset="-122"/>
                <a:ea typeface="微软雅黑" panose="020B0503020204020204" pitchFamily="34" charset="-122"/>
              </a:rPr>
              <a:t>智能教育理论研究</a:t>
            </a:r>
            <a:endParaRPr lang="en-US" altLang="zh-CN" sz="1400" b="1" dirty="0">
              <a:latin typeface="微软雅黑" panose="020B0503020204020204" pitchFamily="34" charset="-122"/>
              <a:ea typeface="微软雅黑" panose="020B0503020204020204" pitchFamily="34" charset="-122"/>
            </a:endParaRPr>
          </a:p>
          <a:p>
            <a:pPr algn="ctr"/>
            <a:r>
              <a:rPr lang="zh-CN" altLang="en-US" sz="1400" b="1" dirty="0">
                <a:latin typeface="微软雅黑" panose="020B0503020204020204" pitchFamily="34" charset="-122"/>
                <a:ea typeface="微软雅黑" panose="020B0503020204020204" pitchFamily="34" charset="-122"/>
              </a:rPr>
              <a:t>智能教育系统研发</a:t>
            </a:r>
            <a:endParaRPr lang="en-US" altLang="zh-CN" sz="1400" b="1" dirty="0">
              <a:latin typeface="微软雅黑" panose="020B0503020204020204" pitchFamily="34" charset="-122"/>
              <a:ea typeface="微软雅黑" panose="020B0503020204020204" pitchFamily="34" charset="-122"/>
            </a:endParaRPr>
          </a:p>
          <a:p>
            <a:pPr algn="ctr"/>
            <a:r>
              <a:rPr lang="zh-CN" altLang="en-US" sz="1400" b="1" dirty="0">
                <a:latin typeface="微软雅黑" panose="020B0503020204020204" pitchFamily="34" charset="-122"/>
                <a:ea typeface="微软雅黑" panose="020B0503020204020204" pitchFamily="34" charset="-122"/>
              </a:rPr>
              <a:t>中小学人工智能基础教育实践</a:t>
            </a:r>
          </a:p>
        </p:txBody>
      </p:sp>
      <p:sp>
        <p:nvSpPr>
          <p:cNvPr id="36" name="文本框 35">
            <a:extLst>
              <a:ext uri="{FF2B5EF4-FFF2-40B4-BE49-F238E27FC236}">
                <a16:creationId xmlns:a16="http://schemas.microsoft.com/office/drawing/2014/main" id="{098CDF09-49DF-4026-AC42-029CEA16F6BC}"/>
              </a:ext>
            </a:extLst>
          </p:cNvPr>
          <p:cNvSpPr txBox="1"/>
          <p:nvPr/>
        </p:nvSpPr>
        <p:spPr>
          <a:xfrm>
            <a:off x="8375348" y="5892118"/>
            <a:ext cx="2194527" cy="523220"/>
          </a:xfrm>
          <a:prstGeom prst="rect">
            <a:avLst/>
          </a:prstGeom>
          <a:noFill/>
        </p:spPr>
        <p:txBody>
          <a:bodyPr wrap="square">
            <a:spAutoFit/>
          </a:bodyPr>
          <a:lstStyle/>
          <a:p>
            <a:pPr algn="ctr"/>
            <a:r>
              <a:rPr lang="zh-CN" altLang="en-US" sz="1400" b="1" dirty="0">
                <a:latin typeface="微软雅黑" panose="020B0503020204020204" pitchFamily="34" charset="-122"/>
                <a:ea typeface="微软雅黑" panose="020B0503020204020204" pitchFamily="34" charset="-122"/>
              </a:rPr>
              <a:t>人文素养、科学精神</a:t>
            </a:r>
            <a:endParaRPr lang="en-US" altLang="zh-CN" sz="1400" b="1" dirty="0">
              <a:latin typeface="微软雅黑" panose="020B0503020204020204" pitchFamily="34" charset="-122"/>
              <a:ea typeface="微软雅黑" panose="020B0503020204020204" pitchFamily="34" charset="-122"/>
            </a:endParaRPr>
          </a:p>
          <a:p>
            <a:pPr algn="ctr"/>
            <a:r>
              <a:rPr lang="zh-CN" altLang="en-US" sz="1400" b="1" dirty="0">
                <a:latin typeface="微软雅黑" panose="020B0503020204020204" pitchFamily="34" charset="-122"/>
                <a:ea typeface="微软雅黑" panose="020B0503020204020204" pitchFamily="34" charset="-122"/>
              </a:rPr>
              <a:t>工程伦理、教师专业素养</a:t>
            </a:r>
          </a:p>
        </p:txBody>
      </p:sp>
      <p:sp>
        <p:nvSpPr>
          <p:cNvPr id="38" name="文本框 37">
            <a:extLst>
              <a:ext uri="{FF2B5EF4-FFF2-40B4-BE49-F238E27FC236}">
                <a16:creationId xmlns:a16="http://schemas.microsoft.com/office/drawing/2014/main" id="{4AC7FF98-608B-4736-9C1E-FB82975F6C75}"/>
              </a:ext>
            </a:extLst>
          </p:cNvPr>
          <p:cNvSpPr txBox="1"/>
          <p:nvPr/>
        </p:nvSpPr>
        <p:spPr>
          <a:xfrm>
            <a:off x="6269498" y="489744"/>
            <a:ext cx="6157730" cy="406971"/>
          </a:xfrm>
          <a:prstGeom prst="rect">
            <a:avLst/>
          </a:prstGeom>
          <a:noFill/>
        </p:spPr>
        <p:txBody>
          <a:bodyPr wrap="square">
            <a:spAutoFit/>
          </a:bodyPr>
          <a:lstStyle/>
          <a:p>
            <a:pPr algn="ctr" defTabSz="342900">
              <a:lnSpc>
                <a:spcPct val="125000"/>
              </a:lnSpc>
            </a:pPr>
            <a:r>
              <a:rPr lang="zh-CN" altLang="en-US" b="1">
                <a:latin typeface="微软雅黑" pitchFamily="34" charset="-122"/>
                <a:ea typeface="微软雅黑" pitchFamily="34" charset="-122"/>
                <a:cs typeface="Calibri" charset="0"/>
              </a:rPr>
              <a:t>“教育学</a:t>
            </a:r>
            <a:r>
              <a:rPr lang="en-US" altLang="zh-CN" b="1">
                <a:latin typeface="微软雅黑" pitchFamily="34" charset="-122"/>
                <a:ea typeface="微软雅黑" pitchFamily="34" charset="-122"/>
                <a:cs typeface="Calibri" charset="0"/>
              </a:rPr>
              <a:t>+</a:t>
            </a:r>
            <a:r>
              <a:rPr lang="zh-CN" altLang="en-US" b="1">
                <a:latin typeface="微软雅黑" pitchFamily="34" charset="-122"/>
                <a:ea typeface="微软雅黑" pitchFamily="34" charset="-122"/>
                <a:cs typeface="Calibri" charset="0"/>
              </a:rPr>
              <a:t>人工智能”双学士学位复合型人才培养项目</a:t>
            </a:r>
            <a:endParaRPr lang="en-US" altLang="zh-CN" b="1">
              <a:latin typeface="微软雅黑" pitchFamily="34" charset="-122"/>
              <a:ea typeface="微软雅黑" pitchFamily="34" charset="-122"/>
              <a:cs typeface="Calibri" charset="0"/>
            </a:endParaRPr>
          </a:p>
        </p:txBody>
      </p:sp>
      <p:sp>
        <p:nvSpPr>
          <p:cNvPr id="37" name="矩形 36">
            <a:extLst>
              <a:ext uri="{FF2B5EF4-FFF2-40B4-BE49-F238E27FC236}">
                <a16:creationId xmlns:a16="http://schemas.microsoft.com/office/drawing/2014/main" id="{8FB6A2CE-35F8-4F55-BFC5-FD8C174BF855}"/>
              </a:ext>
            </a:extLst>
          </p:cNvPr>
          <p:cNvSpPr/>
          <p:nvPr/>
        </p:nvSpPr>
        <p:spPr>
          <a:xfrm>
            <a:off x="0" y="924560"/>
            <a:ext cx="12192000" cy="665627"/>
          </a:xfrm>
          <a:prstGeom prst="rect">
            <a:avLst/>
          </a:prstGeom>
          <a:solidFill>
            <a:srgbClr val="4472C4">
              <a:lumMod val="50000"/>
            </a:srgbClr>
          </a:solidFill>
          <a:ln w="12700" cap="flat" cmpd="sng" algn="ctr">
            <a:solidFill>
              <a:srgbClr val="4472C4">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a:ea typeface="微软雅黑"/>
              <a:cs typeface="+mn-cs"/>
            </a:endParaRPr>
          </a:p>
        </p:txBody>
      </p:sp>
      <p:sp>
        <p:nvSpPr>
          <p:cNvPr id="39" name="矩形 38">
            <a:extLst>
              <a:ext uri="{FF2B5EF4-FFF2-40B4-BE49-F238E27FC236}">
                <a16:creationId xmlns:a16="http://schemas.microsoft.com/office/drawing/2014/main" id="{823AB753-701A-4FCC-9320-14479DDFF25A}"/>
              </a:ext>
            </a:extLst>
          </p:cNvPr>
          <p:cNvSpPr/>
          <p:nvPr/>
        </p:nvSpPr>
        <p:spPr>
          <a:xfrm>
            <a:off x="-1" y="924560"/>
            <a:ext cx="2152843" cy="665627"/>
          </a:xfrm>
          <a:prstGeom prst="rect">
            <a:avLst/>
          </a:prstGeom>
          <a:solidFill>
            <a:srgbClr val="FF9900"/>
          </a:solidFill>
          <a:ln w="12700" cap="flat" cmpd="sng" algn="ctr">
            <a:solidFill>
              <a:srgbClr val="FF99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Arial"/>
              <a:ea typeface="微软雅黑"/>
              <a:cs typeface="+mn-cs"/>
            </a:endParaRPr>
          </a:p>
        </p:txBody>
      </p:sp>
      <p:sp>
        <p:nvSpPr>
          <p:cNvPr id="41" name="文本框 14">
            <a:extLst>
              <a:ext uri="{FF2B5EF4-FFF2-40B4-BE49-F238E27FC236}">
                <a16:creationId xmlns:a16="http://schemas.microsoft.com/office/drawing/2014/main" id="{015B90C6-A07A-45B5-A086-320ABA310580}"/>
              </a:ext>
            </a:extLst>
          </p:cNvPr>
          <p:cNvSpPr txBox="1"/>
          <p:nvPr/>
        </p:nvSpPr>
        <p:spPr>
          <a:xfrm>
            <a:off x="359003" y="1107051"/>
            <a:ext cx="1793840" cy="369332"/>
          </a:xfrm>
          <a:prstGeom prst="rect">
            <a:avLst/>
          </a:prstGeom>
          <a:noFill/>
        </p:spPr>
        <p:txBody>
          <a:bodyPr wrap="square" rtlCol="0">
            <a:spAutoFit/>
          </a:bodyPr>
          <a:lstStyle/>
          <a:p>
            <a:pPr algn="just"/>
            <a:r>
              <a:rPr lang="zh-CN" altLang="en-US" b="1">
                <a:solidFill>
                  <a:prstClr val="white"/>
                </a:solidFill>
                <a:latin typeface="Arial"/>
                <a:ea typeface="微软雅黑"/>
              </a:rPr>
              <a:t>一  总体思路</a:t>
            </a:r>
            <a:endParaRPr lang="zh-CN" altLang="en-US" b="1" dirty="0">
              <a:solidFill>
                <a:prstClr val="white"/>
              </a:solidFill>
              <a:latin typeface="Arial"/>
              <a:ea typeface="微软雅黑"/>
            </a:endParaRPr>
          </a:p>
        </p:txBody>
      </p:sp>
      <p:sp>
        <p:nvSpPr>
          <p:cNvPr id="42" name="文本框 14">
            <a:extLst>
              <a:ext uri="{FF2B5EF4-FFF2-40B4-BE49-F238E27FC236}">
                <a16:creationId xmlns:a16="http://schemas.microsoft.com/office/drawing/2014/main" id="{E83C2809-FA1C-4CC3-B55A-BF144E1A6B36}"/>
              </a:ext>
            </a:extLst>
          </p:cNvPr>
          <p:cNvSpPr txBox="1"/>
          <p:nvPr/>
        </p:nvSpPr>
        <p:spPr>
          <a:xfrm>
            <a:off x="2642427" y="1107051"/>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二  课程体系实施</a:t>
            </a:r>
            <a:endParaRPr lang="zh-CN" altLang="en-US" b="1" dirty="0">
              <a:solidFill>
                <a:prstClr val="white"/>
              </a:solidFill>
              <a:latin typeface="Arial"/>
              <a:ea typeface="微软雅黑"/>
            </a:endParaRPr>
          </a:p>
        </p:txBody>
      </p:sp>
      <p:sp>
        <p:nvSpPr>
          <p:cNvPr id="43" name="文本框 14">
            <a:extLst>
              <a:ext uri="{FF2B5EF4-FFF2-40B4-BE49-F238E27FC236}">
                <a16:creationId xmlns:a16="http://schemas.microsoft.com/office/drawing/2014/main" id="{A5F09B9A-4A33-43D9-8256-7574E1A53A97}"/>
              </a:ext>
            </a:extLst>
          </p:cNvPr>
          <p:cNvSpPr txBox="1"/>
          <p:nvPr/>
        </p:nvSpPr>
        <p:spPr>
          <a:xfrm>
            <a:off x="5054466" y="1071284"/>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三  实践体系实施</a:t>
            </a:r>
            <a:endParaRPr lang="zh-CN" altLang="en-US" b="1" dirty="0">
              <a:solidFill>
                <a:prstClr val="white"/>
              </a:solidFill>
              <a:latin typeface="Arial"/>
              <a:ea typeface="微软雅黑"/>
            </a:endParaRPr>
          </a:p>
        </p:txBody>
      </p:sp>
      <p:sp>
        <p:nvSpPr>
          <p:cNvPr id="44" name="文本框 14">
            <a:extLst>
              <a:ext uri="{FF2B5EF4-FFF2-40B4-BE49-F238E27FC236}">
                <a16:creationId xmlns:a16="http://schemas.microsoft.com/office/drawing/2014/main" id="{CDA687C1-4B1E-4E25-9FC3-6C5E100C1733}"/>
              </a:ext>
            </a:extLst>
          </p:cNvPr>
          <p:cNvSpPr txBox="1"/>
          <p:nvPr/>
        </p:nvSpPr>
        <p:spPr>
          <a:xfrm>
            <a:off x="7338510" y="1071183"/>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四  导师制与学业指导</a:t>
            </a:r>
            <a:endParaRPr lang="zh-CN" altLang="en-US" b="1" dirty="0">
              <a:solidFill>
                <a:prstClr val="white"/>
              </a:solidFill>
              <a:latin typeface="Arial"/>
              <a:ea typeface="微软雅黑"/>
            </a:endParaRPr>
          </a:p>
        </p:txBody>
      </p:sp>
      <p:sp>
        <p:nvSpPr>
          <p:cNvPr id="45" name="文本框 14">
            <a:extLst>
              <a:ext uri="{FF2B5EF4-FFF2-40B4-BE49-F238E27FC236}">
                <a16:creationId xmlns:a16="http://schemas.microsoft.com/office/drawing/2014/main" id="{1BEEFCCB-FAF4-443C-A8A1-5820B2C41CA4}"/>
              </a:ext>
            </a:extLst>
          </p:cNvPr>
          <p:cNvSpPr txBox="1"/>
          <p:nvPr/>
        </p:nvSpPr>
        <p:spPr>
          <a:xfrm>
            <a:off x="10133884" y="1058701"/>
            <a:ext cx="2058115" cy="369332"/>
          </a:xfrm>
          <a:prstGeom prst="rect">
            <a:avLst/>
          </a:prstGeom>
          <a:noFill/>
        </p:spPr>
        <p:txBody>
          <a:bodyPr wrap="square" rtlCol="0">
            <a:spAutoFit/>
          </a:bodyPr>
          <a:lstStyle/>
          <a:p>
            <a:pPr algn="just"/>
            <a:r>
              <a:rPr lang="zh-CN" altLang="en-US" b="1">
                <a:solidFill>
                  <a:prstClr val="white"/>
                </a:solidFill>
                <a:latin typeface="Arial"/>
                <a:ea typeface="微软雅黑"/>
              </a:rPr>
              <a:t>五  保障机制</a:t>
            </a:r>
            <a:endParaRPr lang="zh-CN" altLang="en-US" b="1" dirty="0">
              <a:solidFill>
                <a:prstClr val="white"/>
              </a:solidFill>
              <a:latin typeface="Arial"/>
              <a:ea typeface="微软雅黑"/>
            </a:endParaRPr>
          </a:p>
        </p:txBody>
      </p:sp>
      <p:sp>
        <p:nvSpPr>
          <p:cNvPr id="47" name="文本框 12">
            <a:extLst>
              <a:ext uri="{FF2B5EF4-FFF2-40B4-BE49-F238E27FC236}">
                <a16:creationId xmlns:a16="http://schemas.microsoft.com/office/drawing/2014/main" id="{6952C5C1-975D-4651-BC8B-71FD0BB9D597}"/>
              </a:ext>
            </a:extLst>
          </p:cNvPr>
          <p:cNvSpPr txBox="1"/>
          <p:nvPr/>
        </p:nvSpPr>
        <p:spPr>
          <a:xfrm>
            <a:off x="359003" y="1760040"/>
            <a:ext cx="1877437" cy="461665"/>
          </a:xfrm>
          <a:prstGeom prst="rect">
            <a:avLst/>
          </a:prstGeom>
          <a:noFill/>
        </p:spPr>
        <p:txBody>
          <a:bodyPr wrap="none" rtlCol="0">
            <a:spAutoFit/>
          </a:bodyPr>
          <a:lstStyle/>
          <a:p>
            <a:pPr marL="457200" marR="0" lvl="0" indent="-457200" algn="l" defTabSz="914400" rtl="0" eaLnBrk="1" fontAlgn="auto" latinLnBrk="0" hangingPunct="1">
              <a:lnSpc>
                <a:spcPct val="100000"/>
              </a:lnSpc>
              <a:spcBef>
                <a:spcPts val="0"/>
              </a:spcBef>
              <a:spcAft>
                <a:spcPts val="0"/>
              </a:spcAft>
              <a:buClr>
                <a:srgbClr val="C00000"/>
              </a:buClr>
              <a:buSzTx/>
              <a:buFont typeface="Wingdings" panose="05000000000000000000" pitchFamily="2" charset="2"/>
              <a:buChar char="p"/>
              <a:tabLst/>
              <a:defRPr/>
            </a:pPr>
            <a:r>
              <a:rPr lang="zh-CN" altLang="en-US" sz="2400" b="1" kern="0">
                <a:solidFill>
                  <a:srgbClr val="004E86"/>
                </a:solidFill>
                <a:latin typeface="微软雅黑" panose="020B0503020204020204" pitchFamily="34" charset="-122"/>
                <a:ea typeface="微软雅黑" panose="020B0503020204020204" pitchFamily="34" charset="-122"/>
              </a:rPr>
              <a:t>培养目标</a:t>
            </a:r>
            <a:endParaRPr kumimoji="0" lang="zh-CN" altLang="en-US" b="1" i="0" u="none" strike="noStrike" kern="0" cap="none" spc="0" normalizeH="0" baseline="0" noProof="0" dirty="0">
              <a:ln>
                <a:noFill/>
              </a:ln>
              <a:solidFill>
                <a:srgbClr val="004E86"/>
              </a:solidFill>
              <a:effectLst/>
              <a:uLnTx/>
              <a:uFillTx/>
              <a:latin typeface="微软雅黑" panose="020B0503020204020204" pitchFamily="34" charset="-122"/>
              <a:ea typeface="微软雅黑" panose="020B0503020204020204" pitchFamily="34" charset="-122"/>
              <a:cs typeface="+mn-cs"/>
            </a:endParaRPr>
          </a:p>
        </p:txBody>
      </p:sp>
      <p:cxnSp>
        <p:nvCxnSpPr>
          <p:cNvPr id="48" name="直接连接符 7">
            <a:extLst>
              <a:ext uri="{FF2B5EF4-FFF2-40B4-BE49-F238E27FC236}">
                <a16:creationId xmlns:a16="http://schemas.microsoft.com/office/drawing/2014/main" id="{FCE12CDC-33EC-46F1-95D3-008D4F085D09}"/>
              </a:ext>
            </a:extLst>
          </p:cNvPr>
          <p:cNvCxnSpPr>
            <a:cxnSpLocks/>
          </p:cNvCxnSpPr>
          <p:nvPr/>
        </p:nvCxnSpPr>
        <p:spPr bwMode="auto">
          <a:xfrm flipH="1">
            <a:off x="463090" y="2213957"/>
            <a:ext cx="7928881" cy="0"/>
          </a:xfrm>
          <a:prstGeom prst="line">
            <a:avLst/>
          </a:prstGeom>
          <a:noFill/>
          <a:ln w="28575" cap="flat" cmpd="sng" algn="ctr">
            <a:solidFill>
              <a:srgbClr val="F65C5C"/>
            </a:solidFill>
            <a:prstDash val="sysDash"/>
            <a:round/>
            <a:headEnd type="none" w="med" len="med"/>
            <a:tailEnd type="none" w="med" len="med"/>
          </a:ln>
          <a:effectLst/>
        </p:spPr>
      </p:cxnSp>
      <p:sp>
        <p:nvSpPr>
          <p:cNvPr id="49" name="文本框 48">
            <a:extLst>
              <a:ext uri="{FF2B5EF4-FFF2-40B4-BE49-F238E27FC236}">
                <a16:creationId xmlns:a16="http://schemas.microsoft.com/office/drawing/2014/main" id="{426D9A90-7D6D-4FFD-AEE8-6726418A8B87}"/>
              </a:ext>
            </a:extLst>
          </p:cNvPr>
          <p:cNvSpPr txBox="1"/>
          <p:nvPr/>
        </p:nvSpPr>
        <p:spPr>
          <a:xfrm>
            <a:off x="1314118" y="2869645"/>
            <a:ext cx="3763211" cy="1069908"/>
          </a:xfrm>
          <a:prstGeom prst="rect">
            <a:avLst/>
          </a:prstGeom>
          <a:noFill/>
        </p:spPr>
        <p:txBody>
          <a:bodyPr wrap="square">
            <a:spAutoFit/>
          </a:bodyPr>
          <a:lstStyle/>
          <a:p>
            <a:pPr algn="ctr">
              <a:lnSpc>
                <a:spcPct val="150000"/>
              </a:lnSpc>
            </a:pPr>
            <a:r>
              <a:rPr lang="zh-CN" altLang="en-US" sz="1600" b="1">
                <a:solidFill>
                  <a:schemeClr val="accent5">
                    <a:lumMod val="50000"/>
                  </a:schemeClr>
                </a:solidFill>
                <a:latin typeface="微软雅黑" panose="020B0503020204020204" pitchFamily="34" charset="-122"/>
                <a:ea typeface="微软雅黑" panose="020B0503020204020204" pitchFamily="34" charset="-122"/>
              </a:rPr>
              <a:t>培养目标</a:t>
            </a:r>
            <a:r>
              <a:rPr lang="en-US" altLang="zh-CN" sz="1600" b="1">
                <a:solidFill>
                  <a:schemeClr val="accent5">
                    <a:lumMod val="50000"/>
                  </a:schemeClr>
                </a:solidFill>
                <a:latin typeface="微软雅黑" panose="020B0503020204020204" pitchFamily="34" charset="-122"/>
                <a:ea typeface="微软雅黑" panose="020B0503020204020204" pitchFamily="34" charset="-122"/>
              </a:rPr>
              <a:t>1</a:t>
            </a:r>
            <a:r>
              <a:rPr lang="zh-CN" altLang="en-US" sz="1600" b="1">
                <a:solidFill>
                  <a:schemeClr val="accent5">
                    <a:lumMod val="50000"/>
                  </a:schemeClr>
                </a:solidFill>
                <a:latin typeface="微软雅黑" panose="020B0503020204020204" pitchFamily="34" charset="-122"/>
                <a:ea typeface="微软雅黑" panose="020B0503020204020204" pitchFamily="34" charset="-122"/>
              </a:rPr>
              <a:t>：价值塑造与交叉认知</a:t>
            </a:r>
            <a:endParaRPr lang="en-US" altLang="zh-CN" sz="1600" b="1">
              <a:solidFill>
                <a:schemeClr val="accent5">
                  <a:lumMod val="50000"/>
                </a:schemeClr>
              </a:solidFill>
              <a:latin typeface="微软雅黑" panose="020B0503020204020204" pitchFamily="34" charset="-122"/>
              <a:ea typeface="微软雅黑" panose="020B0503020204020204" pitchFamily="34" charset="-122"/>
            </a:endParaRPr>
          </a:p>
          <a:p>
            <a:pPr algn="ctr">
              <a:lnSpc>
                <a:spcPct val="150000"/>
              </a:lnSpc>
            </a:pPr>
            <a:r>
              <a:rPr lang="zh-CN" altLang="zh-CN" sz="1400" b="1">
                <a:latin typeface="微软雅黑" panose="020B0503020204020204" pitchFamily="34" charset="-122"/>
                <a:ea typeface="微软雅黑" panose="020B0503020204020204" pitchFamily="34" charset="-122"/>
              </a:rPr>
              <a:t>坚持立德树人</a:t>
            </a:r>
            <a:r>
              <a:rPr lang="zh-CN" altLang="en-US" sz="1400" b="1">
                <a:latin typeface="微软雅黑" panose="020B0503020204020204" pitchFamily="34" charset="-122"/>
                <a:ea typeface="微软雅黑" panose="020B0503020204020204" pitchFamily="34" charset="-122"/>
              </a:rPr>
              <a:t>，</a:t>
            </a:r>
            <a:r>
              <a:rPr lang="zh-CN" altLang="zh-CN" sz="1400" b="1">
                <a:latin typeface="微软雅黑" panose="020B0503020204020204" pitchFamily="34" charset="-122"/>
                <a:ea typeface="微软雅黑" panose="020B0503020204020204" pitchFamily="34" charset="-122"/>
              </a:rPr>
              <a:t>具备服务教育改革发展的</a:t>
            </a:r>
            <a:endParaRPr lang="en-US" altLang="zh-CN" sz="1400" b="1">
              <a:latin typeface="微软雅黑" panose="020B0503020204020204" pitchFamily="34" charset="-122"/>
              <a:ea typeface="微软雅黑" panose="020B0503020204020204" pitchFamily="34" charset="-122"/>
            </a:endParaRPr>
          </a:p>
          <a:p>
            <a:pPr algn="ctr">
              <a:lnSpc>
                <a:spcPct val="150000"/>
              </a:lnSpc>
            </a:pPr>
            <a:r>
              <a:rPr lang="zh-CN" altLang="zh-CN" sz="1400" b="1">
                <a:latin typeface="微软雅黑" panose="020B0503020204020204" pitchFamily="34" charset="-122"/>
                <a:ea typeface="微软雅黑" panose="020B0503020204020204" pitchFamily="34" charset="-122"/>
              </a:rPr>
              <a:t>责任意识与价值判断能力</a:t>
            </a:r>
            <a:r>
              <a:rPr lang="zh-CN" altLang="en-US" sz="1400" b="1">
                <a:latin typeface="微软雅黑" panose="020B0503020204020204" pitchFamily="34" charset="-122"/>
                <a:ea typeface="微软雅黑" panose="020B0503020204020204" pitchFamily="34" charset="-122"/>
              </a:rPr>
              <a:t>。</a:t>
            </a:r>
            <a:endParaRPr lang="en-US" altLang="zh-CN" sz="1400" b="1">
              <a:latin typeface="微软雅黑" panose="020B0503020204020204" pitchFamily="34" charset="-122"/>
              <a:ea typeface="微软雅黑" panose="020B0503020204020204" pitchFamily="34" charset="-122"/>
            </a:endParaRPr>
          </a:p>
        </p:txBody>
      </p:sp>
      <p:grpSp>
        <p:nvGrpSpPr>
          <p:cNvPr id="50" name="组合 49">
            <a:extLst>
              <a:ext uri="{FF2B5EF4-FFF2-40B4-BE49-F238E27FC236}">
                <a16:creationId xmlns:a16="http://schemas.microsoft.com/office/drawing/2014/main" id="{D819351F-5B15-4109-8B40-435AF53FEB7F}"/>
              </a:ext>
            </a:extLst>
          </p:cNvPr>
          <p:cNvGrpSpPr>
            <a:grpSpLocks noChangeAspect="1"/>
          </p:cNvGrpSpPr>
          <p:nvPr/>
        </p:nvGrpSpPr>
        <p:grpSpPr>
          <a:xfrm rot="21012455">
            <a:off x="4759516" y="2970099"/>
            <a:ext cx="1785365" cy="1801287"/>
            <a:chOff x="4391505" y="2300142"/>
            <a:chExt cx="3437076" cy="3467722"/>
          </a:xfrm>
        </p:grpSpPr>
        <p:grpSp>
          <p:nvGrpSpPr>
            <p:cNvPr id="51" name="组合 50">
              <a:extLst>
                <a:ext uri="{FF2B5EF4-FFF2-40B4-BE49-F238E27FC236}">
                  <a16:creationId xmlns:a16="http://schemas.microsoft.com/office/drawing/2014/main" id="{06B496F7-4867-46B1-B8DD-E4B4DA8E87C1}"/>
                </a:ext>
              </a:extLst>
            </p:cNvPr>
            <p:cNvGrpSpPr/>
            <p:nvPr/>
          </p:nvGrpSpPr>
          <p:grpSpPr>
            <a:xfrm>
              <a:off x="4391505" y="3182985"/>
              <a:ext cx="1785724" cy="1798689"/>
              <a:chOff x="4391505" y="3182985"/>
              <a:chExt cx="1785724" cy="1798689"/>
            </a:xfrm>
          </p:grpSpPr>
          <p:sp>
            <p:nvSpPr>
              <p:cNvPr id="75" name="Freeform 8">
                <a:extLst>
                  <a:ext uri="{FF2B5EF4-FFF2-40B4-BE49-F238E27FC236}">
                    <a16:creationId xmlns:a16="http://schemas.microsoft.com/office/drawing/2014/main" id="{354D98A4-722E-48A8-9872-E6FA4295097E}"/>
                  </a:ext>
                </a:extLst>
              </p:cNvPr>
              <p:cNvSpPr/>
              <p:nvPr/>
            </p:nvSpPr>
            <p:spPr bwMode="auto">
              <a:xfrm>
                <a:off x="4391505" y="3182985"/>
                <a:ext cx="1785724" cy="1798689"/>
              </a:xfrm>
              <a:custGeom>
                <a:avLst/>
                <a:gdLst>
                  <a:gd name="T0" fmla="*/ 794 w 805"/>
                  <a:gd name="T1" fmla="*/ 284 h 812"/>
                  <a:gd name="T2" fmla="*/ 538 w 805"/>
                  <a:gd name="T3" fmla="*/ 196 h 812"/>
                  <a:gd name="T4" fmla="*/ 411 w 805"/>
                  <a:gd name="T5" fmla="*/ 326 h 812"/>
                  <a:gd name="T6" fmla="*/ 328 w 805"/>
                  <a:gd name="T7" fmla="*/ 505 h 812"/>
                  <a:gd name="T8" fmla="*/ 485 w 805"/>
                  <a:gd name="T9" fmla="*/ 783 h 812"/>
                  <a:gd name="T10" fmla="*/ 507 w 805"/>
                  <a:gd name="T11" fmla="*/ 792 h 812"/>
                  <a:gd name="T12" fmla="*/ 479 w 805"/>
                  <a:gd name="T13" fmla="*/ 799 h 812"/>
                  <a:gd name="T14" fmla="*/ 239 w 805"/>
                  <a:gd name="T15" fmla="*/ 777 h 812"/>
                  <a:gd name="T16" fmla="*/ 162 w 805"/>
                  <a:gd name="T17" fmla="*/ 747 h 812"/>
                  <a:gd name="T18" fmla="*/ 85 w 805"/>
                  <a:gd name="T19" fmla="*/ 564 h 812"/>
                  <a:gd name="T20" fmla="*/ 115 w 805"/>
                  <a:gd name="T21" fmla="*/ 492 h 812"/>
                  <a:gd name="T22" fmla="*/ 146 w 805"/>
                  <a:gd name="T23" fmla="*/ 435 h 812"/>
                  <a:gd name="T24" fmla="*/ 14 w 805"/>
                  <a:gd name="T25" fmla="*/ 235 h 812"/>
                  <a:gd name="T26" fmla="*/ 141 w 805"/>
                  <a:gd name="T27" fmla="*/ 96 h 812"/>
                  <a:gd name="T28" fmla="*/ 332 w 805"/>
                  <a:gd name="T29" fmla="*/ 190 h 812"/>
                  <a:gd name="T30" fmla="*/ 405 w 805"/>
                  <a:gd name="T31" fmla="*/ 127 h 812"/>
                  <a:gd name="T32" fmla="*/ 578 w 805"/>
                  <a:gd name="T33" fmla="*/ 21 h 812"/>
                  <a:gd name="T34" fmla="*/ 659 w 805"/>
                  <a:gd name="T35" fmla="*/ 4 h 812"/>
                  <a:gd name="T36" fmla="*/ 780 w 805"/>
                  <a:gd name="T37" fmla="*/ 83 h 812"/>
                  <a:gd name="T38" fmla="*/ 794 w 805"/>
                  <a:gd name="T39" fmla="*/ 284 h 8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05" h="812">
                    <a:moveTo>
                      <a:pt x="794" y="284"/>
                    </a:moveTo>
                    <a:cubicBezTo>
                      <a:pt x="754" y="175"/>
                      <a:pt x="642" y="136"/>
                      <a:pt x="538" y="196"/>
                    </a:cubicBezTo>
                    <a:cubicBezTo>
                      <a:pt x="484" y="227"/>
                      <a:pt x="444" y="274"/>
                      <a:pt x="411" y="326"/>
                    </a:cubicBezTo>
                    <a:cubicBezTo>
                      <a:pt x="375" y="382"/>
                      <a:pt x="348" y="442"/>
                      <a:pt x="328" y="505"/>
                    </a:cubicBezTo>
                    <a:cubicBezTo>
                      <a:pt x="284" y="646"/>
                      <a:pt x="342" y="747"/>
                      <a:pt x="485" y="783"/>
                    </a:cubicBezTo>
                    <a:cubicBezTo>
                      <a:pt x="492" y="785"/>
                      <a:pt x="499" y="786"/>
                      <a:pt x="507" y="792"/>
                    </a:cubicBezTo>
                    <a:cubicBezTo>
                      <a:pt x="498" y="795"/>
                      <a:pt x="489" y="798"/>
                      <a:pt x="479" y="799"/>
                    </a:cubicBezTo>
                    <a:cubicBezTo>
                      <a:pt x="397" y="812"/>
                      <a:pt x="317" y="804"/>
                      <a:pt x="239" y="777"/>
                    </a:cubicBezTo>
                    <a:cubicBezTo>
                      <a:pt x="213" y="769"/>
                      <a:pt x="186" y="760"/>
                      <a:pt x="162" y="747"/>
                    </a:cubicBezTo>
                    <a:cubicBezTo>
                      <a:pt x="90" y="709"/>
                      <a:pt x="62" y="643"/>
                      <a:pt x="85" y="564"/>
                    </a:cubicBezTo>
                    <a:cubicBezTo>
                      <a:pt x="92" y="539"/>
                      <a:pt x="104" y="516"/>
                      <a:pt x="115" y="492"/>
                    </a:cubicBezTo>
                    <a:cubicBezTo>
                      <a:pt x="124" y="473"/>
                      <a:pt x="135" y="455"/>
                      <a:pt x="146" y="435"/>
                    </a:cubicBezTo>
                    <a:cubicBezTo>
                      <a:pt x="49" y="402"/>
                      <a:pt x="0" y="336"/>
                      <a:pt x="14" y="235"/>
                    </a:cubicBezTo>
                    <a:cubicBezTo>
                      <a:pt x="24" y="162"/>
                      <a:pt x="69" y="113"/>
                      <a:pt x="141" y="96"/>
                    </a:cubicBezTo>
                    <a:cubicBezTo>
                      <a:pt x="227" y="77"/>
                      <a:pt x="289" y="115"/>
                      <a:pt x="332" y="190"/>
                    </a:cubicBezTo>
                    <a:cubicBezTo>
                      <a:pt x="357" y="169"/>
                      <a:pt x="380" y="147"/>
                      <a:pt x="405" y="127"/>
                    </a:cubicBezTo>
                    <a:cubicBezTo>
                      <a:pt x="458" y="84"/>
                      <a:pt x="513" y="45"/>
                      <a:pt x="578" y="21"/>
                    </a:cubicBezTo>
                    <a:cubicBezTo>
                      <a:pt x="604" y="11"/>
                      <a:pt x="632" y="5"/>
                      <a:pt x="659" y="4"/>
                    </a:cubicBezTo>
                    <a:cubicBezTo>
                      <a:pt x="718" y="0"/>
                      <a:pt x="759" y="29"/>
                      <a:pt x="780" y="83"/>
                    </a:cubicBezTo>
                    <a:cubicBezTo>
                      <a:pt x="805" y="149"/>
                      <a:pt x="801" y="216"/>
                      <a:pt x="794" y="284"/>
                    </a:cubicBezTo>
                    <a:close/>
                  </a:path>
                </a:pathLst>
              </a:custGeom>
              <a:solidFill>
                <a:srgbClr val="20457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lt1"/>
                  </a:solidFill>
                  <a:latin typeface="思源宋体 CN" panose="02020400000000000000" pitchFamily="18" charset="-122"/>
                </a:endParaRPr>
              </a:p>
            </p:txBody>
          </p:sp>
          <p:grpSp>
            <p:nvGrpSpPr>
              <p:cNvPr id="76" name="组合 75">
                <a:extLst>
                  <a:ext uri="{FF2B5EF4-FFF2-40B4-BE49-F238E27FC236}">
                    <a16:creationId xmlns:a16="http://schemas.microsoft.com/office/drawing/2014/main" id="{032D5848-4538-4DC2-A2F1-51182938F88E}"/>
                  </a:ext>
                </a:extLst>
              </p:cNvPr>
              <p:cNvGrpSpPr>
                <a:grpSpLocks noChangeAspect="1"/>
              </p:cNvGrpSpPr>
              <p:nvPr/>
            </p:nvGrpSpPr>
            <p:grpSpPr>
              <a:xfrm>
                <a:off x="4600171" y="3588309"/>
                <a:ext cx="302715" cy="295469"/>
                <a:chOff x="3530192" y="2543266"/>
                <a:chExt cx="596901" cy="582613"/>
              </a:xfrm>
              <a:solidFill>
                <a:schemeClr val="bg1"/>
              </a:solidFill>
            </p:grpSpPr>
            <p:sp>
              <p:nvSpPr>
                <p:cNvPr id="77" name="Freeform 36">
                  <a:extLst>
                    <a:ext uri="{FF2B5EF4-FFF2-40B4-BE49-F238E27FC236}">
                      <a16:creationId xmlns:a16="http://schemas.microsoft.com/office/drawing/2014/main" id="{5967CEE5-DB16-4717-B576-78CA221EA37C}"/>
                    </a:ext>
                  </a:extLst>
                </p:cNvPr>
                <p:cNvSpPr>
                  <a:spLocks noEditPoints="1"/>
                </p:cNvSpPr>
                <p:nvPr/>
              </p:nvSpPr>
              <p:spPr bwMode="auto">
                <a:xfrm>
                  <a:off x="3646080" y="2543266"/>
                  <a:ext cx="481013" cy="582613"/>
                </a:xfrm>
                <a:custGeom>
                  <a:avLst/>
                  <a:gdLst>
                    <a:gd name="T0" fmla="*/ 100 w 128"/>
                    <a:gd name="T1" fmla="*/ 113 h 155"/>
                    <a:gd name="T2" fmla="*/ 100 w 128"/>
                    <a:gd name="T3" fmla="*/ 105 h 155"/>
                    <a:gd name="T4" fmla="*/ 62 w 128"/>
                    <a:gd name="T5" fmla="*/ 109 h 155"/>
                    <a:gd name="T6" fmla="*/ 127 w 128"/>
                    <a:gd name="T7" fmla="*/ 51 h 155"/>
                    <a:gd name="T8" fmla="*/ 74 w 128"/>
                    <a:gd name="T9" fmla="*/ 0 h 155"/>
                    <a:gd name="T10" fmla="*/ 0 w 128"/>
                    <a:gd name="T11" fmla="*/ 22 h 155"/>
                    <a:gd name="T12" fmla="*/ 3 w 128"/>
                    <a:gd name="T13" fmla="*/ 70 h 155"/>
                    <a:gd name="T14" fmla="*/ 4 w 128"/>
                    <a:gd name="T15" fmla="*/ 69 h 155"/>
                    <a:gd name="T16" fmla="*/ 10 w 128"/>
                    <a:gd name="T17" fmla="*/ 22 h 155"/>
                    <a:gd name="T18" fmla="*/ 68 w 128"/>
                    <a:gd name="T19" fmla="*/ 10 h 155"/>
                    <a:gd name="T20" fmla="*/ 90 w 128"/>
                    <a:gd name="T21" fmla="*/ 59 h 155"/>
                    <a:gd name="T22" fmla="*/ 118 w 128"/>
                    <a:gd name="T23" fmla="*/ 134 h 155"/>
                    <a:gd name="T24" fmla="*/ 45 w 128"/>
                    <a:gd name="T25" fmla="*/ 145 h 155"/>
                    <a:gd name="T26" fmla="*/ 44 w 128"/>
                    <a:gd name="T27" fmla="*/ 155 h 155"/>
                    <a:gd name="T28" fmla="*/ 92 w 128"/>
                    <a:gd name="T29" fmla="*/ 155 h 155"/>
                    <a:gd name="T30" fmla="*/ 128 w 128"/>
                    <a:gd name="T31" fmla="*/ 134 h 155"/>
                    <a:gd name="T32" fmla="*/ 127 w 128"/>
                    <a:gd name="T33" fmla="*/ 51 h 155"/>
                    <a:gd name="T34" fmla="*/ 78 w 128"/>
                    <a:gd name="T35" fmla="*/ 38 h 155"/>
                    <a:gd name="T36" fmla="*/ 112 w 128"/>
                    <a:gd name="T37" fmla="*/ 50 h 155"/>
                    <a:gd name="T38" fmla="*/ 55 w 128"/>
                    <a:gd name="T39" fmla="*/ 54 h 155"/>
                    <a:gd name="T40" fmla="*/ 28 w 128"/>
                    <a:gd name="T41" fmla="*/ 50 h 155"/>
                    <a:gd name="T42" fmla="*/ 28 w 128"/>
                    <a:gd name="T43" fmla="*/ 58 h 155"/>
                    <a:gd name="T44" fmla="*/ 55 w 128"/>
                    <a:gd name="T45" fmla="*/ 54 h 155"/>
                    <a:gd name="T46" fmla="*/ 51 w 128"/>
                    <a:gd name="T47" fmla="*/ 42 h 155"/>
                    <a:gd name="T48" fmla="*/ 51 w 128"/>
                    <a:gd name="T49" fmla="*/ 34 h 155"/>
                    <a:gd name="T50" fmla="*/ 24 w 128"/>
                    <a:gd name="T51" fmla="*/ 38 h 155"/>
                    <a:gd name="T52" fmla="*/ 100 w 128"/>
                    <a:gd name="T53" fmla="*/ 121 h 155"/>
                    <a:gd name="T54" fmla="*/ 62 w 128"/>
                    <a:gd name="T55" fmla="*/ 125 h 155"/>
                    <a:gd name="T56" fmla="*/ 100 w 128"/>
                    <a:gd name="T57" fmla="*/ 129 h 155"/>
                    <a:gd name="T58" fmla="*/ 100 w 128"/>
                    <a:gd name="T59" fmla="*/ 121 h 155"/>
                    <a:gd name="T60" fmla="*/ 100 w 128"/>
                    <a:gd name="T61" fmla="*/ 96 h 155"/>
                    <a:gd name="T62" fmla="*/ 100 w 128"/>
                    <a:gd name="T63" fmla="*/ 88 h 155"/>
                    <a:gd name="T64" fmla="*/ 62 w 128"/>
                    <a:gd name="T65" fmla="*/ 92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8" h="155">
                      <a:moveTo>
                        <a:pt x="66" y="113"/>
                      </a:moveTo>
                      <a:cubicBezTo>
                        <a:pt x="100" y="113"/>
                        <a:pt x="100" y="113"/>
                        <a:pt x="100" y="113"/>
                      </a:cubicBezTo>
                      <a:cubicBezTo>
                        <a:pt x="102" y="113"/>
                        <a:pt x="104" y="111"/>
                        <a:pt x="104" y="109"/>
                      </a:cubicBezTo>
                      <a:cubicBezTo>
                        <a:pt x="104" y="107"/>
                        <a:pt x="102" y="105"/>
                        <a:pt x="100" y="105"/>
                      </a:cubicBezTo>
                      <a:cubicBezTo>
                        <a:pt x="66" y="105"/>
                        <a:pt x="66" y="105"/>
                        <a:pt x="66" y="105"/>
                      </a:cubicBezTo>
                      <a:cubicBezTo>
                        <a:pt x="63" y="105"/>
                        <a:pt x="62" y="107"/>
                        <a:pt x="62" y="109"/>
                      </a:cubicBezTo>
                      <a:cubicBezTo>
                        <a:pt x="62" y="111"/>
                        <a:pt x="63" y="113"/>
                        <a:pt x="66" y="113"/>
                      </a:cubicBezTo>
                      <a:close/>
                      <a:moveTo>
                        <a:pt x="127" y="51"/>
                      </a:moveTo>
                      <a:cubicBezTo>
                        <a:pt x="78" y="2"/>
                        <a:pt x="78" y="2"/>
                        <a:pt x="78" y="2"/>
                      </a:cubicBezTo>
                      <a:cubicBezTo>
                        <a:pt x="77" y="1"/>
                        <a:pt x="76" y="0"/>
                        <a:pt x="74" y="0"/>
                      </a:cubicBezTo>
                      <a:cubicBezTo>
                        <a:pt x="21" y="0"/>
                        <a:pt x="21" y="0"/>
                        <a:pt x="21" y="0"/>
                      </a:cubicBezTo>
                      <a:cubicBezTo>
                        <a:pt x="9" y="0"/>
                        <a:pt x="0" y="10"/>
                        <a:pt x="0" y="22"/>
                      </a:cubicBezTo>
                      <a:cubicBezTo>
                        <a:pt x="0" y="73"/>
                        <a:pt x="0" y="73"/>
                        <a:pt x="0" y="73"/>
                      </a:cubicBezTo>
                      <a:cubicBezTo>
                        <a:pt x="3" y="70"/>
                        <a:pt x="3" y="70"/>
                        <a:pt x="3" y="70"/>
                      </a:cubicBezTo>
                      <a:cubicBezTo>
                        <a:pt x="4" y="70"/>
                        <a:pt x="4" y="70"/>
                        <a:pt x="4" y="70"/>
                      </a:cubicBezTo>
                      <a:cubicBezTo>
                        <a:pt x="4" y="69"/>
                        <a:pt x="4" y="69"/>
                        <a:pt x="4" y="69"/>
                      </a:cubicBezTo>
                      <a:cubicBezTo>
                        <a:pt x="6" y="68"/>
                        <a:pt x="8" y="67"/>
                        <a:pt x="10" y="67"/>
                      </a:cubicBezTo>
                      <a:cubicBezTo>
                        <a:pt x="10" y="22"/>
                        <a:pt x="10" y="22"/>
                        <a:pt x="10" y="22"/>
                      </a:cubicBezTo>
                      <a:cubicBezTo>
                        <a:pt x="10" y="15"/>
                        <a:pt x="15" y="10"/>
                        <a:pt x="21" y="10"/>
                      </a:cubicBezTo>
                      <a:cubicBezTo>
                        <a:pt x="68" y="10"/>
                        <a:pt x="68" y="10"/>
                        <a:pt x="68" y="10"/>
                      </a:cubicBezTo>
                      <a:cubicBezTo>
                        <a:pt x="68" y="38"/>
                        <a:pt x="68" y="38"/>
                        <a:pt x="68" y="38"/>
                      </a:cubicBezTo>
                      <a:cubicBezTo>
                        <a:pt x="68" y="50"/>
                        <a:pt x="78" y="59"/>
                        <a:pt x="90" y="59"/>
                      </a:cubicBezTo>
                      <a:cubicBezTo>
                        <a:pt x="118" y="59"/>
                        <a:pt x="118" y="59"/>
                        <a:pt x="118" y="59"/>
                      </a:cubicBezTo>
                      <a:cubicBezTo>
                        <a:pt x="118" y="134"/>
                        <a:pt x="118" y="134"/>
                        <a:pt x="118" y="134"/>
                      </a:cubicBezTo>
                      <a:cubicBezTo>
                        <a:pt x="118" y="140"/>
                        <a:pt x="113" y="145"/>
                        <a:pt x="107" y="145"/>
                      </a:cubicBezTo>
                      <a:cubicBezTo>
                        <a:pt x="45" y="145"/>
                        <a:pt x="45" y="145"/>
                        <a:pt x="45" y="145"/>
                      </a:cubicBezTo>
                      <a:cubicBezTo>
                        <a:pt x="45" y="151"/>
                        <a:pt x="45" y="151"/>
                        <a:pt x="45" y="151"/>
                      </a:cubicBezTo>
                      <a:cubicBezTo>
                        <a:pt x="45" y="153"/>
                        <a:pt x="44" y="154"/>
                        <a:pt x="44" y="155"/>
                      </a:cubicBezTo>
                      <a:cubicBezTo>
                        <a:pt x="64" y="155"/>
                        <a:pt x="92" y="155"/>
                        <a:pt x="92" y="155"/>
                      </a:cubicBezTo>
                      <a:cubicBezTo>
                        <a:pt x="92" y="155"/>
                        <a:pt x="92" y="155"/>
                        <a:pt x="92" y="155"/>
                      </a:cubicBezTo>
                      <a:cubicBezTo>
                        <a:pt x="107" y="155"/>
                        <a:pt x="107" y="155"/>
                        <a:pt x="107" y="155"/>
                      </a:cubicBezTo>
                      <a:cubicBezTo>
                        <a:pt x="118" y="155"/>
                        <a:pt x="128" y="145"/>
                        <a:pt x="128" y="134"/>
                      </a:cubicBezTo>
                      <a:cubicBezTo>
                        <a:pt x="128" y="54"/>
                        <a:pt x="128" y="54"/>
                        <a:pt x="128" y="54"/>
                      </a:cubicBezTo>
                      <a:cubicBezTo>
                        <a:pt x="128" y="53"/>
                        <a:pt x="128" y="51"/>
                        <a:pt x="127" y="51"/>
                      </a:cubicBezTo>
                      <a:close/>
                      <a:moveTo>
                        <a:pt x="90" y="50"/>
                      </a:moveTo>
                      <a:cubicBezTo>
                        <a:pt x="83" y="50"/>
                        <a:pt x="78" y="44"/>
                        <a:pt x="78" y="38"/>
                      </a:cubicBezTo>
                      <a:cubicBezTo>
                        <a:pt x="78" y="16"/>
                        <a:pt x="78" y="16"/>
                        <a:pt x="78" y="16"/>
                      </a:cubicBezTo>
                      <a:cubicBezTo>
                        <a:pt x="112" y="50"/>
                        <a:pt x="112" y="50"/>
                        <a:pt x="112" y="50"/>
                      </a:cubicBezTo>
                      <a:lnTo>
                        <a:pt x="90" y="50"/>
                      </a:lnTo>
                      <a:close/>
                      <a:moveTo>
                        <a:pt x="55" y="54"/>
                      </a:moveTo>
                      <a:cubicBezTo>
                        <a:pt x="55" y="52"/>
                        <a:pt x="54" y="50"/>
                        <a:pt x="51" y="50"/>
                      </a:cubicBezTo>
                      <a:cubicBezTo>
                        <a:pt x="28" y="50"/>
                        <a:pt x="28" y="50"/>
                        <a:pt x="28" y="50"/>
                      </a:cubicBezTo>
                      <a:cubicBezTo>
                        <a:pt x="26" y="50"/>
                        <a:pt x="24" y="52"/>
                        <a:pt x="24" y="54"/>
                      </a:cubicBezTo>
                      <a:cubicBezTo>
                        <a:pt x="24" y="56"/>
                        <a:pt x="26" y="58"/>
                        <a:pt x="28" y="58"/>
                      </a:cubicBezTo>
                      <a:cubicBezTo>
                        <a:pt x="51" y="58"/>
                        <a:pt x="51" y="58"/>
                        <a:pt x="51" y="58"/>
                      </a:cubicBezTo>
                      <a:cubicBezTo>
                        <a:pt x="54" y="58"/>
                        <a:pt x="55" y="56"/>
                        <a:pt x="55" y="54"/>
                      </a:cubicBezTo>
                      <a:close/>
                      <a:moveTo>
                        <a:pt x="28" y="42"/>
                      </a:moveTo>
                      <a:cubicBezTo>
                        <a:pt x="51" y="42"/>
                        <a:pt x="51" y="42"/>
                        <a:pt x="51" y="42"/>
                      </a:cubicBezTo>
                      <a:cubicBezTo>
                        <a:pt x="54" y="42"/>
                        <a:pt x="55" y="40"/>
                        <a:pt x="55" y="38"/>
                      </a:cubicBezTo>
                      <a:cubicBezTo>
                        <a:pt x="55" y="36"/>
                        <a:pt x="54" y="34"/>
                        <a:pt x="51" y="34"/>
                      </a:cubicBezTo>
                      <a:cubicBezTo>
                        <a:pt x="28" y="34"/>
                        <a:pt x="28" y="34"/>
                        <a:pt x="28" y="34"/>
                      </a:cubicBezTo>
                      <a:cubicBezTo>
                        <a:pt x="26" y="34"/>
                        <a:pt x="24" y="36"/>
                        <a:pt x="24" y="38"/>
                      </a:cubicBezTo>
                      <a:cubicBezTo>
                        <a:pt x="24" y="40"/>
                        <a:pt x="26" y="42"/>
                        <a:pt x="28" y="42"/>
                      </a:cubicBezTo>
                      <a:close/>
                      <a:moveTo>
                        <a:pt x="100" y="121"/>
                      </a:moveTo>
                      <a:cubicBezTo>
                        <a:pt x="66" y="121"/>
                        <a:pt x="66" y="121"/>
                        <a:pt x="66" y="121"/>
                      </a:cubicBezTo>
                      <a:cubicBezTo>
                        <a:pt x="64" y="121"/>
                        <a:pt x="62" y="123"/>
                        <a:pt x="62" y="125"/>
                      </a:cubicBezTo>
                      <a:cubicBezTo>
                        <a:pt x="62" y="127"/>
                        <a:pt x="64" y="129"/>
                        <a:pt x="66" y="129"/>
                      </a:cubicBezTo>
                      <a:cubicBezTo>
                        <a:pt x="100" y="129"/>
                        <a:pt x="100" y="129"/>
                        <a:pt x="100" y="129"/>
                      </a:cubicBezTo>
                      <a:cubicBezTo>
                        <a:pt x="102" y="129"/>
                        <a:pt x="104" y="127"/>
                        <a:pt x="104" y="125"/>
                      </a:cubicBezTo>
                      <a:cubicBezTo>
                        <a:pt x="104" y="123"/>
                        <a:pt x="102" y="121"/>
                        <a:pt x="100" y="121"/>
                      </a:cubicBezTo>
                      <a:close/>
                      <a:moveTo>
                        <a:pt x="66" y="96"/>
                      </a:moveTo>
                      <a:cubicBezTo>
                        <a:pt x="100" y="96"/>
                        <a:pt x="100" y="96"/>
                        <a:pt x="100" y="96"/>
                      </a:cubicBezTo>
                      <a:cubicBezTo>
                        <a:pt x="102" y="96"/>
                        <a:pt x="104" y="95"/>
                        <a:pt x="104" y="92"/>
                      </a:cubicBezTo>
                      <a:cubicBezTo>
                        <a:pt x="104" y="90"/>
                        <a:pt x="102" y="88"/>
                        <a:pt x="100" y="88"/>
                      </a:cubicBezTo>
                      <a:cubicBezTo>
                        <a:pt x="66" y="88"/>
                        <a:pt x="66" y="88"/>
                        <a:pt x="66" y="88"/>
                      </a:cubicBezTo>
                      <a:cubicBezTo>
                        <a:pt x="63" y="88"/>
                        <a:pt x="62" y="90"/>
                        <a:pt x="62" y="92"/>
                      </a:cubicBezTo>
                      <a:cubicBezTo>
                        <a:pt x="62" y="95"/>
                        <a:pt x="63" y="96"/>
                        <a:pt x="66" y="9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思源宋体 CN" panose="02020400000000000000" pitchFamily="18" charset="-122"/>
                  </a:endParaRPr>
                </a:p>
              </p:txBody>
            </p:sp>
            <p:sp>
              <p:nvSpPr>
                <p:cNvPr id="78" name="Freeform 37">
                  <a:extLst>
                    <a:ext uri="{FF2B5EF4-FFF2-40B4-BE49-F238E27FC236}">
                      <a16:creationId xmlns:a16="http://schemas.microsoft.com/office/drawing/2014/main" id="{CC399A3F-3373-49F9-82A2-B5691E918C9C}"/>
                    </a:ext>
                  </a:extLst>
                </p:cNvPr>
                <p:cNvSpPr/>
                <p:nvPr/>
              </p:nvSpPr>
              <p:spPr bwMode="auto">
                <a:xfrm>
                  <a:off x="3530192" y="2821078"/>
                  <a:ext cx="323850" cy="304800"/>
                </a:xfrm>
                <a:custGeom>
                  <a:avLst/>
                  <a:gdLst>
                    <a:gd name="T0" fmla="*/ 0 w 86"/>
                    <a:gd name="T1" fmla="*/ 41 h 81"/>
                    <a:gd name="T2" fmla="*/ 4 w 86"/>
                    <a:gd name="T3" fmla="*/ 45 h 81"/>
                    <a:gd name="T4" fmla="*/ 18 w 86"/>
                    <a:gd name="T5" fmla="*/ 45 h 81"/>
                    <a:gd name="T6" fmla="*/ 18 w 86"/>
                    <a:gd name="T7" fmla="*/ 77 h 81"/>
                    <a:gd name="T8" fmla="*/ 22 w 86"/>
                    <a:gd name="T9" fmla="*/ 81 h 81"/>
                    <a:gd name="T10" fmla="*/ 64 w 86"/>
                    <a:gd name="T11" fmla="*/ 81 h 81"/>
                    <a:gd name="T12" fmla="*/ 68 w 86"/>
                    <a:gd name="T13" fmla="*/ 77 h 81"/>
                    <a:gd name="T14" fmla="*/ 68 w 86"/>
                    <a:gd name="T15" fmla="*/ 45 h 81"/>
                    <a:gd name="T16" fmla="*/ 82 w 86"/>
                    <a:gd name="T17" fmla="*/ 45 h 81"/>
                    <a:gd name="T18" fmla="*/ 86 w 86"/>
                    <a:gd name="T19" fmla="*/ 41 h 81"/>
                    <a:gd name="T20" fmla="*/ 85 w 86"/>
                    <a:gd name="T21" fmla="*/ 38 h 81"/>
                    <a:gd name="T22" fmla="*/ 85 w 86"/>
                    <a:gd name="T23" fmla="*/ 38 h 81"/>
                    <a:gd name="T24" fmla="*/ 46 w 86"/>
                    <a:gd name="T25" fmla="*/ 1 h 81"/>
                    <a:gd name="T26" fmla="*/ 43 w 86"/>
                    <a:gd name="T27" fmla="*/ 0 h 81"/>
                    <a:gd name="T28" fmla="*/ 40 w 86"/>
                    <a:gd name="T29" fmla="*/ 1 h 81"/>
                    <a:gd name="T30" fmla="*/ 40 w 86"/>
                    <a:gd name="T31" fmla="*/ 1 h 81"/>
                    <a:gd name="T32" fmla="*/ 1 w 86"/>
                    <a:gd name="T33" fmla="*/ 38 h 81"/>
                    <a:gd name="T34" fmla="*/ 1 w 86"/>
                    <a:gd name="T35" fmla="*/ 38 h 81"/>
                    <a:gd name="T36" fmla="*/ 1 w 86"/>
                    <a:gd name="T37" fmla="*/ 38 h 81"/>
                    <a:gd name="T38" fmla="*/ 1 w 86"/>
                    <a:gd name="T39" fmla="*/ 39 h 81"/>
                    <a:gd name="T40" fmla="*/ 0 w 86"/>
                    <a:gd name="T41" fmla="*/ 4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6" h="81">
                      <a:moveTo>
                        <a:pt x="0" y="41"/>
                      </a:moveTo>
                      <a:cubicBezTo>
                        <a:pt x="0" y="43"/>
                        <a:pt x="2" y="45"/>
                        <a:pt x="4" y="45"/>
                      </a:cubicBezTo>
                      <a:cubicBezTo>
                        <a:pt x="18" y="45"/>
                        <a:pt x="18" y="45"/>
                        <a:pt x="18" y="45"/>
                      </a:cubicBezTo>
                      <a:cubicBezTo>
                        <a:pt x="18" y="77"/>
                        <a:pt x="18" y="77"/>
                        <a:pt x="18" y="77"/>
                      </a:cubicBezTo>
                      <a:cubicBezTo>
                        <a:pt x="18" y="79"/>
                        <a:pt x="20" y="81"/>
                        <a:pt x="22" y="81"/>
                      </a:cubicBezTo>
                      <a:cubicBezTo>
                        <a:pt x="64" y="81"/>
                        <a:pt x="64" y="81"/>
                        <a:pt x="64" y="81"/>
                      </a:cubicBezTo>
                      <a:cubicBezTo>
                        <a:pt x="66" y="81"/>
                        <a:pt x="68" y="79"/>
                        <a:pt x="68" y="77"/>
                      </a:cubicBezTo>
                      <a:cubicBezTo>
                        <a:pt x="68" y="45"/>
                        <a:pt x="68" y="45"/>
                        <a:pt x="68" y="45"/>
                      </a:cubicBezTo>
                      <a:cubicBezTo>
                        <a:pt x="82" y="45"/>
                        <a:pt x="82" y="45"/>
                        <a:pt x="82" y="45"/>
                      </a:cubicBezTo>
                      <a:cubicBezTo>
                        <a:pt x="84" y="45"/>
                        <a:pt x="86" y="43"/>
                        <a:pt x="86" y="41"/>
                      </a:cubicBezTo>
                      <a:cubicBezTo>
                        <a:pt x="86" y="40"/>
                        <a:pt x="86" y="39"/>
                        <a:pt x="85" y="38"/>
                      </a:cubicBezTo>
                      <a:cubicBezTo>
                        <a:pt x="85" y="38"/>
                        <a:pt x="85" y="38"/>
                        <a:pt x="85" y="38"/>
                      </a:cubicBezTo>
                      <a:cubicBezTo>
                        <a:pt x="46" y="1"/>
                        <a:pt x="46" y="1"/>
                        <a:pt x="46" y="1"/>
                      </a:cubicBezTo>
                      <a:cubicBezTo>
                        <a:pt x="46" y="1"/>
                        <a:pt x="44" y="0"/>
                        <a:pt x="43" y="0"/>
                      </a:cubicBezTo>
                      <a:cubicBezTo>
                        <a:pt x="42" y="0"/>
                        <a:pt x="41" y="1"/>
                        <a:pt x="40" y="1"/>
                      </a:cubicBezTo>
                      <a:cubicBezTo>
                        <a:pt x="40" y="1"/>
                        <a:pt x="40" y="1"/>
                        <a:pt x="40" y="1"/>
                      </a:cubicBezTo>
                      <a:cubicBezTo>
                        <a:pt x="1" y="38"/>
                        <a:pt x="1" y="38"/>
                        <a:pt x="1" y="38"/>
                      </a:cubicBezTo>
                      <a:cubicBezTo>
                        <a:pt x="1" y="38"/>
                        <a:pt x="1" y="38"/>
                        <a:pt x="1" y="38"/>
                      </a:cubicBezTo>
                      <a:cubicBezTo>
                        <a:pt x="1" y="38"/>
                        <a:pt x="1" y="38"/>
                        <a:pt x="1" y="38"/>
                      </a:cubicBezTo>
                      <a:cubicBezTo>
                        <a:pt x="1" y="39"/>
                        <a:pt x="1" y="39"/>
                        <a:pt x="1" y="39"/>
                      </a:cubicBezTo>
                      <a:cubicBezTo>
                        <a:pt x="0" y="39"/>
                        <a:pt x="0" y="40"/>
                        <a:pt x="0"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思源宋体 CN" panose="02020400000000000000" pitchFamily="18" charset="-122"/>
                  </a:endParaRPr>
                </a:p>
              </p:txBody>
            </p:sp>
          </p:grpSp>
        </p:grpSp>
        <p:grpSp>
          <p:nvGrpSpPr>
            <p:cNvPr id="52" name="组合 51">
              <a:extLst>
                <a:ext uri="{FF2B5EF4-FFF2-40B4-BE49-F238E27FC236}">
                  <a16:creationId xmlns:a16="http://schemas.microsoft.com/office/drawing/2014/main" id="{09CF4684-9CD5-45F9-933D-627BBDE90677}"/>
                </a:ext>
              </a:extLst>
            </p:cNvPr>
            <p:cNvGrpSpPr/>
            <p:nvPr/>
          </p:nvGrpSpPr>
          <p:grpSpPr>
            <a:xfrm>
              <a:off x="5132904" y="2300142"/>
              <a:ext cx="1822263" cy="1797511"/>
              <a:chOff x="5132904" y="2300142"/>
              <a:chExt cx="1822263" cy="1797511"/>
            </a:xfrm>
          </p:grpSpPr>
          <p:sp>
            <p:nvSpPr>
              <p:cNvPr id="69" name="Freeform 6">
                <a:extLst>
                  <a:ext uri="{FF2B5EF4-FFF2-40B4-BE49-F238E27FC236}">
                    <a16:creationId xmlns:a16="http://schemas.microsoft.com/office/drawing/2014/main" id="{41A35C69-E270-4FD3-9140-82B9A3D0C277}"/>
                  </a:ext>
                </a:extLst>
              </p:cNvPr>
              <p:cNvSpPr/>
              <p:nvPr/>
            </p:nvSpPr>
            <p:spPr bwMode="auto">
              <a:xfrm>
                <a:off x="5132904" y="2300142"/>
                <a:ext cx="1822263" cy="1797511"/>
              </a:xfrm>
              <a:custGeom>
                <a:avLst/>
                <a:gdLst>
                  <a:gd name="T0" fmla="*/ 24 w 822"/>
                  <a:gd name="T1" fmla="*/ 527 h 812"/>
                  <a:gd name="T2" fmla="*/ 10 w 822"/>
                  <a:gd name="T3" fmla="*/ 453 h 812"/>
                  <a:gd name="T4" fmla="*/ 47 w 822"/>
                  <a:gd name="T5" fmla="*/ 192 h 812"/>
                  <a:gd name="T6" fmla="*/ 238 w 822"/>
                  <a:gd name="T7" fmla="*/ 95 h 812"/>
                  <a:gd name="T8" fmla="*/ 340 w 822"/>
                  <a:gd name="T9" fmla="*/ 136 h 812"/>
                  <a:gd name="T10" fmla="*/ 365 w 822"/>
                  <a:gd name="T11" fmla="*/ 148 h 812"/>
                  <a:gd name="T12" fmla="*/ 549 w 822"/>
                  <a:gd name="T13" fmla="*/ 5 h 812"/>
                  <a:gd name="T14" fmla="*/ 700 w 822"/>
                  <a:gd name="T15" fmla="*/ 122 h 812"/>
                  <a:gd name="T16" fmla="*/ 610 w 822"/>
                  <a:gd name="T17" fmla="*/ 325 h 812"/>
                  <a:gd name="T18" fmla="*/ 634 w 822"/>
                  <a:gd name="T19" fmla="*/ 341 h 812"/>
                  <a:gd name="T20" fmla="*/ 763 w 822"/>
                  <a:gd name="T21" fmla="*/ 496 h 812"/>
                  <a:gd name="T22" fmla="*/ 808 w 822"/>
                  <a:gd name="T23" fmla="*/ 710 h 812"/>
                  <a:gd name="T24" fmla="*/ 695 w 822"/>
                  <a:gd name="T25" fmla="*/ 806 h 812"/>
                  <a:gd name="T26" fmla="*/ 549 w 822"/>
                  <a:gd name="T27" fmla="*/ 792 h 812"/>
                  <a:gd name="T28" fmla="*/ 542 w 822"/>
                  <a:gd name="T29" fmla="*/ 789 h 812"/>
                  <a:gd name="T30" fmla="*/ 597 w 822"/>
                  <a:gd name="T31" fmla="*/ 762 h 812"/>
                  <a:gd name="T32" fmla="*/ 653 w 822"/>
                  <a:gd name="T33" fmla="*/ 656 h 812"/>
                  <a:gd name="T34" fmla="*/ 568 w 822"/>
                  <a:gd name="T35" fmla="*/ 465 h 812"/>
                  <a:gd name="T36" fmla="*/ 321 w 822"/>
                  <a:gd name="T37" fmla="*/ 338 h 812"/>
                  <a:gd name="T38" fmla="*/ 224 w 822"/>
                  <a:gd name="T39" fmla="*/ 322 h 812"/>
                  <a:gd name="T40" fmla="*/ 71 w 822"/>
                  <a:gd name="T41" fmla="*/ 409 h 812"/>
                  <a:gd name="T42" fmla="*/ 33 w 822"/>
                  <a:gd name="T43" fmla="*/ 507 h 812"/>
                  <a:gd name="T44" fmla="*/ 29 w 822"/>
                  <a:gd name="T45" fmla="*/ 526 h 812"/>
                  <a:gd name="T46" fmla="*/ 24 w 822"/>
                  <a:gd name="T47" fmla="*/ 527 h 8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22" h="812">
                    <a:moveTo>
                      <a:pt x="24" y="527"/>
                    </a:moveTo>
                    <a:cubicBezTo>
                      <a:pt x="19" y="502"/>
                      <a:pt x="12" y="478"/>
                      <a:pt x="10" y="453"/>
                    </a:cubicBezTo>
                    <a:cubicBezTo>
                      <a:pt x="0" y="363"/>
                      <a:pt x="16" y="276"/>
                      <a:pt x="47" y="192"/>
                    </a:cubicBezTo>
                    <a:cubicBezTo>
                      <a:pt x="79" y="107"/>
                      <a:pt x="150" y="71"/>
                      <a:pt x="238" y="95"/>
                    </a:cubicBezTo>
                    <a:cubicBezTo>
                      <a:pt x="273" y="105"/>
                      <a:pt x="306" y="122"/>
                      <a:pt x="340" y="136"/>
                    </a:cubicBezTo>
                    <a:cubicBezTo>
                      <a:pt x="348" y="139"/>
                      <a:pt x="355" y="143"/>
                      <a:pt x="365" y="148"/>
                    </a:cubicBezTo>
                    <a:cubicBezTo>
                      <a:pt x="391" y="53"/>
                      <a:pt x="450" y="0"/>
                      <a:pt x="549" y="5"/>
                    </a:cubicBezTo>
                    <a:cubicBezTo>
                      <a:pt x="624" y="9"/>
                      <a:pt x="678" y="49"/>
                      <a:pt x="700" y="122"/>
                    </a:cubicBezTo>
                    <a:cubicBezTo>
                      <a:pt x="726" y="208"/>
                      <a:pt x="691" y="274"/>
                      <a:pt x="610" y="325"/>
                    </a:cubicBezTo>
                    <a:cubicBezTo>
                      <a:pt x="620" y="332"/>
                      <a:pt x="628" y="335"/>
                      <a:pt x="634" y="341"/>
                    </a:cubicBezTo>
                    <a:cubicBezTo>
                      <a:pt x="684" y="387"/>
                      <a:pt x="729" y="437"/>
                      <a:pt x="763" y="496"/>
                    </a:cubicBezTo>
                    <a:cubicBezTo>
                      <a:pt x="801" y="562"/>
                      <a:pt x="822" y="633"/>
                      <a:pt x="808" y="710"/>
                    </a:cubicBezTo>
                    <a:cubicBezTo>
                      <a:pt x="797" y="772"/>
                      <a:pt x="759" y="798"/>
                      <a:pt x="695" y="806"/>
                    </a:cubicBezTo>
                    <a:cubicBezTo>
                      <a:pt x="645" y="812"/>
                      <a:pt x="597" y="804"/>
                      <a:pt x="549" y="792"/>
                    </a:cubicBezTo>
                    <a:cubicBezTo>
                      <a:pt x="546" y="792"/>
                      <a:pt x="544" y="790"/>
                      <a:pt x="542" y="789"/>
                    </a:cubicBezTo>
                    <a:cubicBezTo>
                      <a:pt x="561" y="780"/>
                      <a:pt x="580" y="773"/>
                      <a:pt x="597" y="762"/>
                    </a:cubicBezTo>
                    <a:cubicBezTo>
                      <a:pt x="633" y="736"/>
                      <a:pt x="649" y="699"/>
                      <a:pt x="653" y="656"/>
                    </a:cubicBezTo>
                    <a:cubicBezTo>
                      <a:pt x="660" y="576"/>
                      <a:pt x="625" y="515"/>
                      <a:pt x="568" y="465"/>
                    </a:cubicBezTo>
                    <a:cubicBezTo>
                      <a:pt x="496" y="402"/>
                      <a:pt x="411" y="363"/>
                      <a:pt x="321" y="338"/>
                    </a:cubicBezTo>
                    <a:cubicBezTo>
                      <a:pt x="289" y="330"/>
                      <a:pt x="257" y="324"/>
                      <a:pt x="224" y="322"/>
                    </a:cubicBezTo>
                    <a:cubicBezTo>
                      <a:pt x="157" y="320"/>
                      <a:pt x="104" y="351"/>
                      <a:pt x="71" y="409"/>
                    </a:cubicBezTo>
                    <a:cubicBezTo>
                      <a:pt x="53" y="439"/>
                      <a:pt x="45" y="474"/>
                      <a:pt x="33" y="507"/>
                    </a:cubicBezTo>
                    <a:cubicBezTo>
                      <a:pt x="31" y="513"/>
                      <a:pt x="30" y="520"/>
                      <a:pt x="29" y="526"/>
                    </a:cubicBezTo>
                    <a:cubicBezTo>
                      <a:pt x="27" y="526"/>
                      <a:pt x="25" y="527"/>
                      <a:pt x="24" y="527"/>
                    </a:cubicBezTo>
                    <a:close/>
                  </a:path>
                </a:pathLst>
              </a:custGeom>
              <a:solidFill>
                <a:srgbClr val="AF1E2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lt1"/>
                  </a:solidFill>
                  <a:latin typeface="思源宋体 CN" panose="02020400000000000000" pitchFamily="18" charset="-122"/>
                </a:endParaRPr>
              </a:p>
            </p:txBody>
          </p:sp>
          <p:grpSp>
            <p:nvGrpSpPr>
              <p:cNvPr id="70" name="组合 69">
                <a:extLst>
                  <a:ext uri="{FF2B5EF4-FFF2-40B4-BE49-F238E27FC236}">
                    <a16:creationId xmlns:a16="http://schemas.microsoft.com/office/drawing/2014/main" id="{F7AE6794-DBBE-4BB6-A2DE-E5427F213FA0}"/>
                  </a:ext>
                </a:extLst>
              </p:cNvPr>
              <p:cNvGrpSpPr>
                <a:grpSpLocks noChangeAspect="1"/>
              </p:cNvGrpSpPr>
              <p:nvPr/>
            </p:nvGrpSpPr>
            <p:grpSpPr>
              <a:xfrm>
                <a:off x="6177229" y="2512499"/>
                <a:ext cx="300705" cy="295469"/>
                <a:chOff x="3488917" y="4964203"/>
                <a:chExt cx="638175" cy="627063"/>
              </a:xfrm>
              <a:solidFill>
                <a:schemeClr val="bg1"/>
              </a:solidFill>
            </p:grpSpPr>
            <p:sp>
              <p:nvSpPr>
                <p:cNvPr id="71" name="Freeform 66">
                  <a:extLst>
                    <a:ext uri="{FF2B5EF4-FFF2-40B4-BE49-F238E27FC236}">
                      <a16:creationId xmlns:a16="http://schemas.microsoft.com/office/drawing/2014/main" id="{16FFC128-34D8-4380-8509-1BB0B6321B36}"/>
                    </a:ext>
                  </a:extLst>
                </p:cNvPr>
                <p:cNvSpPr/>
                <p:nvPr/>
              </p:nvSpPr>
              <p:spPr bwMode="auto">
                <a:xfrm>
                  <a:off x="3544480" y="5327741"/>
                  <a:ext cx="249238" cy="249238"/>
                </a:xfrm>
                <a:custGeom>
                  <a:avLst/>
                  <a:gdLst>
                    <a:gd name="T0" fmla="*/ 83 w 157"/>
                    <a:gd name="T1" fmla="*/ 50 h 157"/>
                    <a:gd name="T2" fmla="*/ 55 w 157"/>
                    <a:gd name="T3" fmla="*/ 55 h 157"/>
                    <a:gd name="T4" fmla="*/ 0 w 157"/>
                    <a:gd name="T5" fmla="*/ 135 h 157"/>
                    <a:gd name="T6" fmla="*/ 22 w 157"/>
                    <a:gd name="T7" fmla="*/ 157 h 157"/>
                    <a:gd name="T8" fmla="*/ 102 w 157"/>
                    <a:gd name="T9" fmla="*/ 102 h 157"/>
                    <a:gd name="T10" fmla="*/ 107 w 157"/>
                    <a:gd name="T11" fmla="*/ 74 h 157"/>
                    <a:gd name="T12" fmla="*/ 157 w 157"/>
                    <a:gd name="T13" fmla="*/ 24 h 157"/>
                    <a:gd name="T14" fmla="*/ 133 w 157"/>
                    <a:gd name="T15" fmla="*/ 0 h 157"/>
                    <a:gd name="T16" fmla="*/ 83 w 157"/>
                    <a:gd name="T17" fmla="*/ 5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157">
                      <a:moveTo>
                        <a:pt x="83" y="50"/>
                      </a:moveTo>
                      <a:lnTo>
                        <a:pt x="55" y="55"/>
                      </a:lnTo>
                      <a:lnTo>
                        <a:pt x="0" y="135"/>
                      </a:lnTo>
                      <a:lnTo>
                        <a:pt x="22" y="157"/>
                      </a:lnTo>
                      <a:lnTo>
                        <a:pt x="102" y="102"/>
                      </a:lnTo>
                      <a:lnTo>
                        <a:pt x="107" y="74"/>
                      </a:lnTo>
                      <a:lnTo>
                        <a:pt x="157" y="24"/>
                      </a:lnTo>
                      <a:lnTo>
                        <a:pt x="133" y="0"/>
                      </a:lnTo>
                      <a:lnTo>
                        <a:pt x="83" y="5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lt1"/>
                    </a:solidFill>
                    <a:latin typeface="思源宋体 CN" panose="02020400000000000000" pitchFamily="18" charset="-122"/>
                  </a:endParaRPr>
                </a:p>
              </p:txBody>
            </p:sp>
            <p:sp>
              <p:nvSpPr>
                <p:cNvPr id="72" name="Freeform 67">
                  <a:extLst>
                    <a:ext uri="{FF2B5EF4-FFF2-40B4-BE49-F238E27FC236}">
                      <a16:creationId xmlns:a16="http://schemas.microsoft.com/office/drawing/2014/main" id="{3E37FCE7-06BB-4FAE-B6E3-09BC3BEC3496}"/>
                    </a:ext>
                  </a:extLst>
                </p:cNvPr>
                <p:cNvSpPr>
                  <a:spLocks noEditPoints="1"/>
                </p:cNvSpPr>
                <p:nvPr/>
              </p:nvSpPr>
              <p:spPr bwMode="auto">
                <a:xfrm>
                  <a:off x="3739742" y="5000716"/>
                  <a:ext cx="387350" cy="387350"/>
                </a:xfrm>
                <a:custGeom>
                  <a:avLst/>
                  <a:gdLst>
                    <a:gd name="T0" fmla="*/ 94 w 103"/>
                    <a:gd name="T1" fmla="*/ 9 h 103"/>
                    <a:gd name="T2" fmla="*/ 63 w 103"/>
                    <a:gd name="T3" fmla="*/ 9 h 103"/>
                    <a:gd name="T4" fmla="*/ 0 w 103"/>
                    <a:gd name="T5" fmla="*/ 71 h 103"/>
                    <a:gd name="T6" fmla="*/ 31 w 103"/>
                    <a:gd name="T7" fmla="*/ 103 h 103"/>
                    <a:gd name="T8" fmla="*/ 94 w 103"/>
                    <a:gd name="T9" fmla="*/ 40 h 103"/>
                    <a:gd name="T10" fmla="*/ 94 w 103"/>
                    <a:gd name="T11" fmla="*/ 9 h 103"/>
                    <a:gd name="T12" fmla="*/ 27 w 103"/>
                    <a:gd name="T13" fmla="*/ 69 h 103"/>
                    <a:gd name="T14" fmla="*/ 21 w 103"/>
                    <a:gd name="T15" fmla="*/ 69 h 103"/>
                    <a:gd name="T16" fmla="*/ 21 w 103"/>
                    <a:gd name="T17" fmla="*/ 64 h 103"/>
                    <a:gd name="T18" fmla="*/ 70 w 103"/>
                    <a:gd name="T19" fmla="*/ 15 h 103"/>
                    <a:gd name="T20" fmla="*/ 76 w 103"/>
                    <a:gd name="T21" fmla="*/ 15 h 103"/>
                    <a:gd name="T22" fmla="*/ 76 w 103"/>
                    <a:gd name="T23" fmla="*/ 20 h 103"/>
                    <a:gd name="T24" fmla="*/ 27 w 103"/>
                    <a:gd name="T25" fmla="*/ 69 h 103"/>
                    <a:gd name="T26" fmla="*/ 88 w 103"/>
                    <a:gd name="T27" fmla="*/ 32 h 103"/>
                    <a:gd name="T28" fmla="*/ 39 w 103"/>
                    <a:gd name="T29" fmla="*/ 81 h 103"/>
                    <a:gd name="T30" fmla="*/ 33 w 103"/>
                    <a:gd name="T31" fmla="*/ 81 h 103"/>
                    <a:gd name="T32" fmla="*/ 33 w 103"/>
                    <a:gd name="T33" fmla="*/ 76 h 103"/>
                    <a:gd name="T34" fmla="*/ 82 w 103"/>
                    <a:gd name="T35" fmla="*/ 27 h 103"/>
                    <a:gd name="T36" fmla="*/ 88 w 103"/>
                    <a:gd name="T37" fmla="*/ 27 h 103"/>
                    <a:gd name="T38" fmla="*/ 88 w 103"/>
                    <a:gd name="T39" fmla="*/ 32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3" h="103">
                      <a:moveTo>
                        <a:pt x="94" y="9"/>
                      </a:moveTo>
                      <a:cubicBezTo>
                        <a:pt x="85" y="0"/>
                        <a:pt x="71" y="0"/>
                        <a:pt x="63" y="9"/>
                      </a:cubicBezTo>
                      <a:cubicBezTo>
                        <a:pt x="0" y="71"/>
                        <a:pt x="0" y="71"/>
                        <a:pt x="0" y="71"/>
                      </a:cubicBezTo>
                      <a:cubicBezTo>
                        <a:pt x="31" y="103"/>
                        <a:pt x="31" y="103"/>
                        <a:pt x="31" y="103"/>
                      </a:cubicBezTo>
                      <a:cubicBezTo>
                        <a:pt x="94" y="40"/>
                        <a:pt x="94" y="40"/>
                        <a:pt x="94" y="40"/>
                      </a:cubicBezTo>
                      <a:cubicBezTo>
                        <a:pt x="103" y="32"/>
                        <a:pt x="103" y="18"/>
                        <a:pt x="94" y="9"/>
                      </a:cubicBezTo>
                      <a:close/>
                      <a:moveTo>
                        <a:pt x="27" y="69"/>
                      </a:moveTo>
                      <a:cubicBezTo>
                        <a:pt x="26" y="71"/>
                        <a:pt x="23" y="71"/>
                        <a:pt x="21" y="69"/>
                      </a:cubicBezTo>
                      <a:cubicBezTo>
                        <a:pt x="20" y="68"/>
                        <a:pt x="20" y="65"/>
                        <a:pt x="21" y="64"/>
                      </a:cubicBezTo>
                      <a:cubicBezTo>
                        <a:pt x="70" y="15"/>
                        <a:pt x="70" y="15"/>
                        <a:pt x="70" y="15"/>
                      </a:cubicBezTo>
                      <a:cubicBezTo>
                        <a:pt x="72" y="13"/>
                        <a:pt x="75" y="13"/>
                        <a:pt x="76" y="15"/>
                      </a:cubicBezTo>
                      <a:cubicBezTo>
                        <a:pt x="78" y="16"/>
                        <a:pt x="78" y="19"/>
                        <a:pt x="76" y="20"/>
                      </a:cubicBezTo>
                      <a:lnTo>
                        <a:pt x="27" y="69"/>
                      </a:lnTo>
                      <a:close/>
                      <a:moveTo>
                        <a:pt x="88" y="32"/>
                      </a:moveTo>
                      <a:cubicBezTo>
                        <a:pt x="39" y="81"/>
                        <a:pt x="39" y="81"/>
                        <a:pt x="39" y="81"/>
                      </a:cubicBezTo>
                      <a:cubicBezTo>
                        <a:pt x="38" y="83"/>
                        <a:pt x="35" y="83"/>
                        <a:pt x="33" y="81"/>
                      </a:cubicBezTo>
                      <a:cubicBezTo>
                        <a:pt x="32" y="80"/>
                        <a:pt x="32" y="77"/>
                        <a:pt x="33" y="76"/>
                      </a:cubicBezTo>
                      <a:cubicBezTo>
                        <a:pt x="82" y="27"/>
                        <a:pt x="82" y="27"/>
                        <a:pt x="82" y="27"/>
                      </a:cubicBezTo>
                      <a:cubicBezTo>
                        <a:pt x="84" y="25"/>
                        <a:pt x="87" y="25"/>
                        <a:pt x="88" y="27"/>
                      </a:cubicBezTo>
                      <a:cubicBezTo>
                        <a:pt x="90" y="28"/>
                        <a:pt x="90" y="31"/>
                        <a:pt x="88" y="3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lt1"/>
                    </a:solidFill>
                    <a:latin typeface="思源宋体 CN" panose="02020400000000000000" pitchFamily="18" charset="-122"/>
                  </a:endParaRPr>
                </a:p>
              </p:txBody>
            </p:sp>
            <p:sp>
              <p:nvSpPr>
                <p:cNvPr id="73" name="Freeform 68">
                  <a:extLst>
                    <a:ext uri="{FF2B5EF4-FFF2-40B4-BE49-F238E27FC236}">
                      <a16:creationId xmlns:a16="http://schemas.microsoft.com/office/drawing/2014/main" id="{0D4DC256-AF28-4207-A712-A4A68B23F850}"/>
                    </a:ext>
                  </a:extLst>
                </p:cNvPr>
                <p:cNvSpPr>
                  <a:spLocks noEditPoints="1"/>
                </p:cNvSpPr>
                <p:nvPr/>
              </p:nvSpPr>
              <p:spPr bwMode="auto">
                <a:xfrm>
                  <a:off x="3849280" y="5327741"/>
                  <a:ext cx="263525" cy="263525"/>
                </a:xfrm>
                <a:custGeom>
                  <a:avLst/>
                  <a:gdLst>
                    <a:gd name="T0" fmla="*/ 61 w 70"/>
                    <a:gd name="T1" fmla="*/ 30 h 70"/>
                    <a:gd name="T2" fmla="*/ 61 w 70"/>
                    <a:gd name="T3" fmla="*/ 30 h 70"/>
                    <a:gd name="T4" fmla="*/ 29 w 70"/>
                    <a:gd name="T5" fmla="*/ 0 h 70"/>
                    <a:gd name="T6" fmla="*/ 0 w 70"/>
                    <a:gd name="T7" fmla="*/ 29 h 70"/>
                    <a:gd name="T8" fmla="*/ 30 w 70"/>
                    <a:gd name="T9" fmla="*/ 61 h 70"/>
                    <a:gd name="T10" fmla="*/ 30 w 70"/>
                    <a:gd name="T11" fmla="*/ 61 h 70"/>
                    <a:gd name="T12" fmla="*/ 62 w 70"/>
                    <a:gd name="T13" fmla="*/ 61 h 70"/>
                    <a:gd name="T14" fmla="*/ 61 w 70"/>
                    <a:gd name="T15" fmla="*/ 30 h 70"/>
                    <a:gd name="T16" fmla="*/ 52 w 70"/>
                    <a:gd name="T17" fmla="*/ 52 h 70"/>
                    <a:gd name="T18" fmla="*/ 40 w 70"/>
                    <a:gd name="T19" fmla="*/ 52 h 70"/>
                    <a:gd name="T20" fmla="*/ 40 w 70"/>
                    <a:gd name="T21" fmla="*/ 39 h 70"/>
                    <a:gd name="T22" fmla="*/ 52 w 70"/>
                    <a:gd name="T23" fmla="*/ 39 h 70"/>
                    <a:gd name="T24" fmla="*/ 52 w 70"/>
                    <a:gd name="T25" fmla="*/ 52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0" h="70">
                      <a:moveTo>
                        <a:pt x="61" y="30"/>
                      </a:moveTo>
                      <a:cubicBezTo>
                        <a:pt x="61" y="30"/>
                        <a:pt x="61" y="30"/>
                        <a:pt x="61" y="30"/>
                      </a:cubicBezTo>
                      <a:cubicBezTo>
                        <a:pt x="29" y="0"/>
                        <a:pt x="29" y="0"/>
                        <a:pt x="29" y="0"/>
                      </a:cubicBezTo>
                      <a:cubicBezTo>
                        <a:pt x="0" y="29"/>
                        <a:pt x="0" y="29"/>
                        <a:pt x="0" y="29"/>
                      </a:cubicBezTo>
                      <a:cubicBezTo>
                        <a:pt x="14" y="43"/>
                        <a:pt x="25" y="55"/>
                        <a:pt x="30" y="61"/>
                      </a:cubicBezTo>
                      <a:cubicBezTo>
                        <a:pt x="30" y="61"/>
                        <a:pt x="30" y="61"/>
                        <a:pt x="30" y="61"/>
                      </a:cubicBezTo>
                      <a:cubicBezTo>
                        <a:pt x="39" y="69"/>
                        <a:pt x="53" y="70"/>
                        <a:pt x="62" y="61"/>
                      </a:cubicBezTo>
                      <a:cubicBezTo>
                        <a:pt x="70" y="52"/>
                        <a:pt x="70" y="38"/>
                        <a:pt x="61" y="30"/>
                      </a:cubicBezTo>
                      <a:close/>
                      <a:moveTo>
                        <a:pt x="52" y="52"/>
                      </a:moveTo>
                      <a:cubicBezTo>
                        <a:pt x="49" y="55"/>
                        <a:pt x="43" y="55"/>
                        <a:pt x="40" y="52"/>
                      </a:cubicBezTo>
                      <a:cubicBezTo>
                        <a:pt x="36" y="48"/>
                        <a:pt x="36" y="43"/>
                        <a:pt x="40" y="39"/>
                      </a:cubicBezTo>
                      <a:cubicBezTo>
                        <a:pt x="43" y="36"/>
                        <a:pt x="49" y="36"/>
                        <a:pt x="52" y="39"/>
                      </a:cubicBezTo>
                      <a:cubicBezTo>
                        <a:pt x="56" y="43"/>
                        <a:pt x="56" y="48"/>
                        <a:pt x="52" y="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lt1"/>
                    </a:solidFill>
                    <a:latin typeface="思源宋体 CN" panose="02020400000000000000" pitchFamily="18" charset="-122"/>
                  </a:endParaRPr>
                </a:p>
              </p:txBody>
            </p:sp>
            <p:sp>
              <p:nvSpPr>
                <p:cNvPr id="74" name="Freeform 69">
                  <a:extLst>
                    <a:ext uri="{FF2B5EF4-FFF2-40B4-BE49-F238E27FC236}">
                      <a16:creationId xmlns:a16="http://schemas.microsoft.com/office/drawing/2014/main" id="{B77C425D-2A39-44CF-B6AB-060C6BBC7AFF}"/>
                    </a:ext>
                  </a:extLst>
                </p:cNvPr>
                <p:cNvSpPr/>
                <p:nvPr/>
              </p:nvSpPr>
              <p:spPr bwMode="auto">
                <a:xfrm>
                  <a:off x="3488917" y="4964203"/>
                  <a:ext cx="307975" cy="307975"/>
                </a:xfrm>
                <a:custGeom>
                  <a:avLst/>
                  <a:gdLst>
                    <a:gd name="T0" fmla="*/ 41 w 82"/>
                    <a:gd name="T1" fmla="*/ 0 h 82"/>
                    <a:gd name="T2" fmla="*/ 25 w 82"/>
                    <a:gd name="T3" fmla="*/ 3 h 82"/>
                    <a:gd name="T4" fmla="*/ 47 w 82"/>
                    <a:gd name="T5" fmla="*/ 25 h 82"/>
                    <a:gd name="T6" fmla="*/ 47 w 82"/>
                    <a:gd name="T7" fmla="*/ 39 h 82"/>
                    <a:gd name="T8" fmla="*/ 39 w 82"/>
                    <a:gd name="T9" fmla="*/ 48 h 82"/>
                    <a:gd name="T10" fmla="*/ 24 w 82"/>
                    <a:gd name="T11" fmla="*/ 48 h 82"/>
                    <a:gd name="T12" fmla="*/ 2 w 82"/>
                    <a:gd name="T13" fmla="*/ 26 h 82"/>
                    <a:gd name="T14" fmla="*/ 0 w 82"/>
                    <a:gd name="T15" fmla="*/ 41 h 82"/>
                    <a:gd name="T16" fmla="*/ 41 w 82"/>
                    <a:gd name="T17" fmla="*/ 82 h 82"/>
                    <a:gd name="T18" fmla="*/ 82 w 82"/>
                    <a:gd name="T19" fmla="*/ 41 h 82"/>
                    <a:gd name="T20" fmla="*/ 41 w 82"/>
                    <a:gd name="T21" fmla="*/ 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2" h="82">
                      <a:moveTo>
                        <a:pt x="41" y="0"/>
                      </a:moveTo>
                      <a:cubicBezTo>
                        <a:pt x="35" y="0"/>
                        <a:pt x="30" y="1"/>
                        <a:pt x="25" y="3"/>
                      </a:cubicBezTo>
                      <a:cubicBezTo>
                        <a:pt x="47" y="25"/>
                        <a:pt x="47" y="25"/>
                        <a:pt x="47" y="25"/>
                      </a:cubicBezTo>
                      <a:cubicBezTo>
                        <a:pt x="51" y="29"/>
                        <a:pt x="51" y="35"/>
                        <a:pt x="47" y="39"/>
                      </a:cubicBezTo>
                      <a:cubicBezTo>
                        <a:pt x="39" y="48"/>
                        <a:pt x="39" y="48"/>
                        <a:pt x="39" y="48"/>
                      </a:cubicBezTo>
                      <a:cubicBezTo>
                        <a:pt x="35" y="52"/>
                        <a:pt x="28" y="52"/>
                        <a:pt x="24" y="48"/>
                      </a:cubicBezTo>
                      <a:cubicBezTo>
                        <a:pt x="2" y="26"/>
                        <a:pt x="2" y="26"/>
                        <a:pt x="2" y="26"/>
                      </a:cubicBezTo>
                      <a:cubicBezTo>
                        <a:pt x="1" y="30"/>
                        <a:pt x="0" y="35"/>
                        <a:pt x="0" y="41"/>
                      </a:cubicBezTo>
                      <a:cubicBezTo>
                        <a:pt x="0" y="63"/>
                        <a:pt x="18" y="82"/>
                        <a:pt x="41" y="82"/>
                      </a:cubicBezTo>
                      <a:cubicBezTo>
                        <a:pt x="63" y="82"/>
                        <a:pt x="82" y="63"/>
                        <a:pt x="82" y="41"/>
                      </a:cubicBezTo>
                      <a:cubicBezTo>
                        <a:pt x="82" y="18"/>
                        <a:pt x="63" y="0"/>
                        <a:pt x="41"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lt1"/>
                    </a:solidFill>
                    <a:latin typeface="思源宋体 CN" panose="02020400000000000000" pitchFamily="18" charset="-122"/>
                  </a:endParaRPr>
                </a:p>
              </p:txBody>
            </p:sp>
          </p:grpSp>
        </p:grpSp>
        <p:grpSp>
          <p:nvGrpSpPr>
            <p:cNvPr id="53" name="组合 52">
              <a:extLst>
                <a:ext uri="{FF2B5EF4-FFF2-40B4-BE49-F238E27FC236}">
                  <a16:creationId xmlns:a16="http://schemas.microsoft.com/office/drawing/2014/main" id="{D6384F64-88C2-4349-9FFF-7EF95B1B73C2}"/>
                </a:ext>
              </a:extLst>
            </p:cNvPr>
            <p:cNvGrpSpPr/>
            <p:nvPr/>
          </p:nvGrpSpPr>
          <p:grpSpPr>
            <a:xfrm>
              <a:off x="6003960" y="3101655"/>
              <a:ext cx="1824621" cy="1775115"/>
              <a:chOff x="6003960" y="3101655"/>
              <a:chExt cx="1824621" cy="1775115"/>
            </a:xfrm>
          </p:grpSpPr>
          <p:sp>
            <p:nvSpPr>
              <p:cNvPr id="61" name="Freeform 5">
                <a:extLst>
                  <a:ext uri="{FF2B5EF4-FFF2-40B4-BE49-F238E27FC236}">
                    <a16:creationId xmlns:a16="http://schemas.microsoft.com/office/drawing/2014/main" id="{D146CACE-9982-46D0-8AE1-597258CB9D1F}"/>
                  </a:ext>
                </a:extLst>
              </p:cNvPr>
              <p:cNvSpPr/>
              <p:nvPr/>
            </p:nvSpPr>
            <p:spPr bwMode="auto">
              <a:xfrm>
                <a:off x="6003960" y="3101655"/>
                <a:ext cx="1824621" cy="1775115"/>
              </a:xfrm>
              <a:custGeom>
                <a:avLst/>
                <a:gdLst>
                  <a:gd name="T0" fmla="*/ 493 w 823"/>
                  <a:gd name="T1" fmla="*/ 621 h 802"/>
                  <a:gd name="T2" fmla="*/ 429 w 823"/>
                  <a:gd name="T3" fmla="*/ 677 h 802"/>
                  <a:gd name="T4" fmla="*/ 208 w 823"/>
                  <a:gd name="T5" fmla="*/ 794 h 802"/>
                  <a:gd name="T6" fmla="*/ 109 w 823"/>
                  <a:gd name="T7" fmla="*/ 798 h 802"/>
                  <a:gd name="T8" fmla="*/ 8 w 823"/>
                  <a:gd name="T9" fmla="*/ 695 h 802"/>
                  <a:gd name="T10" fmla="*/ 29 w 823"/>
                  <a:gd name="T11" fmla="*/ 519 h 802"/>
                  <a:gd name="T12" fmla="*/ 35 w 823"/>
                  <a:gd name="T13" fmla="*/ 524 h 802"/>
                  <a:gd name="T14" fmla="*/ 211 w 823"/>
                  <a:gd name="T15" fmla="*/ 638 h 802"/>
                  <a:gd name="T16" fmla="*/ 340 w 823"/>
                  <a:gd name="T17" fmla="*/ 575 h 802"/>
                  <a:gd name="T18" fmla="*/ 486 w 823"/>
                  <a:gd name="T19" fmla="*/ 335 h 802"/>
                  <a:gd name="T20" fmla="*/ 511 w 823"/>
                  <a:gd name="T21" fmla="*/ 224 h 802"/>
                  <a:gd name="T22" fmla="*/ 406 w 823"/>
                  <a:gd name="T23" fmla="*/ 53 h 802"/>
                  <a:gd name="T24" fmla="*/ 316 w 823"/>
                  <a:gd name="T25" fmla="*/ 15 h 802"/>
                  <a:gd name="T26" fmla="*/ 397 w 823"/>
                  <a:gd name="T27" fmla="*/ 5 h 802"/>
                  <a:gd name="T28" fmla="*/ 646 w 823"/>
                  <a:gd name="T29" fmla="*/ 53 h 802"/>
                  <a:gd name="T30" fmla="*/ 738 w 823"/>
                  <a:gd name="T31" fmla="*/ 257 h 802"/>
                  <a:gd name="T32" fmla="*/ 692 w 823"/>
                  <a:gd name="T33" fmla="*/ 356 h 802"/>
                  <a:gd name="T34" fmla="*/ 682 w 823"/>
                  <a:gd name="T35" fmla="*/ 375 h 802"/>
                  <a:gd name="T36" fmla="*/ 815 w 823"/>
                  <a:gd name="T37" fmla="*/ 561 h 802"/>
                  <a:gd name="T38" fmla="*/ 691 w 823"/>
                  <a:gd name="T39" fmla="*/ 714 h 802"/>
                  <a:gd name="T40" fmla="*/ 493 w 823"/>
                  <a:gd name="T41" fmla="*/ 621 h 8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23" h="802">
                    <a:moveTo>
                      <a:pt x="493" y="621"/>
                    </a:moveTo>
                    <a:cubicBezTo>
                      <a:pt x="471" y="640"/>
                      <a:pt x="451" y="660"/>
                      <a:pt x="429" y="677"/>
                    </a:cubicBezTo>
                    <a:cubicBezTo>
                      <a:pt x="364" y="731"/>
                      <a:pt x="295" y="782"/>
                      <a:pt x="208" y="794"/>
                    </a:cubicBezTo>
                    <a:cubicBezTo>
                      <a:pt x="175" y="799"/>
                      <a:pt x="141" y="802"/>
                      <a:pt x="109" y="798"/>
                    </a:cubicBezTo>
                    <a:cubicBezTo>
                      <a:pt x="50" y="791"/>
                      <a:pt x="17" y="753"/>
                      <a:pt x="8" y="695"/>
                    </a:cubicBezTo>
                    <a:cubicBezTo>
                      <a:pt x="0" y="635"/>
                      <a:pt x="12" y="578"/>
                      <a:pt x="29" y="519"/>
                    </a:cubicBezTo>
                    <a:cubicBezTo>
                      <a:pt x="32" y="521"/>
                      <a:pt x="34" y="522"/>
                      <a:pt x="35" y="524"/>
                    </a:cubicBezTo>
                    <a:cubicBezTo>
                      <a:pt x="53" y="615"/>
                      <a:pt x="127" y="646"/>
                      <a:pt x="211" y="638"/>
                    </a:cubicBezTo>
                    <a:cubicBezTo>
                      <a:pt x="262" y="633"/>
                      <a:pt x="303" y="609"/>
                      <a:pt x="340" y="575"/>
                    </a:cubicBezTo>
                    <a:cubicBezTo>
                      <a:pt x="410" y="508"/>
                      <a:pt x="454" y="425"/>
                      <a:pt x="486" y="335"/>
                    </a:cubicBezTo>
                    <a:cubicBezTo>
                      <a:pt x="498" y="299"/>
                      <a:pt x="508" y="261"/>
                      <a:pt x="511" y="224"/>
                    </a:cubicBezTo>
                    <a:cubicBezTo>
                      <a:pt x="516" y="144"/>
                      <a:pt x="476" y="88"/>
                      <a:pt x="406" y="53"/>
                    </a:cubicBezTo>
                    <a:cubicBezTo>
                      <a:pt x="378" y="39"/>
                      <a:pt x="347" y="30"/>
                      <a:pt x="316" y="15"/>
                    </a:cubicBezTo>
                    <a:cubicBezTo>
                      <a:pt x="343" y="12"/>
                      <a:pt x="370" y="6"/>
                      <a:pt x="397" y="5"/>
                    </a:cubicBezTo>
                    <a:cubicBezTo>
                      <a:pt x="484" y="0"/>
                      <a:pt x="566" y="20"/>
                      <a:pt x="646" y="53"/>
                    </a:cubicBezTo>
                    <a:cubicBezTo>
                      <a:pt x="734" y="90"/>
                      <a:pt x="769" y="165"/>
                      <a:pt x="738" y="257"/>
                    </a:cubicBezTo>
                    <a:cubicBezTo>
                      <a:pt x="727" y="291"/>
                      <a:pt x="707" y="323"/>
                      <a:pt x="692" y="356"/>
                    </a:cubicBezTo>
                    <a:cubicBezTo>
                      <a:pt x="688" y="362"/>
                      <a:pt x="685" y="369"/>
                      <a:pt x="682" y="375"/>
                    </a:cubicBezTo>
                    <a:cubicBezTo>
                      <a:pt x="784" y="425"/>
                      <a:pt x="823" y="480"/>
                      <a:pt x="815" y="561"/>
                    </a:cubicBezTo>
                    <a:cubicBezTo>
                      <a:pt x="808" y="635"/>
                      <a:pt x="760" y="695"/>
                      <a:pt x="691" y="714"/>
                    </a:cubicBezTo>
                    <a:cubicBezTo>
                      <a:pt x="615" y="734"/>
                      <a:pt x="555" y="707"/>
                      <a:pt x="493" y="621"/>
                    </a:cubicBezTo>
                    <a:close/>
                  </a:path>
                </a:pathLst>
              </a:custGeom>
              <a:solidFill>
                <a:srgbClr val="20457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lt1"/>
                  </a:solidFill>
                  <a:latin typeface="思源宋体 CN" panose="02020400000000000000" pitchFamily="18" charset="-122"/>
                </a:endParaRPr>
              </a:p>
            </p:txBody>
          </p:sp>
          <p:grpSp>
            <p:nvGrpSpPr>
              <p:cNvPr id="62" name="组合 61">
                <a:extLst>
                  <a:ext uri="{FF2B5EF4-FFF2-40B4-BE49-F238E27FC236}">
                    <a16:creationId xmlns:a16="http://schemas.microsoft.com/office/drawing/2014/main" id="{06334B5D-19A4-4609-BD9E-D055D5158C59}"/>
                  </a:ext>
                </a:extLst>
              </p:cNvPr>
              <p:cNvGrpSpPr>
                <a:grpSpLocks noChangeAspect="1"/>
              </p:cNvGrpSpPr>
              <p:nvPr/>
            </p:nvGrpSpPr>
            <p:grpSpPr>
              <a:xfrm>
                <a:off x="7283051" y="4185436"/>
                <a:ext cx="349691" cy="295469"/>
                <a:chOff x="2203042" y="1374866"/>
                <a:chExt cx="706438" cy="596900"/>
              </a:xfrm>
              <a:solidFill>
                <a:schemeClr val="bg1"/>
              </a:solidFill>
            </p:grpSpPr>
            <p:sp>
              <p:nvSpPr>
                <p:cNvPr id="63" name="Oval 50">
                  <a:extLst>
                    <a:ext uri="{FF2B5EF4-FFF2-40B4-BE49-F238E27FC236}">
                      <a16:creationId xmlns:a16="http://schemas.microsoft.com/office/drawing/2014/main" id="{56D0E49A-455C-4034-88FC-84FE276D6AB3}"/>
                    </a:ext>
                  </a:extLst>
                </p:cNvPr>
                <p:cNvSpPr>
                  <a:spLocks noChangeArrowheads="1"/>
                </p:cNvSpPr>
                <p:nvPr/>
              </p:nvSpPr>
              <p:spPr bwMode="auto">
                <a:xfrm>
                  <a:off x="2455455" y="1441541"/>
                  <a:ext cx="203200" cy="203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lt1"/>
                    </a:solidFill>
                    <a:latin typeface="思源宋体 CN" panose="02020400000000000000" pitchFamily="18" charset="-122"/>
                  </a:endParaRPr>
                </a:p>
              </p:txBody>
            </p:sp>
            <p:sp>
              <p:nvSpPr>
                <p:cNvPr id="64" name="Freeform 51">
                  <a:extLst>
                    <a:ext uri="{FF2B5EF4-FFF2-40B4-BE49-F238E27FC236}">
                      <a16:creationId xmlns:a16="http://schemas.microsoft.com/office/drawing/2014/main" id="{4FDF117F-0024-459E-A99E-C0414A9F0594}"/>
                    </a:ext>
                  </a:extLst>
                </p:cNvPr>
                <p:cNvSpPr/>
                <p:nvPr/>
              </p:nvSpPr>
              <p:spPr bwMode="auto">
                <a:xfrm>
                  <a:off x="2379255" y="1663791"/>
                  <a:ext cx="357188" cy="307975"/>
                </a:xfrm>
                <a:custGeom>
                  <a:avLst/>
                  <a:gdLst>
                    <a:gd name="T0" fmla="*/ 65 w 95"/>
                    <a:gd name="T1" fmla="*/ 0 h 82"/>
                    <a:gd name="T2" fmla="*/ 48 w 95"/>
                    <a:gd name="T3" fmla="*/ 20 h 82"/>
                    <a:gd name="T4" fmla="*/ 31 w 95"/>
                    <a:gd name="T5" fmla="*/ 0 h 82"/>
                    <a:gd name="T6" fmla="*/ 0 w 95"/>
                    <a:gd name="T7" fmla="*/ 51 h 82"/>
                    <a:gd name="T8" fmla="*/ 1 w 95"/>
                    <a:gd name="T9" fmla="*/ 61 h 82"/>
                    <a:gd name="T10" fmla="*/ 48 w 95"/>
                    <a:gd name="T11" fmla="*/ 82 h 82"/>
                    <a:gd name="T12" fmla="*/ 94 w 95"/>
                    <a:gd name="T13" fmla="*/ 61 h 82"/>
                    <a:gd name="T14" fmla="*/ 95 w 95"/>
                    <a:gd name="T15" fmla="*/ 51 h 82"/>
                    <a:gd name="T16" fmla="*/ 65 w 95"/>
                    <a:gd name="T17" fmla="*/ 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5" h="82">
                      <a:moveTo>
                        <a:pt x="65" y="0"/>
                      </a:moveTo>
                      <a:cubicBezTo>
                        <a:pt x="48" y="20"/>
                        <a:pt x="48" y="20"/>
                        <a:pt x="48" y="20"/>
                      </a:cubicBezTo>
                      <a:cubicBezTo>
                        <a:pt x="31" y="0"/>
                        <a:pt x="31" y="0"/>
                        <a:pt x="31" y="0"/>
                      </a:cubicBezTo>
                      <a:cubicBezTo>
                        <a:pt x="13" y="8"/>
                        <a:pt x="0" y="28"/>
                        <a:pt x="0" y="51"/>
                      </a:cubicBezTo>
                      <a:cubicBezTo>
                        <a:pt x="0" y="54"/>
                        <a:pt x="1" y="57"/>
                        <a:pt x="1" y="61"/>
                      </a:cubicBezTo>
                      <a:cubicBezTo>
                        <a:pt x="11" y="73"/>
                        <a:pt x="28" y="82"/>
                        <a:pt x="48" y="82"/>
                      </a:cubicBezTo>
                      <a:cubicBezTo>
                        <a:pt x="67" y="82"/>
                        <a:pt x="84" y="73"/>
                        <a:pt x="94" y="61"/>
                      </a:cubicBezTo>
                      <a:cubicBezTo>
                        <a:pt x="95" y="57"/>
                        <a:pt x="95" y="54"/>
                        <a:pt x="95" y="51"/>
                      </a:cubicBezTo>
                      <a:cubicBezTo>
                        <a:pt x="95" y="28"/>
                        <a:pt x="82" y="7"/>
                        <a:pt x="6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lt1"/>
                    </a:solidFill>
                    <a:latin typeface="思源宋体 CN" panose="02020400000000000000" pitchFamily="18" charset="-122"/>
                  </a:endParaRPr>
                </a:p>
              </p:txBody>
            </p:sp>
            <p:sp>
              <p:nvSpPr>
                <p:cNvPr id="65" name="Freeform 52">
                  <a:extLst>
                    <a:ext uri="{FF2B5EF4-FFF2-40B4-BE49-F238E27FC236}">
                      <a16:creationId xmlns:a16="http://schemas.microsoft.com/office/drawing/2014/main" id="{64FD554B-E895-46E1-B1CC-60648324BDEF}"/>
                    </a:ext>
                  </a:extLst>
                </p:cNvPr>
                <p:cNvSpPr/>
                <p:nvPr/>
              </p:nvSpPr>
              <p:spPr bwMode="auto">
                <a:xfrm>
                  <a:off x="2653892" y="1374866"/>
                  <a:ext cx="184150" cy="187325"/>
                </a:xfrm>
                <a:custGeom>
                  <a:avLst/>
                  <a:gdLst>
                    <a:gd name="T0" fmla="*/ 24 w 49"/>
                    <a:gd name="T1" fmla="*/ 0 h 50"/>
                    <a:gd name="T2" fmla="*/ 0 w 49"/>
                    <a:gd name="T3" fmla="*/ 18 h 50"/>
                    <a:gd name="T4" fmla="*/ 11 w 49"/>
                    <a:gd name="T5" fmla="*/ 45 h 50"/>
                    <a:gd name="T6" fmla="*/ 11 w 49"/>
                    <a:gd name="T7" fmla="*/ 46 h 50"/>
                    <a:gd name="T8" fmla="*/ 24 w 49"/>
                    <a:gd name="T9" fmla="*/ 50 h 50"/>
                    <a:gd name="T10" fmla="*/ 49 w 49"/>
                    <a:gd name="T11" fmla="*/ 25 h 50"/>
                    <a:gd name="T12" fmla="*/ 24 w 49"/>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49" h="50">
                      <a:moveTo>
                        <a:pt x="24" y="0"/>
                      </a:moveTo>
                      <a:cubicBezTo>
                        <a:pt x="12" y="0"/>
                        <a:pt x="2" y="8"/>
                        <a:pt x="0" y="18"/>
                      </a:cubicBezTo>
                      <a:cubicBezTo>
                        <a:pt x="6" y="25"/>
                        <a:pt x="11" y="34"/>
                        <a:pt x="11" y="45"/>
                      </a:cubicBezTo>
                      <a:cubicBezTo>
                        <a:pt x="11" y="45"/>
                        <a:pt x="11" y="46"/>
                        <a:pt x="11" y="46"/>
                      </a:cubicBezTo>
                      <a:cubicBezTo>
                        <a:pt x="14" y="49"/>
                        <a:pt x="19" y="50"/>
                        <a:pt x="24" y="50"/>
                      </a:cubicBezTo>
                      <a:cubicBezTo>
                        <a:pt x="37" y="50"/>
                        <a:pt x="49" y="39"/>
                        <a:pt x="49" y="25"/>
                      </a:cubicBezTo>
                      <a:cubicBezTo>
                        <a:pt x="49" y="11"/>
                        <a:pt x="37" y="0"/>
                        <a:pt x="2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lt1"/>
                    </a:solidFill>
                    <a:latin typeface="思源宋体 CN" panose="02020400000000000000" pitchFamily="18" charset="-122"/>
                  </a:endParaRPr>
                </a:p>
              </p:txBody>
            </p:sp>
            <p:sp>
              <p:nvSpPr>
                <p:cNvPr id="66" name="Freeform 53">
                  <a:extLst>
                    <a:ext uri="{FF2B5EF4-FFF2-40B4-BE49-F238E27FC236}">
                      <a16:creationId xmlns:a16="http://schemas.microsoft.com/office/drawing/2014/main" id="{7C240429-D92A-4F46-A3DF-C0BFA0E896C7}"/>
                    </a:ext>
                  </a:extLst>
                </p:cNvPr>
                <p:cNvSpPr/>
                <p:nvPr/>
              </p:nvSpPr>
              <p:spPr bwMode="auto">
                <a:xfrm>
                  <a:off x="2271305" y="1374866"/>
                  <a:ext cx="187325" cy="187325"/>
                </a:xfrm>
                <a:custGeom>
                  <a:avLst/>
                  <a:gdLst>
                    <a:gd name="T0" fmla="*/ 40 w 50"/>
                    <a:gd name="T1" fmla="*/ 45 h 50"/>
                    <a:gd name="T2" fmla="*/ 50 w 50"/>
                    <a:gd name="T3" fmla="*/ 20 h 50"/>
                    <a:gd name="T4" fmla="*/ 25 w 50"/>
                    <a:gd name="T5" fmla="*/ 0 h 50"/>
                    <a:gd name="T6" fmla="*/ 0 w 50"/>
                    <a:gd name="T7" fmla="*/ 25 h 50"/>
                    <a:gd name="T8" fmla="*/ 25 w 50"/>
                    <a:gd name="T9" fmla="*/ 50 h 50"/>
                    <a:gd name="T10" fmla="*/ 40 w 50"/>
                    <a:gd name="T11" fmla="*/ 45 h 50"/>
                    <a:gd name="T12" fmla="*/ 40 w 50"/>
                    <a:gd name="T13" fmla="*/ 45 h 50"/>
                  </a:gdLst>
                  <a:ahLst/>
                  <a:cxnLst>
                    <a:cxn ang="0">
                      <a:pos x="T0" y="T1"/>
                    </a:cxn>
                    <a:cxn ang="0">
                      <a:pos x="T2" y="T3"/>
                    </a:cxn>
                    <a:cxn ang="0">
                      <a:pos x="T4" y="T5"/>
                    </a:cxn>
                    <a:cxn ang="0">
                      <a:pos x="T6" y="T7"/>
                    </a:cxn>
                    <a:cxn ang="0">
                      <a:pos x="T8" y="T9"/>
                    </a:cxn>
                    <a:cxn ang="0">
                      <a:pos x="T10" y="T11"/>
                    </a:cxn>
                    <a:cxn ang="0">
                      <a:pos x="T12" y="T13"/>
                    </a:cxn>
                  </a:cxnLst>
                  <a:rect l="0" t="0" r="r" b="b"/>
                  <a:pathLst>
                    <a:path w="50" h="50">
                      <a:moveTo>
                        <a:pt x="40" y="45"/>
                      </a:moveTo>
                      <a:cubicBezTo>
                        <a:pt x="40" y="35"/>
                        <a:pt x="44" y="26"/>
                        <a:pt x="50" y="20"/>
                      </a:cubicBezTo>
                      <a:cubicBezTo>
                        <a:pt x="48" y="8"/>
                        <a:pt x="37" y="0"/>
                        <a:pt x="25" y="0"/>
                      </a:cubicBezTo>
                      <a:cubicBezTo>
                        <a:pt x="12" y="0"/>
                        <a:pt x="0" y="11"/>
                        <a:pt x="0" y="25"/>
                      </a:cubicBezTo>
                      <a:cubicBezTo>
                        <a:pt x="0" y="39"/>
                        <a:pt x="12" y="50"/>
                        <a:pt x="25" y="50"/>
                      </a:cubicBezTo>
                      <a:cubicBezTo>
                        <a:pt x="31" y="50"/>
                        <a:pt x="36" y="48"/>
                        <a:pt x="40" y="45"/>
                      </a:cubicBezTo>
                      <a:cubicBezTo>
                        <a:pt x="40" y="45"/>
                        <a:pt x="40" y="45"/>
                        <a:pt x="40" y="4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lt1"/>
                    </a:solidFill>
                    <a:latin typeface="思源宋体 CN" panose="02020400000000000000" pitchFamily="18" charset="-122"/>
                  </a:endParaRPr>
                </a:p>
              </p:txBody>
            </p:sp>
            <p:sp>
              <p:nvSpPr>
                <p:cNvPr id="67" name="Freeform 54">
                  <a:extLst>
                    <a:ext uri="{FF2B5EF4-FFF2-40B4-BE49-F238E27FC236}">
                      <a16:creationId xmlns:a16="http://schemas.microsoft.com/office/drawing/2014/main" id="{F1D7F30C-E515-4058-8A5F-F37D6ED395FF}"/>
                    </a:ext>
                  </a:extLst>
                </p:cNvPr>
                <p:cNvSpPr/>
                <p:nvPr/>
              </p:nvSpPr>
              <p:spPr bwMode="auto">
                <a:xfrm>
                  <a:off x="2653892" y="1578066"/>
                  <a:ext cx="255588" cy="285750"/>
                </a:xfrm>
                <a:custGeom>
                  <a:avLst/>
                  <a:gdLst>
                    <a:gd name="T0" fmla="*/ 40 w 68"/>
                    <a:gd name="T1" fmla="*/ 0 h 76"/>
                    <a:gd name="T2" fmla="*/ 24 w 68"/>
                    <a:gd name="T3" fmla="*/ 19 h 76"/>
                    <a:gd name="T4" fmla="*/ 9 w 68"/>
                    <a:gd name="T5" fmla="*/ 2 h 76"/>
                    <a:gd name="T6" fmla="*/ 0 w 68"/>
                    <a:gd name="T7" fmla="*/ 16 h 76"/>
                    <a:gd name="T8" fmla="*/ 32 w 68"/>
                    <a:gd name="T9" fmla="*/ 74 h 76"/>
                    <a:gd name="T10" fmla="*/ 31 w 68"/>
                    <a:gd name="T11" fmla="*/ 76 h 76"/>
                    <a:gd name="T12" fmla="*/ 67 w 68"/>
                    <a:gd name="T13" fmla="*/ 57 h 76"/>
                    <a:gd name="T14" fmla="*/ 68 w 68"/>
                    <a:gd name="T15" fmla="*/ 48 h 76"/>
                    <a:gd name="T16" fmla="*/ 40 w 68"/>
                    <a:gd name="T17" fmla="*/ 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76">
                      <a:moveTo>
                        <a:pt x="40" y="0"/>
                      </a:moveTo>
                      <a:cubicBezTo>
                        <a:pt x="24" y="19"/>
                        <a:pt x="24" y="19"/>
                        <a:pt x="24" y="19"/>
                      </a:cubicBezTo>
                      <a:cubicBezTo>
                        <a:pt x="9" y="2"/>
                        <a:pt x="9" y="2"/>
                        <a:pt x="9" y="2"/>
                      </a:cubicBezTo>
                      <a:cubicBezTo>
                        <a:pt x="7" y="7"/>
                        <a:pt x="4" y="12"/>
                        <a:pt x="0" y="16"/>
                      </a:cubicBezTo>
                      <a:cubicBezTo>
                        <a:pt x="19" y="27"/>
                        <a:pt x="32" y="49"/>
                        <a:pt x="32" y="74"/>
                      </a:cubicBezTo>
                      <a:cubicBezTo>
                        <a:pt x="32" y="75"/>
                        <a:pt x="31" y="75"/>
                        <a:pt x="31" y="76"/>
                      </a:cubicBezTo>
                      <a:cubicBezTo>
                        <a:pt x="46" y="74"/>
                        <a:pt x="59" y="67"/>
                        <a:pt x="67" y="57"/>
                      </a:cubicBezTo>
                      <a:cubicBezTo>
                        <a:pt x="68" y="54"/>
                        <a:pt x="68" y="51"/>
                        <a:pt x="68" y="48"/>
                      </a:cubicBezTo>
                      <a:cubicBezTo>
                        <a:pt x="68" y="26"/>
                        <a:pt x="56" y="8"/>
                        <a:pt x="4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lt1"/>
                    </a:solidFill>
                    <a:latin typeface="思源宋体 CN" panose="02020400000000000000" pitchFamily="18" charset="-122"/>
                  </a:endParaRPr>
                </a:p>
              </p:txBody>
            </p:sp>
            <p:sp>
              <p:nvSpPr>
                <p:cNvPr id="68" name="Freeform 55">
                  <a:extLst>
                    <a:ext uri="{FF2B5EF4-FFF2-40B4-BE49-F238E27FC236}">
                      <a16:creationId xmlns:a16="http://schemas.microsoft.com/office/drawing/2014/main" id="{BDA71035-9D1D-4C06-B917-5C5C180B88BE}"/>
                    </a:ext>
                  </a:extLst>
                </p:cNvPr>
                <p:cNvSpPr/>
                <p:nvPr/>
              </p:nvSpPr>
              <p:spPr bwMode="auto">
                <a:xfrm>
                  <a:off x="2203042" y="1578066"/>
                  <a:ext cx="258763" cy="285750"/>
                </a:xfrm>
                <a:custGeom>
                  <a:avLst/>
                  <a:gdLst>
                    <a:gd name="T0" fmla="*/ 38 w 69"/>
                    <a:gd name="T1" fmla="*/ 74 h 76"/>
                    <a:gd name="T2" fmla="*/ 69 w 69"/>
                    <a:gd name="T3" fmla="*/ 17 h 76"/>
                    <a:gd name="T4" fmla="*/ 59 w 69"/>
                    <a:gd name="T5" fmla="*/ 0 h 76"/>
                    <a:gd name="T6" fmla="*/ 59 w 69"/>
                    <a:gd name="T7" fmla="*/ 0 h 76"/>
                    <a:gd name="T8" fmla="*/ 44 w 69"/>
                    <a:gd name="T9" fmla="*/ 19 h 76"/>
                    <a:gd name="T10" fmla="*/ 28 w 69"/>
                    <a:gd name="T11" fmla="*/ 1 h 76"/>
                    <a:gd name="T12" fmla="*/ 0 w 69"/>
                    <a:gd name="T13" fmla="*/ 48 h 76"/>
                    <a:gd name="T14" fmla="*/ 0 w 69"/>
                    <a:gd name="T15" fmla="*/ 57 h 76"/>
                    <a:gd name="T16" fmla="*/ 38 w 69"/>
                    <a:gd name="T17" fmla="*/ 76 h 76"/>
                    <a:gd name="T18" fmla="*/ 38 w 69"/>
                    <a:gd name="T19" fmla="*/ 7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76">
                      <a:moveTo>
                        <a:pt x="38" y="74"/>
                      </a:moveTo>
                      <a:cubicBezTo>
                        <a:pt x="38" y="49"/>
                        <a:pt x="50" y="28"/>
                        <a:pt x="69" y="17"/>
                      </a:cubicBezTo>
                      <a:cubicBezTo>
                        <a:pt x="65" y="12"/>
                        <a:pt x="61" y="7"/>
                        <a:pt x="59" y="0"/>
                      </a:cubicBezTo>
                      <a:cubicBezTo>
                        <a:pt x="59" y="0"/>
                        <a:pt x="59" y="0"/>
                        <a:pt x="59" y="0"/>
                      </a:cubicBezTo>
                      <a:cubicBezTo>
                        <a:pt x="44" y="19"/>
                        <a:pt x="44" y="19"/>
                        <a:pt x="44" y="19"/>
                      </a:cubicBezTo>
                      <a:cubicBezTo>
                        <a:pt x="28" y="1"/>
                        <a:pt x="28" y="1"/>
                        <a:pt x="28" y="1"/>
                      </a:cubicBezTo>
                      <a:cubicBezTo>
                        <a:pt x="12" y="8"/>
                        <a:pt x="0" y="26"/>
                        <a:pt x="0" y="48"/>
                      </a:cubicBezTo>
                      <a:cubicBezTo>
                        <a:pt x="0" y="51"/>
                        <a:pt x="0" y="54"/>
                        <a:pt x="0" y="57"/>
                      </a:cubicBezTo>
                      <a:cubicBezTo>
                        <a:pt x="9" y="67"/>
                        <a:pt x="22" y="75"/>
                        <a:pt x="38" y="76"/>
                      </a:cubicBezTo>
                      <a:cubicBezTo>
                        <a:pt x="38" y="75"/>
                        <a:pt x="38" y="75"/>
                        <a:pt x="38" y="7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lt1"/>
                    </a:solidFill>
                    <a:latin typeface="思源宋体 CN" panose="02020400000000000000" pitchFamily="18" charset="-122"/>
                  </a:endParaRPr>
                </a:p>
              </p:txBody>
            </p:sp>
          </p:grpSp>
        </p:grpSp>
        <p:grpSp>
          <p:nvGrpSpPr>
            <p:cNvPr id="54" name="组合 53">
              <a:extLst>
                <a:ext uri="{FF2B5EF4-FFF2-40B4-BE49-F238E27FC236}">
                  <a16:creationId xmlns:a16="http://schemas.microsoft.com/office/drawing/2014/main" id="{2F2350F0-80A4-4AF0-8520-3E216A2BDC04}"/>
                </a:ext>
              </a:extLst>
            </p:cNvPr>
            <p:cNvGrpSpPr/>
            <p:nvPr/>
          </p:nvGrpSpPr>
          <p:grpSpPr>
            <a:xfrm>
              <a:off x="5247238" y="3956209"/>
              <a:ext cx="1788081" cy="1811655"/>
              <a:chOff x="5247238" y="3956209"/>
              <a:chExt cx="1788081" cy="1811655"/>
            </a:xfrm>
          </p:grpSpPr>
          <p:sp>
            <p:nvSpPr>
              <p:cNvPr id="55" name="Freeform 7">
                <a:extLst>
                  <a:ext uri="{FF2B5EF4-FFF2-40B4-BE49-F238E27FC236}">
                    <a16:creationId xmlns:a16="http://schemas.microsoft.com/office/drawing/2014/main" id="{3803FA9E-C025-44D6-AC53-6F264E19EB95}"/>
                  </a:ext>
                </a:extLst>
              </p:cNvPr>
              <p:cNvSpPr/>
              <p:nvPr/>
            </p:nvSpPr>
            <p:spPr bwMode="auto">
              <a:xfrm>
                <a:off x="5247238" y="3956209"/>
                <a:ext cx="1788081" cy="1811655"/>
              </a:xfrm>
              <a:custGeom>
                <a:avLst/>
                <a:gdLst>
                  <a:gd name="T0" fmla="*/ 189 w 806"/>
                  <a:gd name="T1" fmla="*/ 488 h 818"/>
                  <a:gd name="T2" fmla="*/ 99 w 806"/>
                  <a:gd name="T3" fmla="*/ 377 h 818"/>
                  <a:gd name="T4" fmla="*/ 6 w 806"/>
                  <a:gd name="T5" fmla="*/ 159 h 818"/>
                  <a:gd name="T6" fmla="*/ 71 w 806"/>
                  <a:gd name="T7" fmla="*/ 21 h 818"/>
                  <a:gd name="T8" fmla="*/ 115 w 806"/>
                  <a:gd name="T9" fmla="*/ 9 h 818"/>
                  <a:gd name="T10" fmla="*/ 290 w 806"/>
                  <a:gd name="T11" fmla="*/ 27 h 818"/>
                  <a:gd name="T12" fmla="*/ 255 w 806"/>
                  <a:gd name="T13" fmla="*/ 36 h 818"/>
                  <a:gd name="T14" fmla="*/ 169 w 806"/>
                  <a:gd name="T15" fmla="*/ 165 h 818"/>
                  <a:gd name="T16" fmla="*/ 230 w 806"/>
                  <a:gd name="T17" fmla="*/ 331 h 818"/>
                  <a:gd name="T18" fmla="*/ 474 w 806"/>
                  <a:gd name="T19" fmla="*/ 482 h 818"/>
                  <a:gd name="T20" fmla="*/ 565 w 806"/>
                  <a:gd name="T21" fmla="*/ 506 h 818"/>
                  <a:gd name="T22" fmla="*/ 764 w 806"/>
                  <a:gd name="T23" fmla="*/ 386 h 818"/>
                  <a:gd name="T24" fmla="*/ 794 w 806"/>
                  <a:gd name="T25" fmla="*/ 315 h 818"/>
                  <a:gd name="T26" fmla="*/ 803 w 806"/>
                  <a:gd name="T27" fmla="*/ 398 h 818"/>
                  <a:gd name="T28" fmla="*/ 748 w 806"/>
                  <a:gd name="T29" fmla="*/ 652 h 818"/>
                  <a:gd name="T30" fmla="*/ 560 w 806"/>
                  <a:gd name="T31" fmla="*/ 733 h 818"/>
                  <a:gd name="T32" fmla="*/ 457 w 806"/>
                  <a:gd name="T33" fmla="*/ 686 h 818"/>
                  <a:gd name="T34" fmla="*/ 433 w 806"/>
                  <a:gd name="T35" fmla="*/ 673 h 818"/>
                  <a:gd name="T36" fmla="*/ 234 w 806"/>
                  <a:gd name="T37" fmla="*/ 806 h 818"/>
                  <a:gd name="T38" fmla="*/ 96 w 806"/>
                  <a:gd name="T39" fmla="*/ 680 h 818"/>
                  <a:gd name="T40" fmla="*/ 189 w 806"/>
                  <a:gd name="T41" fmla="*/ 488 h 8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06" h="818">
                    <a:moveTo>
                      <a:pt x="189" y="488"/>
                    </a:moveTo>
                    <a:cubicBezTo>
                      <a:pt x="158" y="450"/>
                      <a:pt x="128" y="414"/>
                      <a:pt x="99" y="377"/>
                    </a:cubicBezTo>
                    <a:cubicBezTo>
                      <a:pt x="48" y="313"/>
                      <a:pt x="15" y="241"/>
                      <a:pt x="6" y="159"/>
                    </a:cubicBezTo>
                    <a:cubicBezTo>
                      <a:pt x="0" y="96"/>
                      <a:pt x="23" y="42"/>
                      <a:pt x="71" y="21"/>
                    </a:cubicBezTo>
                    <a:cubicBezTo>
                      <a:pt x="85" y="15"/>
                      <a:pt x="100" y="11"/>
                      <a:pt x="115" y="9"/>
                    </a:cubicBezTo>
                    <a:cubicBezTo>
                      <a:pt x="166" y="0"/>
                      <a:pt x="247" y="7"/>
                      <a:pt x="290" y="27"/>
                    </a:cubicBezTo>
                    <a:cubicBezTo>
                      <a:pt x="277" y="30"/>
                      <a:pt x="265" y="31"/>
                      <a:pt x="255" y="36"/>
                    </a:cubicBezTo>
                    <a:cubicBezTo>
                      <a:pt x="201" y="62"/>
                      <a:pt x="173" y="105"/>
                      <a:pt x="169" y="165"/>
                    </a:cubicBezTo>
                    <a:cubicBezTo>
                      <a:pt x="165" y="230"/>
                      <a:pt x="187" y="284"/>
                      <a:pt x="230" y="331"/>
                    </a:cubicBezTo>
                    <a:cubicBezTo>
                      <a:pt x="298" y="404"/>
                      <a:pt x="382" y="449"/>
                      <a:pt x="474" y="482"/>
                    </a:cubicBezTo>
                    <a:cubicBezTo>
                      <a:pt x="504" y="493"/>
                      <a:pt x="534" y="502"/>
                      <a:pt x="565" y="506"/>
                    </a:cubicBezTo>
                    <a:cubicBezTo>
                      <a:pt x="656" y="517"/>
                      <a:pt x="728" y="473"/>
                      <a:pt x="764" y="386"/>
                    </a:cubicBezTo>
                    <a:cubicBezTo>
                      <a:pt x="774" y="363"/>
                      <a:pt x="781" y="339"/>
                      <a:pt x="794" y="315"/>
                    </a:cubicBezTo>
                    <a:cubicBezTo>
                      <a:pt x="797" y="343"/>
                      <a:pt x="802" y="371"/>
                      <a:pt x="803" y="398"/>
                    </a:cubicBezTo>
                    <a:cubicBezTo>
                      <a:pt x="806" y="487"/>
                      <a:pt x="786" y="572"/>
                      <a:pt x="748" y="652"/>
                    </a:cubicBezTo>
                    <a:cubicBezTo>
                      <a:pt x="711" y="730"/>
                      <a:pt x="643" y="759"/>
                      <a:pt x="560" y="733"/>
                    </a:cubicBezTo>
                    <a:cubicBezTo>
                      <a:pt x="524" y="722"/>
                      <a:pt x="491" y="702"/>
                      <a:pt x="457" y="686"/>
                    </a:cubicBezTo>
                    <a:cubicBezTo>
                      <a:pt x="449" y="682"/>
                      <a:pt x="442" y="678"/>
                      <a:pt x="433" y="673"/>
                    </a:cubicBezTo>
                    <a:cubicBezTo>
                      <a:pt x="400" y="770"/>
                      <a:pt x="336" y="818"/>
                      <a:pt x="234" y="806"/>
                    </a:cubicBezTo>
                    <a:cubicBezTo>
                      <a:pt x="167" y="798"/>
                      <a:pt x="112" y="746"/>
                      <a:pt x="96" y="680"/>
                    </a:cubicBezTo>
                    <a:cubicBezTo>
                      <a:pt x="78" y="607"/>
                      <a:pt x="105" y="550"/>
                      <a:pt x="189" y="488"/>
                    </a:cubicBezTo>
                    <a:close/>
                  </a:path>
                </a:pathLst>
              </a:custGeom>
              <a:solidFill>
                <a:srgbClr val="AF1E2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lt1"/>
                  </a:solidFill>
                  <a:latin typeface="思源宋体 CN" panose="02020400000000000000" pitchFamily="18" charset="-122"/>
                </a:endParaRPr>
              </a:p>
            </p:txBody>
          </p:sp>
          <p:grpSp>
            <p:nvGrpSpPr>
              <p:cNvPr id="56" name="组合 55">
                <a:extLst>
                  <a:ext uri="{FF2B5EF4-FFF2-40B4-BE49-F238E27FC236}">
                    <a16:creationId xmlns:a16="http://schemas.microsoft.com/office/drawing/2014/main" id="{7C2A6762-DE2A-4A2B-9B10-1BFD4152D988}"/>
                  </a:ext>
                </a:extLst>
              </p:cNvPr>
              <p:cNvGrpSpPr>
                <a:grpSpLocks noChangeAspect="1"/>
              </p:cNvGrpSpPr>
              <p:nvPr/>
            </p:nvGrpSpPr>
            <p:grpSpPr>
              <a:xfrm>
                <a:off x="5657954" y="5244943"/>
                <a:ext cx="293790" cy="295469"/>
                <a:chOff x="4005263" y="4962526"/>
                <a:chExt cx="277812" cy="279400"/>
              </a:xfrm>
              <a:solidFill>
                <a:schemeClr val="bg1"/>
              </a:solidFill>
            </p:grpSpPr>
            <p:sp>
              <p:nvSpPr>
                <p:cNvPr id="57" name="Freeform 478">
                  <a:extLst>
                    <a:ext uri="{FF2B5EF4-FFF2-40B4-BE49-F238E27FC236}">
                      <a16:creationId xmlns:a16="http://schemas.microsoft.com/office/drawing/2014/main" id="{059086E3-3C9B-4EFF-98CC-3E9014B3D731}"/>
                    </a:ext>
                  </a:extLst>
                </p:cNvPr>
                <p:cNvSpPr/>
                <p:nvPr/>
              </p:nvSpPr>
              <p:spPr bwMode="auto">
                <a:xfrm>
                  <a:off x="4005263" y="4962526"/>
                  <a:ext cx="250825" cy="250825"/>
                </a:xfrm>
                <a:custGeom>
                  <a:avLst/>
                  <a:gdLst>
                    <a:gd name="T0" fmla="*/ 129 w 258"/>
                    <a:gd name="T1" fmla="*/ 245 h 259"/>
                    <a:gd name="T2" fmla="*/ 14 w 258"/>
                    <a:gd name="T3" fmla="*/ 129 h 259"/>
                    <a:gd name="T4" fmla="*/ 129 w 258"/>
                    <a:gd name="T5" fmla="*/ 14 h 259"/>
                    <a:gd name="T6" fmla="*/ 244 w 258"/>
                    <a:gd name="T7" fmla="*/ 129 h 259"/>
                    <a:gd name="T8" fmla="*/ 241 w 258"/>
                    <a:gd name="T9" fmla="*/ 156 h 259"/>
                    <a:gd name="T10" fmla="*/ 255 w 258"/>
                    <a:gd name="T11" fmla="*/ 159 h 259"/>
                    <a:gd name="T12" fmla="*/ 258 w 258"/>
                    <a:gd name="T13" fmla="*/ 129 h 259"/>
                    <a:gd name="T14" fmla="*/ 129 w 258"/>
                    <a:gd name="T15" fmla="*/ 0 h 259"/>
                    <a:gd name="T16" fmla="*/ 0 w 258"/>
                    <a:gd name="T17" fmla="*/ 129 h 259"/>
                    <a:gd name="T18" fmla="*/ 129 w 258"/>
                    <a:gd name="T19" fmla="*/ 259 h 259"/>
                    <a:gd name="T20" fmla="*/ 155 w 258"/>
                    <a:gd name="T21" fmla="*/ 256 h 259"/>
                    <a:gd name="T22" fmla="*/ 152 w 258"/>
                    <a:gd name="T23" fmla="*/ 242 h 259"/>
                    <a:gd name="T24" fmla="*/ 129 w 258"/>
                    <a:gd name="T25" fmla="*/ 245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8" h="259">
                      <a:moveTo>
                        <a:pt x="129" y="245"/>
                      </a:moveTo>
                      <a:cubicBezTo>
                        <a:pt x="65" y="245"/>
                        <a:pt x="14" y="193"/>
                        <a:pt x="14" y="129"/>
                      </a:cubicBezTo>
                      <a:cubicBezTo>
                        <a:pt x="14" y="66"/>
                        <a:pt x="65" y="14"/>
                        <a:pt x="129" y="14"/>
                      </a:cubicBezTo>
                      <a:cubicBezTo>
                        <a:pt x="193" y="14"/>
                        <a:pt x="244" y="66"/>
                        <a:pt x="244" y="129"/>
                      </a:cubicBezTo>
                      <a:cubicBezTo>
                        <a:pt x="244" y="139"/>
                        <a:pt x="243" y="148"/>
                        <a:pt x="241" y="156"/>
                      </a:cubicBezTo>
                      <a:cubicBezTo>
                        <a:pt x="255" y="159"/>
                        <a:pt x="255" y="159"/>
                        <a:pt x="255" y="159"/>
                      </a:cubicBezTo>
                      <a:cubicBezTo>
                        <a:pt x="257" y="150"/>
                        <a:pt x="258" y="140"/>
                        <a:pt x="258" y="129"/>
                      </a:cubicBezTo>
                      <a:cubicBezTo>
                        <a:pt x="258" y="58"/>
                        <a:pt x="200" y="0"/>
                        <a:pt x="129" y="0"/>
                      </a:cubicBezTo>
                      <a:cubicBezTo>
                        <a:pt x="58" y="0"/>
                        <a:pt x="0" y="58"/>
                        <a:pt x="0" y="129"/>
                      </a:cubicBezTo>
                      <a:cubicBezTo>
                        <a:pt x="0" y="201"/>
                        <a:pt x="58" y="259"/>
                        <a:pt x="129" y="259"/>
                      </a:cubicBezTo>
                      <a:cubicBezTo>
                        <a:pt x="138" y="259"/>
                        <a:pt x="147" y="258"/>
                        <a:pt x="155" y="256"/>
                      </a:cubicBezTo>
                      <a:cubicBezTo>
                        <a:pt x="152" y="242"/>
                        <a:pt x="152" y="242"/>
                        <a:pt x="152" y="242"/>
                      </a:cubicBezTo>
                      <a:cubicBezTo>
                        <a:pt x="145" y="244"/>
                        <a:pt x="137" y="245"/>
                        <a:pt x="129" y="24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lt1"/>
                    </a:solidFill>
                    <a:latin typeface="思源宋体 CN" panose="02020400000000000000" pitchFamily="18" charset="-122"/>
                  </a:endParaRPr>
                </a:p>
              </p:txBody>
            </p:sp>
            <p:sp>
              <p:nvSpPr>
                <p:cNvPr id="58" name="Freeform 479">
                  <a:extLst>
                    <a:ext uri="{FF2B5EF4-FFF2-40B4-BE49-F238E27FC236}">
                      <a16:creationId xmlns:a16="http://schemas.microsoft.com/office/drawing/2014/main" id="{E2FF99C7-929D-422D-ABCE-3928F189ECBD}"/>
                    </a:ext>
                  </a:extLst>
                </p:cNvPr>
                <p:cNvSpPr>
                  <a:spLocks noEditPoints="1"/>
                </p:cNvSpPr>
                <p:nvPr/>
              </p:nvSpPr>
              <p:spPr bwMode="auto">
                <a:xfrm>
                  <a:off x="4027488" y="4984751"/>
                  <a:ext cx="206375" cy="206375"/>
                </a:xfrm>
                <a:custGeom>
                  <a:avLst/>
                  <a:gdLst>
                    <a:gd name="T0" fmla="*/ 106 w 212"/>
                    <a:gd name="T1" fmla="*/ 0 h 213"/>
                    <a:gd name="T2" fmla="*/ 0 w 212"/>
                    <a:gd name="T3" fmla="*/ 106 h 213"/>
                    <a:gd name="T4" fmla="*/ 106 w 212"/>
                    <a:gd name="T5" fmla="*/ 213 h 213"/>
                    <a:gd name="T6" fmla="*/ 127 w 212"/>
                    <a:gd name="T7" fmla="*/ 211 h 213"/>
                    <a:gd name="T8" fmla="*/ 105 w 212"/>
                    <a:gd name="T9" fmla="*/ 106 h 213"/>
                    <a:gd name="T10" fmla="*/ 120 w 212"/>
                    <a:gd name="T11" fmla="*/ 110 h 213"/>
                    <a:gd name="T12" fmla="*/ 117 w 212"/>
                    <a:gd name="T13" fmla="*/ 103 h 213"/>
                    <a:gd name="T14" fmla="*/ 128 w 212"/>
                    <a:gd name="T15" fmla="*/ 92 h 213"/>
                    <a:gd name="T16" fmla="*/ 139 w 212"/>
                    <a:gd name="T17" fmla="*/ 103 h 213"/>
                    <a:gd name="T18" fmla="*/ 132 w 212"/>
                    <a:gd name="T19" fmla="*/ 113 h 213"/>
                    <a:gd name="T20" fmla="*/ 209 w 212"/>
                    <a:gd name="T21" fmla="*/ 131 h 213"/>
                    <a:gd name="T22" fmla="*/ 212 w 212"/>
                    <a:gd name="T23" fmla="*/ 106 h 213"/>
                    <a:gd name="T24" fmla="*/ 106 w 212"/>
                    <a:gd name="T25" fmla="*/ 0 h 213"/>
                    <a:gd name="T26" fmla="*/ 42 w 212"/>
                    <a:gd name="T27" fmla="*/ 54 h 213"/>
                    <a:gd name="T28" fmla="*/ 57 w 212"/>
                    <a:gd name="T29" fmla="*/ 70 h 213"/>
                    <a:gd name="T30" fmla="*/ 42 w 212"/>
                    <a:gd name="T31" fmla="*/ 85 h 213"/>
                    <a:gd name="T32" fmla="*/ 26 w 212"/>
                    <a:gd name="T33" fmla="*/ 70 h 213"/>
                    <a:gd name="T34" fmla="*/ 42 w 212"/>
                    <a:gd name="T35" fmla="*/ 54 h 213"/>
                    <a:gd name="T36" fmla="*/ 40 w 212"/>
                    <a:gd name="T37" fmla="*/ 154 h 213"/>
                    <a:gd name="T38" fmla="*/ 21 w 212"/>
                    <a:gd name="T39" fmla="*/ 135 h 213"/>
                    <a:gd name="T40" fmla="*/ 40 w 212"/>
                    <a:gd name="T41" fmla="*/ 115 h 213"/>
                    <a:gd name="T42" fmla="*/ 60 w 212"/>
                    <a:gd name="T43" fmla="*/ 135 h 213"/>
                    <a:gd name="T44" fmla="*/ 40 w 212"/>
                    <a:gd name="T45" fmla="*/ 154 h 213"/>
                    <a:gd name="T46" fmla="*/ 89 w 212"/>
                    <a:gd name="T47" fmla="*/ 70 h 213"/>
                    <a:gd name="T48" fmla="*/ 102 w 212"/>
                    <a:gd name="T49" fmla="*/ 83 h 213"/>
                    <a:gd name="T50" fmla="*/ 89 w 212"/>
                    <a:gd name="T51" fmla="*/ 96 h 213"/>
                    <a:gd name="T52" fmla="*/ 76 w 212"/>
                    <a:gd name="T53" fmla="*/ 83 h 213"/>
                    <a:gd name="T54" fmla="*/ 89 w 212"/>
                    <a:gd name="T55" fmla="*/ 70 h 213"/>
                    <a:gd name="T56" fmla="*/ 76 w 212"/>
                    <a:gd name="T57" fmla="*/ 133 h 213"/>
                    <a:gd name="T58" fmla="*/ 89 w 212"/>
                    <a:gd name="T59" fmla="*/ 120 h 213"/>
                    <a:gd name="T60" fmla="*/ 102 w 212"/>
                    <a:gd name="T61" fmla="*/ 133 h 213"/>
                    <a:gd name="T62" fmla="*/ 89 w 212"/>
                    <a:gd name="T63" fmla="*/ 146 h 213"/>
                    <a:gd name="T64" fmla="*/ 76 w 212"/>
                    <a:gd name="T65" fmla="*/ 133 h 213"/>
                    <a:gd name="T66" fmla="*/ 117 w 212"/>
                    <a:gd name="T67" fmla="*/ 183 h 213"/>
                    <a:gd name="T68" fmla="*/ 102 w 212"/>
                    <a:gd name="T69" fmla="*/ 198 h 213"/>
                    <a:gd name="T70" fmla="*/ 87 w 212"/>
                    <a:gd name="T71" fmla="*/ 183 h 213"/>
                    <a:gd name="T72" fmla="*/ 102 w 212"/>
                    <a:gd name="T73" fmla="*/ 168 h 213"/>
                    <a:gd name="T74" fmla="*/ 117 w 212"/>
                    <a:gd name="T75" fmla="*/ 183 h 213"/>
                    <a:gd name="T76" fmla="*/ 106 w 212"/>
                    <a:gd name="T77" fmla="*/ 55 h 213"/>
                    <a:gd name="T78" fmla="*/ 88 w 212"/>
                    <a:gd name="T79" fmla="*/ 36 h 213"/>
                    <a:gd name="T80" fmla="*/ 106 w 212"/>
                    <a:gd name="T81" fmla="*/ 18 h 213"/>
                    <a:gd name="T82" fmla="*/ 125 w 212"/>
                    <a:gd name="T83" fmla="*/ 36 h 213"/>
                    <a:gd name="T84" fmla="*/ 106 w 212"/>
                    <a:gd name="T85" fmla="*/ 55 h 213"/>
                    <a:gd name="T86" fmla="*/ 139 w 212"/>
                    <a:gd name="T87" fmla="*/ 49 h 213"/>
                    <a:gd name="T88" fmla="*/ 152 w 212"/>
                    <a:gd name="T89" fmla="*/ 36 h 213"/>
                    <a:gd name="T90" fmla="*/ 165 w 212"/>
                    <a:gd name="T91" fmla="*/ 49 h 213"/>
                    <a:gd name="T92" fmla="*/ 152 w 212"/>
                    <a:gd name="T93" fmla="*/ 62 h 213"/>
                    <a:gd name="T94" fmla="*/ 139 w 212"/>
                    <a:gd name="T95" fmla="*/ 49 h 213"/>
                    <a:gd name="T96" fmla="*/ 175 w 212"/>
                    <a:gd name="T97" fmla="*/ 112 h 213"/>
                    <a:gd name="T98" fmla="*/ 157 w 212"/>
                    <a:gd name="T99" fmla="*/ 95 h 213"/>
                    <a:gd name="T100" fmla="*/ 175 w 212"/>
                    <a:gd name="T101" fmla="*/ 77 h 213"/>
                    <a:gd name="T102" fmla="*/ 193 w 212"/>
                    <a:gd name="T103" fmla="*/ 95 h 213"/>
                    <a:gd name="T104" fmla="*/ 175 w 212"/>
                    <a:gd name="T105" fmla="*/ 112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12" h="213">
                      <a:moveTo>
                        <a:pt x="106" y="0"/>
                      </a:moveTo>
                      <a:cubicBezTo>
                        <a:pt x="47" y="0"/>
                        <a:pt x="0" y="48"/>
                        <a:pt x="0" y="106"/>
                      </a:cubicBezTo>
                      <a:cubicBezTo>
                        <a:pt x="0" y="165"/>
                        <a:pt x="47" y="213"/>
                        <a:pt x="106" y="213"/>
                      </a:cubicBezTo>
                      <a:cubicBezTo>
                        <a:pt x="113" y="213"/>
                        <a:pt x="120" y="212"/>
                        <a:pt x="127" y="211"/>
                      </a:cubicBezTo>
                      <a:cubicBezTo>
                        <a:pt x="105" y="106"/>
                        <a:pt x="105" y="106"/>
                        <a:pt x="105" y="106"/>
                      </a:cubicBezTo>
                      <a:cubicBezTo>
                        <a:pt x="120" y="110"/>
                        <a:pt x="120" y="110"/>
                        <a:pt x="120" y="110"/>
                      </a:cubicBezTo>
                      <a:cubicBezTo>
                        <a:pt x="118" y="108"/>
                        <a:pt x="117" y="105"/>
                        <a:pt x="117" y="103"/>
                      </a:cubicBezTo>
                      <a:cubicBezTo>
                        <a:pt x="117" y="97"/>
                        <a:pt x="122" y="92"/>
                        <a:pt x="128" y="92"/>
                      </a:cubicBezTo>
                      <a:cubicBezTo>
                        <a:pt x="134" y="92"/>
                        <a:pt x="139" y="97"/>
                        <a:pt x="139" y="103"/>
                      </a:cubicBezTo>
                      <a:cubicBezTo>
                        <a:pt x="139" y="107"/>
                        <a:pt x="136" y="111"/>
                        <a:pt x="132" y="113"/>
                      </a:cubicBezTo>
                      <a:cubicBezTo>
                        <a:pt x="209" y="131"/>
                        <a:pt x="209" y="131"/>
                        <a:pt x="209" y="131"/>
                      </a:cubicBezTo>
                      <a:cubicBezTo>
                        <a:pt x="211" y="123"/>
                        <a:pt x="212" y="115"/>
                        <a:pt x="212" y="106"/>
                      </a:cubicBezTo>
                      <a:cubicBezTo>
                        <a:pt x="212" y="48"/>
                        <a:pt x="165" y="0"/>
                        <a:pt x="106" y="0"/>
                      </a:cubicBezTo>
                      <a:close/>
                      <a:moveTo>
                        <a:pt x="42" y="54"/>
                      </a:moveTo>
                      <a:cubicBezTo>
                        <a:pt x="50" y="54"/>
                        <a:pt x="57" y="61"/>
                        <a:pt x="57" y="70"/>
                      </a:cubicBezTo>
                      <a:cubicBezTo>
                        <a:pt x="57" y="78"/>
                        <a:pt x="50" y="85"/>
                        <a:pt x="42" y="85"/>
                      </a:cubicBezTo>
                      <a:cubicBezTo>
                        <a:pt x="33" y="85"/>
                        <a:pt x="26" y="78"/>
                        <a:pt x="26" y="70"/>
                      </a:cubicBezTo>
                      <a:cubicBezTo>
                        <a:pt x="26" y="61"/>
                        <a:pt x="33" y="54"/>
                        <a:pt x="42" y="54"/>
                      </a:cubicBezTo>
                      <a:close/>
                      <a:moveTo>
                        <a:pt x="40" y="154"/>
                      </a:moveTo>
                      <a:cubicBezTo>
                        <a:pt x="30" y="154"/>
                        <a:pt x="21" y="146"/>
                        <a:pt x="21" y="135"/>
                      </a:cubicBezTo>
                      <a:cubicBezTo>
                        <a:pt x="21" y="124"/>
                        <a:pt x="30" y="115"/>
                        <a:pt x="40" y="115"/>
                      </a:cubicBezTo>
                      <a:cubicBezTo>
                        <a:pt x="51" y="115"/>
                        <a:pt x="60" y="124"/>
                        <a:pt x="60" y="135"/>
                      </a:cubicBezTo>
                      <a:cubicBezTo>
                        <a:pt x="60" y="146"/>
                        <a:pt x="51" y="154"/>
                        <a:pt x="40" y="154"/>
                      </a:cubicBezTo>
                      <a:close/>
                      <a:moveTo>
                        <a:pt x="89" y="70"/>
                      </a:moveTo>
                      <a:cubicBezTo>
                        <a:pt x="96" y="70"/>
                        <a:pt x="102" y="76"/>
                        <a:pt x="102" y="83"/>
                      </a:cubicBezTo>
                      <a:cubicBezTo>
                        <a:pt x="102" y="90"/>
                        <a:pt x="96" y="96"/>
                        <a:pt x="89" y="96"/>
                      </a:cubicBezTo>
                      <a:cubicBezTo>
                        <a:pt x="82" y="96"/>
                        <a:pt x="76" y="90"/>
                        <a:pt x="76" y="83"/>
                      </a:cubicBezTo>
                      <a:cubicBezTo>
                        <a:pt x="76" y="76"/>
                        <a:pt x="82" y="70"/>
                        <a:pt x="89" y="70"/>
                      </a:cubicBezTo>
                      <a:close/>
                      <a:moveTo>
                        <a:pt x="76" y="133"/>
                      </a:moveTo>
                      <a:cubicBezTo>
                        <a:pt x="76" y="126"/>
                        <a:pt x="82" y="120"/>
                        <a:pt x="89" y="120"/>
                      </a:cubicBezTo>
                      <a:cubicBezTo>
                        <a:pt x="96" y="120"/>
                        <a:pt x="102" y="126"/>
                        <a:pt x="102" y="133"/>
                      </a:cubicBezTo>
                      <a:cubicBezTo>
                        <a:pt x="102" y="140"/>
                        <a:pt x="96" y="146"/>
                        <a:pt x="89" y="146"/>
                      </a:cubicBezTo>
                      <a:cubicBezTo>
                        <a:pt x="82" y="146"/>
                        <a:pt x="76" y="140"/>
                        <a:pt x="76" y="133"/>
                      </a:cubicBezTo>
                      <a:close/>
                      <a:moveTo>
                        <a:pt x="117" y="183"/>
                      </a:moveTo>
                      <a:cubicBezTo>
                        <a:pt x="117" y="191"/>
                        <a:pt x="110" y="198"/>
                        <a:pt x="102" y="198"/>
                      </a:cubicBezTo>
                      <a:cubicBezTo>
                        <a:pt x="94" y="198"/>
                        <a:pt x="87" y="191"/>
                        <a:pt x="87" y="183"/>
                      </a:cubicBezTo>
                      <a:cubicBezTo>
                        <a:pt x="87" y="175"/>
                        <a:pt x="94" y="168"/>
                        <a:pt x="102" y="168"/>
                      </a:cubicBezTo>
                      <a:cubicBezTo>
                        <a:pt x="110" y="168"/>
                        <a:pt x="117" y="175"/>
                        <a:pt x="117" y="183"/>
                      </a:cubicBezTo>
                      <a:close/>
                      <a:moveTo>
                        <a:pt x="106" y="55"/>
                      </a:moveTo>
                      <a:cubicBezTo>
                        <a:pt x="96" y="55"/>
                        <a:pt x="88" y="46"/>
                        <a:pt x="88" y="36"/>
                      </a:cubicBezTo>
                      <a:cubicBezTo>
                        <a:pt x="88" y="26"/>
                        <a:pt x="96" y="18"/>
                        <a:pt x="106" y="18"/>
                      </a:cubicBezTo>
                      <a:cubicBezTo>
                        <a:pt x="116" y="18"/>
                        <a:pt x="125" y="26"/>
                        <a:pt x="125" y="36"/>
                      </a:cubicBezTo>
                      <a:cubicBezTo>
                        <a:pt x="125" y="46"/>
                        <a:pt x="116" y="55"/>
                        <a:pt x="106" y="55"/>
                      </a:cubicBezTo>
                      <a:close/>
                      <a:moveTo>
                        <a:pt x="139" y="49"/>
                      </a:moveTo>
                      <a:cubicBezTo>
                        <a:pt x="139" y="42"/>
                        <a:pt x="145" y="36"/>
                        <a:pt x="152" y="36"/>
                      </a:cubicBezTo>
                      <a:cubicBezTo>
                        <a:pt x="159" y="36"/>
                        <a:pt x="165" y="42"/>
                        <a:pt x="165" y="49"/>
                      </a:cubicBezTo>
                      <a:cubicBezTo>
                        <a:pt x="165" y="56"/>
                        <a:pt x="159" y="62"/>
                        <a:pt x="152" y="62"/>
                      </a:cubicBezTo>
                      <a:cubicBezTo>
                        <a:pt x="145" y="62"/>
                        <a:pt x="139" y="56"/>
                        <a:pt x="139" y="49"/>
                      </a:cubicBezTo>
                      <a:close/>
                      <a:moveTo>
                        <a:pt x="175" y="112"/>
                      </a:moveTo>
                      <a:cubicBezTo>
                        <a:pt x="165" y="112"/>
                        <a:pt x="157" y="105"/>
                        <a:pt x="157" y="95"/>
                      </a:cubicBezTo>
                      <a:cubicBezTo>
                        <a:pt x="157" y="85"/>
                        <a:pt x="165" y="77"/>
                        <a:pt x="175" y="77"/>
                      </a:cubicBezTo>
                      <a:cubicBezTo>
                        <a:pt x="185" y="77"/>
                        <a:pt x="193" y="85"/>
                        <a:pt x="193" y="95"/>
                      </a:cubicBezTo>
                      <a:cubicBezTo>
                        <a:pt x="193" y="105"/>
                        <a:pt x="185" y="112"/>
                        <a:pt x="175" y="11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lt1"/>
                    </a:solidFill>
                    <a:latin typeface="思源宋体 CN" panose="02020400000000000000" pitchFamily="18" charset="-122"/>
                  </a:endParaRPr>
                </a:p>
              </p:txBody>
            </p:sp>
            <p:sp>
              <p:nvSpPr>
                <p:cNvPr id="59" name="Freeform 480">
                  <a:extLst>
                    <a:ext uri="{FF2B5EF4-FFF2-40B4-BE49-F238E27FC236}">
                      <a16:creationId xmlns:a16="http://schemas.microsoft.com/office/drawing/2014/main" id="{B46EB905-479A-46CA-A565-A41CEB775FD7}"/>
                    </a:ext>
                  </a:extLst>
                </p:cNvPr>
                <p:cNvSpPr/>
                <p:nvPr/>
              </p:nvSpPr>
              <p:spPr bwMode="auto">
                <a:xfrm>
                  <a:off x="4184650" y="5145088"/>
                  <a:ext cx="98425" cy="96838"/>
                </a:xfrm>
                <a:custGeom>
                  <a:avLst/>
                  <a:gdLst>
                    <a:gd name="T0" fmla="*/ 90 w 103"/>
                    <a:gd name="T1" fmla="*/ 0 h 100"/>
                    <a:gd name="T2" fmla="*/ 0 w 103"/>
                    <a:gd name="T3" fmla="*/ 87 h 100"/>
                    <a:gd name="T4" fmla="*/ 3 w 103"/>
                    <a:gd name="T5" fmla="*/ 100 h 100"/>
                    <a:gd name="T6" fmla="*/ 103 w 103"/>
                    <a:gd name="T7" fmla="*/ 4 h 100"/>
                    <a:gd name="T8" fmla="*/ 90 w 103"/>
                    <a:gd name="T9" fmla="*/ 0 h 100"/>
                  </a:gdLst>
                  <a:ahLst/>
                  <a:cxnLst>
                    <a:cxn ang="0">
                      <a:pos x="T0" y="T1"/>
                    </a:cxn>
                    <a:cxn ang="0">
                      <a:pos x="T2" y="T3"/>
                    </a:cxn>
                    <a:cxn ang="0">
                      <a:pos x="T4" y="T5"/>
                    </a:cxn>
                    <a:cxn ang="0">
                      <a:pos x="T6" y="T7"/>
                    </a:cxn>
                    <a:cxn ang="0">
                      <a:pos x="T8" y="T9"/>
                    </a:cxn>
                  </a:cxnLst>
                  <a:rect l="0" t="0" r="r" b="b"/>
                  <a:pathLst>
                    <a:path w="103" h="100">
                      <a:moveTo>
                        <a:pt x="90" y="0"/>
                      </a:moveTo>
                      <a:cubicBezTo>
                        <a:pt x="79" y="44"/>
                        <a:pt x="44" y="78"/>
                        <a:pt x="0" y="87"/>
                      </a:cubicBezTo>
                      <a:cubicBezTo>
                        <a:pt x="3" y="100"/>
                        <a:pt x="3" y="100"/>
                        <a:pt x="3" y="100"/>
                      </a:cubicBezTo>
                      <a:cubicBezTo>
                        <a:pt x="53" y="90"/>
                        <a:pt x="92" y="52"/>
                        <a:pt x="103" y="4"/>
                      </a:cubicBezTo>
                      <a:lnTo>
                        <a:pt x="9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lt1"/>
                    </a:solidFill>
                    <a:latin typeface="思源宋体 CN" panose="02020400000000000000" pitchFamily="18" charset="-122"/>
                  </a:endParaRPr>
                </a:p>
              </p:txBody>
            </p:sp>
            <p:sp>
              <p:nvSpPr>
                <p:cNvPr id="60" name="Freeform 481">
                  <a:extLst>
                    <a:ext uri="{FF2B5EF4-FFF2-40B4-BE49-F238E27FC236}">
                      <a16:creationId xmlns:a16="http://schemas.microsoft.com/office/drawing/2014/main" id="{A30B7179-0A91-4533-B338-C86F042B73EB}"/>
                    </a:ext>
                  </a:extLst>
                </p:cNvPr>
                <p:cNvSpPr>
                  <a:spLocks noEditPoints="1"/>
                </p:cNvSpPr>
                <p:nvPr/>
              </p:nvSpPr>
              <p:spPr bwMode="auto">
                <a:xfrm>
                  <a:off x="4162425" y="5118101"/>
                  <a:ext cx="100013" cy="101600"/>
                </a:xfrm>
                <a:custGeom>
                  <a:avLst/>
                  <a:gdLst>
                    <a:gd name="T0" fmla="*/ 104 w 104"/>
                    <a:gd name="T1" fmla="*/ 25 h 105"/>
                    <a:gd name="T2" fmla="*/ 27 w 104"/>
                    <a:gd name="T3" fmla="*/ 7 h 105"/>
                    <a:gd name="T4" fmla="*/ 23 w 104"/>
                    <a:gd name="T5" fmla="*/ 8 h 105"/>
                    <a:gd name="T6" fmla="*/ 14 w 104"/>
                    <a:gd name="T7" fmla="*/ 4 h 105"/>
                    <a:gd name="T8" fmla="*/ 0 w 104"/>
                    <a:gd name="T9" fmla="*/ 0 h 105"/>
                    <a:gd name="T10" fmla="*/ 22 w 104"/>
                    <a:gd name="T11" fmla="*/ 105 h 105"/>
                    <a:gd name="T12" fmla="*/ 104 w 104"/>
                    <a:gd name="T13" fmla="*/ 25 h 105"/>
                    <a:gd name="T14" fmla="*/ 73 w 104"/>
                    <a:gd name="T15" fmla="*/ 20 h 105"/>
                    <a:gd name="T16" fmla="*/ 84 w 104"/>
                    <a:gd name="T17" fmla="*/ 31 h 105"/>
                    <a:gd name="T18" fmla="*/ 73 w 104"/>
                    <a:gd name="T19" fmla="*/ 42 h 105"/>
                    <a:gd name="T20" fmla="*/ 62 w 104"/>
                    <a:gd name="T21" fmla="*/ 31 h 105"/>
                    <a:gd name="T22" fmla="*/ 73 w 104"/>
                    <a:gd name="T23" fmla="*/ 20 h 105"/>
                    <a:gd name="T24" fmla="*/ 31 w 104"/>
                    <a:gd name="T25" fmla="*/ 62 h 105"/>
                    <a:gd name="T26" fmla="*/ 13 w 104"/>
                    <a:gd name="T27" fmla="*/ 43 h 105"/>
                    <a:gd name="T28" fmla="*/ 31 w 104"/>
                    <a:gd name="T29" fmla="*/ 24 h 105"/>
                    <a:gd name="T30" fmla="*/ 50 w 104"/>
                    <a:gd name="T31" fmla="*/ 43 h 105"/>
                    <a:gd name="T32" fmla="*/ 31 w 104"/>
                    <a:gd name="T33" fmla="*/ 62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4" h="105">
                      <a:moveTo>
                        <a:pt x="104" y="25"/>
                      </a:moveTo>
                      <a:cubicBezTo>
                        <a:pt x="27" y="7"/>
                        <a:pt x="27" y="7"/>
                        <a:pt x="27" y="7"/>
                      </a:cubicBezTo>
                      <a:cubicBezTo>
                        <a:pt x="26" y="7"/>
                        <a:pt x="24" y="8"/>
                        <a:pt x="23" y="8"/>
                      </a:cubicBezTo>
                      <a:cubicBezTo>
                        <a:pt x="19" y="8"/>
                        <a:pt x="16" y="6"/>
                        <a:pt x="14" y="4"/>
                      </a:cubicBezTo>
                      <a:cubicBezTo>
                        <a:pt x="0" y="0"/>
                        <a:pt x="0" y="0"/>
                        <a:pt x="0" y="0"/>
                      </a:cubicBezTo>
                      <a:cubicBezTo>
                        <a:pt x="22" y="105"/>
                        <a:pt x="22" y="105"/>
                        <a:pt x="22" y="105"/>
                      </a:cubicBezTo>
                      <a:cubicBezTo>
                        <a:pt x="62" y="97"/>
                        <a:pt x="94" y="65"/>
                        <a:pt x="104" y="25"/>
                      </a:cubicBezTo>
                      <a:close/>
                      <a:moveTo>
                        <a:pt x="73" y="20"/>
                      </a:moveTo>
                      <a:cubicBezTo>
                        <a:pt x="79" y="20"/>
                        <a:pt x="84" y="25"/>
                        <a:pt x="84" y="31"/>
                      </a:cubicBezTo>
                      <a:cubicBezTo>
                        <a:pt x="84" y="37"/>
                        <a:pt x="79" y="42"/>
                        <a:pt x="73" y="42"/>
                      </a:cubicBezTo>
                      <a:cubicBezTo>
                        <a:pt x="67" y="42"/>
                        <a:pt x="62" y="37"/>
                        <a:pt x="62" y="31"/>
                      </a:cubicBezTo>
                      <a:cubicBezTo>
                        <a:pt x="62" y="25"/>
                        <a:pt x="67" y="20"/>
                        <a:pt x="73" y="20"/>
                      </a:cubicBezTo>
                      <a:close/>
                      <a:moveTo>
                        <a:pt x="31" y="62"/>
                      </a:moveTo>
                      <a:cubicBezTo>
                        <a:pt x="21" y="62"/>
                        <a:pt x="13" y="53"/>
                        <a:pt x="13" y="43"/>
                      </a:cubicBezTo>
                      <a:cubicBezTo>
                        <a:pt x="13" y="33"/>
                        <a:pt x="21" y="24"/>
                        <a:pt x="31" y="24"/>
                      </a:cubicBezTo>
                      <a:cubicBezTo>
                        <a:pt x="42" y="24"/>
                        <a:pt x="50" y="33"/>
                        <a:pt x="50" y="43"/>
                      </a:cubicBezTo>
                      <a:cubicBezTo>
                        <a:pt x="50" y="53"/>
                        <a:pt x="42" y="62"/>
                        <a:pt x="31" y="6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schemeClr val="lt1"/>
                    </a:solidFill>
                    <a:latin typeface="思源宋体 CN" panose="02020400000000000000" pitchFamily="18" charset="-122"/>
                  </a:endParaRPr>
                </a:p>
              </p:txBody>
            </p:sp>
          </p:grpSp>
        </p:grpSp>
      </p:grpSp>
      <p:sp>
        <p:nvSpPr>
          <p:cNvPr id="81" name="文本框 80">
            <a:extLst>
              <a:ext uri="{FF2B5EF4-FFF2-40B4-BE49-F238E27FC236}">
                <a16:creationId xmlns:a16="http://schemas.microsoft.com/office/drawing/2014/main" id="{7D0DB285-DCFB-43D6-B9EE-4A6FB7C0A1FF}"/>
              </a:ext>
            </a:extLst>
          </p:cNvPr>
          <p:cNvSpPr txBox="1"/>
          <p:nvPr/>
        </p:nvSpPr>
        <p:spPr>
          <a:xfrm>
            <a:off x="1260624" y="3938185"/>
            <a:ext cx="3763211" cy="1069908"/>
          </a:xfrm>
          <a:prstGeom prst="rect">
            <a:avLst/>
          </a:prstGeom>
          <a:noFill/>
        </p:spPr>
        <p:txBody>
          <a:bodyPr wrap="square">
            <a:spAutoFit/>
          </a:bodyPr>
          <a:lstStyle/>
          <a:p>
            <a:pPr algn="ctr">
              <a:lnSpc>
                <a:spcPct val="150000"/>
              </a:lnSpc>
            </a:pPr>
            <a:r>
              <a:rPr lang="zh-CN" altLang="en-US" sz="1600" b="1" dirty="0">
                <a:solidFill>
                  <a:schemeClr val="accent5">
                    <a:lumMod val="50000"/>
                  </a:schemeClr>
                </a:solidFill>
                <a:latin typeface="微软雅黑" panose="020B0503020204020204" pitchFamily="34" charset="-122"/>
                <a:ea typeface="微软雅黑" panose="020B0503020204020204" pitchFamily="34" charset="-122"/>
              </a:rPr>
              <a:t>培养目标</a:t>
            </a:r>
            <a:r>
              <a:rPr lang="en-US" altLang="zh-CN" sz="1600" b="1" dirty="0">
                <a:solidFill>
                  <a:schemeClr val="accent5">
                    <a:lumMod val="50000"/>
                  </a:schemeClr>
                </a:solidFill>
                <a:latin typeface="微软雅黑" panose="020B0503020204020204" pitchFamily="34" charset="-122"/>
                <a:ea typeface="微软雅黑" panose="020B0503020204020204" pitchFamily="34" charset="-122"/>
              </a:rPr>
              <a:t>3</a:t>
            </a:r>
            <a:r>
              <a:rPr lang="zh-CN" altLang="en-US" sz="1600" b="1" dirty="0">
                <a:solidFill>
                  <a:schemeClr val="accent5">
                    <a:lumMod val="50000"/>
                  </a:schemeClr>
                </a:solidFill>
                <a:latin typeface="微软雅黑" panose="020B0503020204020204" pitchFamily="34" charset="-122"/>
                <a:ea typeface="微软雅黑" panose="020B0503020204020204" pitchFamily="34" charset="-122"/>
              </a:rPr>
              <a:t>：智能教育教学与协同</a:t>
            </a:r>
            <a:endParaRPr lang="en-US" altLang="zh-CN" sz="1600" b="1" dirty="0">
              <a:solidFill>
                <a:schemeClr val="accent5">
                  <a:lumMod val="50000"/>
                </a:schemeClr>
              </a:solidFill>
              <a:latin typeface="微软雅黑" panose="020B0503020204020204" pitchFamily="34" charset="-122"/>
              <a:ea typeface="微软雅黑" panose="020B0503020204020204" pitchFamily="34" charset="-122"/>
            </a:endParaRPr>
          </a:p>
          <a:p>
            <a:pPr algn="ctr">
              <a:lnSpc>
                <a:spcPct val="150000"/>
              </a:lnSpc>
            </a:pPr>
            <a:r>
              <a:rPr lang="zh-CN" altLang="en-US" sz="1400" b="1" dirty="0">
                <a:latin typeface="微软雅黑" panose="020B0503020204020204" pitchFamily="34" charset="-122"/>
                <a:ea typeface="微软雅黑" panose="020B0503020204020204" pitchFamily="34" charset="-122"/>
              </a:rPr>
              <a:t>具备跨学科课程开发能力与“师</a:t>
            </a:r>
            <a:r>
              <a:rPr lang="en-US" altLang="zh-CN" sz="1400" b="1" dirty="0">
                <a:latin typeface="微软雅黑" panose="020B0503020204020204" pitchFamily="34" charset="-122"/>
                <a:ea typeface="微软雅黑" panose="020B0503020204020204" pitchFamily="34" charset="-122"/>
              </a:rPr>
              <a:t>-</a:t>
            </a:r>
            <a:r>
              <a:rPr lang="zh-CN" altLang="en-US" sz="1400" b="1" dirty="0">
                <a:latin typeface="微软雅黑" panose="020B0503020204020204" pitchFamily="34" charset="-122"/>
                <a:ea typeface="微软雅黑" panose="020B0503020204020204" pitchFamily="34" charset="-122"/>
              </a:rPr>
              <a:t>生</a:t>
            </a:r>
            <a:r>
              <a:rPr lang="en-US" altLang="zh-CN" sz="1400" b="1" dirty="0">
                <a:latin typeface="微软雅黑" panose="020B0503020204020204" pitchFamily="34" charset="-122"/>
                <a:ea typeface="微软雅黑" panose="020B0503020204020204" pitchFamily="34" charset="-122"/>
              </a:rPr>
              <a:t>-</a:t>
            </a:r>
            <a:r>
              <a:rPr lang="zh-CN" altLang="en-US" sz="1400" b="1" dirty="0">
                <a:latin typeface="微软雅黑" panose="020B0503020204020204" pitchFamily="34" charset="-122"/>
                <a:ea typeface="微软雅黑" panose="020B0503020204020204" pitchFamily="34" charset="-122"/>
              </a:rPr>
              <a:t>机”协同的教育教学能力。</a:t>
            </a:r>
            <a:endParaRPr lang="en-US" altLang="zh-CN" sz="1400" b="1" dirty="0">
              <a:latin typeface="微软雅黑" panose="020B0503020204020204" pitchFamily="34" charset="-122"/>
              <a:ea typeface="微软雅黑" panose="020B0503020204020204" pitchFamily="34" charset="-122"/>
            </a:endParaRPr>
          </a:p>
        </p:txBody>
      </p:sp>
      <p:sp>
        <p:nvSpPr>
          <p:cNvPr id="82" name="文本框 81">
            <a:extLst>
              <a:ext uri="{FF2B5EF4-FFF2-40B4-BE49-F238E27FC236}">
                <a16:creationId xmlns:a16="http://schemas.microsoft.com/office/drawing/2014/main" id="{08028F0D-307B-483F-9504-C02FA7793DE0}"/>
              </a:ext>
            </a:extLst>
          </p:cNvPr>
          <p:cNvSpPr txBox="1"/>
          <p:nvPr/>
        </p:nvSpPr>
        <p:spPr>
          <a:xfrm>
            <a:off x="6387549" y="2842093"/>
            <a:ext cx="3763211" cy="1069908"/>
          </a:xfrm>
          <a:prstGeom prst="rect">
            <a:avLst/>
          </a:prstGeom>
          <a:noFill/>
        </p:spPr>
        <p:txBody>
          <a:bodyPr wrap="square">
            <a:spAutoFit/>
          </a:bodyPr>
          <a:lstStyle/>
          <a:p>
            <a:pPr algn="ctr">
              <a:lnSpc>
                <a:spcPct val="150000"/>
              </a:lnSpc>
            </a:pPr>
            <a:r>
              <a:rPr lang="zh-CN" altLang="en-US" sz="1600" b="1">
                <a:solidFill>
                  <a:schemeClr val="accent5">
                    <a:lumMod val="50000"/>
                  </a:schemeClr>
                </a:solidFill>
                <a:latin typeface="微软雅黑" panose="020B0503020204020204" pitchFamily="34" charset="-122"/>
                <a:ea typeface="微软雅黑" panose="020B0503020204020204" pitchFamily="34" charset="-122"/>
              </a:rPr>
              <a:t>培养目标</a:t>
            </a:r>
            <a:r>
              <a:rPr lang="en-US" altLang="zh-CN" sz="1600" b="1">
                <a:solidFill>
                  <a:schemeClr val="accent5">
                    <a:lumMod val="50000"/>
                  </a:schemeClr>
                </a:solidFill>
                <a:latin typeface="微软雅黑" panose="020B0503020204020204" pitchFamily="34" charset="-122"/>
                <a:ea typeface="微软雅黑" panose="020B0503020204020204" pitchFamily="34" charset="-122"/>
              </a:rPr>
              <a:t>1</a:t>
            </a:r>
            <a:r>
              <a:rPr lang="zh-CN" altLang="en-US" sz="1600" b="1">
                <a:solidFill>
                  <a:schemeClr val="accent5">
                    <a:lumMod val="50000"/>
                  </a:schemeClr>
                </a:solidFill>
                <a:latin typeface="微软雅黑" panose="020B0503020204020204" pitchFamily="34" charset="-122"/>
                <a:ea typeface="微软雅黑" panose="020B0503020204020204" pitchFamily="34" charset="-122"/>
              </a:rPr>
              <a:t>：教育</a:t>
            </a:r>
            <a:r>
              <a:rPr lang="en-US" altLang="zh-CN" sz="1600" b="1">
                <a:solidFill>
                  <a:schemeClr val="accent5">
                    <a:lumMod val="50000"/>
                  </a:schemeClr>
                </a:solidFill>
                <a:latin typeface="微软雅黑" panose="020B0503020204020204" pitchFamily="34" charset="-122"/>
                <a:ea typeface="微软雅黑" panose="020B0503020204020204" pitchFamily="34" charset="-122"/>
              </a:rPr>
              <a:t>AI</a:t>
            </a:r>
            <a:r>
              <a:rPr lang="zh-CN" altLang="en-US" sz="1600" b="1">
                <a:solidFill>
                  <a:schemeClr val="accent5">
                    <a:lumMod val="50000"/>
                  </a:schemeClr>
                </a:solidFill>
                <a:latin typeface="微软雅黑" panose="020B0503020204020204" pitchFamily="34" charset="-122"/>
                <a:ea typeface="微软雅黑" panose="020B0503020204020204" pitchFamily="34" charset="-122"/>
              </a:rPr>
              <a:t>产品开发与应用</a:t>
            </a:r>
            <a:endParaRPr lang="en-US" altLang="zh-CN" sz="1600" b="1">
              <a:solidFill>
                <a:schemeClr val="accent5">
                  <a:lumMod val="50000"/>
                </a:schemeClr>
              </a:solidFill>
              <a:latin typeface="微软雅黑" panose="020B0503020204020204" pitchFamily="34" charset="-122"/>
              <a:ea typeface="微软雅黑" panose="020B0503020204020204" pitchFamily="34" charset="-122"/>
            </a:endParaRPr>
          </a:p>
          <a:p>
            <a:pPr algn="ctr">
              <a:lnSpc>
                <a:spcPct val="150000"/>
              </a:lnSpc>
            </a:pPr>
            <a:r>
              <a:rPr lang="zh-CN" altLang="en-US" sz="1400" b="1">
                <a:latin typeface="微软雅黑" panose="020B0503020204020204" pitchFamily="34" charset="-122"/>
                <a:ea typeface="微软雅黑" panose="020B0503020204020204" pitchFamily="34" charset="-122"/>
              </a:rPr>
              <a:t>掌握跨学科课程，支撑智能教育产品研发、精准教学和教育治理实践。</a:t>
            </a:r>
            <a:endParaRPr lang="en-US" altLang="zh-CN" sz="1400" b="1">
              <a:latin typeface="微软雅黑" panose="020B0503020204020204" pitchFamily="34" charset="-122"/>
              <a:ea typeface="微软雅黑" panose="020B0503020204020204" pitchFamily="34" charset="-122"/>
            </a:endParaRPr>
          </a:p>
        </p:txBody>
      </p:sp>
      <p:sp>
        <p:nvSpPr>
          <p:cNvPr id="83" name="文本框 82">
            <a:extLst>
              <a:ext uri="{FF2B5EF4-FFF2-40B4-BE49-F238E27FC236}">
                <a16:creationId xmlns:a16="http://schemas.microsoft.com/office/drawing/2014/main" id="{30AD6DC3-FB56-4959-9F8C-D240E6CE7455}"/>
              </a:ext>
            </a:extLst>
          </p:cNvPr>
          <p:cNvSpPr txBox="1"/>
          <p:nvPr/>
        </p:nvSpPr>
        <p:spPr>
          <a:xfrm>
            <a:off x="6334055" y="3910633"/>
            <a:ext cx="3763211" cy="1069908"/>
          </a:xfrm>
          <a:prstGeom prst="rect">
            <a:avLst/>
          </a:prstGeom>
          <a:noFill/>
        </p:spPr>
        <p:txBody>
          <a:bodyPr wrap="square">
            <a:spAutoFit/>
          </a:bodyPr>
          <a:lstStyle/>
          <a:p>
            <a:pPr algn="ctr">
              <a:lnSpc>
                <a:spcPct val="150000"/>
              </a:lnSpc>
            </a:pPr>
            <a:r>
              <a:rPr lang="zh-CN" altLang="en-US" sz="1600" b="1" dirty="0">
                <a:solidFill>
                  <a:schemeClr val="accent5">
                    <a:lumMod val="50000"/>
                  </a:schemeClr>
                </a:solidFill>
                <a:latin typeface="微软雅黑" panose="020B0503020204020204" pitchFamily="34" charset="-122"/>
                <a:ea typeface="微软雅黑" panose="020B0503020204020204" pitchFamily="34" charset="-122"/>
              </a:rPr>
              <a:t>培养目标</a:t>
            </a:r>
            <a:r>
              <a:rPr lang="en-US" altLang="zh-CN" sz="1600" b="1" dirty="0">
                <a:solidFill>
                  <a:schemeClr val="accent5">
                    <a:lumMod val="50000"/>
                  </a:schemeClr>
                </a:solidFill>
                <a:latin typeface="微软雅黑" panose="020B0503020204020204" pitchFamily="34" charset="-122"/>
                <a:ea typeface="微软雅黑" panose="020B0503020204020204" pitchFamily="34" charset="-122"/>
              </a:rPr>
              <a:t>4</a:t>
            </a:r>
            <a:r>
              <a:rPr lang="zh-CN" altLang="en-US" sz="1600" b="1" dirty="0">
                <a:solidFill>
                  <a:schemeClr val="accent5">
                    <a:lumMod val="50000"/>
                  </a:schemeClr>
                </a:solidFill>
                <a:latin typeface="微软雅黑" panose="020B0503020204020204" pitchFamily="34" charset="-122"/>
                <a:ea typeface="微软雅黑" panose="020B0503020204020204" pitchFamily="34" charset="-122"/>
              </a:rPr>
              <a:t>：伦理规制与跨界协同</a:t>
            </a:r>
            <a:endParaRPr lang="en-US" altLang="zh-CN" sz="1600" b="1" dirty="0">
              <a:solidFill>
                <a:schemeClr val="accent5">
                  <a:lumMod val="50000"/>
                </a:schemeClr>
              </a:solidFill>
              <a:latin typeface="微软雅黑" panose="020B0503020204020204" pitchFamily="34" charset="-122"/>
              <a:ea typeface="微软雅黑" panose="020B0503020204020204" pitchFamily="34" charset="-122"/>
            </a:endParaRPr>
          </a:p>
          <a:p>
            <a:pPr algn="ctr">
              <a:lnSpc>
                <a:spcPct val="150000"/>
              </a:lnSpc>
            </a:pPr>
            <a:r>
              <a:rPr lang="zh-CN" altLang="en-US" sz="1400" b="1" dirty="0">
                <a:latin typeface="微软雅黑" panose="020B0503020204020204" pitchFamily="34" charset="-122"/>
                <a:ea typeface="微软雅黑" panose="020B0503020204020204" pitchFamily="34" charset="-122"/>
              </a:rPr>
              <a:t>深入理解人工智能伦理、教育公平、教育数据合规与技术向善的基本要求。</a:t>
            </a:r>
            <a:endParaRPr lang="en-US" altLang="zh-CN" sz="1400" b="1" dirty="0">
              <a:latin typeface="微软雅黑" panose="020B0503020204020204" pitchFamily="34" charset="-122"/>
              <a:ea typeface="微软雅黑" panose="020B0503020204020204" pitchFamily="34" charset="-122"/>
            </a:endParaRPr>
          </a:p>
        </p:txBody>
      </p:sp>
      <p:sp>
        <p:nvSpPr>
          <p:cNvPr id="84" name="矩形: 圆角 83">
            <a:extLst>
              <a:ext uri="{FF2B5EF4-FFF2-40B4-BE49-F238E27FC236}">
                <a16:creationId xmlns:a16="http://schemas.microsoft.com/office/drawing/2014/main" id="{FDD1D6D4-5661-4AFC-8C4B-09B46C357CC6}"/>
              </a:ext>
            </a:extLst>
          </p:cNvPr>
          <p:cNvSpPr/>
          <p:nvPr/>
        </p:nvSpPr>
        <p:spPr>
          <a:xfrm>
            <a:off x="1144574" y="2759284"/>
            <a:ext cx="9583216" cy="2220593"/>
          </a:xfrm>
          <a:prstGeom prst="roundRect">
            <a:avLst>
              <a:gd name="adj" fmla="val 12129"/>
            </a:avLst>
          </a:prstGeom>
          <a:noFill/>
          <a:ln w="285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矩形: 圆角 84">
            <a:extLst>
              <a:ext uri="{FF2B5EF4-FFF2-40B4-BE49-F238E27FC236}">
                <a16:creationId xmlns:a16="http://schemas.microsoft.com/office/drawing/2014/main" id="{6CD85A7F-7E1C-481A-9BC2-7DD48B2B3291}"/>
              </a:ext>
            </a:extLst>
          </p:cNvPr>
          <p:cNvSpPr/>
          <p:nvPr/>
        </p:nvSpPr>
        <p:spPr>
          <a:xfrm>
            <a:off x="1170707" y="5283952"/>
            <a:ext cx="9583216" cy="1477991"/>
          </a:xfrm>
          <a:prstGeom prst="roundRect">
            <a:avLst>
              <a:gd name="adj" fmla="val 12129"/>
            </a:avLst>
          </a:prstGeom>
          <a:noFill/>
          <a:ln w="285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916006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a:extLst>
              <a:ext uri="{FF2B5EF4-FFF2-40B4-BE49-F238E27FC236}">
                <a16:creationId xmlns:a16="http://schemas.microsoft.com/office/drawing/2014/main" id="{39AF018C-BD1E-4D1C-A575-89BC7165FB5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189341" y="28710"/>
            <a:ext cx="881729" cy="881729"/>
          </a:xfrm>
          <a:prstGeom prst="rect">
            <a:avLst/>
          </a:prstGeom>
        </p:spPr>
      </p:pic>
      <p:pic>
        <p:nvPicPr>
          <p:cNvPr id="24" name="图片 23">
            <a:extLst>
              <a:ext uri="{FF2B5EF4-FFF2-40B4-BE49-F238E27FC236}">
                <a16:creationId xmlns:a16="http://schemas.microsoft.com/office/drawing/2014/main" id="{118A43A9-C67F-4CB1-B9F4-63E761CBC2D0}"/>
              </a:ext>
            </a:extLst>
          </p:cNvPr>
          <p:cNvPicPr>
            <a:picLocks noChangeAspect="1"/>
          </p:cNvPicPr>
          <p:nvPr/>
        </p:nvPicPr>
        <p:blipFill>
          <a:blip r:embed="rId4" cstate="print">
            <a:extLst>
              <a:ext uri="{28A0092B-C50C-407E-A947-70E740481C1C}">
                <a14:useLocalDpi xmlns:a14="http://schemas.microsoft.com/office/drawing/2010/main" val="0"/>
              </a:ext>
            </a:extLst>
          </a:blip>
          <a:srcRect l="1133" r="1133"/>
          <a:stretch/>
        </p:blipFill>
        <p:spPr>
          <a:xfrm>
            <a:off x="274100" y="75737"/>
            <a:ext cx="802225" cy="806727"/>
          </a:xfrm>
          <a:prstGeom prst="rect">
            <a:avLst/>
          </a:prstGeom>
        </p:spPr>
      </p:pic>
      <p:sp>
        <p:nvSpPr>
          <p:cNvPr id="25" name="文本框 24">
            <a:extLst>
              <a:ext uri="{FF2B5EF4-FFF2-40B4-BE49-F238E27FC236}">
                <a16:creationId xmlns:a16="http://schemas.microsoft.com/office/drawing/2014/main" id="{D2B29A73-493F-45ED-A593-8D7573299A30}"/>
              </a:ext>
            </a:extLst>
          </p:cNvPr>
          <p:cNvSpPr txBox="1"/>
          <p:nvPr/>
        </p:nvSpPr>
        <p:spPr>
          <a:xfrm>
            <a:off x="6313868" y="337344"/>
            <a:ext cx="6157730" cy="406971"/>
          </a:xfrm>
          <a:prstGeom prst="rect">
            <a:avLst/>
          </a:prstGeom>
          <a:noFill/>
        </p:spPr>
        <p:txBody>
          <a:bodyPr wrap="square">
            <a:spAutoFit/>
          </a:bodyPr>
          <a:lstStyle/>
          <a:p>
            <a:pPr algn="ctr" defTabSz="342900">
              <a:lnSpc>
                <a:spcPct val="125000"/>
              </a:lnSpc>
            </a:pPr>
            <a:endParaRPr lang="en-US" altLang="zh-CN" b="1">
              <a:latin typeface="微软雅黑" pitchFamily="34" charset="-122"/>
              <a:ea typeface="微软雅黑" pitchFamily="34" charset="-122"/>
              <a:cs typeface="Calibri" charset="0"/>
            </a:endParaRPr>
          </a:p>
        </p:txBody>
      </p:sp>
      <p:sp>
        <p:nvSpPr>
          <p:cNvPr id="26" name="文本框 11">
            <a:extLst>
              <a:ext uri="{FF2B5EF4-FFF2-40B4-BE49-F238E27FC236}">
                <a16:creationId xmlns:a16="http://schemas.microsoft.com/office/drawing/2014/main" id="{D7D3FDA0-EE55-4DA0-9A6C-9EE877927692}"/>
              </a:ext>
            </a:extLst>
          </p:cNvPr>
          <p:cNvSpPr txBox="1"/>
          <p:nvPr/>
        </p:nvSpPr>
        <p:spPr>
          <a:xfrm>
            <a:off x="1975284" y="1632283"/>
            <a:ext cx="498855"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400" b="0"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rPr>
              <a:t>1</a:t>
            </a:r>
            <a:endParaRPr kumimoji="0" lang="zh-CN" altLang="en-US" sz="4400" b="0"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38" name="文本框 37">
            <a:extLst>
              <a:ext uri="{FF2B5EF4-FFF2-40B4-BE49-F238E27FC236}">
                <a16:creationId xmlns:a16="http://schemas.microsoft.com/office/drawing/2014/main" id="{4AC7FF98-608B-4736-9C1E-FB82975F6C75}"/>
              </a:ext>
            </a:extLst>
          </p:cNvPr>
          <p:cNvSpPr txBox="1"/>
          <p:nvPr/>
        </p:nvSpPr>
        <p:spPr>
          <a:xfrm>
            <a:off x="6269498" y="489744"/>
            <a:ext cx="6157730" cy="406971"/>
          </a:xfrm>
          <a:prstGeom prst="rect">
            <a:avLst/>
          </a:prstGeom>
          <a:noFill/>
        </p:spPr>
        <p:txBody>
          <a:bodyPr wrap="square">
            <a:spAutoFit/>
          </a:bodyPr>
          <a:lstStyle/>
          <a:p>
            <a:pPr algn="ctr" defTabSz="342900">
              <a:lnSpc>
                <a:spcPct val="125000"/>
              </a:lnSpc>
            </a:pPr>
            <a:r>
              <a:rPr lang="zh-CN" altLang="en-US" b="1">
                <a:latin typeface="微软雅黑" pitchFamily="34" charset="-122"/>
                <a:ea typeface="微软雅黑" pitchFamily="34" charset="-122"/>
                <a:cs typeface="Calibri" charset="0"/>
              </a:rPr>
              <a:t>“教育学</a:t>
            </a:r>
            <a:r>
              <a:rPr lang="en-US" altLang="zh-CN" b="1">
                <a:latin typeface="微软雅黑" pitchFamily="34" charset="-122"/>
                <a:ea typeface="微软雅黑" pitchFamily="34" charset="-122"/>
                <a:cs typeface="Calibri" charset="0"/>
              </a:rPr>
              <a:t>+</a:t>
            </a:r>
            <a:r>
              <a:rPr lang="zh-CN" altLang="en-US" b="1">
                <a:latin typeface="微软雅黑" pitchFamily="34" charset="-122"/>
                <a:ea typeface="微软雅黑" pitchFamily="34" charset="-122"/>
                <a:cs typeface="Calibri" charset="0"/>
              </a:rPr>
              <a:t>人工智能”双学士学位复合型人才培养项目</a:t>
            </a:r>
            <a:endParaRPr lang="en-US" altLang="zh-CN" b="1">
              <a:latin typeface="微软雅黑" pitchFamily="34" charset="-122"/>
              <a:ea typeface="微软雅黑" pitchFamily="34" charset="-122"/>
              <a:cs typeface="Calibri" charset="0"/>
            </a:endParaRPr>
          </a:p>
        </p:txBody>
      </p:sp>
      <p:sp>
        <p:nvSpPr>
          <p:cNvPr id="37" name="矩形 36">
            <a:extLst>
              <a:ext uri="{FF2B5EF4-FFF2-40B4-BE49-F238E27FC236}">
                <a16:creationId xmlns:a16="http://schemas.microsoft.com/office/drawing/2014/main" id="{8FB6A2CE-35F8-4F55-BFC5-FD8C174BF855}"/>
              </a:ext>
            </a:extLst>
          </p:cNvPr>
          <p:cNvSpPr/>
          <p:nvPr/>
        </p:nvSpPr>
        <p:spPr>
          <a:xfrm>
            <a:off x="0" y="924560"/>
            <a:ext cx="12192000" cy="665627"/>
          </a:xfrm>
          <a:prstGeom prst="rect">
            <a:avLst/>
          </a:prstGeom>
          <a:solidFill>
            <a:srgbClr val="4472C4">
              <a:lumMod val="50000"/>
            </a:srgbClr>
          </a:solidFill>
          <a:ln w="12700" cap="flat" cmpd="sng" algn="ctr">
            <a:solidFill>
              <a:srgbClr val="4472C4">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a:ea typeface="微软雅黑"/>
              <a:cs typeface="+mn-cs"/>
            </a:endParaRPr>
          </a:p>
        </p:txBody>
      </p:sp>
      <p:sp>
        <p:nvSpPr>
          <p:cNvPr id="39" name="矩形 38">
            <a:extLst>
              <a:ext uri="{FF2B5EF4-FFF2-40B4-BE49-F238E27FC236}">
                <a16:creationId xmlns:a16="http://schemas.microsoft.com/office/drawing/2014/main" id="{823AB753-701A-4FCC-9320-14479DDFF25A}"/>
              </a:ext>
            </a:extLst>
          </p:cNvPr>
          <p:cNvSpPr/>
          <p:nvPr/>
        </p:nvSpPr>
        <p:spPr>
          <a:xfrm>
            <a:off x="-1" y="924560"/>
            <a:ext cx="2152843" cy="665627"/>
          </a:xfrm>
          <a:prstGeom prst="rect">
            <a:avLst/>
          </a:prstGeom>
          <a:solidFill>
            <a:srgbClr val="FF9900"/>
          </a:solidFill>
          <a:ln w="12700" cap="flat" cmpd="sng" algn="ctr">
            <a:solidFill>
              <a:srgbClr val="FF99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Arial"/>
              <a:ea typeface="微软雅黑"/>
              <a:cs typeface="+mn-cs"/>
            </a:endParaRPr>
          </a:p>
        </p:txBody>
      </p:sp>
      <p:sp>
        <p:nvSpPr>
          <p:cNvPr id="41" name="文本框 14">
            <a:extLst>
              <a:ext uri="{FF2B5EF4-FFF2-40B4-BE49-F238E27FC236}">
                <a16:creationId xmlns:a16="http://schemas.microsoft.com/office/drawing/2014/main" id="{015B90C6-A07A-45B5-A086-320ABA310580}"/>
              </a:ext>
            </a:extLst>
          </p:cNvPr>
          <p:cNvSpPr txBox="1"/>
          <p:nvPr/>
        </p:nvSpPr>
        <p:spPr>
          <a:xfrm>
            <a:off x="359003" y="1107051"/>
            <a:ext cx="1793840" cy="369332"/>
          </a:xfrm>
          <a:prstGeom prst="rect">
            <a:avLst/>
          </a:prstGeom>
          <a:noFill/>
        </p:spPr>
        <p:txBody>
          <a:bodyPr wrap="square" rtlCol="0">
            <a:spAutoFit/>
          </a:bodyPr>
          <a:lstStyle/>
          <a:p>
            <a:pPr algn="just"/>
            <a:r>
              <a:rPr lang="zh-CN" altLang="en-US" b="1">
                <a:solidFill>
                  <a:prstClr val="white"/>
                </a:solidFill>
                <a:latin typeface="Arial"/>
                <a:ea typeface="微软雅黑"/>
              </a:rPr>
              <a:t>一  总体思路</a:t>
            </a:r>
            <a:endParaRPr lang="zh-CN" altLang="en-US" b="1" dirty="0">
              <a:solidFill>
                <a:prstClr val="white"/>
              </a:solidFill>
              <a:latin typeface="Arial"/>
              <a:ea typeface="微软雅黑"/>
            </a:endParaRPr>
          </a:p>
        </p:txBody>
      </p:sp>
      <p:sp>
        <p:nvSpPr>
          <p:cNvPr id="42" name="文本框 14">
            <a:extLst>
              <a:ext uri="{FF2B5EF4-FFF2-40B4-BE49-F238E27FC236}">
                <a16:creationId xmlns:a16="http://schemas.microsoft.com/office/drawing/2014/main" id="{E83C2809-FA1C-4CC3-B55A-BF144E1A6B36}"/>
              </a:ext>
            </a:extLst>
          </p:cNvPr>
          <p:cNvSpPr txBox="1"/>
          <p:nvPr/>
        </p:nvSpPr>
        <p:spPr>
          <a:xfrm>
            <a:off x="2642427" y="1107051"/>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二  课程体系实施</a:t>
            </a:r>
            <a:endParaRPr lang="zh-CN" altLang="en-US" b="1" dirty="0">
              <a:solidFill>
                <a:prstClr val="white"/>
              </a:solidFill>
              <a:latin typeface="Arial"/>
              <a:ea typeface="微软雅黑"/>
            </a:endParaRPr>
          </a:p>
        </p:txBody>
      </p:sp>
      <p:sp>
        <p:nvSpPr>
          <p:cNvPr id="43" name="文本框 14">
            <a:extLst>
              <a:ext uri="{FF2B5EF4-FFF2-40B4-BE49-F238E27FC236}">
                <a16:creationId xmlns:a16="http://schemas.microsoft.com/office/drawing/2014/main" id="{A5F09B9A-4A33-43D9-8256-7574E1A53A97}"/>
              </a:ext>
            </a:extLst>
          </p:cNvPr>
          <p:cNvSpPr txBox="1"/>
          <p:nvPr/>
        </p:nvSpPr>
        <p:spPr>
          <a:xfrm>
            <a:off x="5054466" y="1071284"/>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三  实践体系实施</a:t>
            </a:r>
            <a:endParaRPr lang="zh-CN" altLang="en-US" b="1" dirty="0">
              <a:solidFill>
                <a:prstClr val="white"/>
              </a:solidFill>
              <a:latin typeface="Arial"/>
              <a:ea typeface="微软雅黑"/>
            </a:endParaRPr>
          </a:p>
        </p:txBody>
      </p:sp>
      <p:sp>
        <p:nvSpPr>
          <p:cNvPr id="44" name="文本框 14">
            <a:extLst>
              <a:ext uri="{FF2B5EF4-FFF2-40B4-BE49-F238E27FC236}">
                <a16:creationId xmlns:a16="http://schemas.microsoft.com/office/drawing/2014/main" id="{CDA687C1-4B1E-4E25-9FC3-6C5E100C1733}"/>
              </a:ext>
            </a:extLst>
          </p:cNvPr>
          <p:cNvSpPr txBox="1"/>
          <p:nvPr/>
        </p:nvSpPr>
        <p:spPr>
          <a:xfrm>
            <a:off x="7338510" y="1071183"/>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四  导师制与学业指导</a:t>
            </a:r>
            <a:endParaRPr lang="zh-CN" altLang="en-US" b="1" dirty="0">
              <a:solidFill>
                <a:prstClr val="white"/>
              </a:solidFill>
              <a:latin typeface="Arial"/>
              <a:ea typeface="微软雅黑"/>
            </a:endParaRPr>
          </a:p>
        </p:txBody>
      </p:sp>
      <p:sp>
        <p:nvSpPr>
          <p:cNvPr id="45" name="文本框 14">
            <a:extLst>
              <a:ext uri="{FF2B5EF4-FFF2-40B4-BE49-F238E27FC236}">
                <a16:creationId xmlns:a16="http://schemas.microsoft.com/office/drawing/2014/main" id="{1BEEFCCB-FAF4-443C-A8A1-5820B2C41CA4}"/>
              </a:ext>
            </a:extLst>
          </p:cNvPr>
          <p:cNvSpPr txBox="1"/>
          <p:nvPr/>
        </p:nvSpPr>
        <p:spPr>
          <a:xfrm>
            <a:off x="10133884" y="1058701"/>
            <a:ext cx="2058115" cy="369332"/>
          </a:xfrm>
          <a:prstGeom prst="rect">
            <a:avLst/>
          </a:prstGeom>
          <a:noFill/>
        </p:spPr>
        <p:txBody>
          <a:bodyPr wrap="square" rtlCol="0">
            <a:spAutoFit/>
          </a:bodyPr>
          <a:lstStyle/>
          <a:p>
            <a:pPr algn="just"/>
            <a:r>
              <a:rPr lang="zh-CN" altLang="en-US" b="1">
                <a:solidFill>
                  <a:prstClr val="white"/>
                </a:solidFill>
                <a:latin typeface="Arial"/>
                <a:ea typeface="微软雅黑"/>
              </a:rPr>
              <a:t>五  保障机制</a:t>
            </a:r>
            <a:endParaRPr lang="zh-CN" altLang="en-US" b="1" dirty="0">
              <a:solidFill>
                <a:prstClr val="white"/>
              </a:solidFill>
              <a:latin typeface="Arial"/>
              <a:ea typeface="微软雅黑"/>
            </a:endParaRPr>
          </a:p>
        </p:txBody>
      </p:sp>
      <p:sp>
        <p:nvSpPr>
          <p:cNvPr id="47" name="文本框 12">
            <a:extLst>
              <a:ext uri="{FF2B5EF4-FFF2-40B4-BE49-F238E27FC236}">
                <a16:creationId xmlns:a16="http://schemas.microsoft.com/office/drawing/2014/main" id="{6952C5C1-975D-4651-BC8B-71FD0BB9D597}"/>
              </a:ext>
            </a:extLst>
          </p:cNvPr>
          <p:cNvSpPr txBox="1"/>
          <p:nvPr/>
        </p:nvSpPr>
        <p:spPr>
          <a:xfrm>
            <a:off x="359003" y="1760040"/>
            <a:ext cx="1877437" cy="461665"/>
          </a:xfrm>
          <a:prstGeom prst="rect">
            <a:avLst/>
          </a:prstGeom>
          <a:noFill/>
        </p:spPr>
        <p:txBody>
          <a:bodyPr wrap="none" rtlCol="0">
            <a:spAutoFit/>
          </a:bodyPr>
          <a:lstStyle/>
          <a:p>
            <a:pPr marL="457200" marR="0" lvl="0" indent="-457200" algn="l" defTabSz="914400" rtl="0" eaLnBrk="1" fontAlgn="auto" latinLnBrk="0" hangingPunct="1">
              <a:lnSpc>
                <a:spcPct val="100000"/>
              </a:lnSpc>
              <a:spcBef>
                <a:spcPts val="0"/>
              </a:spcBef>
              <a:spcAft>
                <a:spcPts val="0"/>
              </a:spcAft>
              <a:buClr>
                <a:srgbClr val="C00000"/>
              </a:buClr>
              <a:buSzTx/>
              <a:buFont typeface="Wingdings" panose="05000000000000000000" pitchFamily="2" charset="2"/>
              <a:buChar char="p"/>
              <a:tabLst/>
              <a:defRPr/>
            </a:pPr>
            <a:r>
              <a:rPr lang="zh-CN" altLang="en-US" sz="2400" b="1" kern="0">
                <a:solidFill>
                  <a:srgbClr val="004E86"/>
                </a:solidFill>
                <a:latin typeface="微软雅黑" panose="020B0503020204020204" pitchFamily="34" charset="-122"/>
                <a:ea typeface="微软雅黑" panose="020B0503020204020204" pitchFamily="34" charset="-122"/>
              </a:rPr>
              <a:t>项目定位</a:t>
            </a:r>
            <a:endParaRPr kumimoji="0" lang="zh-CN" altLang="en-US" b="1" i="0" u="none" strike="noStrike" kern="0" cap="none" spc="0" normalizeH="0" baseline="0" noProof="0" dirty="0">
              <a:ln>
                <a:noFill/>
              </a:ln>
              <a:solidFill>
                <a:srgbClr val="004E86"/>
              </a:solidFill>
              <a:effectLst/>
              <a:uLnTx/>
              <a:uFillTx/>
              <a:latin typeface="微软雅黑" panose="020B0503020204020204" pitchFamily="34" charset="-122"/>
              <a:ea typeface="微软雅黑" panose="020B0503020204020204" pitchFamily="34" charset="-122"/>
              <a:cs typeface="+mn-cs"/>
            </a:endParaRPr>
          </a:p>
        </p:txBody>
      </p:sp>
      <p:cxnSp>
        <p:nvCxnSpPr>
          <p:cNvPr id="48" name="直接连接符 7">
            <a:extLst>
              <a:ext uri="{FF2B5EF4-FFF2-40B4-BE49-F238E27FC236}">
                <a16:creationId xmlns:a16="http://schemas.microsoft.com/office/drawing/2014/main" id="{FCE12CDC-33EC-46F1-95D3-008D4F085D09}"/>
              </a:ext>
            </a:extLst>
          </p:cNvPr>
          <p:cNvCxnSpPr>
            <a:cxnSpLocks/>
          </p:cNvCxnSpPr>
          <p:nvPr/>
        </p:nvCxnSpPr>
        <p:spPr bwMode="auto">
          <a:xfrm flipH="1">
            <a:off x="463090" y="2213957"/>
            <a:ext cx="7928881" cy="0"/>
          </a:xfrm>
          <a:prstGeom prst="line">
            <a:avLst/>
          </a:prstGeom>
          <a:noFill/>
          <a:ln w="28575" cap="flat" cmpd="sng" algn="ctr">
            <a:solidFill>
              <a:srgbClr val="F65C5C"/>
            </a:solidFill>
            <a:prstDash val="sysDash"/>
            <a:round/>
            <a:headEnd type="none" w="med" len="med"/>
            <a:tailEnd type="none" w="med" len="med"/>
          </a:ln>
          <a:effectLst/>
        </p:spPr>
      </p:cxnSp>
      <p:sp>
        <p:nvSpPr>
          <p:cNvPr id="79" name="Shape">
            <a:extLst>
              <a:ext uri="{FF2B5EF4-FFF2-40B4-BE49-F238E27FC236}">
                <a16:creationId xmlns:a16="http://schemas.microsoft.com/office/drawing/2014/main" id="{AA04E7BD-8B77-4767-B663-045FA1681847}"/>
              </a:ext>
            </a:extLst>
          </p:cNvPr>
          <p:cNvSpPr/>
          <p:nvPr/>
        </p:nvSpPr>
        <p:spPr>
          <a:xfrm>
            <a:off x="3790188" y="2727240"/>
            <a:ext cx="4480560" cy="1965960"/>
          </a:xfrm>
          <a:prstGeom prst="roundRect">
            <a:avLst/>
          </a:prstGeom>
          <a:solidFill>
            <a:srgbClr val="15385B"/>
          </a:solidFill>
          <a:ln>
            <a:noFill/>
          </a:ln>
        </p:spPr>
        <p:txBody>
          <a:bodyPr/>
          <a:lstStyle/>
          <a:p>
            <a:endParaRPr lang="zh-CN" altLang="en-US"/>
          </a:p>
        </p:txBody>
      </p:sp>
      <p:sp>
        <p:nvSpPr>
          <p:cNvPr id="80" name="Text">
            <a:extLst>
              <a:ext uri="{FF2B5EF4-FFF2-40B4-BE49-F238E27FC236}">
                <a16:creationId xmlns:a16="http://schemas.microsoft.com/office/drawing/2014/main" id="{20BBB257-2454-43E7-B13D-2F8237F3746F}"/>
              </a:ext>
            </a:extLst>
          </p:cNvPr>
          <p:cNvSpPr txBox="1"/>
          <p:nvPr/>
        </p:nvSpPr>
        <p:spPr>
          <a:xfrm>
            <a:off x="4000500" y="2955840"/>
            <a:ext cx="4041648" cy="502920"/>
          </a:xfrm>
          <a:prstGeom prst="rect">
            <a:avLst/>
          </a:prstGeom>
          <a:noFill/>
          <a:ln>
            <a:noFill/>
          </a:ln>
        </p:spPr>
        <p:txBody>
          <a:bodyPr wrap="square" lIns="60000" tIns="40000" rIns="60000" bIns="40000" anchor="t"/>
          <a:lstStyle/>
          <a:p>
            <a:pPr algn="l"/>
            <a:r>
              <a:rPr lang="zh-CN" sz="2600" b="1">
                <a:solidFill>
                  <a:srgbClr val="FFFFFF"/>
                </a:solidFill>
                <a:latin typeface="Microsoft YaHei"/>
                <a:ea typeface="Microsoft YaHei"/>
                <a:cs typeface="Microsoft YaHei"/>
              </a:rPr>
              <a:t>双轨培养定位</a:t>
            </a:r>
          </a:p>
        </p:txBody>
      </p:sp>
      <p:sp>
        <p:nvSpPr>
          <p:cNvPr id="86" name="Text">
            <a:extLst>
              <a:ext uri="{FF2B5EF4-FFF2-40B4-BE49-F238E27FC236}">
                <a16:creationId xmlns:a16="http://schemas.microsoft.com/office/drawing/2014/main" id="{B3E429F3-B3A7-40C8-AF8F-DCCE13A6A04C}"/>
              </a:ext>
            </a:extLst>
          </p:cNvPr>
          <p:cNvSpPr txBox="1"/>
          <p:nvPr/>
        </p:nvSpPr>
        <p:spPr>
          <a:xfrm>
            <a:off x="4000500" y="3659928"/>
            <a:ext cx="4041648" cy="502920"/>
          </a:xfrm>
          <a:prstGeom prst="rect">
            <a:avLst/>
          </a:prstGeom>
          <a:noFill/>
          <a:ln>
            <a:noFill/>
          </a:ln>
        </p:spPr>
        <p:txBody>
          <a:bodyPr wrap="square" lIns="60000" tIns="40000" rIns="60000" bIns="40000" anchor="t"/>
          <a:lstStyle/>
          <a:p>
            <a:pPr algn="l"/>
            <a:r>
              <a:rPr lang="zh-CN" sz="1900" b="1" dirty="0">
                <a:solidFill>
                  <a:srgbClr val="D9A441"/>
                </a:solidFill>
                <a:latin typeface="Microsoft YaHei"/>
                <a:ea typeface="Microsoft YaHei"/>
                <a:cs typeface="Microsoft YaHei"/>
              </a:rPr>
              <a:t>智能教育工程师  +  信息科技教师</a:t>
            </a:r>
          </a:p>
        </p:txBody>
      </p:sp>
      <p:sp>
        <p:nvSpPr>
          <p:cNvPr id="87" name="Card 教育科技企业">
            <a:extLst>
              <a:ext uri="{FF2B5EF4-FFF2-40B4-BE49-F238E27FC236}">
                <a16:creationId xmlns:a16="http://schemas.microsoft.com/office/drawing/2014/main" id="{106C87D7-CCB5-466E-ACF4-1E2757344A4D}"/>
              </a:ext>
            </a:extLst>
          </p:cNvPr>
          <p:cNvSpPr/>
          <p:nvPr/>
        </p:nvSpPr>
        <p:spPr>
          <a:xfrm>
            <a:off x="644652" y="5141256"/>
            <a:ext cx="3246120" cy="1371600"/>
          </a:xfrm>
          <a:prstGeom prst="roundRect">
            <a:avLst/>
          </a:prstGeom>
          <a:solidFill>
            <a:srgbClr val="FFFFFF"/>
          </a:solidFill>
          <a:ln w="12700">
            <a:solidFill>
              <a:srgbClr val="D9E1EC"/>
            </a:solidFill>
          </a:ln>
        </p:spPr>
        <p:txBody>
          <a:bodyPr/>
          <a:lstStyle/>
          <a:p>
            <a:endParaRPr lang="zh-CN" altLang="en-US"/>
          </a:p>
        </p:txBody>
      </p:sp>
      <p:sp>
        <p:nvSpPr>
          <p:cNvPr id="88" name="Line">
            <a:extLst>
              <a:ext uri="{FF2B5EF4-FFF2-40B4-BE49-F238E27FC236}">
                <a16:creationId xmlns:a16="http://schemas.microsoft.com/office/drawing/2014/main" id="{20E5E8C2-311A-41F4-89D7-F1AD9369791F}"/>
              </a:ext>
            </a:extLst>
          </p:cNvPr>
          <p:cNvSpPr/>
          <p:nvPr/>
        </p:nvSpPr>
        <p:spPr>
          <a:xfrm>
            <a:off x="644652" y="5141256"/>
            <a:ext cx="73152" cy="1371600"/>
          </a:xfrm>
          <a:prstGeom prst="rect">
            <a:avLst/>
          </a:prstGeom>
          <a:solidFill>
            <a:srgbClr val="C5282F"/>
          </a:solidFill>
          <a:ln>
            <a:noFill/>
          </a:ln>
        </p:spPr>
        <p:txBody>
          <a:bodyPr/>
          <a:lstStyle/>
          <a:p>
            <a:endParaRPr lang="zh-CN" altLang="en-US"/>
          </a:p>
        </p:txBody>
      </p:sp>
      <p:sp>
        <p:nvSpPr>
          <p:cNvPr id="89" name="Text">
            <a:extLst>
              <a:ext uri="{FF2B5EF4-FFF2-40B4-BE49-F238E27FC236}">
                <a16:creationId xmlns:a16="http://schemas.microsoft.com/office/drawing/2014/main" id="{104CF99B-2D74-4E67-B508-3707760EBA3B}"/>
              </a:ext>
            </a:extLst>
          </p:cNvPr>
          <p:cNvSpPr txBox="1"/>
          <p:nvPr/>
        </p:nvSpPr>
        <p:spPr>
          <a:xfrm>
            <a:off x="809244" y="5250984"/>
            <a:ext cx="2953512" cy="292608"/>
          </a:xfrm>
          <a:prstGeom prst="rect">
            <a:avLst/>
          </a:prstGeom>
          <a:noFill/>
          <a:ln>
            <a:noFill/>
          </a:ln>
        </p:spPr>
        <p:txBody>
          <a:bodyPr wrap="square" lIns="60000" tIns="40000" rIns="60000" bIns="40000" anchor="t"/>
          <a:lstStyle/>
          <a:p>
            <a:pPr algn="l"/>
            <a:r>
              <a:rPr lang="zh-CN" sz="2000" b="1">
                <a:solidFill>
                  <a:srgbClr val="C5282F"/>
                </a:solidFill>
                <a:latin typeface="Microsoft YaHei"/>
                <a:ea typeface="Microsoft YaHei"/>
                <a:cs typeface="Microsoft YaHei"/>
              </a:rPr>
              <a:t>教育科技企业</a:t>
            </a:r>
          </a:p>
        </p:txBody>
      </p:sp>
      <p:sp>
        <p:nvSpPr>
          <p:cNvPr id="90" name="Text">
            <a:extLst>
              <a:ext uri="{FF2B5EF4-FFF2-40B4-BE49-F238E27FC236}">
                <a16:creationId xmlns:a16="http://schemas.microsoft.com/office/drawing/2014/main" id="{05FFAF1D-D61B-4651-BC44-4CE8BA34E46D}"/>
              </a:ext>
            </a:extLst>
          </p:cNvPr>
          <p:cNvSpPr txBox="1"/>
          <p:nvPr/>
        </p:nvSpPr>
        <p:spPr>
          <a:xfrm>
            <a:off x="827532" y="5616744"/>
            <a:ext cx="2916936" cy="804672"/>
          </a:xfrm>
          <a:prstGeom prst="rect">
            <a:avLst/>
          </a:prstGeom>
          <a:noFill/>
          <a:ln>
            <a:noFill/>
          </a:ln>
        </p:spPr>
        <p:txBody>
          <a:bodyPr wrap="square" lIns="60000" tIns="40000" rIns="60000" bIns="40000" anchor="t"/>
          <a:lstStyle/>
          <a:p>
            <a:pPr marL="230000" indent="-120000" algn="l">
              <a:buFont typeface="Arial"/>
              <a:buChar char="•"/>
            </a:pPr>
            <a:r>
              <a:rPr lang="zh-CN" sz="1400">
                <a:solidFill>
                  <a:srgbClr val="5B677A"/>
                </a:solidFill>
                <a:latin typeface="Microsoft YaHei"/>
                <a:ea typeface="Microsoft YaHei"/>
                <a:cs typeface="Microsoft YaHei"/>
              </a:rPr>
              <a:t>智能教育系统研发</a:t>
            </a:r>
          </a:p>
          <a:p>
            <a:pPr marL="230000" indent="-120000" algn="l">
              <a:buFont typeface="Arial"/>
              <a:buChar char="•"/>
            </a:pPr>
            <a:r>
              <a:rPr lang="zh-CN" sz="1400">
                <a:solidFill>
                  <a:srgbClr val="5B677A"/>
                </a:solidFill>
                <a:latin typeface="Microsoft YaHei"/>
                <a:ea typeface="Microsoft YaHei"/>
                <a:cs typeface="Microsoft YaHei"/>
              </a:rPr>
              <a:t>教育AI产品规划与设计</a:t>
            </a:r>
          </a:p>
        </p:txBody>
      </p:sp>
      <p:sp>
        <p:nvSpPr>
          <p:cNvPr id="91" name="Card 教育行政与科研机构">
            <a:extLst>
              <a:ext uri="{FF2B5EF4-FFF2-40B4-BE49-F238E27FC236}">
                <a16:creationId xmlns:a16="http://schemas.microsoft.com/office/drawing/2014/main" id="{50561FAA-C884-4486-BB20-DF9D51FA2103}"/>
              </a:ext>
            </a:extLst>
          </p:cNvPr>
          <p:cNvSpPr/>
          <p:nvPr/>
        </p:nvSpPr>
        <p:spPr>
          <a:xfrm>
            <a:off x="4466844" y="5141256"/>
            <a:ext cx="3246120" cy="1371600"/>
          </a:xfrm>
          <a:prstGeom prst="roundRect">
            <a:avLst/>
          </a:prstGeom>
          <a:solidFill>
            <a:srgbClr val="FFFFFF"/>
          </a:solidFill>
          <a:ln w="12700">
            <a:solidFill>
              <a:srgbClr val="D9E1EC"/>
            </a:solidFill>
          </a:ln>
        </p:spPr>
        <p:txBody>
          <a:bodyPr/>
          <a:lstStyle/>
          <a:p>
            <a:endParaRPr lang="zh-CN" altLang="en-US"/>
          </a:p>
        </p:txBody>
      </p:sp>
      <p:sp>
        <p:nvSpPr>
          <p:cNvPr id="92" name="Line">
            <a:extLst>
              <a:ext uri="{FF2B5EF4-FFF2-40B4-BE49-F238E27FC236}">
                <a16:creationId xmlns:a16="http://schemas.microsoft.com/office/drawing/2014/main" id="{1E9D0065-7519-4388-9A51-97FE48556488}"/>
              </a:ext>
            </a:extLst>
          </p:cNvPr>
          <p:cNvSpPr/>
          <p:nvPr/>
        </p:nvSpPr>
        <p:spPr>
          <a:xfrm>
            <a:off x="4466844" y="5141256"/>
            <a:ext cx="73152" cy="1371600"/>
          </a:xfrm>
          <a:prstGeom prst="rect">
            <a:avLst/>
          </a:prstGeom>
          <a:solidFill>
            <a:srgbClr val="1F6FB2"/>
          </a:solidFill>
          <a:ln>
            <a:noFill/>
          </a:ln>
        </p:spPr>
        <p:txBody>
          <a:bodyPr/>
          <a:lstStyle/>
          <a:p>
            <a:endParaRPr lang="zh-CN" altLang="en-US"/>
          </a:p>
        </p:txBody>
      </p:sp>
      <p:sp>
        <p:nvSpPr>
          <p:cNvPr id="93" name="Text">
            <a:extLst>
              <a:ext uri="{FF2B5EF4-FFF2-40B4-BE49-F238E27FC236}">
                <a16:creationId xmlns:a16="http://schemas.microsoft.com/office/drawing/2014/main" id="{4A4336BC-9165-42B4-8531-416DB879A5F9}"/>
              </a:ext>
            </a:extLst>
          </p:cNvPr>
          <p:cNvSpPr txBox="1"/>
          <p:nvPr/>
        </p:nvSpPr>
        <p:spPr>
          <a:xfrm>
            <a:off x="4631436" y="5250984"/>
            <a:ext cx="2953512" cy="292608"/>
          </a:xfrm>
          <a:prstGeom prst="rect">
            <a:avLst/>
          </a:prstGeom>
          <a:noFill/>
          <a:ln>
            <a:noFill/>
          </a:ln>
        </p:spPr>
        <p:txBody>
          <a:bodyPr wrap="square" lIns="60000" tIns="40000" rIns="60000" bIns="40000" anchor="t"/>
          <a:lstStyle/>
          <a:p>
            <a:pPr algn="l"/>
            <a:r>
              <a:rPr lang="zh-CN" sz="2000" b="1" dirty="0">
                <a:solidFill>
                  <a:srgbClr val="1F6FB2"/>
                </a:solidFill>
                <a:latin typeface="Microsoft YaHei"/>
                <a:ea typeface="Microsoft YaHei"/>
                <a:cs typeface="Microsoft YaHei"/>
              </a:rPr>
              <a:t>教育行政与科研机构</a:t>
            </a:r>
          </a:p>
        </p:txBody>
      </p:sp>
      <p:sp>
        <p:nvSpPr>
          <p:cNvPr id="94" name="Text">
            <a:extLst>
              <a:ext uri="{FF2B5EF4-FFF2-40B4-BE49-F238E27FC236}">
                <a16:creationId xmlns:a16="http://schemas.microsoft.com/office/drawing/2014/main" id="{2D1A4CC2-F498-48E5-A865-233AB2E31343}"/>
              </a:ext>
            </a:extLst>
          </p:cNvPr>
          <p:cNvSpPr txBox="1"/>
          <p:nvPr/>
        </p:nvSpPr>
        <p:spPr>
          <a:xfrm>
            <a:off x="4649724" y="5616744"/>
            <a:ext cx="2916936" cy="804672"/>
          </a:xfrm>
          <a:prstGeom prst="rect">
            <a:avLst/>
          </a:prstGeom>
          <a:noFill/>
          <a:ln>
            <a:noFill/>
          </a:ln>
        </p:spPr>
        <p:txBody>
          <a:bodyPr wrap="square" lIns="60000" tIns="40000" rIns="60000" bIns="40000" anchor="t"/>
          <a:lstStyle/>
          <a:p>
            <a:pPr marL="230000" indent="-120000">
              <a:buFont typeface="Arial"/>
              <a:buChar char="•"/>
            </a:pPr>
            <a:r>
              <a:rPr lang="zh-CN" altLang="en-US" sz="1400">
                <a:solidFill>
                  <a:srgbClr val="5B677A"/>
                </a:solidFill>
                <a:latin typeface="Microsoft YaHei"/>
                <a:ea typeface="Microsoft YaHei"/>
              </a:rPr>
              <a:t>教育数字化研究</a:t>
            </a:r>
          </a:p>
          <a:p>
            <a:pPr marL="230000" indent="-120000">
              <a:buFont typeface="Arial"/>
              <a:buChar char="•"/>
            </a:pPr>
            <a:r>
              <a:rPr lang="zh-CN" altLang="en-US" sz="1400">
                <a:solidFill>
                  <a:srgbClr val="5B677A"/>
                </a:solidFill>
                <a:latin typeface="Microsoft YaHei"/>
                <a:ea typeface="Microsoft YaHei"/>
              </a:rPr>
              <a:t>教育数据治理与创新实践</a:t>
            </a:r>
          </a:p>
        </p:txBody>
      </p:sp>
      <p:sp>
        <p:nvSpPr>
          <p:cNvPr id="95" name="Card 中小学与基础教育场景">
            <a:extLst>
              <a:ext uri="{FF2B5EF4-FFF2-40B4-BE49-F238E27FC236}">
                <a16:creationId xmlns:a16="http://schemas.microsoft.com/office/drawing/2014/main" id="{FBC89421-8D09-47C9-802D-F800609D20BB}"/>
              </a:ext>
            </a:extLst>
          </p:cNvPr>
          <p:cNvSpPr/>
          <p:nvPr/>
        </p:nvSpPr>
        <p:spPr>
          <a:xfrm>
            <a:off x="8289036" y="5141256"/>
            <a:ext cx="3246120" cy="1371600"/>
          </a:xfrm>
          <a:prstGeom prst="roundRect">
            <a:avLst/>
          </a:prstGeom>
          <a:solidFill>
            <a:srgbClr val="FFFFFF"/>
          </a:solidFill>
          <a:ln w="12700">
            <a:solidFill>
              <a:srgbClr val="D9E1EC"/>
            </a:solidFill>
          </a:ln>
        </p:spPr>
        <p:txBody>
          <a:bodyPr/>
          <a:lstStyle/>
          <a:p>
            <a:endParaRPr lang="zh-CN" altLang="en-US"/>
          </a:p>
        </p:txBody>
      </p:sp>
      <p:sp>
        <p:nvSpPr>
          <p:cNvPr id="96" name="Line">
            <a:extLst>
              <a:ext uri="{FF2B5EF4-FFF2-40B4-BE49-F238E27FC236}">
                <a16:creationId xmlns:a16="http://schemas.microsoft.com/office/drawing/2014/main" id="{818A1071-A4BE-4011-A9F6-D92EF668841E}"/>
              </a:ext>
            </a:extLst>
          </p:cNvPr>
          <p:cNvSpPr/>
          <p:nvPr/>
        </p:nvSpPr>
        <p:spPr>
          <a:xfrm>
            <a:off x="8289036" y="5141256"/>
            <a:ext cx="73152" cy="1371600"/>
          </a:xfrm>
          <a:prstGeom prst="rect">
            <a:avLst/>
          </a:prstGeom>
          <a:solidFill>
            <a:srgbClr val="3A8F5C"/>
          </a:solidFill>
          <a:ln>
            <a:noFill/>
          </a:ln>
        </p:spPr>
        <p:txBody>
          <a:bodyPr/>
          <a:lstStyle/>
          <a:p>
            <a:endParaRPr lang="zh-CN" altLang="en-US"/>
          </a:p>
        </p:txBody>
      </p:sp>
      <p:sp>
        <p:nvSpPr>
          <p:cNvPr id="97" name="Text">
            <a:extLst>
              <a:ext uri="{FF2B5EF4-FFF2-40B4-BE49-F238E27FC236}">
                <a16:creationId xmlns:a16="http://schemas.microsoft.com/office/drawing/2014/main" id="{02D39E9C-895E-4063-8B40-B6B33862E8EE}"/>
              </a:ext>
            </a:extLst>
          </p:cNvPr>
          <p:cNvSpPr txBox="1"/>
          <p:nvPr/>
        </p:nvSpPr>
        <p:spPr>
          <a:xfrm>
            <a:off x="8453628" y="5250984"/>
            <a:ext cx="2953512" cy="292608"/>
          </a:xfrm>
          <a:prstGeom prst="rect">
            <a:avLst/>
          </a:prstGeom>
          <a:noFill/>
          <a:ln>
            <a:noFill/>
          </a:ln>
        </p:spPr>
        <p:txBody>
          <a:bodyPr wrap="square" lIns="60000" tIns="40000" rIns="60000" bIns="40000" anchor="t"/>
          <a:lstStyle/>
          <a:p>
            <a:pPr algn="l"/>
            <a:r>
              <a:rPr lang="zh-CN" sz="2000" b="1" dirty="0">
                <a:solidFill>
                  <a:srgbClr val="3A8F5C"/>
                </a:solidFill>
                <a:latin typeface="Microsoft YaHei"/>
                <a:ea typeface="Microsoft YaHei"/>
                <a:cs typeface="Microsoft YaHei"/>
              </a:rPr>
              <a:t>中小学与基础教育场景</a:t>
            </a:r>
          </a:p>
        </p:txBody>
      </p:sp>
      <p:sp>
        <p:nvSpPr>
          <p:cNvPr id="98" name="Text">
            <a:extLst>
              <a:ext uri="{FF2B5EF4-FFF2-40B4-BE49-F238E27FC236}">
                <a16:creationId xmlns:a16="http://schemas.microsoft.com/office/drawing/2014/main" id="{2473DD0A-BD6F-455A-B524-8B820F1CAA98}"/>
              </a:ext>
            </a:extLst>
          </p:cNvPr>
          <p:cNvSpPr txBox="1"/>
          <p:nvPr/>
        </p:nvSpPr>
        <p:spPr>
          <a:xfrm>
            <a:off x="8471916" y="5616744"/>
            <a:ext cx="2916936" cy="804672"/>
          </a:xfrm>
          <a:prstGeom prst="rect">
            <a:avLst/>
          </a:prstGeom>
          <a:noFill/>
          <a:ln>
            <a:noFill/>
          </a:ln>
        </p:spPr>
        <p:txBody>
          <a:bodyPr wrap="square" lIns="60000" tIns="40000" rIns="60000" bIns="40000" anchor="t"/>
          <a:lstStyle/>
          <a:p>
            <a:pPr marL="230000" indent="-120000">
              <a:buFont typeface="Arial"/>
              <a:buChar char="•"/>
            </a:pPr>
            <a:r>
              <a:rPr lang="zh-CN" altLang="en-US" sz="1400">
                <a:solidFill>
                  <a:srgbClr val="5B677A"/>
                </a:solidFill>
                <a:latin typeface="Microsoft YaHei"/>
                <a:ea typeface="Microsoft YaHei"/>
              </a:rPr>
              <a:t>信息科技</a:t>
            </a:r>
            <a:r>
              <a:rPr lang="en-US" altLang="zh-CN" sz="1400">
                <a:solidFill>
                  <a:srgbClr val="5B677A"/>
                </a:solidFill>
                <a:latin typeface="Microsoft YaHei"/>
                <a:ea typeface="Microsoft YaHei"/>
              </a:rPr>
              <a:t>/AI</a:t>
            </a:r>
            <a:r>
              <a:rPr lang="zh-CN" altLang="en-US" sz="1400">
                <a:solidFill>
                  <a:srgbClr val="5B677A"/>
                </a:solidFill>
                <a:latin typeface="Microsoft YaHei"/>
                <a:ea typeface="Microsoft YaHei"/>
              </a:rPr>
              <a:t>基础课程教学</a:t>
            </a:r>
          </a:p>
          <a:p>
            <a:pPr marL="230000" indent="-120000">
              <a:buFont typeface="Arial"/>
              <a:buChar char="•"/>
            </a:pPr>
            <a:r>
              <a:rPr lang="zh-CN" altLang="en-US" sz="1400">
                <a:solidFill>
                  <a:srgbClr val="5B677A"/>
                </a:solidFill>
                <a:latin typeface="Microsoft YaHei"/>
                <a:ea typeface="Microsoft YaHei"/>
              </a:rPr>
              <a:t>学生科创指导</a:t>
            </a:r>
          </a:p>
        </p:txBody>
      </p:sp>
      <p:sp>
        <p:nvSpPr>
          <p:cNvPr id="99" name="Text">
            <a:extLst>
              <a:ext uri="{FF2B5EF4-FFF2-40B4-BE49-F238E27FC236}">
                <a16:creationId xmlns:a16="http://schemas.microsoft.com/office/drawing/2014/main" id="{82579C5B-C494-4BE3-BB4A-814614C61C1A}"/>
              </a:ext>
            </a:extLst>
          </p:cNvPr>
          <p:cNvSpPr txBox="1"/>
          <p:nvPr/>
        </p:nvSpPr>
        <p:spPr>
          <a:xfrm>
            <a:off x="982980" y="2836968"/>
            <a:ext cx="2377440" cy="868680"/>
          </a:xfrm>
          <a:prstGeom prst="rect">
            <a:avLst/>
          </a:prstGeom>
          <a:noFill/>
          <a:ln>
            <a:noFill/>
          </a:ln>
        </p:spPr>
        <p:txBody>
          <a:bodyPr wrap="square" lIns="60000" tIns="40000" rIns="60000" bIns="40000" anchor="t"/>
          <a:lstStyle/>
          <a:p>
            <a:pPr algn="l"/>
            <a:r>
              <a:rPr lang="zh-CN" sz="2100" b="1" dirty="0">
                <a:solidFill>
                  <a:srgbClr val="1F6FB2"/>
                </a:solidFill>
                <a:latin typeface="Microsoft YaHei"/>
                <a:ea typeface="Microsoft YaHei"/>
                <a:cs typeface="Microsoft YaHei"/>
              </a:rPr>
              <a:t>教育科学理论</a:t>
            </a:r>
          </a:p>
        </p:txBody>
      </p:sp>
      <p:sp>
        <p:nvSpPr>
          <p:cNvPr id="100" name="Text">
            <a:extLst>
              <a:ext uri="{FF2B5EF4-FFF2-40B4-BE49-F238E27FC236}">
                <a16:creationId xmlns:a16="http://schemas.microsoft.com/office/drawing/2014/main" id="{FC3C829A-799F-41E6-BE91-B3162475E537}"/>
              </a:ext>
            </a:extLst>
          </p:cNvPr>
          <p:cNvSpPr txBox="1"/>
          <p:nvPr/>
        </p:nvSpPr>
        <p:spPr>
          <a:xfrm>
            <a:off x="8727948" y="2836968"/>
            <a:ext cx="2331720" cy="868680"/>
          </a:xfrm>
          <a:prstGeom prst="rect">
            <a:avLst/>
          </a:prstGeom>
          <a:noFill/>
          <a:ln>
            <a:noFill/>
          </a:ln>
        </p:spPr>
        <p:txBody>
          <a:bodyPr wrap="square" lIns="60000" tIns="40000" rIns="60000" bIns="40000" anchor="t"/>
          <a:lstStyle/>
          <a:p>
            <a:pPr algn="l"/>
            <a:r>
              <a:rPr lang="zh-CN" sz="2100" b="1" dirty="0">
                <a:solidFill>
                  <a:srgbClr val="00A6A6"/>
                </a:solidFill>
                <a:latin typeface="Microsoft YaHei"/>
                <a:ea typeface="Microsoft YaHei"/>
                <a:cs typeface="Microsoft YaHei"/>
              </a:rPr>
              <a:t>人工智能技术</a:t>
            </a:r>
          </a:p>
        </p:txBody>
      </p:sp>
      <p:sp>
        <p:nvSpPr>
          <p:cNvPr id="101" name="Line">
            <a:extLst>
              <a:ext uri="{FF2B5EF4-FFF2-40B4-BE49-F238E27FC236}">
                <a16:creationId xmlns:a16="http://schemas.microsoft.com/office/drawing/2014/main" id="{06EDAF49-C8FB-4586-A7EB-6A8019961BE0}"/>
              </a:ext>
            </a:extLst>
          </p:cNvPr>
          <p:cNvSpPr/>
          <p:nvPr/>
        </p:nvSpPr>
        <p:spPr>
          <a:xfrm>
            <a:off x="3241548" y="3275880"/>
            <a:ext cx="502920" cy="36576"/>
          </a:xfrm>
          <a:prstGeom prst="rect">
            <a:avLst/>
          </a:prstGeom>
          <a:solidFill>
            <a:srgbClr val="D9E1EC"/>
          </a:solidFill>
          <a:ln>
            <a:noFill/>
          </a:ln>
        </p:spPr>
        <p:txBody>
          <a:bodyPr/>
          <a:lstStyle/>
          <a:p>
            <a:endParaRPr lang="zh-CN" altLang="en-US"/>
          </a:p>
        </p:txBody>
      </p:sp>
      <p:sp>
        <p:nvSpPr>
          <p:cNvPr id="102" name="Line">
            <a:extLst>
              <a:ext uri="{FF2B5EF4-FFF2-40B4-BE49-F238E27FC236}">
                <a16:creationId xmlns:a16="http://schemas.microsoft.com/office/drawing/2014/main" id="{163CD3EF-9966-41D2-B594-29E96007181C}"/>
              </a:ext>
            </a:extLst>
          </p:cNvPr>
          <p:cNvSpPr/>
          <p:nvPr/>
        </p:nvSpPr>
        <p:spPr>
          <a:xfrm>
            <a:off x="8307324" y="3275880"/>
            <a:ext cx="502920" cy="36576"/>
          </a:xfrm>
          <a:prstGeom prst="rect">
            <a:avLst/>
          </a:prstGeom>
          <a:solidFill>
            <a:srgbClr val="D9E1EC"/>
          </a:solidFill>
          <a:ln>
            <a:noFill/>
          </a:ln>
        </p:spPr>
        <p:txBody>
          <a:bodyPr/>
          <a:lstStyle/>
          <a:p>
            <a:endParaRPr lang="zh-CN" altLang="en-US"/>
          </a:p>
        </p:txBody>
      </p:sp>
    </p:spTree>
    <p:extLst>
      <p:ext uri="{BB962C8B-B14F-4D97-AF65-F5344CB8AC3E}">
        <p14:creationId xmlns:p14="http://schemas.microsoft.com/office/powerpoint/2010/main" val="32214485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a:extLst>
              <a:ext uri="{FF2B5EF4-FFF2-40B4-BE49-F238E27FC236}">
                <a16:creationId xmlns:a16="http://schemas.microsoft.com/office/drawing/2014/main" id="{39AF018C-BD1E-4D1C-A575-89BC7165FB5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189341" y="28710"/>
            <a:ext cx="881729" cy="881729"/>
          </a:xfrm>
          <a:prstGeom prst="rect">
            <a:avLst/>
          </a:prstGeom>
        </p:spPr>
      </p:pic>
      <p:pic>
        <p:nvPicPr>
          <p:cNvPr id="24" name="图片 23">
            <a:extLst>
              <a:ext uri="{FF2B5EF4-FFF2-40B4-BE49-F238E27FC236}">
                <a16:creationId xmlns:a16="http://schemas.microsoft.com/office/drawing/2014/main" id="{118A43A9-C67F-4CB1-B9F4-63E761CBC2D0}"/>
              </a:ext>
            </a:extLst>
          </p:cNvPr>
          <p:cNvPicPr>
            <a:picLocks noChangeAspect="1"/>
          </p:cNvPicPr>
          <p:nvPr/>
        </p:nvPicPr>
        <p:blipFill>
          <a:blip r:embed="rId4" cstate="print">
            <a:extLst>
              <a:ext uri="{28A0092B-C50C-407E-A947-70E740481C1C}">
                <a14:useLocalDpi xmlns:a14="http://schemas.microsoft.com/office/drawing/2010/main" val="0"/>
              </a:ext>
            </a:extLst>
          </a:blip>
          <a:srcRect l="1133" r="1133"/>
          <a:stretch/>
        </p:blipFill>
        <p:spPr>
          <a:xfrm>
            <a:off x="274100" y="75737"/>
            <a:ext cx="802225" cy="806727"/>
          </a:xfrm>
          <a:prstGeom prst="rect">
            <a:avLst/>
          </a:prstGeom>
        </p:spPr>
      </p:pic>
      <p:sp>
        <p:nvSpPr>
          <p:cNvPr id="25" name="文本框 24">
            <a:extLst>
              <a:ext uri="{FF2B5EF4-FFF2-40B4-BE49-F238E27FC236}">
                <a16:creationId xmlns:a16="http://schemas.microsoft.com/office/drawing/2014/main" id="{D2B29A73-493F-45ED-A593-8D7573299A30}"/>
              </a:ext>
            </a:extLst>
          </p:cNvPr>
          <p:cNvSpPr txBox="1"/>
          <p:nvPr/>
        </p:nvSpPr>
        <p:spPr>
          <a:xfrm>
            <a:off x="6313868" y="337344"/>
            <a:ext cx="6157730" cy="406971"/>
          </a:xfrm>
          <a:prstGeom prst="rect">
            <a:avLst/>
          </a:prstGeom>
          <a:noFill/>
        </p:spPr>
        <p:txBody>
          <a:bodyPr wrap="square">
            <a:spAutoFit/>
          </a:bodyPr>
          <a:lstStyle/>
          <a:p>
            <a:pPr algn="ctr" defTabSz="342900">
              <a:lnSpc>
                <a:spcPct val="125000"/>
              </a:lnSpc>
            </a:pPr>
            <a:endParaRPr lang="en-US" altLang="zh-CN" b="1">
              <a:latin typeface="微软雅黑" pitchFamily="34" charset="-122"/>
              <a:ea typeface="微软雅黑" pitchFamily="34" charset="-122"/>
              <a:cs typeface="Calibri" charset="0"/>
            </a:endParaRPr>
          </a:p>
        </p:txBody>
      </p:sp>
      <p:sp>
        <p:nvSpPr>
          <p:cNvPr id="26" name="文本框 11">
            <a:extLst>
              <a:ext uri="{FF2B5EF4-FFF2-40B4-BE49-F238E27FC236}">
                <a16:creationId xmlns:a16="http://schemas.microsoft.com/office/drawing/2014/main" id="{D7D3FDA0-EE55-4DA0-9A6C-9EE877927692}"/>
              </a:ext>
            </a:extLst>
          </p:cNvPr>
          <p:cNvSpPr txBox="1"/>
          <p:nvPr/>
        </p:nvSpPr>
        <p:spPr>
          <a:xfrm>
            <a:off x="1975284" y="1632283"/>
            <a:ext cx="498855"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400" b="0"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rPr>
              <a:t>1</a:t>
            </a:r>
            <a:endParaRPr kumimoji="0" lang="zh-CN" altLang="en-US" sz="4400" b="0"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27" name="文本框 12">
            <a:extLst>
              <a:ext uri="{FF2B5EF4-FFF2-40B4-BE49-F238E27FC236}">
                <a16:creationId xmlns:a16="http://schemas.microsoft.com/office/drawing/2014/main" id="{68A62499-6F06-4E26-845E-7CA94DC6CE82}"/>
              </a:ext>
            </a:extLst>
          </p:cNvPr>
          <p:cNvSpPr txBox="1"/>
          <p:nvPr/>
        </p:nvSpPr>
        <p:spPr>
          <a:xfrm>
            <a:off x="359003" y="1760040"/>
            <a:ext cx="1877437" cy="461665"/>
          </a:xfrm>
          <a:prstGeom prst="rect">
            <a:avLst/>
          </a:prstGeom>
          <a:noFill/>
        </p:spPr>
        <p:txBody>
          <a:bodyPr wrap="none" rtlCol="0">
            <a:spAutoFit/>
          </a:bodyPr>
          <a:lstStyle/>
          <a:p>
            <a:pPr marL="457200" marR="0" lvl="0" indent="-457200" algn="l" defTabSz="914400" rtl="0" eaLnBrk="1" fontAlgn="auto" latinLnBrk="0" hangingPunct="1">
              <a:lnSpc>
                <a:spcPct val="100000"/>
              </a:lnSpc>
              <a:spcBef>
                <a:spcPts val="0"/>
              </a:spcBef>
              <a:spcAft>
                <a:spcPts val="0"/>
              </a:spcAft>
              <a:buClr>
                <a:srgbClr val="C00000"/>
              </a:buClr>
              <a:buSzTx/>
              <a:buFont typeface="Wingdings" panose="05000000000000000000" pitchFamily="2" charset="2"/>
              <a:buChar char="p"/>
              <a:tabLst/>
              <a:defRPr/>
            </a:pPr>
            <a:r>
              <a:rPr lang="zh-CN" altLang="en-US" sz="2400" b="1" kern="0">
                <a:solidFill>
                  <a:srgbClr val="004E86"/>
                </a:solidFill>
                <a:latin typeface="微软雅黑" panose="020B0503020204020204" pitchFamily="34" charset="-122"/>
                <a:ea typeface="微软雅黑" panose="020B0503020204020204" pitchFamily="34" charset="-122"/>
              </a:rPr>
              <a:t>培养模式</a:t>
            </a:r>
          </a:p>
        </p:txBody>
      </p:sp>
      <p:cxnSp>
        <p:nvCxnSpPr>
          <p:cNvPr id="28" name="直接连接符 7">
            <a:extLst>
              <a:ext uri="{FF2B5EF4-FFF2-40B4-BE49-F238E27FC236}">
                <a16:creationId xmlns:a16="http://schemas.microsoft.com/office/drawing/2014/main" id="{097550A1-66E1-4860-AEE0-1D16B9FAFDB3}"/>
              </a:ext>
            </a:extLst>
          </p:cNvPr>
          <p:cNvCxnSpPr>
            <a:cxnSpLocks/>
          </p:cNvCxnSpPr>
          <p:nvPr/>
        </p:nvCxnSpPr>
        <p:spPr bwMode="auto">
          <a:xfrm flipH="1">
            <a:off x="463091" y="2213957"/>
            <a:ext cx="8947609" cy="0"/>
          </a:xfrm>
          <a:prstGeom prst="line">
            <a:avLst/>
          </a:prstGeom>
          <a:noFill/>
          <a:ln w="28575" cap="flat" cmpd="sng" algn="ctr">
            <a:solidFill>
              <a:srgbClr val="F65C5C"/>
            </a:solidFill>
            <a:prstDash val="sysDash"/>
            <a:round/>
            <a:headEnd type="none" w="med" len="med"/>
            <a:tailEnd type="none" w="med" len="med"/>
          </a:ln>
          <a:effectLst/>
        </p:spPr>
      </p:cxnSp>
      <p:sp>
        <p:nvSpPr>
          <p:cNvPr id="14" name="矩形 13">
            <a:extLst>
              <a:ext uri="{FF2B5EF4-FFF2-40B4-BE49-F238E27FC236}">
                <a16:creationId xmlns:a16="http://schemas.microsoft.com/office/drawing/2014/main" id="{14F0E0CB-C31F-4C6B-9D93-1762A66C753F}"/>
              </a:ext>
            </a:extLst>
          </p:cNvPr>
          <p:cNvSpPr/>
          <p:nvPr/>
        </p:nvSpPr>
        <p:spPr>
          <a:xfrm>
            <a:off x="0" y="924560"/>
            <a:ext cx="12192000" cy="665627"/>
          </a:xfrm>
          <a:prstGeom prst="rect">
            <a:avLst/>
          </a:prstGeom>
          <a:solidFill>
            <a:srgbClr val="4472C4">
              <a:lumMod val="50000"/>
            </a:srgbClr>
          </a:solidFill>
          <a:ln w="12700" cap="flat" cmpd="sng" algn="ctr">
            <a:solidFill>
              <a:srgbClr val="4472C4">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a:ea typeface="微软雅黑"/>
              <a:cs typeface="+mn-cs"/>
            </a:endParaRPr>
          </a:p>
        </p:txBody>
      </p:sp>
      <p:sp>
        <p:nvSpPr>
          <p:cNvPr id="15" name="矩形 14">
            <a:extLst>
              <a:ext uri="{FF2B5EF4-FFF2-40B4-BE49-F238E27FC236}">
                <a16:creationId xmlns:a16="http://schemas.microsoft.com/office/drawing/2014/main" id="{BADC9021-918C-4043-85A0-C1E69BC22DAE}"/>
              </a:ext>
            </a:extLst>
          </p:cNvPr>
          <p:cNvSpPr/>
          <p:nvPr/>
        </p:nvSpPr>
        <p:spPr>
          <a:xfrm>
            <a:off x="364942" y="924560"/>
            <a:ext cx="1787900" cy="665627"/>
          </a:xfrm>
          <a:prstGeom prst="rect">
            <a:avLst/>
          </a:prstGeom>
          <a:solidFill>
            <a:srgbClr val="FF9900"/>
          </a:solidFill>
          <a:ln w="12700" cap="flat" cmpd="sng" algn="ctr">
            <a:solidFill>
              <a:srgbClr val="FF99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Arial"/>
              <a:ea typeface="微软雅黑"/>
              <a:cs typeface="+mn-cs"/>
            </a:endParaRPr>
          </a:p>
        </p:txBody>
      </p:sp>
      <p:sp>
        <p:nvSpPr>
          <p:cNvPr id="18" name="文本框 17">
            <a:extLst>
              <a:ext uri="{FF2B5EF4-FFF2-40B4-BE49-F238E27FC236}">
                <a16:creationId xmlns:a16="http://schemas.microsoft.com/office/drawing/2014/main" id="{4C0D621A-BA30-4D0D-AE75-F1251D29CFDC}"/>
              </a:ext>
            </a:extLst>
          </p:cNvPr>
          <p:cNvSpPr txBox="1"/>
          <p:nvPr/>
        </p:nvSpPr>
        <p:spPr>
          <a:xfrm>
            <a:off x="6269498" y="489744"/>
            <a:ext cx="6157730" cy="406971"/>
          </a:xfrm>
          <a:prstGeom prst="rect">
            <a:avLst/>
          </a:prstGeom>
          <a:noFill/>
        </p:spPr>
        <p:txBody>
          <a:bodyPr wrap="square">
            <a:spAutoFit/>
          </a:bodyPr>
          <a:lstStyle/>
          <a:p>
            <a:pPr algn="ctr" defTabSz="342900">
              <a:lnSpc>
                <a:spcPct val="125000"/>
              </a:lnSpc>
            </a:pPr>
            <a:r>
              <a:rPr lang="zh-CN" altLang="en-US" b="1">
                <a:latin typeface="微软雅黑" pitchFamily="34" charset="-122"/>
                <a:ea typeface="微软雅黑" pitchFamily="34" charset="-122"/>
                <a:cs typeface="Calibri" charset="0"/>
              </a:rPr>
              <a:t>“教育学</a:t>
            </a:r>
            <a:r>
              <a:rPr lang="en-US" altLang="zh-CN" b="1">
                <a:latin typeface="微软雅黑" pitchFamily="34" charset="-122"/>
                <a:ea typeface="微软雅黑" pitchFamily="34" charset="-122"/>
                <a:cs typeface="Calibri" charset="0"/>
              </a:rPr>
              <a:t>+</a:t>
            </a:r>
            <a:r>
              <a:rPr lang="zh-CN" altLang="en-US" b="1">
                <a:latin typeface="微软雅黑" pitchFamily="34" charset="-122"/>
                <a:ea typeface="微软雅黑" pitchFamily="34" charset="-122"/>
                <a:cs typeface="Calibri" charset="0"/>
              </a:rPr>
              <a:t>人工智能”双学士学位复合型人才培养项目</a:t>
            </a:r>
            <a:endParaRPr lang="en-US" altLang="zh-CN" b="1">
              <a:latin typeface="微软雅黑" pitchFamily="34" charset="-122"/>
              <a:ea typeface="微软雅黑" pitchFamily="34" charset="-122"/>
              <a:cs typeface="Calibri" charset="0"/>
            </a:endParaRPr>
          </a:p>
        </p:txBody>
      </p:sp>
      <p:sp>
        <p:nvSpPr>
          <p:cNvPr id="20" name="Shape">
            <a:extLst>
              <a:ext uri="{FF2B5EF4-FFF2-40B4-BE49-F238E27FC236}">
                <a16:creationId xmlns:a16="http://schemas.microsoft.com/office/drawing/2014/main" id="{54A531B4-9BD5-43DF-AD73-0FF0E0F013E4}"/>
              </a:ext>
            </a:extLst>
          </p:cNvPr>
          <p:cNvSpPr/>
          <p:nvPr/>
        </p:nvSpPr>
        <p:spPr>
          <a:xfrm>
            <a:off x="773796" y="2568448"/>
            <a:ext cx="2331720" cy="3364992"/>
          </a:xfrm>
          <a:prstGeom prst="roundRect">
            <a:avLst/>
          </a:prstGeom>
          <a:solidFill>
            <a:srgbClr val="FFFFFF"/>
          </a:solidFill>
          <a:ln w="12700">
            <a:solidFill>
              <a:srgbClr val="C5282F"/>
            </a:solidFill>
          </a:ln>
        </p:spPr>
        <p:txBody>
          <a:bodyPr/>
          <a:lstStyle/>
          <a:p>
            <a:endParaRPr lang="zh-CN" altLang="en-US"/>
          </a:p>
        </p:txBody>
      </p:sp>
      <p:sp>
        <p:nvSpPr>
          <p:cNvPr id="31" name="Text">
            <a:extLst>
              <a:ext uri="{FF2B5EF4-FFF2-40B4-BE49-F238E27FC236}">
                <a16:creationId xmlns:a16="http://schemas.microsoft.com/office/drawing/2014/main" id="{FC75F98E-D6C4-470F-842C-BC04CAAA7FEA}"/>
              </a:ext>
            </a:extLst>
          </p:cNvPr>
          <p:cNvSpPr txBox="1"/>
          <p:nvPr/>
        </p:nvSpPr>
        <p:spPr>
          <a:xfrm>
            <a:off x="773796" y="2851912"/>
            <a:ext cx="2331720" cy="329184"/>
          </a:xfrm>
          <a:prstGeom prst="rect">
            <a:avLst/>
          </a:prstGeom>
          <a:noFill/>
          <a:ln>
            <a:noFill/>
          </a:ln>
        </p:spPr>
        <p:txBody>
          <a:bodyPr wrap="square" lIns="60000" tIns="40000" rIns="60000" bIns="40000" anchor="t"/>
          <a:lstStyle/>
          <a:p>
            <a:pPr algn="ctr"/>
            <a:r>
              <a:rPr lang="zh-CN" sz="2400" b="1">
                <a:solidFill>
                  <a:srgbClr val="C5282F"/>
                </a:solidFill>
                <a:latin typeface="Microsoft YaHei"/>
                <a:ea typeface="Microsoft YaHei"/>
                <a:cs typeface="Microsoft YaHei"/>
              </a:rPr>
              <a:t>启动建设</a:t>
            </a:r>
          </a:p>
        </p:txBody>
      </p:sp>
      <p:sp>
        <p:nvSpPr>
          <p:cNvPr id="32" name="Line">
            <a:extLst>
              <a:ext uri="{FF2B5EF4-FFF2-40B4-BE49-F238E27FC236}">
                <a16:creationId xmlns:a16="http://schemas.microsoft.com/office/drawing/2014/main" id="{14DB44E0-AB57-4CB4-A72C-C4921529C085}"/>
              </a:ext>
            </a:extLst>
          </p:cNvPr>
          <p:cNvSpPr/>
          <p:nvPr/>
        </p:nvSpPr>
        <p:spPr>
          <a:xfrm>
            <a:off x="1916796" y="3327400"/>
            <a:ext cx="54864" cy="347472"/>
          </a:xfrm>
          <a:prstGeom prst="rect">
            <a:avLst/>
          </a:prstGeom>
          <a:solidFill>
            <a:srgbClr val="C5282F"/>
          </a:solidFill>
          <a:ln>
            <a:noFill/>
          </a:ln>
        </p:spPr>
        <p:txBody>
          <a:bodyPr/>
          <a:lstStyle/>
          <a:p>
            <a:endParaRPr lang="zh-CN" altLang="en-US"/>
          </a:p>
        </p:txBody>
      </p:sp>
      <p:sp>
        <p:nvSpPr>
          <p:cNvPr id="33" name="Text">
            <a:extLst>
              <a:ext uri="{FF2B5EF4-FFF2-40B4-BE49-F238E27FC236}">
                <a16:creationId xmlns:a16="http://schemas.microsoft.com/office/drawing/2014/main" id="{47359499-FEAE-4810-9720-9CB3CA6E7975}"/>
              </a:ext>
            </a:extLst>
          </p:cNvPr>
          <p:cNvSpPr txBox="1"/>
          <p:nvPr/>
        </p:nvSpPr>
        <p:spPr>
          <a:xfrm>
            <a:off x="974964" y="3766312"/>
            <a:ext cx="1938528" cy="1536192"/>
          </a:xfrm>
          <a:prstGeom prst="rect">
            <a:avLst/>
          </a:prstGeom>
          <a:noFill/>
          <a:ln>
            <a:noFill/>
          </a:ln>
        </p:spPr>
        <p:txBody>
          <a:bodyPr wrap="square" lIns="60000" tIns="40000" rIns="60000" bIns="40000" anchor="t"/>
          <a:lstStyle/>
          <a:p>
            <a:pPr marL="230000" indent="-120000" algn="l">
              <a:buFont typeface="Arial"/>
              <a:buChar char="•"/>
            </a:pPr>
            <a:r>
              <a:rPr lang="zh-CN" sz="1400" dirty="0">
                <a:solidFill>
                  <a:srgbClr val="5B677A"/>
                </a:solidFill>
                <a:latin typeface="Microsoft YaHei"/>
                <a:ea typeface="Microsoft YaHei"/>
                <a:cs typeface="Microsoft YaHei"/>
              </a:rPr>
              <a:t>完善培养方案</a:t>
            </a:r>
          </a:p>
          <a:p>
            <a:pPr marL="230000" indent="-120000" algn="l">
              <a:buFont typeface="Arial"/>
              <a:buChar char="•"/>
            </a:pPr>
            <a:r>
              <a:rPr lang="zh-CN" sz="1400" dirty="0">
                <a:solidFill>
                  <a:srgbClr val="5B677A"/>
                </a:solidFill>
                <a:latin typeface="Microsoft YaHei"/>
                <a:ea typeface="Microsoft YaHei"/>
                <a:cs typeface="Microsoft YaHei"/>
              </a:rPr>
              <a:t>成立跨学科课程委员会</a:t>
            </a:r>
          </a:p>
          <a:p>
            <a:pPr marL="230000" indent="-120000" algn="l">
              <a:buFont typeface="Arial"/>
              <a:buChar char="•"/>
            </a:pPr>
            <a:r>
              <a:rPr lang="zh-CN" sz="1400" dirty="0">
                <a:solidFill>
                  <a:srgbClr val="5B677A"/>
                </a:solidFill>
                <a:latin typeface="Microsoft YaHei"/>
                <a:ea typeface="Microsoft YaHei"/>
                <a:cs typeface="Microsoft YaHei"/>
              </a:rPr>
              <a:t>明确招生、经费与运行支持</a:t>
            </a:r>
          </a:p>
        </p:txBody>
      </p:sp>
      <p:sp>
        <p:nvSpPr>
          <p:cNvPr id="34" name="Line">
            <a:extLst>
              <a:ext uri="{FF2B5EF4-FFF2-40B4-BE49-F238E27FC236}">
                <a16:creationId xmlns:a16="http://schemas.microsoft.com/office/drawing/2014/main" id="{E0565C92-98BA-4216-9CCD-E827A5169DDB}"/>
              </a:ext>
            </a:extLst>
          </p:cNvPr>
          <p:cNvSpPr/>
          <p:nvPr/>
        </p:nvSpPr>
        <p:spPr>
          <a:xfrm>
            <a:off x="3132948" y="4241800"/>
            <a:ext cx="384048" cy="36576"/>
          </a:xfrm>
          <a:prstGeom prst="rect">
            <a:avLst/>
          </a:prstGeom>
          <a:solidFill>
            <a:srgbClr val="D9E1EC"/>
          </a:solidFill>
          <a:ln>
            <a:noFill/>
          </a:ln>
        </p:spPr>
        <p:txBody>
          <a:bodyPr/>
          <a:lstStyle/>
          <a:p>
            <a:endParaRPr lang="zh-CN" altLang="en-US"/>
          </a:p>
        </p:txBody>
      </p:sp>
      <p:sp>
        <p:nvSpPr>
          <p:cNvPr id="35" name="Shape">
            <a:extLst>
              <a:ext uri="{FF2B5EF4-FFF2-40B4-BE49-F238E27FC236}">
                <a16:creationId xmlns:a16="http://schemas.microsoft.com/office/drawing/2014/main" id="{B1289BD2-49D1-4620-8AF3-9DDEB5600DB5}"/>
              </a:ext>
            </a:extLst>
          </p:cNvPr>
          <p:cNvSpPr/>
          <p:nvPr/>
        </p:nvSpPr>
        <p:spPr>
          <a:xfrm>
            <a:off x="3562716" y="2568448"/>
            <a:ext cx="2331720" cy="3364992"/>
          </a:xfrm>
          <a:prstGeom prst="roundRect">
            <a:avLst/>
          </a:prstGeom>
          <a:solidFill>
            <a:srgbClr val="FFFFFF"/>
          </a:solidFill>
          <a:ln w="12700">
            <a:solidFill>
              <a:srgbClr val="1F6FB2"/>
            </a:solidFill>
          </a:ln>
        </p:spPr>
        <p:txBody>
          <a:bodyPr/>
          <a:lstStyle/>
          <a:p>
            <a:endParaRPr lang="zh-CN" altLang="en-US"/>
          </a:p>
        </p:txBody>
      </p:sp>
      <p:sp>
        <p:nvSpPr>
          <p:cNvPr id="36" name="Text">
            <a:extLst>
              <a:ext uri="{FF2B5EF4-FFF2-40B4-BE49-F238E27FC236}">
                <a16:creationId xmlns:a16="http://schemas.microsoft.com/office/drawing/2014/main" id="{C4FFF622-0189-487F-8723-6939DF83E6D3}"/>
              </a:ext>
            </a:extLst>
          </p:cNvPr>
          <p:cNvSpPr txBox="1"/>
          <p:nvPr/>
        </p:nvSpPr>
        <p:spPr>
          <a:xfrm>
            <a:off x="3562716" y="2851912"/>
            <a:ext cx="2331720" cy="329184"/>
          </a:xfrm>
          <a:prstGeom prst="rect">
            <a:avLst/>
          </a:prstGeom>
          <a:noFill/>
          <a:ln>
            <a:noFill/>
          </a:ln>
        </p:spPr>
        <p:txBody>
          <a:bodyPr wrap="square" lIns="60000" tIns="40000" rIns="60000" bIns="40000" anchor="t"/>
          <a:lstStyle/>
          <a:p>
            <a:pPr algn="ctr"/>
            <a:r>
              <a:rPr lang="zh-CN" sz="2400" b="1">
                <a:solidFill>
                  <a:srgbClr val="1F6FB2"/>
                </a:solidFill>
                <a:latin typeface="Microsoft YaHei"/>
                <a:ea typeface="Microsoft YaHei"/>
                <a:cs typeface="Microsoft YaHei"/>
              </a:rPr>
              <a:t>课程共建</a:t>
            </a:r>
            <a:endParaRPr lang="zh-CN" sz="2000" b="1">
              <a:solidFill>
                <a:srgbClr val="1F6FB2"/>
              </a:solidFill>
              <a:latin typeface="Microsoft YaHei"/>
              <a:ea typeface="Microsoft YaHei"/>
              <a:cs typeface="Microsoft YaHei"/>
            </a:endParaRPr>
          </a:p>
        </p:txBody>
      </p:sp>
      <p:sp>
        <p:nvSpPr>
          <p:cNvPr id="37" name="Line">
            <a:extLst>
              <a:ext uri="{FF2B5EF4-FFF2-40B4-BE49-F238E27FC236}">
                <a16:creationId xmlns:a16="http://schemas.microsoft.com/office/drawing/2014/main" id="{6112ECFF-FD2A-4EAD-BE9B-B0E8219065C3}"/>
              </a:ext>
            </a:extLst>
          </p:cNvPr>
          <p:cNvSpPr/>
          <p:nvPr/>
        </p:nvSpPr>
        <p:spPr>
          <a:xfrm>
            <a:off x="4705716" y="3327400"/>
            <a:ext cx="54864" cy="347472"/>
          </a:xfrm>
          <a:prstGeom prst="rect">
            <a:avLst/>
          </a:prstGeom>
          <a:solidFill>
            <a:srgbClr val="1F6FB2"/>
          </a:solidFill>
          <a:ln>
            <a:noFill/>
          </a:ln>
        </p:spPr>
        <p:txBody>
          <a:bodyPr/>
          <a:lstStyle/>
          <a:p>
            <a:endParaRPr lang="zh-CN" altLang="en-US"/>
          </a:p>
        </p:txBody>
      </p:sp>
      <p:sp>
        <p:nvSpPr>
          <p:cNvPr id="38" name="Text">
            <a:extLst>
              <a:ext uri="{FF2B5EF4-FFF2-40B4-BE49-F238E27FC236}">
                <a16:creationId xmlns:a16="http://schemas.microsoft.com/office/drawing/2014/main" id="{49B602A6-A65F-4689-BB60-11123A0B0F9D}"/>
              </a:ext>
            </a:extLst>
          </p:cNvPr>
          <p:cNvSpPr txBox="1"/>
          <p:nvPr/>
        </p:nvSpPr>
        <p:spPr>
          <a:xfrm>
            <a:off x="3649584" y="3760724"/>
            <a:ext cx="2217420" cy="1536192"/>
          </a:xfrm>
          <a:prstGeom prst="rect">
            <a:avLst/>
          </a:prstGeom>
          <a:noFill/>
          <a:ln>
            <a:noFill/>
          </a:ln>
        </p:spPr>
        <p:txBody>
          <a:bodyPr wrap="square" lIns="60000" tIns="40000" rIns="60000" bIns="40000" anchor="t"/>
          <a:lstStyle/>
          <a:p>
            <a:pPr marL="230000" indent="-120000" algn="l">
              <a:buFont typeface="Arial"/>
              <a:buChar char="•"/>
            </a:pPr>
            <a:r>
              <a:rPr lang="zh-CN" sz="1400" dirty="0">
                <a:solidFill>
                  <a:srgbClr val="5B677A"/>
                </a:solidFill>
                <a:latin typeface="Microsoft YaHei"/>
                <a:ea typeface="Microsoft YaHei"/>
                <a:cs typeface="Microsoft YaHei"/>
              </a:rPr>
              <a:t>开发交叉融合课程群</a:t>
            </a:r>
          </a:p>
          <a:p>
            <a:pPr marL="230000" indent="-120000" algn="l">
              <a:buFont typeface="Arial"/>
              <a:buChar char="•"/>
            </a:pPr>
            <a:r>
              <a:rPr lang="zh-CN" sz="1400" dirty="0">
                <a:solidFill>
                  <a:srgbClr val="5B677A"/>
                </a:solidFill>
                <a:latin typeface="Microsoft YaHei"/>
                <a:ea typeface="Microsoft YaHei"/>
                <a:cs typeface="Microsoft YaHei"/>
              </a:rPr>
              <a:t>推进联合授课与项目制学习</a:t>
            </a:r>
          </a:p>
          <a:p>
            <a:pPr marL="230000" indent="-120000" algn="l">
              <a:buFont typeface="Arial"/>
              <a:buChar char="•"/>
            </a:pPr>
            <a:r>
              <a:rPr lang="zh-CN" sz="1400" dirty="0">
                <a:solidFill>
                  <a:srgbClr val="5B677A"/>
                </a:solidFill>
                <a:latin typeface="Microsoft YaHei"/>
                <a:ea typeface="Microsoft YaHei"/>
                <a:cs typeface="Microsoft YaHei"/>
              </a:rPr>
              <a:t>建立年度课程迭代机制</a:t>
            </a:r>
          </a:p>
        </p:txBody>
      </p:sp>
      <p:sp>
        <p:nvSpPr>
          <p:cNvPr id="39" name="Line">
            <a:extLst>
              <a:ext uri="{FF2B5EF4-FFF2-40B4-BE49-F238E27FC236}">
                <a16:creationId xmlns:a16="http://schemas.microsoft.com/office/drawing/2014/main" id="{EE2A1A28-BBF3-4AF4-A547-C0D3A56752EA}"/>
              </a:ext>
            </a:extLst>
          </p:cNvPr>
          <p:cNvSpPr/>
          <p:nvPr/>
        </p:nvSpPr>
        <p:spPr>
          <a:xfrm>
            <a:off x="5921868" y="4241800"/>
            <a:ext cx="384048" cy="36576"/>
          </a:xfrm>
          <a:prstGeom prst="rect">
            <a:avLst/>
          </a:prstGeom>
          <a:solidFill>
            <a:srgbClr val="D9E1EC"/>
          </a:solidFill>
          <a:ln>
            <a:noFill/>
          </a:ln>
        </p:spPr>
        <p:txBody>
          <a:bodyPr/>
          <a:lstStyle/>
          <a:p>
            <a:endParaRPr lang="zh-CN" altLang="en-US"/>
          </a:p>
        </p:txBody>
      </p:sp>
      <p:sp>
        <p:nvSpPr>
          <p:cNvPr id="40" name="Shape">
            <a:extLst>
              <a:ext uri="{FF2B5EF4-FFF2-40B4-BE49-F238E27FC236}">
                <a16:creationId xmlns:a16="http://schemas.microsoft.com/office/drawing/2014/main" id="{27A64261-F1E5-4C90-8020-D88EDA048BFC}"/>
              </a:ext>
            </a:extLst>
          </p:cNvPr>
          <p:cNvSpPr/>
          <p:nvPr/>
        </p:nvSpPr>
        <p:spPr>
          <a:xfrm>
            <a:off x="6351636" y="2568448"/>
            <a:ext cx="2331720" cy="3364992"/>
          </a:xfrm>
          <a:prstGeom prst="roundRect">
            <a:avLst/>
          </a:prstGeom>
          <a:solidFill>
            <a:srgbClr val="FFFFFF"/>
          </a:solidFill>
          <a:ln w="12700">
            <a:solidFill>
              <a:srgbClr val="00A6A6"/>
            </a:solidFill>
          </a:ln>
        </p:spPr>
        <p:txBody>
          <a:bodyPr/>
          <a:lstStyle/>
          <a:p>
            <a:endParaRPr lang="zh-CN" altLang="en-US"/>
          </a:p>
        </p:txBody>
      </p:sp>
      <p:sp>
        <p:nvSpPr>
          <p:cNvPr id="41" name="Text">
            <a:extLst>
              <a:ext uri="{FF2B5EF4-FFF2-40B4-BE49-F238E27FC236}">
                <a16:creationId xmlns:a16="http://schemas.microsoft.com/office/drawing/2014/main" id="{3C5EA117-79E5-4A81-A355-84F024F53ED7}"/>
              </a:ext>
            </a:extLst>
          </p:cNvPr>
          <p:cNvSpPr txBox="1"/>
          <p:nvPr/>
        </p:nvSpPr>
        <p:spPr>
          <a:xfrm>
            <a:off x="6351636" y="2851912"/>
            <a:ext cx="2331720" cy="329184"/>
          </a:xfrm>
          <a:prstGeom prst="rect">
            <a:avLst/>
          </a:prstGeom>
          <a:noFill/>
          <a:ln>
            <a:noFill/>
          </a:ln>
        </p:spPr>
        <p:txBody>
          <a:bodyPr wrap="square" lIns="60000" tIns="40000" rIns="60000" bIns="40000" anchor="t"/>
          <a:lstStyle/>
          <a:p>
            <a:pPr algn="ctr"/>
            <a:r>
              <a:rPr lang="zh-CN" sz="2400" b="1">
                <a:solidFill>
                  <a:srgbClr val="00A6A6"/>
                </a:solidFill>
                <a:latin typeface="Microsoft YaHei"/>
                <a:ea typeface="Microsoft YaHei"/>
                <a:cs typeface="Microsoft YaHei"/>
              </a:rPr>
              <a:t>实践贯通</a:t>
            </a:r>
          </a:p>
        </p:txBody>
      </p:sp>
      <p:sp>
        <p:nvSpPr>
          <p:cNvPr id="42" name="Line">
            <a:extLst>
              <a:ext uri="{FF2B5EF4-FFF2-40B4-BE49-F238E27FC236}">
                <a16:creationId xmlns:a16="http://schemas.microsoft.com/office/drawing/2014/main" id="{E6491E38-42C5-46BE-B234-13CB8D1DE71A}"/>
              </a:ext>
            </a:extLst>
          </p:cNvPr>
          <p:cNvSpPr/>
          <p:nvPr/>
        </p:nvSpPr>
        <p:spPr>
          <a:xfrm>
            <a:off x="7494636" y="3327400"/>
            <a:ext cx="54864" cy="347472"/>
          </a:xfrm>
          <a:prstGeom prst="rect">
            <a:avLst/>
          </a:prstGeom>
          <a:solidFill>
            <a:srgbClr val="00A6A6"/>
          </a:solidFill>
          <a:ln>
            <a:noFill/>
          </a:ln>
        </p:spPr>
        <p:txBody>
          <a:bodyPr/>
          <a:lstStyle/>
          <a:p>
            <a:endParaRPr lang="zh-CN" altLang="en-US"/>
          </a:p>
        </p:txBody>
      </p:sp>
      <p:sp>
        <p:nvSpPr>
          <p:cNvPr id="43" name="Text">
            <a:extLst>
              <a:ext uri="{FF2B5EF4-FFF2-40B4-BE49-F238E27FC236}">
                <a16:creationId xmlns:a16="http://schemas.microsoft.com/office/drawing/2014/main" id="{BCC7E633-4520-4839-A6F8-BC96E6CE7865}"/>
              </a:ext>
            </a:extLst>
          </p:cNvPr>
          <p:cNvSpPr txBox="1"/>
          <p:nvPr/>
        </p:nvSpPr>
        <p:spPr>
          <a:xfrm>
            <a:off x="6447252" y="3771599"/>
            <a:ext cx="2098944" cy="1536192"/>
          </a:xfrm>
          <a:prstGeom prst="rect">
            <a:avLst/>
          </a:prstGeom>
          <a:noFill/>
          <a:ln>
            <a:noFill/>
          </a:ln>
        </p:spPr>
        <p:txBody>
          <a:bodyPr wrap="square" lIns="60000" tIns="40000" rIns="60000" bIns="40000" anchor="t"/>
          <a:lstStyle/>
          <a:p>
            <a:pPr marL="230000" indent="-120000" algn="l">
              <a:buFont typeface="Arial"/>
              <a:buChar char="•"/>
            </a:pPr>
            <a:r>
              <a:rPr lang="zh-CN" sz="1400" dirty="0">
                <a:solidFill>
                  <a:srgbClr val="5B677A"/>
                </a:solidFill>
                <a:latin typeface="Microsoft YaHei"/>
                <a:ea typeface="Microsoft YaHei"/>
                <a:cs typeface="Microsoft YaHei"/>
              </a:rPr>
              <a:t>对接校内外实践平台</a:t>
            </a:r>
          </a:p>
          <a:p>
            <a:pPr marL="230000" indent="-120000" algn="l">
              <a:buFont typeface="Arial"/>
              <a:buChar char="•"/>
            </a:pPr>
            <a:r>
              <a:rPr lang="zh-CN" sz="1400" dirty="0">
                <a:solidFill>
                  <a:srgbClr val="5B677A"/>
                </a:solidFill>
                <a:latin typeface="Microsoft YaHei"/>
                <a:ea typeface="Microsoft YaHei"/>
                <a:cs typeface="Microsoft YaHei"/>
              </a:rPr>
              <a:t>导入企业与中小学真实项目</a:t>
            </a:r>
          </a:p>
          <a:p>
            <a:pPr marL="230000" indent="-120000" algn="l">
              <a:buFont typeface="Arial"/>
              <a:buChar char="•"/>
            </a:pPr>
            <a:r>
              <a:rPr lang="zh-CN" sz="1400" dirty="0">
                <a:solidFill>
                  <a:srgbClr val="5B677A"/>
                </a:solidFill>
                <a:latin typeface="Microsoft YaHei"/>
                <a:ea typeface="Microsoft YaHei"/>
                <a:cs typeface="Microsoft YaHei"/>
              </a:rPr>
              <a:t>形成课程-实习-毕设连续链条</a:t>
            </a:r>
          </a:p>
        </p:txBody>
      </p:sp>
      <p:sp>
        <p:nvSpPr>
          <p:cNvPr id="44" name="Line">
            <a:extLst>
              <a:ext uri="{FF2B5EF4-FFF2-40B4-BE49-F238E27FC236}">
                <a16:creationId xmlns:a16="http://schemas.microsoft.com/office/drawing/2014/main" id="{9A066550-750C-491C-9607-08EE438C30F8}"/>
              </a:ext>
            </a:extLst>
          </p:cNvPr>
          <p:cNvSpPr/>
          <p:nvPr/>
        </p:nvSpPr>
        <p:spPr>
          <a:xfrm>
            <a:off x="8710788" y="4241800"/>
            <a:ext cx="384048" cy="36576"/>
          </a:xfrm>
          <a:prstGeom prst="rect">
            <a:avLst/>
          </a:prstGeom>
          <a:solidFill>
            <a:srgbClr val="D9E1EC"/>
          </a:solidFill>
          <a:ln>
            <a:noFill/>
          </a:ln>
        </p:spPr>
        <p:txBody>
          <a:bodyPr/>
          <a:lstStyle/>
          <a:p>
            <a:endParaRPr lang="zh-CN" altLang="en-US"/>
          </a:p>
        </p:txBody>
      </p:sp>
      <p:sp>
        <p:nvSpPr>
          <p:cNvPr id="45" name="Shape">
            <a:extLst>
              <a:ext uri="{FF2B5EF4-FFF2-40B4-BE49-F238E27FC236}">
                <a16:creationId xmlns:a16="http://schemas.microsoft.com/office/drawing/2014/main" id="{D80843D8-4B6D-4D0B-8230-74043A008FBD}"/>
              </a:ext>
            </a:extLst>
          </p:cNvPr>
          <p:cNvSpPr/>
          <p:nvPr/>
        </p:nvSpPr>
        <p:spPr>
          <a:xfrm>
            <a:off x="9140556" y="2568448"/>
            <a:ext cx="2331720" cy="3364992"/>
          </a:xfrm>
          <a:prstGeom prst="roundRect">
            <a:avLst/>
          </a:prstGeom>
          <a:solidFill>
            <a:srgbClr val="FFFFFF"/>
          </a:solidFill>
          <a:ln w="12700">
            <a:solidFill>
              <a:srgbClr val="3A8F5C"/>
            </a:solidFill>
          </a:ln>
        </p:spPr>
        <p:txBody>
          <a:bodyPr/>
          <a:lstStyle/>
          <a:p>
            <a:endParaRPr lang="zh-CN" altLang="en-US"/>
          </a:p>
        </p:txBody>
      </p:sp>
      <p:sp>
        <p:nvSpPr>
          <p:cNvPr id="46" name="Text">
            <a:extLst>
              <a:ext uri="{FF2B5EF4-FFF2-40B4-BE49-F238E27FC236}">
                <a16:creationId xmlns:a16="http://schemas.microsoft.com/office/drawing/2014/main" id="{D6C59334-7D97-4298-AD26-148CBE6171A9}"/>
              </a:ext>
            </a:extLst>
          </p:cNvPr>
          <p:cNvSpPr txBox="1"/>
          <p:nvPr/>
        </p:nvSpPr>
        <p:spPr>
          <a:xfrm>
            <a:off x="9140556" y="2851912"/>
            <a:ext cx="2331720" cy="329184"/>
          </a:xfrm>
          <a:prstGeom prst="rect">
            <a:avLst/>
          </a:prstGeom>
          <a:noFill/>
          <a:ln>
            <a:noFill/>
          </a:ln>
        </p:spPr>
        <p:txBody>
          <a:bodyPr wrap="square" lIns="60000" tIns="40000" rIns="60000" bIns="40000" anchor="t"/>
          <a:lstStyle/>
          <a:p>
            <a:pPr algn="ctr"/>
            <a:r>
              <a:rPr lang="zh-CN" sz="2400" b="1">
                <a:solidFill>
                  <a:srgbClr val="3A8F5C"/>
                </a:solidFill>
                <a:latin typeface="Microsoft YaHei"/>
                <a:ea typeface="Microsoft YaHei"/>
                <a:cs typeface="Microsoft YaHei"/>
              </a:rPr>
              <a:t>质量提升</a:t>
            </a:r>
          </a:p>
        </p:txBody>
      </p:sp>
      <p:sp>
        <p:nvSpPr>
          <p:cNvPr id="47" name="Line">
            <a:extLst>
              <a:ext uri="{FF2B5EF4-FFF2-40B4-BE49-F238E27FC236}">
                <a16:creationId xmlns:a16="http://schemas.microsoft.com/office/drawing/2014/main" id="{A8B1041E-F607-4246-B39B-06BD8FC50541}"/>
              </a:ext>
            </a:extLst>
          </p:cNvPr>
          <p:cNvSpPr/>
          <p:nvPr/>
        </p:nvSpPr>
        <p:spPr>
          <a:xfrm>
            <a:off x="10283556" y="3327400"/>
            <a:ext cx="54864" cy="347472"/>
          </a:xfrm>
          <a:prstGeom prst="rect">
            <a:avLst/>
          </a:prstGeom>
          <a:solidFill>
            <a:srgbClr val="3A8F5C"/>
          </a:solidFill>
          <a:ln>
            <a:noFill/>
          </a:ln>
        </p:spPr>
        <p:txBody>
          <a:bodyPr/>
          <a:lstStyle/>
          <a:p>
            <a:endParaRPr lang="zh-CN" altLang="en-US"/>
          </a:p>
        </p:txBody>
      </p:sp>
      <p:sp>
        <p:nvSpPr>
          <p:cNvPr id="48" name="Text">
            <a:extLst>
              <a:ext uri="{FF2B5EF4-FFF2-40B4-BE49-F238E27FC236}">
                <a16:creationId xmlns:a16="http://schemas.microsoft.com/office/drawing/2014/main" id="{E5DE9EC2-EDCA-4C06-A4D9-7A3D36BA8E01}"/>
              </a:ext>
            </a:extLst>
          </p:cNvPr>
          <p:cNvSpPr txBox="1"/>
          <p:nvPr/>
        </p:nvSpPr>
        <p:spPr>
          <a:xfrm>
            <a:off x="9337152" y="3737864"/>
            <a:ext cx="2080260" cy="1536192"/>
          </a:xfrm>
          <a:prstGeom prst="rect">
            <a:avLst/>
          </a:prstGeom>
          <a:noFill/>
          <a:ln>
            <a:noFill/>
          </a:ln>
        </p:spPr>
        <p:txBody>
          <a:bodyPr wrap="square" lIns="60000" tIns="40000" rIns="60000" bIns="40000" anchor="t"/>
          <a:lstStyle/>
          <a:p>
            <a:pPr marL="230000" indent="-120000" algn="l">
              <a:buFont typeface="Arial"/>
              <a:buChar char="•"/>
            </a:pPr>
            <a:r>
              <a:rPr lang="zh-CN" sz="1400" dirty="0">
                <a:solidFill>
                  <a:srgbClr val="5B677A"/>
                </a:solidFill>
                <a:latin typeface="Microsoft YaHei"/>
                <a:ea typeface="Microsoft YaHei"/>
                <a:cs typeface="Microsoft YaHei"/>
              </a:rPr>
              <a:t>开展多元评价与跟踪反馈</a:t>
            </a:r>
          </a:p>
          <a:p>
            <a:pPr marL="230000" indent="-120000" algn="l">
              <a:buFont typeface="Arial"/>
              <a:buChar char="•"/>
            </a:pPr>
            <a:r>
              <a:rPr lang="zh-CN" sz="1400" dirty="0">
                <a:solidFill>
                  <a:srgbClr val="5B677A"/>
                </a:solidFill>
                <a:latin typeface="Microsoft YaHei"/>
                <a:ea typeface="Microsoft YaHei"/>
                <a:cs typeface="Microsoft YaHei"/>
              </a:rPr>
              <a:t>优化培养目标-课程-出口联动</a:t>
            </a:r>
          </a:p>
          <a:p>
            <a:pPr marL="230000" indent="-120000" algn="l">
              <a:buFont typeface="Arial"/>
              <a:buChar char="•"/>
            </a:pPr>
            <a:r>
              <a:rPr lang="zh-CN" sz="1400" dirty="0">
                <a:solidFill>
                  <a:srgbClr val="5B677A"/>
                </a:solidFill>
                <a:latin typeface="Microsoft YaHei"/>
                <a:ea typeface="Microsoft YaHei"/>
                <a:cs typeface="Microsoft YaHei"/>
              </a:rPr>
              <a:t>沉淀示范性建设成果</a:t>
            </a:r>
          </a:p>
        </p:txBody>
      </p:sp>
      <p:sp>
        <p:nvSpPr>
          <p:cNvPr id="50" name="Shape">
            <a:extLst>
              <a:ext uri="{FF2B5EF4-FFF2-40B4-BE49-F238E27FC236}">
                <a16:creationId xmlns:a16="http://schemas.microsoft.com/office/drawing/2014/main" id="{1E25AF02-E576-4123-A786-B845BAE2EED6}"/>
              </a:ext>
            </a:extLst>
          </p:cNvPr>
          <p:cNvSpPr/>
          <p:nvPr/>
        </p:nvSpPr>
        <p:spPr>
          <a:xfrm>
            <a:off x="2721468" y="6218334"/>
            <a:ext cx="6419088" cy="457200"/>
          </a:xfrm>
          <a:prstGeom prst="roundRect">
            <a:avLst/>
          </a:prstGeom>
          <a:solidFill>
            <a:srgbClr val="FFF7E6"/>
          </a:solidFill>
          <a:ln w="12700">
            <a:solidFill>
              <a:srgbClr val="D9A441"/>
            </a:solidFill>
          </a:ln>
        </p:spPr>
        <p:txBody>
          <a:bodyPr/>
          <a:lstStyle/>
          <a:p>
            <a:endParaRPr lang="zh-CN" altLang="en-US"/>
          </a:p>
        </p:txBody>
      </p:sp>
      <p:sp>
        <p:nvSpPr>
          <p:cNvPr id="51" name="Text">
            <a:extLst>
              <a:ext uri="{FF2B5EF4-FFF2-40B4-BE49-F238E27FC236}">
                <a16:creationId xmlns:a16="http://schemas.microsoft.com/office/drawing/2014/main" id="{E5E941A4-8FF3-4707-AB0D-3092FA3CB7EF}"/>
              </a:ext>
            </a:extLst>
          </p:cNvPr>
          <p:cNvSpPr txBox="1"/>
          <p:nvPr/>
        </p:nvSpPr>
        <p:spPr>
          <a:xfrm>
            <a:off x="2721468" y="6314822"/>
            <a:ext cx="6419088" cy="198246"/>
          </a:xfrm>
          <a:prstGeom prst="rect">
            <a:avLst/>
          </a:prstGeom>
          <a:noFill/>
          <a:ln>
            <a:noFill/>
          </a:ln>
        </p:spPr>
        <p:txBody>
          <a:bodyPr wrap="square" lIns="60000" tIns="40000" rIns="60000" bIns="40000" anchor="t"/>
          <a:lstStyle/>
          <a:p>
            <a:pPr algn="ctr"/>
            <a:r>
              <a:rPr lang="zh-CN" sz="1600" b="1" dirty="0">
                <a:solidFill>
                  <a:srgbClr val="1C2530"/>
                </a:solidFill>
                <a:latin typeface="Microsoft YaHei"/>
                <a:ea typeface="Microsoft YaHei"/>
                <a:cs typeface="Microsoft YaHei"/>
              </a:rPr>
              <a:t>培养模式：</a:t>
            </a:r>
            <a:r>
              <a:rPr lang="zh-CN" sz="1600" b="1" dirty="0">
                <a:solidFill>
                  <a:srgbClr val="C00000"/>
                </a:solidFill>
                <a:latin typeface="Microsoft YaHei"/>
                <a:ea typeface="Microsoft YaHei"/>
                <a:cs typeface="Microsoft YaHei"/>
              </a:rPr>
              <a:t>本硕博贯通 </a:t>
            </a:r>
            <a:r>
              <a:rPr lang="zh-CN" sz="1600" b="1" dirty="0">
                <a:solidFill>
                  <a:srgbClr val="1C2530"/>
                </a:solidFill>
                <a:latin typeface="Microsoft YaHei"/>
                <a:ea typeface="Microsoft YaHei"/>
                <a:cs typeface="Microsoft YaHei"/>
              </a:rPr>
              <a:t>+ </a:t>
            </a:r>
            <a:r>
              <a:rPr lang="zh-CN" sz="1600" b="1" dirty="0">
                <a:solidFill>
                  <a:srgbClr val="C00000"/>
                </a:solidFill>
                <a:latin typeface="Microsoft YaHei"/>
                <a:ea typeface="Microsoft YaHei"/>
                <a:cs typeface="Microsoft YaHei"/>
              </a:rPr>
              <a:t>跨学科融通 </a:t>
            </a:r>
            <a:r>
              <a:rPr lang="zh-CN" sz="1600" b="1" dirty="0">
                <a:solidFill>
                  <a:srgbClr val="1C2530"/>
                </a:solidFill>
                <a:latin typeface="Microsoft YaHei"/>
                <a:ea typeface="Microsoft YaHei"/>
                <a:cs typeface="Microsoft YaHei"/>
              </a:rPr>
              <a:t>+ </a:t>
            </a:r>
            <a:r>
              <a:rPr lang="zh-CN" sz="1600" b="1" dirty="0">
                <a:solidFill>
                  <a:srgbClr val="C00000"/>
                </a:solidFill>
                <a:latin typeface="Microsoft YaHei"/>
                <a:ea typeface="Microsoft YaHei"/>
                <a:cs typeface="Microsoft YaHei"/>
              </a:rPr>
              <a:t>场景化实战</a:t>
            </a:r>
          </a:p>
        </p:txBody>
      </p:sp>
      <p:sp>
        <p:nvSpPr>
          <p:cNvPr id="52" name="矩形 51">
            <a:extLst>
              <a:ext uri="{FF2B5EF4-FFF2-40B4-BE49-F238E27FC236}">
                <a16:creationId xmlns:a16="http://schemas.microsoft.com/office/drawing/2014/main" id="{AA719E0E-F1F5-4BA7-B2C2-9A6CF8561C8D}"/>
              </a:ext>
            </a:extLst>
          </p:cNvPr>
          <p:cNvSpPr/>
          <p:nvPr/>
        </p:nvSpPr>
        <p:spPr>
          <a:xfrm>
            <a:off x="0" y="924560"/>
            <a:ext cx="12192000" cy="665627"/>
          </a:xfrm>
          <a:prstGeom prst="rect">
            <a:avLst/>
          </a:prstGeom>
          <a:solidFill>
            <a:srgbClr val="4472C4">
              <a:lumMod val="50000"/>
            </a:srgbClr>
          </a:solidFill>
          <a:ln w="12700" cap="flat" cmpd="sng" algn="ctr">
            <a:solidFill>
              <a:srgbClr val="4472C4">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a:ea typeface="微软雅黑"/>
              <a:cs typeface="+mn-cs"/>
            </a:endParaRPr>
          </a:p>
        </p:txBody>
      </p:sp>
      <p:sp>
        <p:nvSpPr>
          <p:cNvPr id="53" name="矩形 52">
            <a:extLst>
              <a:ext uri="{FF2B5EF4-FFF2-40B4-BE49-F238E27FC236}">
                <a16:creationId xmlns:a16="http://schemas.microsoft.com/office/drawing/2014/main" id="{7DFA164F-63A5-4DD2-BD9E-BE76C1C79479}"/>
              </a:ext>
            </a:extLst>
          </p:cNvPr>
          <p:cNvSpPr/>
          <p:nvPr/>
        </p:nvSpPr>
        <p:spPr>
          <a:xfrm>
            <a:off x="-1" y="924560"/>
            <a:ext cx="2152843" cy="665627"/>
          </a:xfrm>
          <a:prstGeom prst="rect">
            <a:avLst/>
          </a:prstGeom>
          <a:solidFill>
            <a:srgbClr val="FF9900"/>
          </a:solidFill>
          <a:ln w="12700" cap="flat" cmpd="sng" algn="ctr">
            <a:solidFill>
              <a:srgbClr val="FF99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Arial"/>
              <a:ea typeface="微软雅黑"/>
              <a:cs typeface="+mn-cs"/>
            </a:endParaRPr>
          </a:p>
        </p:txBody>
      </p:sp>
      <p:sp>
        <p:nvSpPr>
          <p:cNvPr id="54" name="文本框 14">
            <a:extLst>
              <a:ext uri="{FF2B5EF4-FFF2-40B4-BE49-F238E27FC236}">
                <a16:creationId xmlns:a16="http://schemas.microsoft.com/office/drawing/2014/main" id="{3B8673E2-0A18-456E-B409-D0E1DD98699F}"/>
              </a:ext>
            </a:extLst>
          </p:cNvPr>
          <p:cNvSpPr txBox="1"/>
          <p:nvPr/>
        </p:nvSpPr>
        <p:spPr>
          <a:xfrm>
            <a:off x="359003" y="1107051"/>
            <a:ext cx="1793840" cy="369332"/>
          </a:xfrm>
          <a:prstGeom prst="rect">
            <a:avLst/>
          </a:prstGeom>
          <a:noFill/>
        </p:spPr>
        <p:txBody>
          <a:bodyPr wrap="square" rtlCol="0">
            <a:spAutoFit/>
          </a:bodyPr>
          <a:lstStyle/>
          <a:p>
            <a:pPr algn="just"/>
            <a:r>
              <a:rPr lang="zh-CN" altLang="en-US" b="1">
                <a:solidFill>
                  <a:prstClr val="white"/>
                </a:solidFill>
                <a:latin typeface="Arial"/>
                <a:ea typeface="微软雅黑"/>
              </a:rPr>
              <a:t>一  总体思路</a:t>
            </a:r>
            <a:endParaRPr lang="zh-CN" altLang="en-US" b="1" dirty="0">
              <a:solidFill>
                <a:prstClr val="white"/>
              </a:solidFill>
              <a:latin typeface="Arial"/>
              <a:ea typeface="微软雅黑"/>
            </a:endParaRPr>
          </a:p>
        </p:txBody>
      </p:sp>
      <p:sp>
        <p:nvSpPr>
          <p:cNvPr id="55" name="文本框 14">
            <a:extLst>
              <a:ext uri="{FF2B5EF4-FFF2-40B4-BE49-F238E27FC236}">
                <a16:creationId xmlns:a16="http://schemas.microsoft.com/office/drawing/2014/main" id="{A10EEE3E-7955-4BCC-8D33-14A450173FA7}"/>
              </a:ext>
            </a:extLst>
          </p:cNvPr>
          <p:cNvSpPr txBox="1"/>
          <p:nvPr/>
        </p:nvSpPr>
        <p:spPr>
          <a:xfrm>
            <a:off x="2642427" y="1107051"/>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二  课程体系实施</a:t>
            </a:r>
            <a:endParaRPr lang="zh-CN" altLang="en-US" b="1" dirty="0">
              <a:solidFill>
                <a:prstClr val="white"/>
              </a:solidFill>
              <a:latin typeface="Arial"/>
              <a:ea typeface="微软雅黑"/>
            </a:endParaRPr>
          </a:p>
        </p:txBody>
      </p:sp>
      <p:sp>
        <p:nvSpPr>
          <p:cNvPr id="56" name="文本框 14">
            <a:extLst>
              <a:ext uri="{FF2B5EF4-FFF2-40B4-BE49-F238E27FC236}">
                <a16:creationId xmlns:a16="http://schemas.microsoft.com/office/drawing/2014/main" id="{16918834-A66A-4433-97BA-C3E394A68EA2}"/>
              </a:ext>
            </a:extLst>
          </p:cNvPr>
          <p:cNvSpPr txBox="1"/>
          <p:nvPr/>
        </p:nvSpPr>
        <p:spPr>
          <a:xfrm>
            <a:off x="5054466" y="1071284"/>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三  实践体系实施</a:t>
            </a:r>
            <a:endParaRPr lang="zh-CN" altLang="en-US" b="1" dirty="0">
              <a:solidFill>
                <a:prstClr val="white"/>
              </a:solidFill>
              <a:latin typeface="Arial"/>
              <a:ea typeface="微软雅黑"/>
            </a:endParaRPr>
          </a:p>
        </p:txBody>
      </p:sp>
      <p:sp>
        <p:nvSpPr>
          <p:cNvPr id="57" name="文本框 14">
            <a:extLst>
              <a:ext uri="{FF2B5EF4-FFF2-40B4-BE49-F238E27FC236}">
                <a16:creationId xmlns:a16="http://schemas.microsoft.com/office/drawing/2014/main" id="{90AB6606-D964-43D6-A38E-7A3628858856}"/>
              </a:ext>
            </a:extLst>
          </p:cNvPr>
          <p:cNvSpPr txBox="1"/>
          <p:nvPr/>
        </p:nvSpPr>
        <p:spPr>
          <a:xfrm>
            <a:off x="7338510" y="1071183"/>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四  导师制与学业指导</a:t>
            </a:r>
            <a:endParaRPr lang="zh-CN" altLang="en-US" b="1" dirty="0">
              <a:solidFill>
                <a:prstClr val="white"/>
              </a:solidFill>
              <a:latin typeface="Arial"/>
              <a:ea typeface="微软雅黑"/>
            </a:endParaRPr>
          </a:p>
        </p:txBody>
      </p:sp>
      <p:sp>
        <p:nvSpPr>
          <p:cNvPr id="58" name="文本框 14">
            <a:extLst>
              <a:ext uri="{FF2B5EF4-FFF2-40B4-BE49-F238E27FC236}">
                <a16:creationId xmlns:a16="http://schemas.microsoft.com/office/drawing/2014/main" id="{8F96F668-A079-4698-9DF2-FEF3C46C3D6A}"/>
              </a:ext>
            </a:extLst>
          </p:cNvPr>
          <p:cNvSpPr txBox="1"/>
          <p:nvPr/>
        </p:nvSpPr>
        <p:spPr>
          <a:xfrm>
            <a:off x="10133884" y="1058701"/>
            <a:ext cx="2058115" cy="369332"/>
          </a:xfrm>
          <a:prstGeom prst="rect">
            <a:avLst/>
          </a:prstGeom>
          <a:noFill/>
        </p:spPr>
        <p:txBody>
          <a:bodyPr wrap="square" rtlCol="0">
            <a:spAutoFit/>
          </a:bodyPr>
          <a:lstStyle/>
          <a:p>
            <a:pPr algn="just"/>
            <a:r>
              <a:rPr lang="zh-CN" altLang="en-US" b="1">
                <a:solidFill>
                  <a:prstClr val="white"/>
                </a:solidFill>
                <a:latin typeface="Arial"/>
                <a:ea typeface="微软雅黑"/>
              </a:rPr>
              <a:t>五  保障机制</a:t>
            </a:r>
            <a:endParaRPr lang="zh-CN" altLang="en-US" b="1" dirty="0">
              <a:solidFill>
                <a:prstClr val="white"/>
              </a:solidFill>
              <a:latin typeface="Arial"/>
              <a:ea typeface="微软雅黑"/>
            </a:endParaRPr>
          </a:p>
        </p:txBody>
      </p:sp>
    </p:spTree>
    <p:extLst>
      <p:ext uri="{BB962C8B-B14F-4D97-AF65-F5344CB8AC3E}">
        <p14:creationId xmlns:p14="http://schemas.microsoft.com/office/powerpoint/2010/main" val="3500772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a:extLst>
              <a:ext uri="{FF2B5EF4-FFF2-40B4-BE49-F238E27FC236}">
                <a16:creationId xmlns:a16="http://schemas.microsoft.com/office/drawing/2014/main" id="{39AF018C-BD1E-4D1C-A575-89BC7165FB5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189341" y="28710"/>
            <a:ext cx="881729" cy="881729"/>
          </a:xfrm>
          <a:prstGeom prst="rect">
            <a:avLst/>
          </a:prstGeom>
        </p:spPr>
      </p:pic>
      <p:pic>
        <p:nvPicPr>
          <p:cNvPr id="24" name="图片 23">
            <a:extLst>
              <a:ext uri="{FF2B5EF4-FFF2-40B4-BE49-F238E27FC236}">
                <a16:creationId xmlns:a16="http://schemas.microsoft.com/office/drawing/2014/main" id="{118A43A9-C67F-4CB1-B9F4-63E761CBC2D0}"/>
              </a:ext>
            </a:extLst>
          </p:cNvPr>
          <p:cNvPicPr>
            <a:picLocks noChangeAspect="1"/>
          </p:cNvPicPr>
          <p:nvPr/>
        </p:nvPicPr>
        <p:blipFill>
          <a:blip r:embed="rId4" cstate="print">
            <a:extLst>
              <a:ext uri="{28A0092B-C50C-407E-A947-70E740481C1C}">
                <a14:useLocalDpi xmlns:a14="http://schemas.microsoft.com/office/drawing/2010/main" val="0"/>
              </a:ext>
            </a:extLst>
          </a:blip>
          <a:srcRect l="1133" r="1133"/>
          <a:stretch/>
        </p:blipFill>
        <p:spPr>
          <a:xfrm>
            <a:off x="274100" y="75737"/>
            <a:ext cx="802225" cy="806727"/>
          </a:xfrm>
          <a:prstGeom prst="rect">
            <a:avLst/>
          </a:prstGeom>
        </p:spPr>
      </p:pic>
      <p:sp>
        <p:nvSpPr>
          <p:cNvPr id="25" name="文本框 24">
            <a:extLst>
              <a:ext uri="{FF2B5EF4-FFF2-40B4-BE49-F238E27FC236}">
                <a16:creationId xmlns:a16="http://schemas.microsoft.com/office/drawing/2014/main" id="{D2B29A73-493F-45ED-A593-8D7573299A30}"/>
              </a:ext>
            </a:extLst>
          </p:cNvPr>
          <p:cNvSpPr txBox="1"/>
          <p:nvPr/>
        </p:nvSpPr>
        <p:spPr>
          <a:xfrm>
            <a:off x="6313868" y="337344"/>
            <a:ext cx="6157730" cy="406971"/>
          </a:xfrm>
          <a:prstGeom prst="rect">
            <a:avLst/>
          </a:prstGeom>
          <a:noFill/>
        </p:spPr>
        <p:txBody>
          <a:bodyPr wrap="square">
            <a:spAutoFit/>
          </a:bodyPr>
          <a:lstStyle/>
          <a:p>
            <a:pPr algn="ctr" defTabSz="342900">
              <a:lnSpc>
                <a:spcPct val="125000"/>
              </a:lnSpc>
            </a:pPr>
            <a:endParaRPr lang="en-US" altLang="zh-CN" b="1">
              <a:latin typeface="微软雅黑" pitchFamily="34" charset="-122"/>
              <a:ea typeface="微软雅黑" pitchFamily="34" charset="-122"/>
              <a:cs typeface="Calibri" charset="0"/>
            </a:endParaRPr>
          </a:p>
        </p:txBody>
      </p:sp>
      <p:sp>
        <p:nvSpPr>
          <p:cNvPr id="26" name="文本框 11">
            <a:extLst>
              <a:ext uri="{FF2B5EF4-FFF2-40B4-BE49-F238E27FC236}">
                <a16:creationId xmlns:a16="http://schemas.microsoft.com/office/drawing/2014/main" id="{D7D3FDA0-EE55-4DA0-9A6C-9EE877927692}"/>
              </a:ext>
            </a:extLst>
          </p:cNvPr>
          <p:cNvSpPr txBox="1"/>
          <p:nvPr/>
        </p:nvSpPr>
        <p:spPr>
          <a:xfrm>
            <a:off x="1975284" y="1632283"/>
            <a:ext cx="498855"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400" b="0"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rPr>
              <a:t>1</a:t>
            </a:r>
            <a:endParaRPr kumimoji="0" lang="zh-CN" altLang="en-US" sz="4400" b="0"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27" name="文本框 12">
            <a:extLst>
              <a:ext uri="{FF2B5EF4-FFF2-40B4-BE49-F238E27FC236}">
                <a16:creationId xmlns:a16="http://schemas.microsoft.com/office/drawing/2014/main" id="{68A62499-6F06-4E26-845E-7CA94DC6CE82}"/>
              </a:ext>
            </a:extLst>
          </p:cNvPr>
          <p:cNvSpPr txBox="1"/>
          <p:nvPr/>
        </p:nvSpPr>
        <p:spPr>
          <a:xfrm>
            <a:off x="359003" y="1760040"/>
            <a:ext cx="1877437" cy="461665"/>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
                <a:srgbClr val="C00000"/>
              </a:buClr>
              <a:buSzTx/>
              <a:buFont typeface="Wingdings" panose="05000000000000000000" pitchFamily="2" charset="2"/>
              <a:buChar char="p"/>
              <a:tabLst/>
              <a:defRPr/>
            </a:pPr>
            <a:r>
              <a:rPr lang="zh-CN" altLang="en-US" sz="2400" b="1" kern="0">
                <a:solidFill>
                  <a:srgbClr val="004E86"/>
                </a:solidFill>
                <a:latin typeface="微软雅黑" panose="020B0503020204020204" pitchFamily="34" charset="-122"/>
                <a:ea typeface="微软雅黑" panose="020B0503020204020204" pitchFamily="34" charset="-122"/>
              </a:rPr>
              <a:t>实施路径</a:t>
            </a:r>
            <a:endParaRPr kumimoji="0" lang="zh-CN" altLang="en-US" b="1" i="0" u="none" strike="noStrike" kern="0" cap="none" spc="0" normalizeH="0" baseline="0" noProof="0" dirty="0">
              <a:ln>
                <a:noFill/>
              </a:ln>
              <a:solidFill>
                <a:srgbClr val="004E86"/>
              </a:solidFill>
              <a:effectLst/>
              <a:uLnTx/>
              <a:uFillTx/>
              <a:latin typeface="微软雅黑" panose="020B0503020204020204" pitchFamily="34" charset="-122"/>
              <a:ea typeface="微软雅黑" panose="020B0503020204020204" pitchFamily="34" charset="-122"/>
              <a:cs typeface="+mn-cs"/>
            </a:endParaRPr>
          </a:p>
        </p:txBody>
      </p:sp>
      <p:cxnSp>
        <p:nvCxnSpPr>
          <p:cNvPr id="28" name="直接连接符 7">
            <a:extLst>
              <a:ext uri="{FF2B5EF4-FFF2-40B4-BE49-F238E27FC236}">
                <a16:creationId xmlns:a16="http://schemas.microsoft.com/office/drawing/2014/main" id="{097550A1-66E1-4860-AEE0-1D16B9FAFDB3}"/>
              </a:ext>
            </a:extLst>
          </p:cNvPr>
          <p:cNvCxnSpPr>
            <a:cxnSpLocks/>
          </p:cNvCxnSpPr>
          <p:nvPr/>
        </p:nvCxnSpPr>
        <p:spPr bwMode="auto">
          <a:xfrm flipH="1">
            <a:off x="463090" y="2213957"/>
            <a:ext cx="7928881" cy="0"/>
          </a:xfrm>
          <a:prstGeom prst="line">
            <a:avLst/>
          </a:prstGeom>
          <a:noFill/>
          <a:ln w="28575" cap="flat" cmpd="sng" algn="ctr">
            <a:solidFill>
              <a:srgbClr val="F65C5C"/>
            </a:solidFill>
            <a:prstDash val="sysDash"/>
            <a:round/>
            <a:headEnd type="none" w="med" len="med"/>
            <a:tailEnd type="none" w="med" len="med"/>
          </a:ln>
          <a:effectLst/>
        </p:spPr>
      </p:cxnSp>
      <p:sp>
        <p:nvSpPr>
          <p:cNvPr id="18" name="文本框 17">
            <a:extLst>
              <a:ext uri="{FF2B5EF4-FFF2-40B4-BE49-F238E27FC236}">
                <a16:creationId xmlns:a16="http://schemas.microsoft.com/office/drawing/2014/main" id="{4C0D621A-BA30-4D0D-AE75-F1251D29CFDC}"/>
              </a:ext>
            </a:extLst>
          </p:cNvPr>
          <p:cNvSpPr txBox="1"/>
          <p:nvPr/>
        </p:nvSpPr>
        <p:spPr>
          <a:xfrm>
            <a:off x="6269498" y="489744"/>
            <a:ext cx="6157730" cy="406971"/>
          </a:xfrm>
          <a:prstGeom prst="rect">
            <a:avLst/>
          </a:prstGeom>
          <a:noFill/>
        </p:spPr>
        <p:txBody>
          <a:bodyPr wrap="square">
            <a:spAutoFit/>
          </a:bodyPr>
          <a:lstStyle/>
          <a:p>
            <a:pPr algn="ctr" defTabSz="342900">
              <a:lnSpc>
                <a:spcPct val="125000"/>
              </a:lnSpc>
            </a:pPr>
            <a:r>
              <a:rPr lang="zh-CN" altLang="en-US" b="1">
                <a:latin typeface="微软雅黑" pitchFamily="34" charset="-122"/>
                <a:ea typeface="微软雅黑" pitchFamily="34" charset="-122"/>
                <a:cs typeface="Calibri" charset="0"/>
              </a:rPr>
              <a:t>“教育学</a:t>
            </a:r>
            <a:r>
              <a:rPr lang="en-US" altLang="zh-CN" b="1">
                <a:latin typeface="微软雅黑" pitchFamily="34" charset="-122"/>
                <a:ea typeface="微软雅黑" pitchFamily="34" charset="-122"/>
                <a:cs typeface="Calibri" charset="0"/>
              </a:rPr>
              <a:t>+</a:t>
            </a:r>
            <a:r>
              <a:rPr lang="zh-CN" altLang="en-US" b="1">
                <a:latin typeface="微软雅黑" pitchFamily="34" charset="-122"/>
                <a:ea typeface="微软雅黑" pitchFamily="34" charset="-122"/>
                <a:cs typeface="Calibri" charset="0"/>
              </a:rPr>
              <a:t>人工智能”双学士学位复合型人才培养项目</a:t>
            </a:r>
            <a:endParaRPr lang="en-US" altLang="zh-CN" b="1">
              <a:latin typeface="微软雅黑" pitchFamily="34" charset="-122"/>
              <a:ea typeface="微软雅黑" pitchFamily="34" charset="-122"/>
              <a:cs typeface="Calibri" charset="0"/>
            </a:endParaRPr>
          </a:p>
        </p:txBody>
      </p:sp>
      <p:sp>
        <p:nvSpPr>
          <p:cNvPr id="35" name="矩形 34">
            <a:extLst>
              <a:ext uri="{FF2B5EF4-FFF2-40B4-BE49-F238E27FC236}">
                <a16:creationId xmlns:a16="http://schemas.microsoft.com/office/drawing/2014/main" id="{59837293-9C2B-498C-89E4-125D533EEFAB}"/>
              </a:ext>
            </a:extLst>
          </p:cNvPr>
          <p:cNvSpPr/>
          <p:nvPr/>
        </p:nvSpPr>
        <p:spPr>
          <a:xfrm>
            <a:off x="0" y="924560"/>
            <a:ext cx="12192000" cy="665627"/>
          </a:xfrm>
          <a:prstGeom prst="rect">
            <a:avLst/>
          </a:prstGeom>
          <a:solidFill>
            <a:srgbClr val="4472C4">
              <a:lumMod val="50000"/>
            </a:srgbClr>
          </a:solidFill>
          <a:ln w="12700" cap="flat" cmpd="sng" algn="ctr">
            <a:solidFill>
              <a:srgbClr val="4472C4">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a:ea typeface="微软雅黑"/>
              <a:cs typeface="+mn-cs"/>
            </a:endParaRPr>
          </a:p>
        </p:txBody>
      </p:sp>
      <p:sp>
        <p:nvSpPr>
          <p:cNvPr id="42" name="矩形 41">
            <a:extLst>
              <a:ext uri="{FF2B5EF4-FFF2-40B4-BE49-F238E27FC236}">
                <a16:creationId xmlns:a16="http://schemas.microsoft.com/office/drawing/2014/main" id="{E410ED18-8DD6-4AB4-B9D6-AC31405C35FF}"/>
              </a:ext>
            </a:extLst>
          </p:cNvPr>
          <p:cNvSpPr/>
          <p:nvPr/>
        </p:nvSpPr>
        <p:spPr>
          <a:xfrm>
            <a:off x="-1" y="924560"/>
            <a:ext cx="2152843" cy="665627"/>
          </a:xfrm>
          <a:prstGeom prst="rect">
            <a:avLst/>
          </a:prstGeom>
          <a:solidFill>
            <a:srgbClr val="FF9900"/>
          </a:solidFill>
          <a:ln w="12700" cap="flat" cmpd="sng" algn="ctr">
            <a:solidFill>
              <a:srgbClr val="FF99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Arial"/>
              <a:ea typeface="微软雅黑"/>
              <a:cs typeface="+mn-cs"/>
            </a:endParaRPr>
          </a:p>
        </p:txBody>
      </p:sp>
      <p:sp>
        <p:nvSpPr>
          <p:cNvPr id="48" name="文本框 14">
            <a:extLst>
              <a:ext uri="{FF2B5EF4-FFF2-40B4-BE49-F238E27FC236}">
                <a16:creationId xmlns:a16="http://schemas.microsoft.com/office/drawing/2014/main" id="{B76022D6-E9E8-48DB-BA95-C675C1C810B2}"/>
              </a:ext>
            </a:extLst>
          </p:cNvPr>
          <p:cNvSpPr txBox="1"/>
          <p:nvPr/>
        </p:nvSpPr>
        <p:spPr>
          <a:xfrm>
            <a:off x="359003" y="1107051"/>
            <a:ext cx="1793840" cy="369332"/>
          </a:xfrm>
          <a:prstGeom prst="rect">
            <a:avLst/>
          </a:prstGeom>
          <a:noFill/>
        </p:spPr>
        <p:txBody>
          <a:bodyPr wrap="square" rtlCol="0">
            <a:spAutoFit/>
          </a:bodyPr>
          <a:lstStyle/>
          <a:p>
            <a:pPr algn="just"/>
            <a:r>
              <a:rPr lang="zh-CN" altLang="en-US" b="1">
                <a:solidFill>
                  <a:prstClr val="white"/>
                </a:solidFill>
                <a:latin typeface="Arial"/>
                <a:ea typeface="微软雅黑"/>
              </a:rPr>
              <a:t>一  总体思路</a:t>
            </a:r>
            <a:endParaRPr lang="zh-CN" altLang="en-US" b="1" dirty="0">
              <a:solidFill>
                <a:prstClr val="white"/>
              </a:solidFill>
              <a:latin typeface="Arial"/>
              <a:ea typeface="微软雅黑"/>
            </a:endParaRPr>
          </a:p>
        </p:txBody>
      </p:sp>
      <p:sp>
        <p:nvSpPr>
          <p:cNvPr id="50" name="文本框 14">
            <a:extLst>
              <a:ext uri="{FF2B5EF4-FFF2-40B4-BE49-F238E27FC236}">
                <a16:creationId xmlns:a16="http://schemas.microsoft.com/office/drawing/2014/main" id="{668B3536-4E8E-4AE5-B639-B2CC661750EA}"/>
              </a:ext>
            </a:extLst>
          </p:cNvPr>
          <p:cNvSpPr txBox="1"/>
          <p:nvPr/>
        </p:nvSpPr>
        <p:spPr>
          <a:xfrm>
            <a:off x="2642427" y="1107051"/>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二  课程体系实施</a:t>
            </a:r>
            <a:endParaRPr lang="zh-CN" altLang="en-US" b="1" dirty="0">
              <a:solidFill>
                <a:prstClr val="white"/>
              </a:solidFill>
              <a:latin typeface="Arial"/>
              <a:ea typeface="微软雅黑"/>
            </a:endParaRPr>
          </a:p>
        </p:txBody>
      </p:sp>
      <p:sp>
        <p:nvSpPr>
          <p:cNvPr id="51" name="文本框 14">
            <a:extLst>
              <a:ext uri="{FF2B5EF4-FFF2-40B4-BE49-F238E27FC236}">
                <a16:creationId xmlns:a16="http://schemas.microsoft.com/office/drawing/2014/main" id="{A2F4ACEE-38CB-4D48-9F76-22A6518EDDCA}"/>
              </a:ext>
            </a:extLst>
          </p:cNvPr>
          <p:cNvSpPr txBox="1"/>
          <p:nvPr/>
        </p:nvSpPr>
        <p:spPr>
          <a:xfrm>
            <a:off x="5054466" y="1071284"/>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三  实践体系实施</a:t>
            </a:r>
            <a:endParaRPr lang="zh-CN" altLang="en-US" b="1" dirty="0">
              <a:solidFill>
                <a:prstClr val="white"/>
              </a:solidFill>
              <a:latin typeface="Arial"/>
              <a:ea typeface="微软雅黑"/>
            </a:endParaRPr>
          </a:p>
        </p:txBody>
      </p:sp>
      <p:sp>
        <p:nvSpPr>
          <p:cNvPr id="52" name="文本框 14">
            <a:extLst>
              <a:ext uri="{FF2B5EF4-FFF2-40B4-BE49-F238E27FC236}">
                <a16:creationId xmlns:a16="http://schemas.microsoft.com/office/drawing/2014/main" id="{05E71753-8437-4497-A500-B6AF6B7F03C4}"/>
              </a:ext>
            </a:extLst>
          </p:cNvPr>
          <p:cNvSpPr txBox="1"/>
          <p:nvPr/>
        </p:nvSpPr>
        <p:spPr>
          <a:xfrm>
            <a:off x="7338510" y="1071183"/>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四  导师制与学业指导</a:t>
            </a:r>
            <a:endParaRPr lang="zh-CN" altLang="en-US" b="1" dirty="0">
              <a:solidFill>
                <a:prstClr val="white"/>
              </a:solidFill>
              <a:latin typeface="Arial"/>
              <a:ea typeface="微软雅黑"/>
            </a:endParaRPr>
          </a:p>
        </p:txBody>
      </p:sp>
      <p:sp>
        <p:nvSpPr>
          <p:cNvPr id="53" name="文本框 14">
            <a:extLst>
              <a:ext uri="{FF2B5EF4-FFF2-40B4-BE49-F238E27FC236}">
                <a16:creationId xmlns:a16="http://schemas.microsoft.com/office/drawing/2014/main" id="{959AFEB4-E9F9-4CFC-9135-39396D53A002}"/>
              </a:ext>
            </a:extLst>
          </p:cNvPr>
          <p:cNvSpPr txBox="1"/>
          <p:nvPr/>
        </p:nvSpPr>
        <p:spPr>
          <a:xfrm>
            <a:off x="10133884" y="1058701"/>
            <a:ext cx="2058115" cy="369332"/>
          </a:xfrm>
          <a:prstGeom prst="rect">
            <a:avLst/>
          </a:prstGeom>
          <a:noFill/>
        </p:spPr>
        <p:txBody>
          <a:bodyPr wrap="square" rtlCol="0">
            <a:spAutoFit/>
          </a:bodyPr>
          <a:lstStyle/>
          <a:p>
            <a:pPr algn="just"/>
            <a:r>
              <a:rPr lang="zh-CN" altLang="en-US" b="1">
                <a:solidFill>
                  <a:prstClr val="white"/>
                </a:solidFill>
                <a:latin typeface="Arial"/>
                <a:ea typeface="微软雅黑"/>
              </a:rPr>
              <a:t>五  保障机制</a:t>
            </a:r>
            <a:endParaRPr lang="zh-CN" altLang="en-US" b="1" dirty="0">
              <a:solidFill>
                <a:prstClr val="white"/>
              </a:solidFill>
              <a:latin typeface="Arial"/>
              <a:ea typeface="微软雅黑"/>
            </a:endParaRPr>
          </a:p>
        </p:txBody>
      </p:sp>
      <p:sp>
        <p:nvSpPr>
          <p:cNvPr id="16" name="Shape">
            <a:extLst>
              <a:ext uri="{FF2B5EF4-FFF2-40B4-BE49-F238E27FC236}">
                <a16:creationId xmlns:a16="http://schemas.microsoft.com/office/drawing/2014/main" id="{DF422B0D-B2C8-403C-94EA-160EE04E0ABD}"/>
              </a:ext>
            </a:extLst>
          </p:cNvPr>
          <p:cNvSpPr/>
          <p:nvPr/>
        </p:nvSpPr>
        <p:spPr>
          <a:xfrm>
            <a:off x="4640782" y="2463078"/>
            <a:ext cx="2103120" cy="786384"/>
          </a:xfrm>
          <a:prstGeom prst="roundRect">
            <a:avLst/>
          </a:prstGeom>
          <a:solidFill>
            <a:srgbClr val="FFFFFF"/>
          </a:solidFill>
          <a:ln w="12700">
            <a:solidFill>
              <a:srgbClr val="C5282F"/>
            </a:solidFill>
          </a:ln>
        </p:spPr>
        <p:txBody>
          <a:bodyPr/>
          <a:lstStyle/>
          <a:p>
            <a:endParaRPr lang="zh-CN" altLang="en-US"/>
          </a:p>
        </p:txBody>
      </p:sp>
      <p:sp>
        <p:nvSpPr>
          <p:cNvPr id="17" name="Text">
            <a:extLst>
              <a:ext uri="{FF2B5EF4-FFF2-40B4-BE49-F238E27FC236}">
                <a16:creationId xmlns:a16="http://schemas.microsoft.com/office/drawing/2014/main" id="{B0E980E7-E65D-43A0-A079-8F1AC9650506}"/>
              </a:ext>
            </a:extLst>
          </p:cNvPr>
          <p:cNvSpPr txBox="1"/>
          <p:nvPr/>
        </p:nvSpPr>
        <p:spPr>
          <a:xfrm>
            <a:off x="4799493" y="2664246"/>
            <a:ext cx="1785697" cy="256032"/>
          </a:xfrm>
          <a:prstGeom prst="rect">
            <a:avLst/>
          </a:prstGeom>
          <a:noFill/>
          <a:ln>
            <a:noFill/>
          </a:ln>
        </p:spPr>
        <p:txBody>
          <a:bodyPr wrap="square" lIns="60000" tIns="40000" rIns="60000" bIns="40000" anchor="t"/>
          <a:lstStyle/>
          <a:p>
            <a:pPr algn="l"/>
            <a:r>
              <a:rPr lang="zh-CN" altLang="en-US" b="1" dirty="0">
                <a:solidFill>
                  <a:srgbClr val="C5282F"/>
                </a:solidFill>
                <a:latin typeface="Microsoft YaHei"/>
                <a:ea typeface="Microsoft YaHei"/>
                <a:cs typeface="Microsoft YaHei"/>
              </a:rPr>
              <a:t>平台全链条支撑 </a:t>
            </a:r>
            <a:endParaRPr lang="zh-CN" b="1" dirty="0">
              <a:solidFill>
                <a:srgbClr val="C5282F"/>
              </a:solidFill>
              <a:latin typeface="Microsoft YaHei"/>
              <a:ea typeface="Microsoft YaHei"/>
              <a:cs typeface="Microsoft YaHei"/>
            </a:endParaRPr>
          </a:p>
        </p:txBody>
      </p:sp>
      <p:sp>
        <p:nvSpPr>
          <p:cNvPr id="20" name="Shape">
            <a:extLst>
              <a:ext uri="{FF2B5EF4-FFF2-40B4-BE49-F238E27FC236}">
                <a16:creationId xmlns:a16="http://schemas.microsoft.com/office/drawing/2014/main" id="{21CDEAB6-5D12-4CD9-A3BF-BCBEA1184C76}"/>
              </a:ext>
            </a:extLst>
          </p:cNvPr>
          <p:cNvSpPr/>
          <p:nvPr/>
        </p:nvSpPr>
        <p:spPr>
          <a:xfrm>
            <a:off x="7603416" y="3589861"/>
            <a:ext cx="2103120" cy="786384"/>
          </a:xfrm>
          <a:prstGeom prst="roundRect">
            <a:avLst/>
          </a:prstGeom>
          <a:solidFill>
            <a:srgbClr val="FFFFFF"/>
          </a:solidFill>
          <a:ln w="12700">
            <a:solidFill>
              <a:srgbClr val="1F6FB2"/>
            </a:solidFill>
          </a:ln>
        </p:spPr>
        <p:txBody>
          <a:bodyPr/>
          <a:lstStyle/>
          <a:p>
            <a:endParaRPr lang="zh-CN" altLang="en-US"/>
          </a:p>
        </p:txBody>
      </p:sp>
      <p:sp>
        <p:nvSpPr>
          <p:cNvPr id="21" name="Text">
            <a:extLst>
              <a:ext uri="{FF2B5EF4-FFF2-40B4-BE49-F238E27FC236}">
                <a16:creationId xmlns:a16="http://schemas.microsoft.com/office/drawing/2014/main" id="{6DA2862F-BC27-4C21-B4F9-F692C2934F93}"/>
              </a:ext>
            </a:extLst>
          </p:cNvPr>
          <p:cNvSpPr txBox="1"/>
          <p:nvPr/>
        </p:nvSpPr>
        <p:spPr>
          <a:xfrm>
            <a:off x="7762127" y="3791029"/>
            <a:ext cx="1785697" cy="256032"/>
          </a:xfrm>
          <a:prstGeom prst="rect">
            <a:avLst/>
          </a:prstGeom>
          <a:noFill/>
          <a:ln>
            <a:noFill/>
          </a:ln>
        </p:spPr>
        <p:txBody>
          <a:bodyPr wrap="square" lIns="60000" tIns="40000" rIns="60000" bIns="40000" anchor="t"/>
          <a:lstStyle/>
          <a:p>
            <a:pPr algn="l"/>
            <a:r>
              <a:rPr lang="zh-CN" altLang="en-US" b="1" dirty="0">
                <a:solidFill>
                  <a:srgbClr val="1F6FB2"/>
                </a:solidFill>
                <a:latin typeface="Microsoft YaHei"/>
                <a:ea typeface="Microsoft YaHei"/>
                <a:cs typeface="Microsoft YaHei"/>
              </a:rPr>
              <a:t>质量闭环化管控 </a:t>
            </a:r>
            <a:endParaRPr lang="zh-CN" b="1" dirty="0">
              <a:solidFill>
                <a:srgbClr val="1F6FB2"/>
              </a:solidFill>
              <a:latin typeface="Microsoft YaHei"/>
              <a:ea typeface="Microsoft YaHei"/>
              <a:cs typeface="Microsoft YaHei"/>
            </a:endParaRPr>
          </a:p>
        </p:txBody>
      </p:sp>
      <p:sp>
        <p:nvSpPr>
          <p:cNvPr id="29" name="Shape">
            <a:extLst>
              <a:ext uri="{FF2B5EF4-FFF2-40B4-BE49-F238E27FC236}">
                <a16:creationId xmlns:a16="http://schemas.microsoft.com/office/drawing/2014/main" id="{9AF011B6-4BDA-42A5-B4A5-052E69F222CA}"/>
              </a:ext>
            </a:extLst>
          </p:cNvPr>
          <p:cNvSpPr/>
          <p:nvPr/>
        </p:nvSpPr>
        <p:spPr>
          <a:xfrm>
            <a:off x="6698182" y="5589535"/>
            <a:ext cx="2103120" cy="786384"/>
          </a:xfrm>
          <a:prstGeom prst="roundRect">
            <a:avLst/>
          </a:prstGeom>
          <a:solidFill>
            <a:srgbClr val="FFFFFF"/>
          </a:solidFill>
          <a:ln w="12700">
            <a:solidFill>
              <a:srgbClr val="00A6A6"/>
            </a:solidFill>
          </a:ln>
        </p:spPr>
        <p:txBody>
          <a:bodyPr/>
          <a:lstStyle/>
          <a:p>
            <a:endParaRPr lang="zh-CN" altLang="en-US"/>
          </a:p>
        </p:txBody>
      </p:sp>
      <p:sp>
        <p:nvSpPr>
          <p:cNvPr id="30" name="Text">
            <a:extLst>
              <a:ext uri="{FF2B5EF4-FFF2-40B4-BE49-F238E27FC236}">
                <a16:creationId xmlns:a16="http://schemas.microsoft.com/office/drawing/2014/main" id="{CE84398E-DBAC-4E6A-987D-7A731E43CADE}"/>
              </a:ext>
            </a:extLst>
          </p:cNvPr>
          <p:cNvSpPr txBox="1"/>
          <p:nvPr/>
        </p:nvSpPr>
        <p:spPr>
          <a:xfrm>
            <a:off x="6856893" y="5790703"/>
            <a:ext cx="1785697" cy="256032"/>
          </a:xfrm>
          <a:prstGeom prst="rect">
            <a:avLst/>
          </a:prstGeom>
          <a:noFill/>
          <a:ln>
            <a:noFill/>
          </a:ln>
        </p:spPr>
        <p:txBody>
          <a:bodyPr wrap="square" lIns="60000" tIns="40000" rIns="60000" bIns="40000" anchor="t"/>
          <a:lstStyle/>
          <a:p>
            <a:pPr algn="l"/>
            <a:r>
              <a:rPr lang="zh-CN" altLang="en-US" b="1">
                <a:solidFill>
                  <a:srgbClr val="00A6A6"/>
                </a:solidFill>
                <a:latin typeface="Microsoft YaHei"/>
                <a:ea typeface="Microsoft YaHei"/>
                <a:cs typeface="Microsoft YaHei"/>
              </a:rPr>
              <a:t>机制长效化保障</a:t>
            </a:r>
            <a:endParaRPr lang="zh-CN" b="1">
              <a:solidFill>
                <a:srgbClr val="00A6A6"/>
              </a:solidFill>
              <a:latin typeface="Microsoft YaHei"/>
              <a:ea typeface="Microsoft YaHei"/>
              <a:cs typeface="Microsoft YaHei"/>
            </a:endParaRPr>
          </a:p>
        </p:txBody>
      </p:sp>
      <p:sp>
        <p:nvSpPr>
          <p:cNvPr id="32" name="Shape">
            <a:extLst>
              <a:ext uri="{FF2B5EF4-FFF2-40B4-BE49-F238E27FC236}">
                <a16:creationId xmlns:a16="http://schemas.microsoft.com/office/drawing/2014/main" id="{D81D5A7E-5833-448B-91D8-DC260837F68F}"/>
              </a:ext>
            </a:extLst>
          </p:cNvPr>
          <p:cNvSpPr/>
          <p:nvPr/>
        </p:nvSpPr>
        <p:spPr>
          <a:xfrm>
            <a:off x="2696373" y="5589535"/>
            <a:ext cx="2103120" cy="786384"/>
          </a:xfrm>
          <a:prstGeom prst="roundRect">
            <a:avLst/>
          </a:prstGeom>
          <a:solidFill>
            <a:srgbClr val="FFFFFF"/>
          </a:solidFill>
          <a:ln w="12700">
            <a:solidFill>
              <a:srgbClr val="3A8F5C"/>
            </a:solidFill>
          </a:ln>
        </p:spPr>
        <p:txBody>
          <a:bodyPr/>
          <a:lstStyle/>
          <a:p>
            <a:endParaRPr lang="zh-CN" altLang="en-US"/>
          </a:p>
        </p:txBody>
      </p:sp>
      <p:sp>
        <p:nvSpPr>
          <p:cNvPr id="33" name="Text">
            <a:extLst>
              <a:ext uri="{FF2B5EF4-FFF2-40B4-BE49-F238E27FC236}">
                <a16:creationId xmlns:a16="http://schemas.microsoft.com/office/drawing/2014/main" id="{30BA35EA-2BFE-4E5A-9C41-6AC5882B1D4F}"/>
              </a:ext>
            </a:extLst>
          </p:cNvPr>
          <p:cNvSpPr txBox="1"/>
          <p:nvPr/>
        </p:nvSpPr>
        <p:spPr>
          <a:xfrm>
            <a:off x="2855084" y="5790703"/>
            <a:ext cx="1785697" cy="256032"/>
          </a:xfrm>
          <a:prstGeom prst="rect">
            <a:avLst/>
          </a:prstGeom>
          <a:noFill/>
          <a:ln>
            <a:noFill/>
          </a:ln>
        </p:spPr>
        <p:txBody>
          <a:bodyPr wrap="square" lIns="60000" tIns="40000" rIns="60000" bIns="40000" anchor="t"/>
          <a:lstStyle/>
          <a:p>
            <a:pPr algn="l"/>
            <a:r>
              <a:rPr lang="zh-CN" altLang="en-US" b="1" dirty="0">
                <a:solidFill>
                  <a:srgbClr val="3A8F5C"/>
                </a:solidFill>
                <a:latin typeface="Microsoft YaHei"/>
                <a:ea typeface="Microsoft YaHei"/>
                <a:cs typeface="Microsoft YaHei"/>
              </a:rPr>
              <a:t>课程双螺旋重构 </a:t>
            </a:r>
            <a:endParaRPr lang="zh-CN" b="1" dirty="0">
              <a:solidFill>
                <a:srgbClr val="3A8F5C"/>
              </a:solidFill>
              <a:latin typeface="Microsoft YaHei"/>
              <a:ea typeface="Microsoft YaHei"/>
              <a:cs typeface="Microsoft YaHei"/>
            </a:endParaRPr>
          </a:p>
        </p:txBody>
      </p:sp>
      <p:sp>
        <p:nvSpPr>
          <p:cNvPr id="36" name="Shape">
            <a:extLst>
              <a:ext uri="{FF2B5EF4-FFF2-40B4-BE49-F238E27FC236}">
                <a16:creationId xmlns:a16="http://schemas.microsoft.com/office/drawing/2014/main" id="{AB4799D3-1CB3-47CF-90CD-7231AEA6F9AE}"/>
              </a:ext>
            </a:extLst>
          </p:cNvPr>
          <p:cNvSpPr/>
          <p:nvPr/>
        </p:nvSpPr>
        <p:spPr>
          <a:xfrm>
            <a:off x="1754304" y="3699750"/>
            <a:ext cx="2103120" cy="786384"/>
          </a:xfrm>
          <a:prstGeom prst="roundRect">
            <a:avLst/>
          </a:prstGeom>
          <a:solidFill>
            <a:srgbClr val="FFFFFF"/>
          </a:solidFill>
          <a:ln w="12700">
            <a:solidFill>
              <a:srgbClr val="D9A441"/>
            </a:solidFill>
          </a:ln>
        </p:spPr>
        <p:txBody>
          <a:bodyPr/>
          <a:lstStyle/>
          <a:p>
            <a:endParaRPr lang="zh-CN" altLang="en-US"/>
          </a:p>
        </p:txBody>
      </p:sp>
      <p:sp>
        <p:nvSpPr>
          <p:cNvPr id="37" name="Text">
            <a:extLst>
              <a:ext uri="{FF2B5EF4-FFF2-40B4-BE49-F238E27FC236}">
                <a16:creationId xmlns:a16="http://schemas.microsoft.com/office/drawing/2014/main" id="{0AE428BC-13FD-463A-BB9B-AC93BABDB5A2}"/>
              </a:ext>
            </a:extLst>
          </p:cNvPr>
          <p:cNvSpPr txBox="1"/>
          <p:nvPr/>
        </p:nvSpPr>
        <p:spPr>
          <a:xfrm>
            <a:off x="1913016" y="3900918"/>
            <a:ext cx="1839288" cy="256032"/>
          </a:xfrm>
          <a:prstGeom prst="rect">
            <a:avLst/>
          </a:prstGeom>
          <a:noFill/>
          <a:ln>
            <a:noFill/>
          </a:ln>
        </p:spPr>
        <p:txBody>
          <a:bodyPr wrap="square" lIns="60000" tIns="40000" rIns="60000" bIns="40000" anchor="t"/>
          <a:lstStyle/>
          <a:p>
            <a:pPr algn="l"/>
            <a:r>
              <a:rPr lang="zh-CN" altLang="en-US" b="1" dirty="0">
                <a:solidFill>
                  <a:srgbClr val="D9A441"/>
                </a:solidFill>
                <a:latin typeface="Microsoft YaHei"/>
                <a:ea typeface="Microsoft YaHei"/>
                <a:cs typeface="Microsoft YaHei"/>
              </a:rPr>
              <a:t>师资双导师协同 </a:t>
            </a:r>
            <a:endParaRPr lang="zh-CN" b="1" dirty="0">
              <a:solidFill>
                <a:srgbClr val="D9A441"/>
              </a:solidFill>
              <a:latin typeface="Microsoft YaHei"/>
              <a:ea typeface="Microsoft YaHei"/>
              <a:cs typeface="Microsoft YaHei"/>
            </a:endParaRPr>
          </a:p>
        </p:txBody>
      </p:sp>
      <p:sp>
        <p:nvSpPr>
          <p:cNvPr id="39" name="Shape">
            <a:extLst>
              <a:ext uri="{FF2B5EF4-FFF2-40B4-BE49-F238E27FC236}">
                <a16:creationId xmlns:a16="http://schemas.microsoft.com/office/drawing/2014/main" id="{6CD39AE6-2F39-4CFB-BD98-2B9FE895453B}"/>
              </a:ext>
            </a:extLst>
          </p:cNvPr>
          <p:cNvSpPr/>
          <p:nvPr/>
        </p:nvSpPr>
        <p:spPr>
          <a:xfrm>
            <a:off x="4595062" y="4063531"/>
            <a:ext cx="2194560" cy="914400"/>
          </a:xfrm>
          <a:prstGeom prst="roundRect">
            <a:avLst/>
          </a:prstGeom>
          <a:solidFill>
            <a:srgbClr val="15385B"/>
          </a:solidFill>
          <a:ln>
            <a:noFill/>
          </a:ln>
        </p:spPr>
        <p:txBody>
          <a:bodyPr/>
          <a:lstStyle/>
          <a:p>
            <a:endParaRPr lang="zh-CN" altLang="en-US"/>
          </a:p>
        </p:txBody>
      </p:sp>
      <p:sp>
        <p:nvSpPr>
          <p:cNvPr id="40" name="Text">
            <a:extLst>
              <a:ext uri="{FF2B5EF4-FFF2-40B4-BE49-F238E27FC236}">
                <a16:creationId xmlns:a16="http://schemas.microsoft.com/office/drawing/2014/main" id="{FDF8D739-A45E-4E84-A273-96FE7C0A8983}"/>
              </a:ext>
            </a:extLst>
          </p:cNvPr>
          <p:cNvSpPr txBox="1"/>
          <p:nvPr/>
        </p:nvSpPr>
        <p:spPr>
          <a:xfrm>
            <a:off x="4686502" y="4374427"/>
            <a:ext cx="2011680" cy="274320"/>
          </a:xfrm>
          <a:prstGeom prst="rect">
            <a:avLst/>
          </a:prstGeom>
          <a:noFill/>
          <a:ln>
            <a:noFill/>
          </a:ln>
        </p:spPr>
        <p:txBody>
          <a:bodyPr wrap="square" lIns="60000" tIns="40000" rIns="60000" bIns="40000" anchor="t"/>
          <a:lstStyle/>
          <a:p>
            <a:pPr algn="ctr"/>
            <a:r>
              <a:rPr lang="zh-CN" altLang="en-US" sz="1850" b="1">
                <a:solidFill>
                  <a:srgbClr val="FFFFFF"/>
                </a:solidFill>
                <a:latin typeface="Microsoft YaHei"/>
                <a:ea typeface="Microsoft YaHei"/>
                <a:cs typeface="Microsoft YaHei"/>
              </a:rPr>
              <a:t>实施路径</a:t>
            </a:r>
            <a:endParaRPr lang="zh-CN" sz="1850" b="1">
              <a:solidFill>
                <a:srgbClr val="FFFFFF"/>
              </a:solidFill>
              <a:latin typeface="Microsoft YaHei"/>
              <a:ea typeface="Microsoft YaHei"/>
              <a:cs typeface="Microsoft YaHei"/>
            </a:endParaRPr>
          </a:p>
        </p:txBody>
      </p:sp>
    </p:spTree>
    <p:extLst>
      <p:ext uri="{BB962C8B-B14F-4D97-AF65-F5344CB8AC3E}">
        <p14:creationId xmlns:p14="http://schemas.microsoft.com/office/powerpoint/2010/main" val="31720464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a:extLst>
              <a:ext uri="{FF2B5EF4-FFF2-40B4-BE49-F238E27FC236}">
                <a16:creationId xmlns:a16="http://schemas.microsoft.com/office/drawing/2014/main" id="{39AF018C-BD1E-4D1C-A575-89BC7165FB5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189341" y="28710"/>
            <a:ext cx="881729" cy="881729"/>
          </a:xfrm>
          <a:prstGeom prst="rect">
            <a:avLst/>
          </a:prstGeom>
        </p:spPr>
      </p:pic>
      <p:pic>
        <p:nvPicPr>
          <p:cNvPr id="24" name="图片 23">
            <a:extLst>
              <a:ext uri="{FF2B5EF4-FFF2-40B4-BE49-F238E27FC236}">
                <a16:creationId xmlns:a16="http://schemas.microsoft.com/office/drawing/2014/main" id="{118A43A9-C67F-4CB1-B9F4-63E761CBC2D0}"/>
              </a:ext>
            </a:extLst>
          </p:cNvPr>
          <p:cNvPicPr>
            <a:picLocks noChangeAspect="1"/>
          </p:cNvPicPr>
          <p:nvPr/>
        </p:nvPicPr>
        <p:blipFill>
          <a:blip r:embed="rId4" cstate="print">
            <a:extLst>
              <a:ext uri="{28A0092B-C50C-407E-A947-70E740481C1C}">
                <a14:useLocalDpi xmlns:a14="http://schemas.microsoft.com/office/drawing/2010/main" val="0"/>
              </a:ext>
            </a:extLst>
          </a:blip>
          <a:srcRect l="1133" r="1133"/>
          <a:stretch/>
        </p:blipFill>
        <p:spPr>
          <a:xfrm>
            <a:off x="274100" y="75737"/>
            <a:ext cx="802225" cy="806727"/>
          </a:xfrm>
          <a:prstGeom prst="rect">
            <a:avLst/>
          </a:prstGeom>
        </p:spPr>
      </p:pic>
      <p:sp>
        <p:nvSpPr>
          <p:cNvPr id="25" name="文本框 24">
            <a:extLst>
              <a:ext uri="{FF2B5EF4-FFF2-40B4-BE49-F238E27FC236}">
                <a16:creationId xmlns:a16="http://schemas.microsoft.com/office/drawing/2014/main" id="{D2B29A73-493F-45ED-A593-8D7573299A30}"/>
              </a:ext>
            </a:extLst>
          </p:cNvPr>
          <p:cNvSpPr txBox="1"/>
          <p:nvPr/>
        </p:nvSpPr>
        <p:spPr>
          <a:xfrm>
            <a:off x="6313868" y="337344"/>
            <a:ext cx="6157730" cy="406971"/>
          </a:xfrm>
          <a:prstGeom prst="rect">
            <a:avLst/>
          </a:prstGeom>
          <a:noFill/>
        </p:spPr>
        <p:txBody>
          <a:bodyPr wrap="square">
            <a:spAutoFit/>
          </a:bodyPr>
          <a:lstStyle/>
          <a:p>
            <a:pPr algn="ctr" defTabSz="342900">
              <a:lnSpc>
                <a:spcPct val="125000"/>
              </a:lnSpc>
            </a:pPr>
            <a:endParaRPr lang="en-US" altLang="zh-CN" b="1">
              <a:latin typeface="微软雅黑" pitchFamily="34" charset="-122"/>
              <a:ea typeface="微软雅黑" pitchFamily="34" charset="-122"/>
              <a:cs typeface="Calibri" charset="0"/>
            </a:endParaRPr>
          </a:p>
        </p:txBody>
      </p:sp>
      <p:sp>
        <p:nvSpPr>
          <p:cNvPr id="26" name="文本框 11">
            <a:extLst>
              <a:ext uri="{FF2B5EF4-FFF2-40B4-BE49-F238E27FC236}">
                <a16:creationId xmlns:a16="http://schemas.microsoft.com/office/drawing/2014/main" id="{D7D3FDA0-EE55-4DA0-9A6C-9EE877927692}"/>
              </a:ext>
            </a:extLst>
          </p:cNvPr>
          <p:cNvSpPr txBox="1"/>
          <p:nvPr/>
        </p:nvSpPr>
        <p:spPr>
          <a:xfrm>
            <a:off x="1975284" y="1632283"/>
            <a:ext cx="498855"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400" b="0"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rPr>
              <a:t>1</a:t>
            </a:r>
            <a:endParaRPr kumimoji="0" lang="zh-CN" altLang="en-US" sz="4400" b="0"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22" name="文本框 21">
            <a:extLst>
              <a:ext uri="{FF2B5EF4-FFF2-40B4-BE49-F238E27FC236}">
                <a16:creationId xmlns:a16="http://schemas.microsoft.com/office/drawing/2014/main" id="{87687990-7DB5-4AC0-B36B-400C79A2BFDD}"/>
              </a:ext>
            </a:extLst>
          </p:cNvPr>
          <p:cNvSpPr txBox="1"/>
          <p:nvPr/>
        </p:nvSpPr>
        <p:spPr>
          <a:xfrm>
            <a:off x="6269498" y="489744"/>
            <a:ext cx="6157730" cy="406971"/>
          </a:xfrm>
          <a:prstGeom prst="rect">
            <a:avLst/>
          </a:prstGeom>
          <a:noFill/>
        </p:spPr>
        <p:txBody>
          <a:bodyPr wrap="square">
            <a:spAutoFit/>
          </a:bodyPr>
          <a:lstStyle/>
          <a:p>
            <a:pPr algn="ctr" defTabSz="342900">
              <a:lnSpc>
                <a:spcPct val="125000"/>
              </a:lnSpc>
            </a:pPr>
            <a:r>
              <a:rPr lang="zh-CN" altLang="en-US" b="1">
                <a:latin typeface="微软雅黑" pitchFamily="34" charset="-122"/>
                <a:ea typeface="微软雅黑" pitchFamily="34" charset="-122"/>
                <a:cs typeface="Calibri" charset="0"/>
              </a:rPr>
              <a:t>“教育学</a:t>
            </a:r>
            <a:r>
              <a:rPr lang="en-US" altLang="zh-CN" b="1">
                <a:latin typeface="微软雅黑" pitchFamily="34" charset="-122"/>
                <a:ea typeface="微软雅黑" pitchFamily="34" charset="-122"/>
                <a:cs typeface="Calibri" charset="0"/>
              </a:rPr>
              <a:t>+</a:t>
            </a:r>
            <a:r>
              <a:rPr lang="zh-CN" altLang="en-US" b="1">
                <a:latin typeface="微软雅黑" pitchFamily="34" charset="-122"/>
                <a:ea typeface="微软雅黑" pitchFamily="34" charset="-122"/>
                <a:cs typeface="Calibri" charset="0"/>
              </a:rPr>
              <a:t>人工智能”双学士学位复合型人才培养项目</a:t>
            </a:r>
            <a:endParaRPr lang="en-US" altLang="zh-CN" b="1">
              <a:latin typeface="微软雅黑" pitchFamily="34" charset="-122"/>
              <a:ea typeface="微软雅黑" pitchFamily="34" charset="-122"/>
              <a:cs typeface="Calibri" charset="0"/>
            </a:endParaRPr>
          </a:p>
        </p:txBody>
      </p:sp>
      <p:sp>
        <p:nvSpPr>
          <p:cNvPr id="19" name="矩形 18">
            <a:extLst>
              <a:ext uri="{FF2B5EF4-FFF2-40B4-BE49-F238E27FC236}">
                <a16:creationId xmlns:a16="http://schemas.microsoft.com/office/drawing/2014/main" id="{F97B8392-3E69-427C-81D2-0E00CF713E5C}"/>
              </a:ext>
            </a:extLst>
          </p:cNvPr>
          <p:cNvSpPr/>
          <p:nvPr/>
        </p:nvSpPr>
        <p:spPr>
          <a:xfrm>
            <a:off x="0" y="924560"/>
            <a:ext cx="12192000" cy="665627"/>
          </a:xfrm>
          <a:prstGeom prst="rect">
            <a:avLst/>
          </a:prstGeom>
          <a:solidFill>
            <a:srgbClr val="4472C4">
              <a:lumMod val="50000"/>
            </a:srgbClr>
          </a:solidFill>
          <a:ln w="12700" cap="flat" cmpd="sng" algn="ctr">
            <a:solidFill>
              <a:srgbClr val="4472C4">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a:ea typeface="微软雅黑"/>
              <a:cs typeface="+mn-cs"/>
            </a:endParaRPr>
          </a:p>
        </p:txBody>
      </p:sp>
      <p:sp>
        <p:nvSpPr>
          <p:cNvPr id="20" name="矩形 19">
            <a:extLst>
              <a:ext uri="{FF2B5EF4-FFF2-40B4-BE49-F238E27FC236}">
                <a16:creationId xmlns:a16="http://schemas.microsoft.com/office/drawing/2014/main" id="{B995C790-EE5F-4F39-AF94-C6F178E04D9A}"/>
              </a:ext>
            </a:extLst>
          </p:cNvPr>
          <p:cNvSpPr/>
          <p:nvPr/>
        </p:nvSpPr>
        <p:spPr>
          <a:xfrm>
            <a:off x="-1" y="924560"/>
            <a:ext cx="2152843" cy="665627"/>
          </a:xfrm>
          <a:prstGeom prst="rect">
            <a:avLst/>
          </a:prstGeom>
          <a:solidFill>
            <a:srgbClr val="FF9900"/>
          </a:solidFill>
          <a:ln w="12700" cap="flat" cmpd="sng" algn="ctr">
            <a:solidFill>
              <a:srgbClr val="FF99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Arial"/>
              <a:ea typeface="微软雅黑"/>
              <a:cs typeface="+mn-cs"/>
            </a:endParaRPr>
          </a:p>
        </p:txBody>
      </p:sp>
      <p:sp>
        <p:nvSpPr>
          <p:cNvPr id="21" name="文本框 14">
            <a:extLst>
              <a:ext uri="{FF2B5EF4-FFF2-40B4-BE49-F238E27FC236}">
                <a16:creationId xmlns:a16="http://schemas.microsoft.com/office/drawing/2014/main" id="{5BEF4570-866B-4A90-AFFC-8FBA4F79AFCC}"/>
              </a:ext>
            </a:extLst>
          </p:cNvPr>
          <p:cNvSpPr txBox="1"/>
          <p:nvPr/>
        </p:nvSpPr>
        <p:spPr>
          <a:xfrm>
            <a:off x="359003" y="1107051"/>
            <a:ext cx="1793840" cy="369332"/>
          </a:xfrm>
          <a:prstGeom prst="rect">
            <a:avLst/>
          </a:prstGeom>
          <a:noFill/>
        </p:spPr>
        <p:txBody>
          <a:bodyPr wrap="square" rtlCol="0">
            <a:spAutoFit/>
          </a:bodyPr>
          <a:lstStyle/>
          <a:p>
            <a:pPr algn="just"/>
            <a:r>
              <a:rPr lang="zh-CN" altLang="en-US" b="1">
                <a:solidFill>
                  <a:prstClr val="white"/>
                </a:solidFill>
                <a:latin typeface="Arial"/>
                <a:ea typeface="微软雅黑"/>
              </a:rPr>
              <a:t>一  总体思路</a:t>
            </a:r>
            <a:endParaRPr lang="zh-CN" altLang="en-US" b="1" dirty="0">
              <a:solidFill>
                <a:prstClr val="white"/>
              </a:solidFill>
              <a:latin typeface="Arial"/>
              <a:ea typeface="微软雅黑"/>
            </a:endParaRPr>
          </a:p>
        </p:txBody>
      </p:sp>
      <p:sp>
        <p:nvSpPr>
          <p:cNvPr id="27" name="文本框 14">
            <a:extLst>
              <a:ext uri="{FF2B5EF4-FFF2-40B4-BE49-F238E27FC236}">
                <a16:creationId xmlns:a16="http://schemas.microsoft.com/office/drawing/2014/main" id="{1620945F-E285-4ECF-B8C2-16D44F6A5FE9}"/>
              </a:ext>
            </a:extLst>
          </p:cNvPr>
          <p:cNvSpPr txBox="1"/>
          <p:nvPr/>
        </p:nvSpPr>
        <p:spPr>
          <a:xfrm>
            <a:off x="2642427" y="1107051"/>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二  课程体系实施</a:t>
            </a:r>
            <a:endParaRPr lang="zh-CN" altLang="en-US" b="1" dirty="0">
              <a:solidFill>
                <a:prstClr val="white"/>
              </a:solidFill>
              <a:latin typeface="Arial"/>
              <a:ea typeface="微软雅黑"/>
            </a:endParaRPr>
          </a:p>
        </p:txBody>
      </p:sp>
      <p:sp>
        <p:nvSpPr>
          <p:cNvPr id="29" name="文本框 14">
            <a:extLst>
              <a:ext uri="{FF2B5EF4-FFF2-40B4-BE49-F238E27FC236}">
                <a16:creationId xmlns:a16="http://schemas.microsoft.com/office/drawing/2014/main" id="{DD5FABA4-6533-49EC-91FE-12FC61AF4E78}"/>
              </a:ext>
            </a:extLst>
          </p:cNvPr>
          <p:cNvSpPr txBox="1"/>
          <p:nvPr/>
        </p:nvSpPr>
        <p:spPr>
          <a:xfrm>
            <a:off x="5054466" y="1071284"/>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三  实践体系实施</a:t>
            </a:r>
            <a:endParaRPr lang="zh-CN" altLang="en-US" b="1" dirty="0">
              <a:solidFill>
                <a:prstClr val="white"/>
              </a:solidFill>
              <a:latin typeface="Arial"/>
              <a:ea typeface="微软雅黑"/>
            </a:endParaRPr>
          </a:p>
        </p:txBody>
      </p:sp>
      <p:sp>
        <p:nvSpPr>
          <p:cNvPr id="30" name="文本框 14">
            <a:extLst>
              <a:ext uri="{FF2B5EF4-FFF2-40B4-BE49-F238E27FC236}">
                <a16:creationId xmlns:a16="http://schemas.microsoft.com/office/drawing/2014/main" id="{5DE9E9A8-2107-4DAE-B2DC-4809C4DCC9FD}"/>
              </a:ext>
            </a:extLst>
          </p:cNvPr>
          <p:cNvSpPr txBox="1"/>
          <p:nvPr/>
        </p:nvSpPr>
        <p:spPr>
          <a:xfrm>
            <a:off x="7338510" y="1071183"/>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四  导师制与学业指导</a:t>
            </a:r>
            <a:endParaRPr lang="zh-CN" altLang="en-US" b="1" dirty="0">
              <a:solidFill>
                <a:prstClr val="white"/>
              </a:solidFill>
              <a:latin typeface="Arial"/>
              <a:ea typeface="微软雅黑"/>
            </a:endParaRPr>
          </a:p>
        </p:txBody>
      </p:sp>
      <p:sp>
        <p:nvSpPr>
          <p:cNvPr id="31" name="文本框 14">
            <a:extLst>
              <a:ext uri="{FF2B5EF4-FFF2-40B4-BE49-F238E27FC236}">
                <a16:creationId xmlns:a16="http://schemas.microsoft.com/office/drawing/2014/main" id="{BC7CBC6A-889D-48A2-B736-BCFECCA449A1}"/>
              </a:ext>
            </a:extLst>
          </p:cNvPr>
          <p:cNvSpPr txBox="1"/>
          <p:nvPr/>
        </p:nvSpPr>
        <p:spPr>
          <a:xfrm>
            <a:off x="10133884" y="1058701"/>
            <a:ext cx="2058115" cy="369332"/>
          </a:xfrm>
          <a:prstGeom prst="rect">
            <a:avLst/>
          </a:prstGeom>
          <a:noFill/>
        </p:spPr>
        <p:txBody>
          <a:bodyPr wrap="square" rtlCol="0">
            <a:spAutoFit/>
          </a:bodyPr>
          <a:lstStyle/>
          <a:p>
            <a:pPr algn="just"/>
            <a:r>
              <a:rPr lang="zh-CN" altLang="en-US" b="1">
                <a:solidFill>
                  <a:prstClr val="white"/>
                </a:solidFill>
                <a:latin typeface="Arial"/>
                <a:ea typeface="微软雅黑"/>
              </a:rPr>
              <a:t>五  保障机制</a:t>
            </a:r>
            <a:endParaRPr lang="zh-CN" altLang="en-US" b="1" dirty="0">
              <a:solidFill>
                <a:prstClr val="white"/>
              </a:solidFill>
              <a:latin typeface="Arial"/>
              <a:ea typeface="微软雅黑"/>
            </a:endParaRPr>
          </a:p>
        </p:txBody>
      </p:sp>
      <p:sp>
        <p:nvSpPr>
          <p:cNvPr id="16" name="文本框 12">
            <a:extLst>
              <a:ext uri="{FF2B5EF4-FFF2-40B4-BE49-F238E27FC236}">
                <a16:creationId xmlns:a16="http://schemas.microsoft.com/office/drawing/2014/main" id="{97380C62-06C7-4B3B-9B90-71D1E123C678}"/>
              </a:ext>
            </a:extLst>
          </p:cNvPr>
          <p:cNvSpPr txBox="1"/>
          <p:nvPr/>
        </p:nvSpPr>
        <p:spPr>
          <a:xfrm>
            <a:off x="359003" y="1760040"/>
            <a:ext cx="1877437" cy="461665"/>
          </a:xfrm>
          <a:prstGeom prst="rect">
            <a:avLst/>
          </a:prstGeom>
          <a:noFill/>
        </p:spPr>
        <p:txBody>
          <a:bodyPr wrap="none" rtlCol="0">
            <a:spAutoFit/>
          </a:bodyPr>
          <a:lstStyle/>
          <a:p>
            <a:pPr marL="457200" marR="0" lvl="0" indent="-457200" algn="l" defTabSz="914400" rtl="0" eaLnBrk="1" fontAlgn="auto" latinLnBrk="0" hangingPunct="1">
              <a:lnSpc>
                <a:spcPct val="100000"/>
              </a:lnSpc>
              <a:spcBef>
                <a:spcPts val="0"/>
              </a:spcBef>
              <a:spcAft>
                <a:spcPts val="0"/>
              </a:spcAft>
              <a:buClr>
                <a:srgbClr val="C00000"/>
              </a:buClr>
              <a:buSzTx/>
              <a:buFont typeface="Wingdings" panose="05000000000000000000" pitchFamily="2" charset="2"/>
              <a:buChar char="p"/>
              <a:tabLst/>
              <a:defRPr/>
            </a:pPr>
            <a:r>
              <a:rPr lang="zh-CN" altLang="en-US" sz="2400" b="1" kern="0">
                <a:solidFill>
                  <a:srgbClr val="004E86"/>
                </a:solidFill>
                <a:latin typeface="微软雅黑" panose="020B0503020204020204" pitchFamily="34" charset="-122"/>
                <a:ea typeface="微软雅黑" panose="020B0503020204020204" pitchFamily="34" charset="-122"/>
              </a:rPr>
              <a:t>毕业要求</a:t>
            </a:r>
            <a:endParaRPr kumimoji="0" lang="zh-CN" altLang="en-US" b="1" i="0" u="none" strike="noStrike" kern="0" cap="none" spc="0" normalizeH="0" baseline="0" noProof="0" dirty="0">
              <a:ln>
                <a:noFill/>
              </a:ln>
              <a:solidFill>
                <a:srgbClr val="004E86"/>
              </a:solidFill>
              <a:effectLst/>
              <a:uLnTx/>
              <a:uFillTx/>
              <a:latin typeface="微软雅黑" panose="020B0503020204020204" pitchFamily="34" charset="-122"/>
              <a:ea typeface="微软雅黑" panose="020B0503020204020204" pitchFamily="34" charset="-122"/>
              <a:cs typeface="+mn-cs"/>
            </a:endParaRPr>
          </a:p>
        </p:txBody>
      </p:sp>
      <p:cxnSp>
        <p:nvCxnSpPr>
          <p:cNvPr id="17" name="直接连接符 7">
            <a:extLst>
              <a:ext uri="{FF2B5EF4-FFF2-40B4-BE49-F238E27FC236}">
                <a16:creationId xmlns:a16="http://schemas.microsoft.com/office/drawing/2014/main" id="{0C778F48-0F6A-412D-A3EB-73F1533A5732}"/>
              </a:ext>
            </a:extLst>
          </p:cNvPr>
          <p:cNvCxnSpPr>
            <a:cxnSpLocks/>
          </p:cNvCxnSpPr>
          <p:nvPr/>
        </p:nvCxnSpPr>
        <p:spPr bwMode="auto">
          <a:xfrm flipH="1">
            <a:off x="463090" y="2213957"/>
            <a:ext cx="7928881" cy="0"/>
          </a:xfrm>
          <a:prstGeom prst="line">
            <a:avLst/>
          </a:prstGeom>
          <a:noFill/>
          <a:ln w="28575" cap="flat" cmpd="sng" algn="ctr">
            <a:solidFill>
              <a:srgbClr val="F65C5C"/>
            </a:solidFill>
            <a:prstDash val="sysDash"/>
            <a:round/>
            <a:headEnd type="none" w="med" len="med"/>
            <a:tailEnd type="none" w="med" len="med"/>
          </a:ln>
          <a:effectLst/>
        </p:spPr>
      </p:cxnSp>
      <p:pic>
        <p:nvPicPr>
          <p:cNvPr id="7" name="图片 6">
            <a:extLst>
              <a:ext uri="{FF2B5EF4-FFF2-40B4-BE49-F238E27FC236}">
                <a16:creationId xmlns:a16="http://schemas.microsoft.com/office/drawing/2014/main" id="{FC0FE3EE-5055-4334-8C0F-C9FE37E5F2C1}"/>
              </a:ext>
            </a:extLst>
          </p:cNvPr>
          <p:cNvPicPr>
            <a:picLocks noChangeAspect="1"/>
          </p:cNvPicPr>
          <p:nvPr/>
        </p:nvPicPr>
        <p:blipFill>
          <a:blip r:embed="rId5"/>
          <a:stretch>
            <a:fillRect/>
          </a:stretch>
        </p:blipFill>
        <p:spPr>
          <a:xfrm>
            <a:off x="1722123" y="2248149"/>
            <a:ext cx="8411761" cy="4581141"/>
          </a:xfrm>
          <a:prstGeom prst="rect">
            <a:avLst/>
          </a:prstGeom>
        </p:spPr>
      </p:pic>
    </p:spTree>
    <p:extLst>
      <p:ext uri="{BB962C8B-B14F-4D97-AF65-F5344CB8AC3E}">
        <p14:creationId xmlns:p14="http://schemas.microsoft.com/office/powerpoint/2010/main" val="38918223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a:extLst>
              <a:ext uri="{FF2B5EF4-FFF2-40B4-BE49-F238E27FC236}">
                <a16:creationId xmlns:a16="http://schemas.microsoft.com/office/drawing/2014/main" id="{39AF018C-BD1E-4D1C-A575-89BC7165FB5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189341" y="28710"/>
            <a:ext cx="881729" cy="881729"/>
          </a:xfrm>
          <a:prstGeom prst="rect">
            <a:avLst/>
          </a:prstGeom>
        </p:spPr>
      </p:pic>
      <p:pic>
        <p:nvPicPr>
          <p:cNvPr id="24" name="图片 23">
            <a:extLst>
              <a:ext uri="{FF2B5EF4-FFF2-40B4-BE49-F238E27FC236}">
                <a16:creationId xmlns:a16="http://schemas.microsoft.com/office/drawing/2014/main" id="{118A43A9-C67F-4CB1-B9F4-63E761CBC2D0}"/>
              </a:ext>
            </a:extLst>
          </p:cNvPr>
          <p:cNvPicPr>
            <a:picLocks noChangeAspect="1"/>
          </p:cNvPicPr>
          <p:nvPr/>
        </p:nvPicPr>
        <p:blipFill>
          <a:blip r:embed="rId4" cstate="print">
            <a:extLst>
              <a:ext uri="{28A0092B-C50C-407E-A947-70E740481C1C}">
                <a14:useLocalDpi xmlns:a14="http://schemas.microsoft.com/office/drawing/2010/main" val="0"/>
              </a:ext>
            </a:extLst>
          </a:blip>
          <a:srcRect l="1133" r="1133"/>
          <a:stretch/>
        </p:blipFill>
        <p:spPr>
          <a:xfrm>
            <a:off x="274100" y="75737"/>
            <a:ext cx="802225" cy="806727"/>
          </a:xfrm>
          <a:prstGeom prst="rect">
            <a:avLst/>
          </a:prstGeom>
        </p:spPr>
      </p:pic>
      <p:sp>
        <p:nvSpPr>
          <p:cNvPr id="78" name="Text 10">
            <a:extLst>
              <a:ext uri="{FF2B5EF4-FFF2-40B4-BE49-F238E27FC236}">
                <a16:creationId xmlns:a16="http://schemas.microsoft.com/office/drawing/2014/main" id="{0C5BA853-33A0-4813-9A80-7350CCF56D1E}"/>
              </a:ext>
            </a:extLst>
          </p:cNvPr>
          <p:cNvSpPr/>
          <p:nvPr/>
        </p:nvSpPr>
        <p:spPr>
          <a:xfrm>
            <a:off x="7475841" y="8367730"/>
            <a:ext cx="2362200" cy="87630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42" name="矩形 41">
            <a:extLst>
              <a:ext uri="{FF2B5EF4-FFF2-40B4-BE49-F238E27FC236}">
                <a16:creationId xmlns:a16="http://schemas.microsoft.com/office/drawing/2014/main" id="{F075E361-F947-4D2D-B2B0-0CED00647E21}"/>
              </a:ext>
            </a:extLst>
          </p:cNvPr>
          <p:cNvSpPr/>
          <p:nvPr/>
        </p:nvSpPr>
        <p:spPr>
          <a:xfrm>
            <a:off x="6411654" y="2735810"/>
            <a:ext cx="5494655" cy="3653838"/>
          </a:xfrm>
          <a:prstGeom prst="rect">
            <a:avLst/>
          </a:prstGeom>
          <a:solidFill>
            <a:schemeClr val="bg1"/>
          </a:solidFill>
          <a:ln w="28575">
            <a:solidFill>
              <a:schemeClr val="accent2">
                <a:lumMod val="75000"/>
              </a:schemeClr>
            </a:solidFill>
            <a:prstDash val="lgDash"/>
          </a:ln>
          <a:effectLst>
            <a:outerShdw blurRad="63500" sx="102000" sy="102000" algn="c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3" name="矩形 42">
            <a:extLst>
              <a:ext uri="{FF2B5EF4-FFF2-40B4-BE49-F238E27FC236}">
                <a16:creationId xmlns:a16="http://schemas.microsoft.com/office/drawing/2014/main" id="{2BAEDBE6-5398-4138-B40B-BDA5F491C6A0}"/>
              </a:ext>
            </a:extLst>
          </p:cNvPr>
          <p:cNvSpPr/>
          <p:nvPr/>
        </p:nvSpPr>
        <p:spPr>
          <a:xfrm>
            <a:off x="841433" y="2735809"/>
            <a:ext cx="4216715" cy="3653839"/>
          </a:xfrm>
          <a:prstGeom prst="rect">
            <a:avLst/>
          </a:prstGeom>
          <a:solidFill>
            <a:schemeClr val="bg1"/>
          </a:solidFill>
          <a:ln w="28575">
            <a:solidFill>
              <a:schemeClr val="accent1">
                <a:lumMod val="75000"/>
              </a:schemeClr>
            </a:solidFill>
            <a:prstDash val="lgDash"/>
          </a:ln>
          <a:effectLst>
            <a:outerShdw blurRad="63500" sx="102000" sy="102000" algn="c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4" name="矩形 43">
            <a:extLst>
              <a:ext uri="{FF2B5EF4-FFF2-40B4-BE49-F238E27FC236}">
                <a16:creationId xmlns:a16="http://schemas.microsoft.com/office/drawing/2014/main" id="{7BF1DA91-76D0-45EA-80C1-21C784B191F8}"/>
              </a:ext>
            </a:extLst>
          </p:cNvPr>
          <p:cNvSpPr>
            <a:spLocks noChangeArrowheads="1"/>
          </p:cNvSpPr>
          <p:nvPr/>
        </p:nvSpPr>
        <p:spPr bwMode="auto">
          <a:xfrm>
            <a:off x="836357" y="3196189"/>
            <a:ext cx="4025582" cy="387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285750" indent="-285750">
              <a:lnSpc>
                <a:spcPts val="2300"/>
              </a:lnSpc>
              <a:buFont typeface="Wingdings" panose="05000000000000000000" pitchFamily="2" charset="2"/>
              <a:buChar char="Ø"/>
            </a:pPr>
            <a:r>
              <a:rPr lang="zh-CN" altLang="en-US" sz="2000" b="1" dirty="0">
                <a:solidFill>
                  <a:srgbClr val="1F487C"/>
                </a:solidFill>
                <a:latin typeface="微软雅黑" panose="020B0503020204020204" charset="-122"/>
                <a:ea typeface="微软雅黑" panose="020B0503020204020204" charset="-122"/>
                <a:cs typeface="Arial" panose="020B0604020202020204" pitchFamily="34" charset="0"/>
              </a:rPr>
              <a:t>（一）两院协同基础扎实</a:t>
            </a:r>
          </a:p>
        </p:txBody>
      </p:sp>
      <p:sp>
        <p:nvSpPr>
          <p:cNvPr id="45" name="文本框 44">
            <a:extLst>
              <a:ext uri="{FF2B5EF4-FFF2-40B4-BE49-F238E27FC236}">
                <a16:creationId xmlns:a16="http://schemas.microsoft.com/office/drawing/2014/main" id="{5F1C3E3F-65CE-46D9-B918-D40594E161AC}"/>
              </a:ext>
            </a:extLst>
          </p:cNvPr>
          <p:cNvSpPr txBox="1"/>
          <p:nvPr/>
        </p:nvSpPr>
        <p:spPr>
          <a:xfrm>
            <a:off x="6507749" y="3014103"/>
            <a:ext cx="5194404" cy="1090298"/>
          </a:xfrm>
          <a:prstGeom prst="rect">
            <a:avLst/>
          </a:prstGeom>
          <a:noFill/>
        </p:spPr>
        <p:txBody>
          <a:bodyPr wrap="square" rtlCol="0">
            <a:spAutoFit/>
          </a:bodyPr>
          <a:lstStyle/>
          <a:p>
            <a:pPr marL="285750" indent="-285750" algn="just">
              <a:lnSpc>
                <a:spcPct val="150000"/>
              </a:lnSpc>
              <a:buFont typeface="Wingdings" panose="05000000000000000000" charset="0"/>
              <a:buChar char="Ø"/>
            </a:pPr>
            <a:r>
              <a:rPr lang="en-US" altLang="zh-CN" sz="1500" b="1">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500" b="1">
                <a:latin typeface="微软雅黑" panose="020B0503020204020204" pitchFamily="34" charset="-122"/>
                <a:ea typeface="微软雅黑" panose="020B0503020204020204" pitchFamily="34" charset="-122"/>
                <a:cs typeface="Times New Roman" panose="02020603050405020304" pitchFamily="18" charset="0"/>
              </a:rPr>
              <a:t>依托</a:t>
            </a:r>
            <a:r>
              <a:rPr lang="zh-CN" altLang="en-US" sz="1500" b="1">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教师能力提升工程项目、未来教师学院试点建设、天津市“三校一院”试点、校企协同机制</a:t>
            </a:r>
            <a:r>
              <a:rPr lang="zh-CN" altLang="en-US" sz="1500" b="1">
                <a:latin typeface="微软雅黑" panose="020B0503020204020204" pitchFamily="34" charset="-122"/>
                <a:ea typeface="微软雅黑" panose="020B0503020204020204" pitchFamily="34" charset="-122"/>
                <a:cs typeface="Times New Roman" panose="02020603050405020304" pitchFamily="18" charset="0"/>
              </a:rPr>
              <a:t>四大平台，构建稳定协同育人体系。</a:t>
            </a:r>
            <a:endParaRPr lang="zh-CN" altLang="en-US" sz="15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6" name="矩形 45">
            <a:extLst>
              <a:ext uri="{FF2B5EF4-FFF2-40B4-BE49-F238E27FC236}">
                <a16:creationId xmlns:a16="http://schemas.microsoft.com/office/drawing/2014/main" id="{8D65464D-C79F-46BC-B724-A02C0C6FBB16}"/>
              </a:ext>
            </a:extLst>
          </p:cNvPr>
          <p:cNvSpPr>
            <a:spLocks noChangeArrowheads="1"/>
          </p:cNvSpPr>
          <p:nvPr/>
        </p:nvSpPr>
        <p:spPr bwMode="auto">
          <a:xfrm>
            <a:off x="788569" y="5398302"/>
            <a:ext cx="4121158" cy="387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285750" indent="-285750">
              <a:lnSpc>
                <a:spcPts val="2300"/>
              </a:lnSpc>
              <a:buFont typeface="Wingdings" panose="05000000000000000000" pitchFamily="2" charset="2"/>
              <a:buChar char="Ø"/>
            </a:pPr>
            <a:r>
              <a:rPr lang="zh-CN" altLang="en-US" sz="2000" b="1" dirty="0">
                <a:solidFill>
                  <a:srgbClr val="1F487C"/>
                </a:solidFill>
                <a:latin typeface="微软雅黑" panose="020B0503020204020204" charset="-122"/>
                <a:ea typeface="微软雅黑" panose="020B0503020204020204" charset="-122"/>
                <a:cs typeface="Arial" panose="020B0604020202020204" pitchFamily="34" charset="0"/>
              </a:rPr>
              <a:t>（三）协同运行机制成熟</a:t>
            </a:r>
          </a:p>
        </p:txBody>
      </p:sp>
      <p:sp>
        <p:nvSpPr>
          <p:cNvPr id="47" name="右箭头 4">
            <a:extLst>
              <a:ext uri="{FF2B5EF4-FFF2-40B4-BE49-F238E27FC236}">
                <a16:creationId xmlns:a16="http://schemas.microsoft.com/office/drawing/2014/main" id="{F274C364-1AE2-4E9A-ADD2-AE970527F199}"/>
              </a:ext>
            </a:extLst>
          </p:cNvPr>
          <p:cNvSpPr/>
          <p:nvPr/>
        </p:nvSpPr>
        <p:spPr>
          <a:xfrm>
            <a:off x="5332729" y="4303686"/>
            <a:ext cx="628650" cy="409575"/>
          </a:xfrm>
          <a:prstGeom prst="rightArrow">
            <a:avLst/>
          </a:prstGeom>
          <a:solidFill>
            <a:schemeClr val="tx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8" name="右箭头 5">
            <a:extLst>
              <a:ext uri="{FF2B5EF4-FFF2-40B4-BE49-F238E27FC236}">
                <a16:creationId xmlns:a16="http://schemas.microsoft.com/office/drawing/2014/main" id="{29B360A0-2B74-4C25-B64F-8E959DC83360}"/>
              </a:ext>
            </a:extLst>
          </p:cNvPr>
          <p:cNvSpPr/>
          <p:nvPr/>
        </p:nvSpPr>
        <p:spPr>
          <a:xfrm>
            <a:off x="5332729" y="5523865"/>
            <a:ext cx="628650" cy="409575"/>
          </a:xfrm>
          <a:prstGeom prst="rightArrow">
            <a:avLst/>
          </a:prstGeom>
          <a:solidFill>
            <a:schemeClr val="tx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9" name="圆角矩形 6">
            <a:extLst>
              <a:ext uri="{FF2B5EF4-FFF2-40B4-BE49-F238E27FC236}">
                <a16:creationId xmlns:a16="http://schemas.microsoft.com/office/drawing/2014/main" id="{59E7FF86-8CFC-471F-8D20-9FB5144F0DF6}"/>
              </a:ext>
            </a:extLst>
          </p:cNvPr>
          <p:cNvSpPr/>
          <p:nvPr/>
        </p:nvSpPr>
        <p:spPr>
          <a:xfrm>
            <a:off x="1787584" y="2551660"/>
            <a:ext cx="2014855" cy="43688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b="1">
                <a:latin typeface="微软雅黑" panose="020B0503020204020204" charset="-122"/>
                <a:ea typeface="微软雅黑" panose="020B0503020204020204" charset="-122"/>
              </a:rPr>
              <a:t>核心要点</a:t>
            </a:r>
          </a:p>
        </p:txBody>
      </p:sp>
      <p:sp>
        <p:nvSpPr>
          <p:cNvPr id="50" name="圆角矩形 7">
            <a:extLst>
              <a:ext uri="{FF2B5EF4-FFF2-40B4-BE49-F238E27FC236}">
                <a16:creationId xmlns:a16="http://schemas.microsoft.com/office/drawing/2014/main" id="{C1AF2D56-AB33-4CC9-A32A-845F58A27210}"/>
              </a:ext>
            </a:extLst>
          </p:cNvPr>
          <p:cNvSpPr/>
          <p:nvPr/>
        </p:nvSpPr>
        <p:spPr>
          <a:xfrm>
            <a:off x="8105199" y="2490700"/>
            <a:ext cx="2348230" cy="436880"/>
          </a:xfrm>
          <a:prstGeom prst="roundRect">
            <a:avLst/>
          </a:prstGeom>
          <a:solidFill>
            <a:schemeClr val="accent2">
              <a:lumMod val="75000"/>
            </a:schemeClr>
          </a:solidFill>
          <a:ln>
            <a:solidFill>
              <a:schemeClr val="accent2">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b="1">
                <a:latin typeface="微软雅黑" panose="020B0503020204020204" charset="-122"/>
                <a:ea typeface="微软雅黑" panose="020B0503020204020204" charset="-122"/>
              </a:rPr>
              <a:t>具体措施</a:t>
            </a:r>
          </a:p>
        </p:txBody>
      </p:sp>
      <p:sp>
        <p:nvSpPr>
          <p:cNvPr id="51" name="矩形 50">
            <a:extLst>
              <a:ext uri="{FF2B5EF4-FFF2-40B4-BE49-F238E27FC236}">
                <a16:creationId xmlns:a16="http://schemas.microsoft.com/office/drawing/2014/main" id="{323B2C7A-D366-47A9-8AF7-C1F3EA929AC9}"/>
              </a:ext>
            </a:extLst>
          </p:cNvPr>
          <p:cNvSpPr>
            <a:spLocks noChangeArrowheads="1"/>
          </p:cNvSpPr>
          <p:nvPr/>
        </p:nvSpPr>
        <p:spPr bwMode="auto">
          <a:xfrm>
            <a:off x="788569" y="4305659"/>
            <a:ext cx="4025582" cy="387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285750" indent="-285750">
              <a:lnSpc>
                <a:spcPts val="2300"/>
              </a:lnSpc>
              <a:buFont typeface="Wingdings" panose="05000000000000000000" pitchFamily="2" charset="2"/>
              <a:buChar char="Ø"/>
            </a:pPr>
            <a:r>
              <a:rPr lang="zh-CN" altLang="en-US" sz="2000" b="1" dirty="0">
                <a:solidFill>
                  <a:srgbClr val="1F487C"/>
                </a:solidFill>
                <a:latin typeface="微软雅黑" panose="020B0503020204020204" charset="-122"/>
                <a:ea typeface="微软雅黑" panose="020B0503020204020204" charset="-122"/>
                <a:cs typeface="Arial" panose="020B0604020202020204" pitchFamily="34" charset="0"/>
              </a:rPr>
              <a:t>（二）教学与实践资源丰富</a:t>
            </a:r>
          </a:p>
        </p:txBody>
      </p:sp>
      <p:sp>
        <p:nvSpPr>
          <p:cNvPr id="52" name="文本框 51">
            <a:extLst>
              <a:ext uri="{FF2B5EF4-FFF2-40B4-BE49-F238E27FC236}">
                <a16:creationId xmlns:a16="http://schemas.microsoft.com/office/drawing/2014/main" id="{E921B9E1-F456-43D7-8236-3EA292C3C8E2}"/>
              </a:ext>
            </a:extLst>
          </p:cNvPr>
          <p:cNvSpPr txBox="1"/>
          <p:nvPr/>
        </p:nvSpPr>
        <p:spPr>
          <a:xfrm>
            <a:off x="6459138" y="4214168"/>
            <a:ext cx="5060642" cy="787523"/>
          </a:xfrm>
          <a:prstGeom prst="rect">
            <a:avLst/>
          </a:prstGeom>
          <a:noFill/>
        </p:spPr>
        <p:txBody>
          <a:bodyPr wrap="square" rtlCol="0">
            <a:spAutoFit/>
          </a:bodyPr>
          <a:lstStyle/>
          <a:p>
            <a:pPr marL="285750" indent="-285750" algn="just">
              <a:lnSpc>
                <a:spcPct val="150000"/>
              </a:lnSpc>
              <a:buFont typeface="Wingdings" panose="05000000000000000000" charset="0"/>
              <a:buChar char="Ø"/>
            </a:pPr>
            <a:r>
              <a:rPr lang="en-US" altLang="zh-CN" sz="1600" b="1">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600" b="1">
                <a:latin typeface="微软雅黑" panose="020B0503020204020204" pitchFamily="34" charset="-122"/>
                <a:ea typeface="微软雅黑" panose="020B0503020204020204" pitchFamily="34" charset="-122"/>
                <a:cs typeface="Times New Roman" panose="02020603050405020304" pitchFamily="18" charset="0"/>
              </a:rPr>
              <a:t>整合校内实验平台、一流课程与校外中小学和企业基地资源，形成“</a:t>
            </a:r>
            <a:r>
              <a:rPr lang="zh-CN" altLang="en-US" sz="1600" b="1">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平台</a:t>
            </a:r>
            <a:r>
              <a:rPr lang="en-US" altLang="zh-CN" sz="1600" b="1">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1">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课程</a:t>
            </a:r>
            <a:r>
              <a:rPr lang="en-US" altLang="zh-CN" sz="1600" b="1">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1">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基地</a:t>
            </a:r>
            <a:r>
              <a:rPr lang="zh-CN" altLang="en-US" sz="1600" b="1">
                <a:latin typeface="微软雅黑" panose="020B0503020204020204" pitchFamily="34" charset="-122"/>
                <a:ea typeface="微软雅黑" panose="020B0503020204020204" pitchFamily="34" charset="-122"/>
                <a:cs typeface="Times New Roman" panose="02020603050405020304" pitchFamily="18" charset="0"/>
              </a:rPr>
              <a:t>”一体化支撑。</a:t>
            </a:r>
            <a:endParaRPr lang="zh-CN" altLang="en-US" sz="16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0" name="文本框 39">
            <a:extLst>
              <a:ext uri="{FF2B5EF4-FFF2-40B4-BE49-F238E27FC236}">
                <a16:creationId xmlns:a16="http://schemas.microsoft.com/office/drawing/2014/main" id="{0708248F-FD59-4A3D-8475-C6E81F683DCA}"/>
              </a:ext>
            </a:extLst>
          </p:cNvPr>
          <p:cNvSpPr txBox="1"/>
          <p:nvPr/>
        </p:nvSpPr>
        <p:spPr>
          <a:xfrm>
            <a:off x="6507749" y="5229041"/>
            <a:ext cx="5256789" cy="787523"/>
          </a:xfrm>
          <a:prstGeom prst="rect">
            <a:avLst/>
          </a:prstGeom>
          <a:noFill/>
        </p:spPr>
        <p:txBody>
          <a:bodyPr wrap="square" rtlCol="0">
            <a:spAutoFit/>
          </a:bodyPr>
          <a:lstStyle/>
          <a:p>
            <a:pPr marL="285750" indent="-285750" algn="just">
              <a:lnSpc>
                <a:spcPct val="150000"/>
              </a:lnSpc>
              <a:buFont typeface="Wingdings" panose="05000000000000000000" charset="0"/>
              <a:buChar char="Ø"/>
            </a:pPr>
            <a:r>
              <a:rPr lang="en-US" altLang="zh-CN" sz="1600" b="1">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1600" b="1">
                <a:latin typeface="微软雅黑" panose="020B0503020204020204" pitchFamily="34" charset="-122"/>
                <a:ea typeface="微软雅黑" panose="020B0503020204020204" pitchFamily="34" charset="-122"/>
                <a:cs typeface="Times New Roman" panose="02020603050405020304" pitchFamily="18" charset="0"/>
              </a:rPr>
              <a:t>推进</a:t>
            </a:r>
            <a:r>
              <a:rPr lang="zh-CN" altLang="en-US" sz="1600" b="1">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课程共建、学分互认、实践共育和质量共管</a:t>
            </a:r>
            <a:r>
              <a:rPr lang="zh-CN" altLang="en-US" sz="1600" b="1">
                <a:latin typeface="微软雅黑" panose="020B0503020204020204" pitchFamily="34" charset="-122"/>
                <a:ea typeface="微软雅黑" panose="020B0503020204020204" pitchFamily="34" charset="-122"/>
                <a:cs typeface="Times New Roman" panose="02020603050405020304" pitchFamily="18" charset="0"/>
              </a:rPr>
              <a:t>，保障双学位项目高质量落地实施。</a:t>
            </a:r>
            <a:endParaRPr lang="zh-CN" altLang="en-US" sz="16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1" name="右箭头 4">
            <a:extLst>
              <a:ext uri="{FF2B5EF4-FFF2-40B4-BE49-F238E27FC236}">
                <a16:creationId xmlns:a16="http://schemas.microsoft.com/office/drawing/2014/main" id="{BA647EF5-D289-4D36-AD77-1DC22AA10134}"/>
              </a:ext>
            </a:extLst>
          </p:cNvPr>
          <p:cNvSpPr/>
          <p:nvPr/>
        </p:nvSpPr>
        <p:spPr>
          <a:xfrm>
            <a:off x="5332729" y="3196189"/>
            <a:ext cx="628650" cy="409575"/>
          </a:xfrm>
          <a:prstGeom prst="rightArrow">
            <a:avLst/>
          </a:prstGeom>
          <a:solidFill>
            <a:schemeClr val="tx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AC48FAA7-CB5C-4617-BBA9-6E51F2563B89}"/>
              </a:ext>
            </a:extLst>
          </p:cNvPr>
          <p:cNvSpPr txBox="1"/>
          <p:nvPr/>
        </p:nvSpPr>
        <p:spPr>
          <a:xfrm>
            <a:off x="6269498" y="489744"/>
            <a:ext cx="6157730" cy="406971"/>
          </a:xfrm>
          <a:prstGeom prst="rect">
            <a:avLst/>
          </a:prstGeom>
          <a:noFill/>
        </p:spPr>
        <p:txBody>
          <a:bodyPr wrap="square">
            <a:spAutoFit/>
          </a:bodyPr>
          <a:lstStyle/>
          <a:p>
            <a:pPr algn="ctr" defTabSz="342900">
              <a:lnSpc>
                <a:spcPct val="125000"/>
              </a:lnSpc>
            </a:pPr>
            <a:r>
              <a:rPr lang="zh-CN" altLang="en-US" b="1">
                <a:latin typeface="微软雅黑" pitchFamily="34" charset="-122"/>
                <a:ea typeface="微软雅黑" pitchFamily="34" charset="-122"/>
                <a:cs typeface="Calibri" charset="0"/>
              </a:rPr>
              <a:t>“教育学</a:t>
            </a:r>
            <a:r>
              <a:rPr lang="en-US" altLang="zh-CN" b="1">
                <a:latin typeface="微软雅黑" pitchFamily="34" charset="-122"/>
                <a:ea typeface="微软雅黑" pitchFamily="34" charset="-122"/>
                <a:cs typeface="Calibri" charset="0"/>
              </a:rPr>
              <a:t>+</a:t>
            </a:r>
            <a:r>
              <a:rPr lang="zh-CN" altLang="en-US" b="1">
                <a:latin typeface="微软雅黑" pitchFamily="34" charset="-122"/>
                <a:ea typeface="微软雅黑" pitchFamily="34" charset="-122"/>
                <a:cs typeface="Calibri" charset="0"/>
              </a:rPr>
              <a:t>人工智能”双学士学位复合型人才培养项目</a:t>
            </a:r>
            <a:endParaRPr lang="en-US" altLang="zh-CN" b="1">
              <a:latin typeface="微软雅黑" pitchFamily="34" charset="-122"/>
              <a:ea typeface="微软雅黑" pitchFamily="34" charset="-122"/>
              <a:cs typeface="Calibri" charset="0"/>
            </a:endParaRPr>
          </a:p>
        </p:txBody>
      </p:sp>
      <p:sp>
        <p:nvSpPr>
          <p:cNvPr id="31" name="矩形 30">
            <a:extLst>
              <a:ext uri="{FF2B5EF4-FFF2-40B4-BE49-F238E27FC236}">
                <a16:creationId xmlns:a16="http://schemas.microsoft.com/office/drawing/2014/main" id="{5D070D62-A9FF-4902-B701-714B3E453F56}"/>
              </a:ext>
            </a:extLst>
          </p:cNvPr>
          <p:cNvSpPr/>
          <p:nvPr/>
        </p:nvSpPr>
        <p:spPr>
          <a:xfrm>
            <a:off x="0" y="924560"/>
            <a:ext cx="12192000" cy="665627"/>
          </a:xfrm>
          <a:prstGeom prst="rect">
            <a:avLst/>
          </a:prstGeom>
          <a:solidFill>
            <a:srgbClr val="4472C4">
              <a:lumMod val="50000"/>
            </a:srgbClr>
          </a:solidFill>
          <a:ln w="12700" cap="flat" cmpd="sng" algn="ctr">
            <a:solidFill>
              <a:srgbClr val="4472C4">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a:ea typeface="微软雅黑"/>
              <a:cs typeface="+mn-cs"/>
            </a:endParaRPr>
          </a:p>
        </p:txBody>
      </p:sp>
      <p:sp>
        <p:nvSpPr>
          <p:cNvPr id="32" name="矩形 31">
            <a:extLst>
              <a:ext uri="{FF2B5EF4-FFF2-40B4-BE49-F238E27FC236}">
                <a16:creationId xmlns:a16="http://schemas.microsoft.com/office/drawing/2014/main" id="{0238C461-0635-417C-B896-41623B129F5D}"/>
              </a:ext>
            </a:extLst>
          </p:cNvPr>
          <p:cNvSpPr/>
          <p:nvPr/>
        </p:nvSpPr>
        <p:spPr>
          <a:xfrm>
            <a:off x="2499359" y="924560"/>
            <a:ext cx="2152843" cy="665627"/>
          </a:xfrm>
          <a:prstGeom prst="rect">
            <a:avLst/>
          </a:prstGeom>
          <a:solidFill>
            <a:srgbClr val="FF9900"/>
          </a:solidFill>
          <a:ln w="12700" cap="flat" cmpd="sng" algn="ctr">
            <a:solidFill>
              <a:srgbClr val="FF99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Arial"/>
              <a:ea typeface="微软雅黑"/>
              <a:cs typeface="+mn-cs"/>
            </a:endParaRPr>
          </a:p>
        </p:txBody>
      </p:sp>
      <p:sp>
        <p:nvSpPr>
          <p:cNvPr id="33" name="文本框 14">
            <a:extLst>
              <a:ext uri="{FF2B5EF4-FFF2-40B4-BE49-F238E27FC236}">
                <a16:creationId xmlns:a16="http://schemas.microsoft.com/office/drawing/2014/main" id="{36B8286C-81EC-4D72-9E72-9D12EF5D9232}"/>
              </a:ext>
            </a:extLst>
          </p:cNvPr>
          <p:cNvSpPr txBox="1"/>
          <p:nvPr/>
        </p:nvSpPr>
        <p:spPr>
          <a:xfrm>
            <a:off x="359003" y="1107051"/>
            <a:ext cx="1793840" cy="369332"/>
          </a:xfrm>
          <a:prstGeom prst="rect">
            <a:avLst/>
          </a:prstGeom>
          <a:noFill/>
        </p:spPr>
        <p:txBody>
          <a:bodyPr wrap="square" rtlCol="0">
            <a:spAutoFit/>
          </a:bodyPr>
          <a:lstStyle/>
          <a:p>
            <a:pPr algn="just"/>
            <a:r>
              <a:rPr lang="zh-CN" altLang="en-US" b="1">
                <a:solidFill>
                  <a:prstClr val="white"/>
                </a:solidFill>
                <a:latin typeface="Arial"/>
                <a:ea typeface="微软雅黑"/>
              </a:rPr>
              <a:t>一  总体思路</a:t>
            </a:r>
            <a:endParaRPr lang="zh-CN" altLang="en-US" b="1" dirty="0">
              <a:solidFill>
                <a:prstClr val="white"/>
              </a:solidFill>
              <a:latin typeface="Arial"/>
              <a:ea typeface="微软雅黑"/>
            </a:endParaRPr>
          </a:p>
        </p:txBody>
      </p:sp>
      <p:sp>
        <p:nvSpPr>
          <p:cNvPr id="34" name="文本框 14">
            <a:extLst>
              <a:ext uri="{FF2B5EF4-FFF2-40B4-BE49-F238E27FC236}">
                <a16:creationId xmlns:a16="http://schemas.microsoft.com/office/drawing/2014/main" id="{9A455665-C2EC-445F-AC86-CDD0FA312411}"/>
              </a:ext>
            </a:extLst>
          </p:cNvPr>
          <p:cNvSpPr txBox="1"/>
          <p:nvPr/>
        </p:nvSpPr>
        <p:spPr>
          <a:xfrm>
            <a:off x="2642427" y="1107051"/>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二  课程体系实施</a:t>
            </a:r>
            <a:endParaRPr lang="zh-CN" altLang="en-US" b="1" dirty="0">
              <a:solidFill>
                <a:prstClr val="white"/>
              </a:solidFill>
              <a:latin typeface="Arial"/>
              <a:ea typeface="微软雅黑"/>
            </a:endParaRPr>
          </a:p>
        </p:txBody>
      </p:sp>
      <p:sp>
        <p:nvSpPr>
          <p:cNvPr id="35" name="文本框 14">
            <a:extLst>
              <a:ext uri="{FF2B5EF4-FFF2-40B4-BE49-F238E27FC236}">
                <a16:creationId xmlns:a16="http://schemas.microsoft.com/office/drawing/2014/main" id="{7D727F8B-B867-44D8-80FF-F84226F04A32}"/>
              </a:ext>
            </a:extLst>
          </p:cNvPr>
          <p:cNvSpPr txBox="1"/>
          <p:nvPr/>
        </p:nvSpPr>
        <p:spPr>
          <a:xfrm>
            <a:off x="5054466" y="1071284"/>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三  实践体系实施</a:t>
            </a:r>
            <a:endParaRPr lang="zh-CN" altLang="en-US" b="1" dirty="0">
              <a:solidFill>
                <a:prstClr val="white"/>
              </a:solidFill>
              <a:latin typeface="Arial"/>
              <a:ea typeface="微软雅黑"/>
            </a:endParaRPr>
          </a:p>
        </p:txBody>
      </p:sp>
      <p:sp>
        <p:nvSpPr>
          <p:cNvPr id="36" name="文本框 14">
            <a:extLst>
              <a:ext uri="{FF2B5EF4-FFF2-40B4-BE49-F238E27FC236}">
                <a16:creationId xmlns:a16="http://schemas.microsoft.com/office/drawing/2014/main" id="{809D1488-2C85-4489-843C-21FF2D9427D4}"/>
              </a:ext>
            </a:extLst>
          </p:cNvPr>
          <p:cNvSpPr txBox="1"/>
          <p:nvPr/>
        </p:nvSpPr>
        <p:spPr>
          <a:xfrm>
            <a:off x="7338510" y="1071183"/>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四  导师制与学业指导</a:t>
            </a:r>
            <a:endParaRPr lang="zh-CN" altLang="en-US" b="1" dirty="0">
              <a:solidFill>
                <a:prstClr val="white"/>
              </a:solidFill>
              <a:latin typeface="Arial"/>
              <a:ea typeface="微软雅黑"/>
            </a:endParaRPr>
          </a:p>
        </p:txBody>
      </p:sp>
      <p:sp>
        <p:nvSpPr>
          <p:cNvPr id="60" name="文本框 14">
            <a:extLst>
              <a:ext uri="{FF2B5EF4-FFF2-40B4-BE49-F238E27FC236}">
                <a16:creationId xmlns:a16="http://schemas.microsoft.com/office/drawing/2014/main" id="{991D5F34-F6C3-434D-8F66-204528B8766C}"/>
              </a:ext>
            </a:extLst>
          </p:cNvPr>
          <p:cNvSpPr txBox="1"/>
          <p:nvPr/>
        </p:nvSpPr>
        <p:spPr>
          <a:xfrm>
            <a:off x="10133884" y="1058701"/>
            <a:ext cx="2058115" cy="369332"/>
          </a:xfrm>
          <a:prstGeom prst="rect">
            <a:avLst/>
          </a:prstGeom>
          <a:noFill/>
        </p:spPr>
        <p:txBody>
          <a:bodyPr wrap="square" rtlCol="0">
            <a:spAutoFit/>
          </a:bodyPr>
          <a:lstStyle/>
          <a:p>
            <a:pPr algn="just"/>
            <a:r>
              <a:rPr lang="zh-CN" altLang="en-US" b="1">
                <a:solidFill>
                  <a:prstClr val="white"/>
                </a:solidFill>
                <a:latin typeface="Arial"/>
                <a:ea typeface="微软雅黑"/>
              </a:rPr>
              <a:t>五  保障机制</a:t>
            </a:r>
            <a:endParaRPr lang="zh-CN" altLang="en-US" b="1" dirty="0">
              <a:solidFill>
                <a:prstClr val="white"/>
              </a:solidFill>
              <a:latin typeface="Arial"/>
              <a:ea typeface="微软雅黑"/>
            </a:endParaRPr>
          </a:p>
        </p:txBody>
      </p:sp>
      <p:sp>
        <p:nvSpPr>
          <p:cNvPr id="27" name="文本框 12">
            <a:extLst>
              <a:ext uri="{FF2B5EF4-FFF2-40B4-BE49-F238E27FC236}">
                <a16:creationId xmlns:a16="http://schemas.microsoft.com/office/drawing/2014/main" id="{41737069-01DE-4CC0-B8DB-A3E9985E43F8}"/>
              </a:ext>
            </a:extLst>
          </p:cNvPr>
          <p:cNvSpPr txBox="1"/>
          <p:nvPr/>
        </p:nvSpPr>
        <p:spPr>
          <a:xfrm>
            <a:off x="359003" y="1760040"/>
            <a:ext cx="4955203" cy="461665"/>
          </a:xfrm>
          <a:prstGeom prst="rect">
            <a:avLst/>
          </a:prstGeom>
          <a:noFill/>
        </p:spPr>
        <p:txBody>
          <a:bodyPr wrap="none" rtlCol="0">
            <a:spAutoFit/>
          </a:bodyPr>
          <a:lstStyle/>
          <a:p>
            <a:pPr marL="457200" marR="0" lvl="0" indent="-457200" algn="l" defTabSz="914400" rtl="0" eaLnBrk="1" fontAlgn="auto" latinLnBrk="0" hangingPunct="1">
              <a:lnSpc>
                <a:spcPct val="100000"/>
              </a:lnSpc>
              <a:spcBef>
                <a:spcPts val="0"/>
              </a:spcBef>
              <a:spcAft>
                <a:spcPts val="0"/>
              </a:spcAft>
              <a:buClr>
                <a:srgbClr val="C00000"/>
              </a:buClr>
              <a:buSzTx/>
              <a:buFont typeface="Wingdings" panose="05000000000000000000" pitchFamily="2" charset="2"/>
              <a:buChar char="p"/>
              <a:tabLst/>
              <a:defRPr/>
            </a:pPr>
            <a:r>
              <a:rPr lang="zh-CN" altLang="en-US" sz="2400" b="1" kern="0">
                <a:solidFill>
                  <a:srgbClr val="004E86"/>
                </a:solidFill>
                <a:latin typeface="微软雅黑" panose="020B0503020204020204" pitchFamily="34" charset="-122"/>
                <a:ea typeface="微软雅黑" panose="020B0503020204020204" pitchFamily="34" charset="-122"/>
              </a:rPr>
              <a:t>跨学院具备扎实的协同育人基础</a:t>
            </a:r>
          </a:p>
        </p:txBody>
      </p:sp>
      <p:cxnSp>
        <p:nvCxnSpPr>
          <p:cNvPr id="28" name="直接连接符 7">
            <a:extLst>
              <a:ext uri="{FF2B5EF4-FFF2-40B4-BE49-F238E27FC236}">
                <a16:creationId xmlns:a16="http://schemas.microsoft.com/office/drawing/2014/main" id="{7AC148A4-CAE3-40BC-8F8B-51832DA45A6D}"/>
              </a:ext>
            </a:extLst>
          </p:cNvPr>
          <p:cNvCxnSpPr>
            <a:cxnSpLocks/>
          </p:cNvCxnSpPr>
          <p:nvPr/>
        </p:nvCxnSpPr>
        <p:spPr bwMode="auto">
          <a:xfrm flipH="1">
            <a:off x="463091" y="2213957"/>
            <a:ext cx="8947609" cy="0"/>
          </a:xfrm>
          <a:prstGeom prst="line">
            <a:avLst/>
          </a:prstGeom>
          <a:noFill/>
          <a:ln w="28575" cap="flat" cmpd="sng" algn="ctr">
            <a:solidFill>
              <a:srgbClr val="F65C5C"/>
            </a:solidFill>
            <a:prstDash val="sysDash"/>
            <a:round/>
            <a:headEnd type="none" w="med" len="med"/>
            <a:tailEnd type="none" w="med" len="med"/>
          </a:ln>
          <a:effectLst/>
        </p:spPr>
      </p:cxnSp>
    </p:spTree>
    <p:extLst>
      <p:ext uri="{BB962C8B-B14F-4D97-AF65-F5344CB8AC3E}">
        <p14:creationId xmlns:p14="http://schemas.microsoft.com/office/powerpoint/2010/main" val="3581939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a:extLst>
              <a:ext uri="{FF2B5EF4-FFF2-40B4-BE49-F238E27FC236}">
                <a16:creationId xmlns:a16="http://schemas.microsoft.com/office/drawing/2014/main" id="{39AF018C-BD1E-4D1C-A575-89BC7165FB5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189341" y="28710"/>
            <a:ext cx="881729" cy="881729"/>
          </a:xfrm>
          <a:prstGeom prst="rect">
            <a:avLst/>
          </a:prstGeom>
        </p:spPr>
      </p:pic>
      <p:pic>
        <p:nvPicPr>
          <p:cNvPr id="24" name="图片 23">
            <a:extLst>
              <a:ext uri="{FF2B5EF4-FFF2-40B4-BE49-F238E27FC236}">
                <a16:creationId xmlns:a16="http://schemas.microsoft.com/office/drawing/2014/main" id="{118A43A9-C67F-4CB1-B9F4-63E761CBC2D0}"/>
              </a:ext>
            </a:extLst>
          </p:cNvPr>
          <p:cNvPicPr>
            <a:picLocks noChangeAspect="1"/>
          </p:cNvPicPr>
          <p:nvPr/>
        </p:nvPicPr>
        <p:blipFill>
          <a:blip r:embed="rId4" cstate="print">
            <a:extLst>
              <a:ext uri="{28A0092B-C50C-407E-A947-70E740481C1C}">
                <a14:useLocalDpi xmlns:a14="http://schemas.microsoft.com/office/drawing/2010/main" val="0"/>
              </a:ext>
            </a:extLst>
          </a:blip>
          <a:srcRect l="1133" r="1133"/>
          <a:stretch/>
        </p:blipFill>
        <p:spPr>
          <a:xfrm>
            <a:off x="274100" y="75737"/>
            <a:ext cx="802225" cy="806727"/>
          </a:xfrm>
          <a:prstGeom prst="rect">
            <a:avLst/>
          </a:prstGeom>
        </p:spPr>
      </p:pic>
      <p:sp>
        <p:nvSpPr>
          <p:cNvPr id="78" name="Text 10">
            <a:extLst>
              <a:ext uri="{FF2B5EF4-FFF2-40B4-BE49-F238E27FC236}">
                <a16:creationId xmlns:a16="http://schemas.microsoft.com/office/drawing/2014/main" id="{0C5BA853-33A0-4813-9A80-7350CCF56D1E}"/>
              </a:ext>
            </a:extLst>
          </p:cNvPr>
          <p:cNvSpPr/>
          <p:nvPr/>
        </p:nvSpPr>
        <p:spPr>
          <a:xfrm>
            <a:off x="7475841" y="8367730"/>
            <a:ext cx="2362200" cy="87630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30" name="文本框 29">
            <a:extLst>
              <a:ext uri="{FF2B5EF4-FFF2-40B4-BE49-F238E27FC236}">
                <a16:creationId xmlns:a16="http://schemas.microsoft.com/office/drawing/2014/main" id="{AC48FAA7-CB5C-4617-BBA9-6E51F2563B89}"/>
              </a:ext>
            </a:extLst>
          </p:cNvPr>
          <p:cNvSpPr txBox="1"/>
          <p:nvPr/>
        </p:nvSpPr>
        <p:spPr>
          <a:xfrm>
            <a:off x="6269498" y="489744"/>
            <a:ext cx="6157730" cy="406971"/>
          </a:xfrm>
          <a:prstGeom prst="rect">
            <a:avLst/>
          </a:prstGeom>
          <a:noFill/>
        </p:spPr>
        <p:txBody>
          <a:bodyPr wrap="square">
            <a:spAutoFit/>
          </a:bodyPr>
          <a:lstStyle/>
          <a:p>
            <a:pPr algn="ctr" defTabSz="342900">
              <a:lnSpc>
                <a:spcPct val="125000"/>
              </a:lnSpc>
            </a:pPr>
            <a:r>
              <a:rPr lang="zh-CN" altLang="en-US" b="1">
                <a:latin typeface="微软雅黑" pitchFamily="34" charset="-122"/>
                <a:ea typeface="微软雅黑" pitchFamily="34" charset="-122"/>
                <a:cs typeface="Calibri" charset="0"/>
              </a:rPr>
              <a:t>“教育学</a:t>
            </a:r>
            <a:r>
              <a:rPr lang="en-US" altLang="zh-CN" b="1">
                <a:latin typeface="微软雅黑" pitchFamily="34" charset="-122"/>
                <a:ea typeface="微软雅黑" pitchFamily="34" charset="-122"/>
                <a:cs typeface="Calibri" charset="0"/>
              </a:rPr>
              <a:t>+</a:t>
            </a:r>
            <a:r>
              <a:rPr lang="zh-CN" altLang="en-US" b="1">
                <a:latin typeface="微软雅黑" pitchFamily="34" charset="-122"/>
                <a:ea typeface="微软雅黑" pitchFamily="34" charset="-122"/>
                <a:cs typeface="Calibri" charset="0"/>
              </a:rPr>
              <a:t>人工智能”双学士学位复合型人才培养项目</a:t>
            </a:r>
            <a:endParaRPr lang="en-US" altLang="zh-CN" b="1">
              <a:latin typeface="微软雅黑" pitchFamily="34" charset="-122"/>
              <a:ea typeface="微软雅黑" pitchFamily="34" charset="-122"/>
              <a:cs typeface="Calibri" charset="0"/>
            </a:endParaRPr>
          </a:p>
        </p:txBody>
      </p:sp>
      <p:sp>
        <p:nvSpPr>
          <p:cNvPr id="31" name="矩形 30">
            <a:extLst>
              <a:ext uri="{FF2B5EF4-FFF2-40B4-BE49-F238E27FC236}">
                <a16:creationId xmlns:a16="http://schemas.microsoft.com/office/drawing/2014/main" id="{5D070D62-A9FF-4902-B701-714B3E453F56}"/>
              </a:ext>
            </a:extLst>
          </p:cNvPr>
          <p:cNvSpPr/>
          <p:nvPr/>
        </p:nvSpPr>
        <p:spPr>
          <a:xfrm>
            <a:off x="0" y="924560"/>
            <a:ext cx="12192000" cy="665627"/>
          </a:xfrm>
          <a:prstGeom prst="rect">
            <a:avLst/>
          </a:prstGeom>
          <a:solidFill>
            <a:srgbClr val="4472C4">
              <a:lumMod val="50000"/>
            </a:srgbClr>
          </a:solidFill>
          <a:ln w="12700" cap="flat" cmpd="sng" algn="ctr">
            <a:solidFill>
              <a:srgbClr val="4472C4">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a:ea typeface="微软雅黑"/>
              <a:cs typeface="+mn-cs"/>
            </a:endParaRPr>
          </a:p>
        </p:txBody>
      </p:sp>
      <p:sp>
        <p:nvSpPr>
          <p:cNvPr id="32" name="矩形 31">
            <a:extLst>
              <a:ext uri="{FF2B5EF4-FFF2-40B4-BE49-F238E27FC236}">
                <a16:creationId xmlns:a16="http://schemas.microsoft.com/office/drawing/2014/main" id="{0238C461-0635-417C-B896-41623B129F5D}"/>
              </a:ext>
            </a:extLst>
          </p:cNvPr>
          <p:cNvSpPr/>
          <p:nvPr/>
        </p:nvSpPr>
        <p:spPr>
          <a:xfrm>
            <a:off x="2499359" y="924560"/>
            <a:ext cx="2152843" cy="665627"/>
          </a:xfrm>
          <a:prstGeom prst="rect">
            <a:avLst/>
          </a:prstGeom>
          <a:solidFill>
            <a:srgbClr val="FF9900"/>
          </a:solidFill>
          <a:ln w="12700" cap="flat" cmpd="sng" algn="ctr">
            <a:solidFill>
              <a:srgbClr val="FF99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Arial"/>
              <a:ea typeface="微软雅黑"/>
              <a:cs typeface="+mn-cs"/>
            </a:endParaRPr>
          </a:p>
        </p:txBody>
      </p:sp>
      <p:sp>
        <p:nvSpPr>
          <p:cNvPr id="33" name="文本框 14">
            <a:extLst>
              <a:ext uri="{FF2B5EF4-FFF2-40B4-BE49-F238E27FC236}">
                <a16:creationId xmlns:a16="http://schemas.microsoft.com/office/drawing/2014/main" id="{36B8286C-81EC-4D72-9E72-9D12EF5D9232}"/>
              </a:ext>
            </a:extLst>
          </p:cNvPr>
          <p:cNvSpPr txBox="1"/>
          <p:nvPr/>
        </p:nvSpPr>
        <p:spPr>
          <a:xfrm>
            <a:off x="359003" y="1107051"/>
            <a:ext cx="1793840" cy="369332"/>
          </a:xfrm>
          <a:prstGeom prst="rect">
            <a:avLst/>
          </a:prstGeom>
          <a:noFill/>
        </p:spPr>
        <p:txBody>
          <a:bodyPr wrap="square" rtlCol="0">
            <a:spAutoFit/>
          </a:bodyPr>
          <a:lstStyle/>
          <a:p>
            <a:pPr algn="just"/>
            <a:r>
              <a:rPr lang="zh-CN" altLang="en-US" b="1">
                <a:solidFill>
                  <a:prstClr val="white"/>
                </a:solidFill>
                <a:latin typeface="Arial"/>
                <a:ea typeface="微软雅黑"/>
              </a:rPr>
              <a:t>一  总体思路</a:t>
            </a:r>
            <a:endParaRPr lang="zh-CN" altLang="en-US" b="1" dirty="0">
              <a:solidFill>
                <a:prstClr val="white"/>
              </a:solidFill>
              <a:latin typeface="Arial"/>
              <a:ea typeface="微软雅黑"/>
            </a:endParaRPr>
          </a:p>
        </p:txBody>
      </p:sp>
      <p:sp>
        <p:nvSpPr>
          <p:cNvPr id="34" name="文本框 14">
            <a:extLst>
              <a:ext uri="{FF2B5EF4-FFF2-40B4-BE49-F238E27FC236}">
                <a16:creationId xmlns:a16="http://schemas.microsoft.com/office/drawing/2014/main" id="{9A455665-C2EC-445F-AC86-CDD0FA312411}"/>
              </a:ext>
            </a:extLst>
          </p:cNvPr>
          <p:cNvSpPr txBox="1"/>
          <p:nvPr/>
        </p:nvSpPr>
        <p:spPr>
          <a:xfrm>
            <a:off x="2642427" y="1107051"/>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二  课程体系实施</a:t>
            </a:r>
            <a:endParaRPr lang="zh-CN" altLang="en-US" b="1" dirty="0">
              <a:solidFill>
                <a:prstClr val="white"/>
              </a:solidFill>
              <a:latin typeface="Arial"/>
              <a:ea typeface="微软雅黑"/>
            </a:endParaRPr>
          </a:p>
        </p:txBody>
      </p:sp>
      <p:sp>
        <p:nvSpPr>
          <p:cNvPr id="35" name="文本框 14">
            <a:extLst>
              <a:ext uri="{FF2B5EF4-FFF2-40B4-BE49-F238E27FC236}">
                <a16:creationId xmlns:a16="http://schemas.microsoft.com/office/drawing/2014/main" id="{7D727F8B-B867-44D8-80FF-F84226F04A32}"/>
              </a:ext>
            </a:extLst>
          </p:cNvPr>
          <p:cNvSpPr txBox="1"/>
          <p:nvPr/>
        </p:nvSpPr>
        <p:spPr>
          <a:xfrm>
            <a:off x="5054466" y="1071284"/>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三  实践体系实施</a:t>
            </a:r>
            <a:endParaRPr lang="zh-CN" altLang="en-US" b="1" dirty="0">
              <a:solidFill>
                <a:prstClr val="white"/>
              </a:solidFill>
              <a:latin typeface="Arial"/>
              <a:ea typeface="微软雅黑"/>
            </a:endParaRPr>
          </a:p>
        </p:txBody>
      </p:sp>
      <p:sp>
        <p:nvSpPr>
          <p:cNvPr id="36" name="文本框 14">
            <a:extLst>
              <a:ext uri="{FF2B5EF4-FFF2-40B4-BE49-F238E27FC236}">
                <a16:creationId xmlns:a16="http://schemas.microsoft.com/office/drawing/2014/main" id="{809D1488-2C85-4489-843C-21FF2D9427D4}"/>
              </a:ext>
            </a:extLst>
          </p:cNvPr>
          <p:cNvSpPr txBox="1"/>
          <p:nvPr/>
        </p:nvSpPr>
        <p:spPr>
          <a:xfrm>
            <a:off x="7338510" y="1071183"/>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四  导师制与学业指导</a:t>
            </a:r>
            <a:endParaRPr lang="zh-CN" altLang="en-US" b="1" dirty="0">
              <a:solidFill>
                <a:prstClr val="white"/>
              </a:solidFill>
              <a:latin typeface="Arial"/>
              <a:ea typeface="微软雅黑"/>
            </a:endParaRPr>
          </a:p>
        </p:txBody>
      </p:sp>
      <p:sp>
        <p:nvSpPr>
          <p:cNvPr id="60" name="文本框 14">
            <a:extLst>
              <a:ext uri="{FF2B5EF4-FFF2-40B4-BE49-F238E27FC236}">
                <a16:creationId xmlns:a16="http://schemas.microsoft.com/office/drawing/2014/main" id="{991D5F34-F6C3-434D-8F66-204528B8766C}"/>
              </a:ext>
            </a:extLst>
          </p:cNvPr>
          <p:cNvSpPr txBox="1"/>
          <p:nvPr/>
        </p:nvSpPr>
        <p:spPr>
          <a:xfrm>
            <a:off x="10133884" y="1058701"/>
            <a:ext cx="2058115" cy="369332"/>
          </a:xfrm>
          <a:prstGeom prst="rect">
            <a:avLst/>
          </a:prstGeom>
          <a:noFill/>
        </p:spPr>
        <p:txBody>
          <a:bodyPr wrap="square" rtlCol="0">
            <a:spAutoFit/>
          </a:bodyPr>
          <a:lstStyle/>
          <a:p>
            <a:pPr algn="just"/>
            <a:r>
              <a:rPr lang="zh-CN" altLang="en-US" b="1">
                <a:solidFill>
                  <a:prstClr val="white"/>
                </a:solidFill>
                <a:latin typeface="Arial"/>
                <a:ea typeface="微软雅黑"/>
              </a:rPr>
              <a:t>五  保障机制</a:t>
            </a:r>
            <a:endParaRPr lang="zh-CN" altLang="en-US" b="1" dirty="0">
              <a:solidFill>
                <a:prstClr val="white"/>
              </a:solidFill>
              <a:latin typeface="Arial"/>
              <a:ea typeface="微软雅黑"/>
            </a:endParaRPr>
          </a:p>
        </p:txBody>
      </p:sp>
      <p:sp>
        <p:nvSpPr>
          <p:cNvPr id="27" name="文本框 12">
            <a:extLst>
              <a:ext uri="{FF2B5EF4-FFF2-40B4-BE49-F238E27FC236}">
                <a16:creationId xmlns:a16="http://schemas.microsoft.com/office/drawing/2014/main" id="{41737069-01DE-4CC0-B8DB-A3E9985E43F8}"/>
              </a:ext>
            </a:extLst>
          </p:cNvPr>
          <p:cNvSpPr txBox="1"/>
          <p:nvPr/>
        </p:nvSpPr>
        <p:spPr>
          <a:xfrm>
            <a:off x="359003" y="1760040"/>
            <a:ext cx="1877437" cy="461665"/>
          </a:xfrm>
          <a:prstGeom prst="rect">
            <a:avLst/>
          </a:prstGeom>
          <a:noFill/>
        </p:spPr>
        <p:txBody>
          <a:bodyPr wrap="none" rtlCol="0">
            <a:spAutoFit/>
          </a:bodyPr>
          <a:lstStyle/>
          <a:p>
            <a:pPr marL="457200" marR="0" lvl="0" indent="-457200" algn="l" defTabSz="914400" rtl="0" eaLnBrk="1" fontAlgn="auto" latinLnBrk="0" hangingPunct="1">
              <a:lnSpc>
                <a:spcPct val="100000"/>
              </a:lnSpc>
              <a:spcBef>
                <a:spcPts val="0"/>
              </a:spcBef>
              <a:spcAft>
                <a:spcPts val="0"/>
              </a:spcAft>
              <a:buClr>
                <a:srgbClr val="C00000"/>
              </a:buClr>
              <a:buSzTx/>
              <a:buFont typeface="Wingdings" panose="05000000000000000000" pitchFamily="2" charset="2"/>
              <a:buChar char="p"/>
              <a:tabLst/>
              <a:defRPr/>
            </a:pPr>
            <a:r>
              <a:rPr lang="zh-CN" altLang="en-US" sz="2400" b="1" kern="0">
                <a:solidFill>
                  <a:srgbClr val="004E86"/>
                </a:solidFill>
                <a:latin typeface="微软雅黑" panose="020B0503020204020204" pitchFamily="34" charset="-122"/>
                <a:ea typeface="微软雅黑" panose="020B0503020204020204" pitchFamily="34" charset="-122"/>
              </a:rPr>
              <a:t>学制学位</a:t>
            </a:r>
          </a:p>
        </p:txBody>
      </p:sp>
      <p:cxnSp>
        <p:nvCxnSpPr>
          <p:cNvPr id="28" name="直接连接符 7">
            <a:extLst>
              <a:ext uri="{FF2B5EF4-FFF2-40B4-BE49-F238E27FC236}">
                <a16:creationId xmlns:a16="http://schemas.microsoft.com/office/drawing/2014/main" id="{7AC148A4-CAE3-40BC-8F8B-51832DA45A6D}"/>
              </a:ext>
            </a:extLst>
          </p:cNvPr>
          <p:cNvCxnSpPr>
            <a:cxnSpLocks/>
          </p:cNvCxnSpPr>
          <p:nvPr/>
        </p:nvCxnSpPr>
        <p:spPr bwMode="auto">
          <a:xfrm flipH="1">
            <a:off x="463091" y="2213957"/>
            <a:ext cx="8947609" cy="0"/>
          </a:xfrm>
          <a:prstGeom prst="line">
            <a:avLst/>
          </a:prstGeom>
          <a:noFill/>
          <a:ln w="28575" cap="flat" cmpd="sng" algn="ctr">
            <a:solidFill>
              <a:srgbClr val="F65C5C"/>
            </a:solidFill>
            <a:prstDash val="sysDash"/>
            <a:round/>
            <a:headEnd type="none" w="med" len="med"/>
            <a:tailEnd type="none" w="med" len="med"/>
          </a:ln>
          <a:effectLst/>
        </p:spPr>
      </p:cxnSp>
      <p:sp>
        <p:nvSpPr>
          <p:cNvPr id="29" name="Shape">
            <a:extLst>
              <a:ext uri="{FF2B5EF4-FFF2-40B4-BE49-F238E27FC236}">
                <a16:creationId xmlns:a16="http://schemas.microsoft.com/office/drawing/2014/main" id="{9036B602-B86E-45CE-9697-FB6D86B906C8}"/>
              </a:ext>
            </a:extLst>
          </p:cNvPr>
          <p:cNvSpPr/>
          <p:nvPr/>
        </p:nvSpPr>
        <p:spPr>
          <a:xfrm>
            <a:off x="627888" y="2667875"/>
            <a:ext cx="2331720" cy="1042416"/>
          </a:xfrm>
          <a:prstGeom prst="roundRect">
            <a:avLst/>
          </a:prstGeom>
          <a:solidFill>
            <a:srgbClr val="FFFFFF"/>
          </a:solidFill>
          <a:ln w="12700">
            <a:solidFill>
              <a:srgbClr val="D9E1EC"/>
            </a:solidFill>
          </a:ln>
        </p:spPr>
        <p:txBody>
          <a:bodyPr/>
          <a:lstStyle/>
          <a:p>
            <a:endParaRPr lang="zh-CN" altLang="en-US"/>
          </a:p>
        </p:txBody>
      </p:sp>
      <p:sp>
        <p:nvSpPr>
          <p:cNvPr id="37" name="Text">
            <a:extLst>
              <a:ext uri="{FF2B5EF4-FFF2-40B4-BE49-F238E27FC236}">
                <a16:creationId xmlns:a16="http://schemas.microsoft.com/office/drawing/2014/main" id="{3AB203F7-508F-4038-884F-AD39C5E3AB84}"/>
              </a:ext>
            </a:extLst>
          </p:cNvPr>
          <p:cNvSpPr txBox="1"/>
          <p:nvPr/>
        </p:nvSpPr>
        <p:spPr>
          <a:xfrm>
            <a:off x="627888" y="2759315"/>
            <a:ext cx="2331720" cy="438912"/>
          </a:xfrm>
          <a:prstGeom prst="rect">
            <a:avLst/>
          </a:prstGeom>
          <a:noFill/>
          <a:ln>
            <a:noFill/>
          </a:ln>
        </p:spPr>
        <p:txBody>
          <a:bodyPr wrap="square" lIns="60000" tIns="40000" rIns="60000" bIns="40000" anchor="t"/>
          <a:lstStyle/>
          <a:p>
            <a:pPr algn="l"/>
            <a:r>
              <a:rPr lang="zh-CN" sz="3300" b="1" dirty="0">
                <a:solidFill>
                  <a:srgbClr val="C5282F"/>
                </a:solidFill>
                <a:latin typeface="Microsoft YaHei"/>
                <a:ea typeface="Microsoft YaHei"/>
                <a:cs typeface="Microsoft YaHei"/>
              </a:rPr>
              <a:t>168</a:t>
            </a:r>
          </a:p>
        </p:txBody>
      </p:sp>
      <p:sp>
        <p:nvSpPr>
          <p:cNvPr id="38" name="Text">
            <a:extLst>
              <a:ext uri="{FF2B5EF4-FFF2-40B4-BE49-F238E27FC236}">
                <a16:creationId xmlns:a16="http://schemas.microsoft.com/office/drawing/2014/main" id="{0339B53F-7212-458E-92F9-B8B628FB08BD}"/>
              </a:ext>
            </a:extLst>
          </p:cNvPr>
          <p:cNvSpPr txBox="1"/>
          <p:nvPr/>
        </p:nvSpPr>
        <p:spPr>
          <a:xfrm>
            <a:off x="719328" y="3234803"/>
            <a:ext cx="2148840" cy="320040"/>
          </a:xfrm>
          <a:prstGeom prst="rect">
            <a:avLst/>
          </a:prstGeom>
          <a:noFill/>
          <a:ln>
            <a:noFill/>
          </a:ln>
        </p:spPr>
        <p:txBody>
          <a:bodyPr wrap="square" lIns="60000" tIns="40000" rIns="60000" bIns="40000" anchor="t"/>
          <a:lstStyle/>
          <a:p>
            <a:pPr algn="l"/>
            <a:r>
              <a:rPr lang="zh-CN" sz="1300">
                <a:solidFill>
                  <a:srgbClr val="5B677A"/>
                </a:solidFill>
                <a:latin typeface="Microsoft YaHei"/>
                <a:ea typeface="Microsoft YaHei"/>
                <a:cs typeface="Microsoft YaHei"/>
              </a:rPr>
              <a:t>全程总学分</a:t>
            </a:r>
          </a:p>
        </p:txBody>
      </p:sp>
      <p:sp>
        <p:nvSpPr>
          <p:cNvPr id="39" name="Shape">
            <a:extLst>
              <a:ext uri="{FF2B5EF4-FFF2-40B4-BE49-F238E27FC236}">
                <a16:creationId xmlns:a16="http://schemas.microsoft.com/office/drawing/2014/main" id="{FF291EDC-025D-43D5-966B-3B406CC0089C}"/>
              </a:ext>
            </a:extLst>
          </p:cNvPr>
          <p:cNvSpPr/>
          <p:nvPr/>
        </p:nvSpPr>
        <p:spPr>
          <a:xfrm>
            <a:off x="3416808" y="2667875"/>
            <a:ext cx="2331720" cy="1042416"/>
          </a:xfrm>
          <a:prstGeom prst="roundRect">
            <a:avLst/>
          </a:prstGeom>
          <a:solidFill>
            <a:srgbClr val="FFFFFF"/>
          </a:solidFill>
          <a:ln w="12700">
            <a:solidFill>
              <a:srgbClr val="D9E1EC"/>
            </a:solidFill>
          </a:ln>
        </p:spPr>
        <p:txBody>
          <a:bodyPr/>
          <a:lstStyle/>
          <a:p>
            <a:endParaRPr lang="zh-CN" altLang="en-US"/>
          </a:p>
        </p:txBody>
      </p:sp>
      <p:sp>
        <p:nvSpPr>
          <p:cNvPr id="53" name="Text">
            <a:extLst>
              <a:ext uri="{FF2B5EF4-FFF2-40B4-BE49-F238E27FC236}">
                <a16:creationId xmlns:a16="http://schemas.microsoft.com/office/drawing/2014/main" id="{308541E7-EEE8-433E-80D1-8C70839BE3DD}"/>
              </a:ext>
            </a:extLst>
          </p:cNvPr>
          <p:cNvSpPr txBox="1"/>
          <p:nvPr/>
        </p:nvSpPr>
        <p:spPr>
          <a:xfrm>
            <a:off x="3416808" y="2759315"/>
            <a:ext cx="2331720" cy="438912"/>
          </a:xfrm>
          <a:prstGeom prst="rect">
            <a:avLst/>
          </a:prstGeom>
          <a:noFill/>
          <a:ln>
            <a:noFill/>
          </a:ln>
        </p:spPr>
        <p:txBody>
          <a:bodyPr wrap="square" lIns="60000" tIns="40000" rIns="60000" bIns="40000" anchor="t"/>
          <a:lstStyle/>
          <a:p>
            <a:pPr algn="l"/>
            <a:r>
              <a:rPr lang="zh-CN" sz="3300" b="1">
                <a:solidFill>
                  <a:srgbClr val="1F6FB2"/>
                </a:solidFill>
                <a:latin typeface="Microsoft YaHei"/>
                <a:ea typeface="Microsoft YaHei"/>
                <a:cs typeface="Microsoft YaHei"/>
              </a:rPr>
              <a:t>4年</a:t>
            </a:r>
          </a:p>
        </p:txBody>
      </p:sp>
      <p:sp>
        <p:nvSpPr>
          <p:cNvPr id="54" name="Text">
            <a:extLst>
              <a:ext uri="{FF2B5EF4-FFF2-40B4-BE49-F238E27FC236}">
                <a16:creationId xmlns:a16="http://schemas.microsoft.com/office/drawing/2014/main" id="{C8154696-8E2F-45AF-A8B9-9CAD31CF7C75}"/>
              </a:ext>
            </a:extLst>
          </p:cNvPr>
          <p:cNvSpPr txBox="1"/>
          <p:nvPr/>
        </p:nvSpPr>
        <p:spPr>
          <a:xfrm>
            <a:off x="3508248" y="3234803"/>
            <a:ext cx="2148840" cy="320040"/>
          </a:xfrm>
          <a:prstGeom prst="rect">
            <a:avLst/>
          </a:prstGeom>
          <a:noFill/>
          <a:ln>
            <a:noFill/>
          </a:ln>
        </p:spPr>
        <p:txBody>
          <a:bodyPr wrap="square" lIns="60000" tIns="40000" rIns="60000" bIns="40000" anchor="t"/>
          <a:lstStyle/>
          <a:p>
            <a:pPr algn="l"/>
            <a:r>
              <a:rPr lang="zh-CN" sz="1300">
                <a:solidFill>
                  <a:srgbClr val="5B677A"/>
                </a:solidFill>
                <a:latin typeface="Microsoft YaHei"/>
                <a:ea typeface="Microsoft YaHei"/>
                <a:cs typeface="Microsoft YaHei"/>
              </a:rPr>
              <a:t>标准学制</a:t>
            </a:r>
          </a:p>
        </p:txBody>
      </p:sp>
      <p:sp>
        <p:nvSpPr>
          <p:cNvPr id="55" name="Shape">
            <a:extLst>
              <a:ext uri="{FF2B5EF4-FFF2-40B4-BE49-F238E27FC236}">
                <a16:creationId xmlns:a16="http://schemas.microsoft.com/office/drawing/2014/main" id="{7FFC3D25-8FC4-4B2A-A421-2E930F56957A}"/>
              </a:ext>
            </a:extLst>
          </p:cNvPr>
          <p:cNvSpPr/>
          <p:nvPr/>
        </p:nvSpPr>
        <p:spPr>
          <a:xfrm>
            <a:off x="6205728" y="2667875"/>
            <a:ext cx="2331720" cy="1042416"/>
          </a:xfrm>
          <a:prstGeom prst="roundRect">
            <a:avLst/>
          </a:prstGeom>
          <a:solidFill>
            <a:srgbClr val="FFFFFF"/>
          </a:solidFill>
          <a:ln w="12700">
            <a:solidFill>
              <a:srgbClr val="D9E1EC"/>
            </a:solidFill>
          </a:ln>
        </p:spPr>
        <p:txBody>
          <a:bodyPr/>
          <a:lstStyle/>
          <a:p>
            <a:endParaRPr lang="zh-CN" altLang="en-US"/>
          </a:p>
        </p:txBody>
      </p:sp>
      <p:sp>
        <p:nvSpPr>
          <p:cNvPr id="56" name="Text">
            <a:extLst>
              <a:ext uri="{FF2B5EF4-FFF2-40B4-BE49-F238E27FC236}">
                <a16:creationId xmlns:a16="http://schemas.microsoft.com/office/drawing/2014/main" id="{B99974A5-88EE-49BD-B768-7D6C26330103}"/>
              </a:ext>
            </a:extLst>
          </p:cNvPr>
          <p:cNvSpPr txBox="1"/>
          <p:nvPr/>
        </p:nvSpPr>
        <p:spPr>
          <a:xfrm>
            <a:off x="6205728" y="2759315"/>
            <a:ext cx="2331720" cy="438912"/>
          </a:xfrm>
          <a:prstGeom prst="rect">
            <a:avLst/>
          </a:prstGeom>
          <a:noFill/>
          <a:ln>
            <a:noFill/>
          </a:ln>
        </p:spPr>
        <p:txBody>
          <a:bodyPr wrap="square" lIns="60000" tIns="40000" rIns="60000" bIns="40000" anchor="t"/>
          <a:lstStyle/>
          <a:p>
            <a:pPr algn="l"/>
            <a:r>
              <a:rPr lang="zh-CN" sz="3300" b="1">
                <a:solidFill>
                  <a:srgbClr val="00A6A6"/>
                </a:solidFill>
                <a:latin typeface="Microsoft YaHei"/>
                <a:ea typeface="Microsoft YaHei"/>
                <a:cs typeface="Microsoft YaHei"/>
              </a:rPr>
              <a:t>3-6年</a:t>
            </a:r>
          </a:p>
        </p:txBody>
      </p:sp>
      <p:sp>
        <p:nvSpPr>
          <p:cNvPr id="57" name="Text">
            <a:extLst>
              <a:ext uri="{FF2B5EF4-FFF2-40B4-BE49-F238E27FC236}">
                <a16:creationId xmlns:a16="http://schemas.microsoft.com/office/drawing/2014/main" id="{58E66695-4D7E-4D7E-AAC8-F369D953B166}"/>
              </a:ext>
            </a:extLst>
          </p:cNvPr>
          <p:cNvSpPr txBox="1"/>
          <p:nvPr/>
        </p:nvSpPr>
        <p:spPr>
          <a:xfrm>
            <a:off x="6297168" y="3234803"/>
            <a:ext cx="2148840" cy="320040"/>
          </a:xfrm>
          <a:prstGeom prst="rect">
            <a:avLst/>
          </a:prstGeom>
          <a:noFill/>
          <a:ln>
            <a:noFill/>
          </a:ln>
        </p:spPr>
        <p:txBody>
          <a:bodyPr wrap="square" lIns="60000" tIns="40000" rIns="60000" bIns="40000" anchor="t"/>
          <a:lstStyle/>
          <a:p>
            <a:pPr algn="l"/>
            <a:r>
              <a:rPr lang="zh-CN" sz="1300">
                <a:solidFill>
                  <a:srgbClr val="5B677A"/>
                </a:solidFill>
                <a:latin typeface="Microsoft YaHei"/>
                <a:ea typeface="Microsoft YaHei"/>
                <a:cs typeface="Microsoft YaHei"/>
              </a:rPr>
              <a:t>学习年限</a:t>
            </a:r>
          </a:p>
        </p:txBody>
      </p:sp>
      <p:sp>
        <p:nvSpPr>
          <p:cNvPr id="58" name="Shape">
            <a:extLst>
              <a:ext uri="{FF2B5EF4-FFF2-40B4-BE49-F238E27FC236}">
                <a16:creationId xmlns:a16="http://schemas.microsoft.com/office/drawing/2014/main" id="{A4FA8C15-E6B9-464D-918D-CD379D77A2E2}"/>
              </a:ext>
            </a:extLst>
          </p:cNvPr>
          <p:cNvSpPr/>
          <p:nvPr/>
        </p:nvSpPr>
        <p:spPr>
          <a:xfrm>
            <a:off x="8994648" y="2667875"/>
            <a:ext cx="2331720" cy="1042416"/>
          </a:xfrm>
          <a:prstGeom prst="roundRect">
            <a:avLst/>
          </a:prstGeom>
          <a:solidFill>
            <a:srgbClr val="FFFFFF"/>
          </a:solidFill>
          <a:ln w="12700">
            <a:solidFill>
              <a:srgbClr val="D9E1EC"/>
            </a:solidFill>
          </a:ln>
        </p:spPr>
        <p:txBody>
          <a:bodyPr/>
          <a:lstStyle/>
          <a:p>
            <a:endParaRPr lang="zh-CN" altLang="en-US"/>
          </a:p>
        </p:txBody>
      </p:sp>
      <p:sp>
        <p:nvSpPr>
          <p:cNvPr id="59" name="Text">
            <a:extLst>
              <a:ext uri="{FF2B5EF4-FFF2-40B4-BE49-F238E27FC236}">
                <a16:creationId xmlns:a16="http://schemas.microsoft.com/office/drawing/2014/main" id="{9A53C597-3E8F-4FEB-AE77-DF63477F0828}"/>
              </a:ext>
            </a:extLst>
          </p:cNvPr>
          <p:cNvSpPr txBox="1"/>
          <p:nvPr/>
        </p:nvSpPr>
        <p:spPr>
          <a:xfrm>
            <a:off x="8994648" y="2759315"/>
            <a:ext cx="2331720" cy="438912"/>
          </a:xfrm>
          <a:prstGeom prst="rect">
            <a:avLst/>
          </a:prstGeom>
          <a:noFill/>
          <a:ln>
            <a:noFill/>
          </a:ln>
        </p:spPr>
        <p:txBody>
          <a:bodyPr wrap="square" lIns="60000" tIns="40000" rIns="60000" bIns="40000" anchor="t"/>
          <a:lstStyle/>
          <a:p>
            <a:pPr algn="l"/>
            <a:r>
              <a:rPr lang="zh-CN" sz="3300" b="1">
                <a:solidFill>
                  <a:srgbClr val="D9A441"/>
                </a:solidFill>
                <a:latin typeface="Microsoft YaHei"/>
                <a:ea typeface="Microsoft YaHei"/>
                <a:cs typeface="Microsoft YaHei"/>
              </a:rPr>
              <a:t>双学位</a:t>
            </a:r>
          </a:p>
        </p:txBody>
      </p:sp>
      <p:sp>
        <p:nvSpPr>
          <p:cNvPr id="61" name="Text">
            <a:extLst>
              <a:ext uri="{FF2B5EF4-FFF2-40B4-BE49-F238E27FC236}">
                <a16:creationId xmlns:a16="http://schemas.microsoft.com/office/drawing/2014/main" id="{98A2DB06-CADA-4CE3-98AE-D4F56BF65202}"/>
              </a:ext>
            </a:extLst>
          </p:cNvPr>
          <p:cNvSpPr txBox="1"/>
          <p:nvPr/>
        </p:nvSpPr>
        <p:spPr>
          <a:xfrm>
            <a:off x="9086088" y="3234803"/>
            <a:ext cx="2148840" cy="320040"/>
          </a:xfrm>
          <a:prstGeom prst="rect">
            <a:avLst/>
          </a:prstGeom>
          <a:noFill/>
          <a:ln>
            <a:noFill/>
          </a:ln>
        </p:spPr>
        <p:txBody>
          <a:bodyPr wrap="square" lIns="60000" tIns="40000" rIns="60000" bIns="40000" anchor="t"/>
          <a:lstStyle/>
          <a:p>
            <a:pPr algn="l"/>
            <a:r>
              <a:rPr lang="zh-CN" sz="1300">
                <a:solidFill>
                  <a:srgbClr val="5B677A"/>
                </a:solidFill>
                <a:latin typeface="Microsoft YaHei"/>
                <a:ea typeface="Microsoft YaHei"/>
                <a:cs typeface="Microsoft YaHei"/>
              </a:rPr>
              <a:t>教育学+工学学士</a:t>
            </a:r>
          </a:p>
        </p:txBody>
      </p:sp>
      <p:sp>
        <p:nvSpPr>
          <p:cNvPr id="62" name="Text">
            <a:extLst>
              <a:ext uri="{FF2B5EF4-FFF2-40B4-BE49-F238E27FC236}">
                <a16:creationId xmlns:a16="http://schemas.microsoft.com/office/drawing/2014/main" id="{74BFD8E1-0099-4A3B-927D-C519E308CFC7}"/>
              </a:ext>
            </a:extLst>
          </p:cNvPr>
          <p:cNvSpPr txBox="1"/>
          <p:nvPr/>
        </p:nvSpPr>
        <p:spPr>
          <a:xfrm>
            <a:off x="929640" y="4103483"/>
            <a:ext cx="1325880" cy="228600"/>
          </a:xfrm>
          <a:prstGeom prst="rect">
            <a:avLst/>
          </a:prstGeom>
          <a:noFill/>
          <a:ln>
            <a:noFill/>
          </a:ln>
        </p:spPr>
        <p:txBody>
          <a:bodyPr wrap="square" lIns="60000" tIns="40000" rIns="60000" bIns="40000" anchor="t"/>
          <a:lstStyle/>
          <a:p>
            <a:pPr algn="r"/>
            <a:r>
              <a:rPr lang="zh-CN" sz="1150">
                <a:solidFill>
                  <a:srgbClr val="5B677A"/>
                </a:solidFill>
                <a:latin typeface="Microsoft YaHei"/>
                <a:ea typeface="Microsoft YaHei"/>
                <a:cs typeface="Microsoft YaHei"/>
              </a:rPr>
              <a:t>思政课程</a:t>
            </a:r>
          </a:p>
        </p:txBody>
      </p:sp>
      <p:sp>
        <p:nvSpPr>
          <p:cNvPr id="63" name="Shape">
            <a:extLst>
              <a:ext uri="{FF2B5EF4-FFF2-40B4-BE49-F238E27FC236}">
                <a16:creationId xmlns:a16="http://schemas.microsoft.com/office/drawing/2014/main" id="{37517C4A-981B-44FB-9CE7-8CD452ED6653}"/>
              </a:ext>
            </a:extLst>
          </p:cNvPr>
          <p:cNvSpPr/>
          <p:nvPr/>
        </p:nvSpPr>
        <p:spPr>
          <a:xfrm>
            <a:off x="2484120" y="4140059"/>
            <a:ext cx="5852160" cy="164592"/>
          </a:xfrm>
          <a:prstGeom prst="rect">
            <a:avLst/>
          </a:prstGeom>
          <a:solidFill>
            <a:srgbClr val="D9E1EC"/>
          </a:solidFill>
          <a:ln>
            <a:noFill/>
          </a:ln>
        </p:spPr>
        <p:txBody>
          <a:bodyPr/>
          <a:lstStyle/>
          <a:p>
            <a:endParaRPr lang="zh-CN" altLang="en-US"/>
          </a:p>
        </p:txBody>
      </p:sp>
      <p:sp>
        <p:nvSpPr>
          <p:cNvPr id="64" name="Shape">
            <a:extLst>
              <a:ext uri="{FF2B5EF4-FFF2-40B4-BE49-F238E27FC236}">
                <a16:creationId xmlns:a16="http://schemas.microsoft.com/office/drawing/2014/main" id="{9D4E7F9E-0ECF-4469-9D04-3CD55675E7BA}"/>
              </a:ext>
            </a:extLst>
          </p:cNvPr>
          <p:cNvSpPr/>
          <p:nvPr/>
        </p:nvSpPr>
        <p:spPr>
          <a:xfrm>
            <a:off x="2484120" y="4140059"/>
            <a:ext cx="1804416" cy="164592"/>
          </a:xfrm>
          <a:prstGeom prst="rect">
            <a:avLst/>
          </a:prstGeom>
          <a:solidFill>
            <a:srgbClr val="C5282F"/>
          </a:solidFill>
          <a:ln>
            <a:noFill/>
          </a:ln>
        </p:spPr>
        <p:txBody>
          <a:bodyPr/>
          <a:lstStyle/>
          <a:p>
            <a:endParaRPr lang="zh-CN" altLang="en-US"/>
          </a:p>
        </p:txBody>
      </p:sp>
      <p:sp>
        <p:nvSpPr>
          <p:cNvPr id="65" name="Text">
            <a:extLst>
              <a:ext uri="{FF2B5EF4-FFF2-40B4-BE49-F238E27FC236}">
                <a16:creationId xmlns:a16="http://schemas.microsoft.com/office/drawing/2014/main" id="{421CE1BF-C760-4275-AB16-87FB7CE448BE}"/>
              </a:ext>
            </a:extLst>
          </p:cNvPr>
          <p:cNvSpPr txBox="1"/>
          <p:nvPr/>
        </p:nvSpPr>
        <p:spPr>
          <a:xfrm>
            <a:off x="8473440" y="4094339"/>
            <a:ext cx="914400" cy="228600"/>
          </a:xfrm>
          <a:prstGeom prst="rect">
            <a:avLst/>
          </a:prstGeom>
          <a:noFill/>
          <a:ln>
            <a:noFill/>
          </a:ln>
        </p:spPr>
        <p:txBody>
          <a:bodyPr wrap="square" lIns="60000" tIns="40000" rIns="60000" bIns="40000" anchor="t"/>
          <a:lstStyle/>
          <a:p>
            <a:pPr algn="l"/>
            <a:r>
              <a:rPr lang="zh-CN" sz="1100" b="1">
                <a:solidFill>
                  <a:srgbClr val="1C2530"/>
                </a:solidFill>
                <a:latin typeface="Microsoft YaHei"/>
                <a:ea typeface="Microsoft YaHei"/>
                <a:cs typeface="Microsoft YaHei"/>
              </a:rPr>
              <a:t>18.5学分</a:t>
            </a:r>
          </a:p>
        </p:txBody>
      </p:sp>
      <p:sp>
        <p:nvSpPr>
          <p:cNvPr id="66" name="Text">
            <a:extLst>
              <a:ext uri="{FF2B5EF4-FFF2-40B4-BE49-F238E27FC236}">
                <a16:creationId xmlns:a16="http://schemas.microsoft.com/office/drawing/2014/main" id="{28789A66-8B5B-4BFA-BF2D-D98A74F844B7}"/>
              </a:ext>
            </a:extLst>
          </p:cNvPr>
          <p:cNvSpPr txBox="1"/>
          <p:nvPr/>
        </p:nvSpPr>
        <p:spPr>
          <a:xfrm>
            <a:off x="929640" y="4496675"/>
            <a:ext cx="1325880" cy="228600"/>
          </a:xfrm>
          <a:prstGeom prst="rect">
            <a:avLst/>
          </a:prstGeom>
          <a:noFill/>
          <a:ln>
            <a:noFill/>
          </a:ln>
        </p:spPr>
        <p:txBody>
          <a:bodyPr wrap="square" lIns="60000" tIns="40000" rIns="60000" bIns="40000" anchor="t"/>
          <a:lstStyle/>
          <a:p>
            <a:pPr algn="r"/>
            <a:r>
              <a:rPr lang="zh-CN" sz="1150">
                <a:solidFill>
                  <a:srgbClr val="5B677A"/>
                </a:solidFill>
                <a:latin typeface="Microsoft YaHei"/>
                <a:ea typeface="Microsoft YaHei"/>
                <a:cs typeface="Microsoft YaHei"/>
              </a:rPr>
              <a:t>专业核心</a:t>
            </a:r>
          </a:p>
        </p:txBody>
      </p:sp>
      <p:sp>
        <p:nvSpPr>
          <p:cNvPr id="67" name="Shape">
            <a:extLst>
              <a:ext uri="{FF2B5EF4-FFF2-40B4-BE49-F238E27FC236}">
                <a16:creationId xmlns:a16="http://schemas.microsoft.com/office/drawing/2014/main" id="{F2637FEE-0977-425E-A582-20AAC132E2F1}"/>
              </a:ext>
            </a:extLst>
          </p:cNvPr>
          <p:cNvSpPr/>
          <p:nvPr/>
        </p:nvSpPr>
        <p:spPr>
          <a:xfrm>
            <a:off x="2484120" y="4533251"/>
            <a:ext cx="5852160" cy="164592"/>
          </a:xfrm>
          <a:prstGeom prst="rect">
            <a:avLst/>
          </a:prstGeom>
          <a:solidFill>
            <a:srgbClr val="D9E1EC"/>
          </a:solidFill>
          <a:ln>
            <a:noFill/>
          </a:ln>
        </p:spPr>
        <p:txBody>
          <a:bodyPr/>
          <a:lstStyle/>
          <a:p>
            <a:endParaRPr lang="zh-CN" altLang="en-US"/>
          </a:p>
        </p:txBody>
      </p:sp>
      <p:sp>
        <p:nvSpPr>
          <p:cNvPr id="68" name="Shape">
            <a:extLst>
              <a:ext uri="{FF2B5EF4-FFF2-40B4-BE49-F238E27FC236}">
                <a16:creationId xmlns:a16="http://schemas.microsoft.com/office/drawing/2014/main" id="{62FA57F7-7E99-43A0-A7CD-1FFC1D20C581}"/>
              </a:ext>
            </a:extLst>
          </p:cNvPr>
          <p:cNvSpPr/>
          <p:nvPr/>
        </p:nvSpPr>
        <p:spPr>
          <a:xfrm>
            <a:off x="2484120" y="4533251"/>
            <a:ext cx="5315712" cy="164592"/>
          </a:xfrm>
          <a:prstGeom prst="rect">
            <a:avLst/>
          </a:prstGeom>
          <a:solidFill>
            <a:srgbClr val="1F6FB2"/>
          </a:solidFill>
          <a:ln>
            <a:noFill/>
          </a:ln>
        </p:spPr>
        <p:txBody>
          <a:bodyPr/>
          <a:lstStyle/>
          <a:p>
            <a:endParaRPr lang="zh-CN" altLang="en-US"/>
          </a:p>
        </p:txBody>
      </p:sp>
      <p:sp>
        <p:nvSpPr>
          <p:cNvPr id="69" name="Text">
            <a:extLst>
              <a:ext uri="{FF2B5EF4-FFF2-40B4-BE49-F238E27FC236}">
                <a16:creationId xmlns:a16="http://schemas.microsoft.com/office/drawing/2014/main" id="{D284F5B2-5334-4AD9-81F7-ADEBF1C48AB4}"/>
              </a:ext>
            </a:extLst>
          </p:cNvPr>
          <p:cNvSpPr txBox="1"/>
          <p:nvPr/>
        </p:nvSpPr>
        <p:spPr>
          <a:xfrm>
            <a:off x="8473440" y="4487531"/>
            <a:ext cx="914400" cy="228600"/>
          </a:xfrm>
          <a:prstGeom prst="rect">
            <a:avLst/>
          </a:prstGeom>
          <a:noFill/>
          <a:ln>
            <a:noFill/>
          </a:ln>
        </p:spPr>
        <p:txBody>
          <a:bodyPr wrap="square" lIns="60000" tIns="40000" rIns="60000" bIns="40000" anchor="t"/>
          <a:lstStyle/>
          <a:p>
            <a:pPr algn="l"/>
            <a:r>
              <a:rPr lang="zh-CN" sz="1100" b="1">
                <a:solidFill>
                  <a:srgbClr val="1C2530"/>
                </a:solidFill>
                <a:latin typeface="Microsoft YaHei"/>
                <a:ea typeface="Microsoft YaHei"/>
                <a:cs typeface="Microsoft YaHei"/>
              </a:rPr>
              <a:t>54.5学分</a:t>
            </a:r>
          </a:p>
        </p:txBody>
      </p:sp>
      <p:sp>
        <p:nvSpPr>
          <p:cNvPr id="70" name="Text">
            <a:extLst>
              <a:ext uri="{FF2B5EF4-FFF2-40B4-BE49-F238E27FC236}">
                <a16:creationId xmlns:a16="http://schemas.microsoft.com/office/drawing/2014/main" id="{22DE4F97-B1A7-4376-B3CC-B5D678E53512}"/>
              </a:ext>
            </a:extLst>
          </p:cNvPr>
          <p:cNvSpPr txBox="1"/>
          <p:nvPr/>
        </p:nvSpPr>
        <p:spPr>
          <a:xfrm>
            <a:off x="929640" y="4889867"/>
            <a:ext cx="1325880" cy="228600"/>
          </a:xfrm>
          <a:prstGeom prst="rect">
            <a:avLst/>
          </a:prstGeom>
          <a:noFill/>
          <a:ln>
            <a:noFill/>
          </a:ln>
        </p:spPr>
        <p:txBody>
          <a:bodyPr wrap="square" lIns="60000" tIns="40000" rIns="60000" bIns="40000" anchor="t"/>
          <a:lstStyle/>
          <a:p>
            <a:pPr algn="r"/>
            <a:r>
              <a:rPr lang="zh-CN" sz="1150">
                <a:solidFill>
                  <a:srgbClr val="5B677A"/>
                </a:solidFill>
                <a:latin typeface="Microsoft YaHei"/>
                <a:ea typeface="Microsoft YaHei"/>
                <a:cs typeface="Microsoft YaHei"/>
              </a:rPr>
              <a:t>专业拓展</a:t>
            </a:r>
          </a:p>
        </p:txBody>
      </p:sp>
      <p:sp>
        <p:nvSpPr>
          <p:cNvPr id="71" name="Shape">
            <a:extLst>
              <a:ext uri="{FF2B5EF4-FFF2-40B4-BE49-F238E27FC236}">
                <a16:creationId xmlns:a16="http://schemas.microsoft.com/office/drawing/2014/main" id="{A7417D0F-018F-4963-B409-3B3C0324FE5F}"/>
              </a:ext>
            </a:extLst>
          </p:cNvPr>
          <p:cNvSpPr/>
          <p:nvPr/>
        </p:nvSpPr>
        <p:spPr>
          <a:xfrm>
            <a:off x="2484120" y="4926443"/>
            <a:ext cx="5852160" cy="164592"/>
          </a:xfrm>
          <a:prstGeom prst="rect">
            <a:avLst/>
          </a:prstGeom>
          <a:solidFill>
            <a:srgbClr val="D9E1EC"/>
          </a:solidFill>
          <a:ln>
            <a:noFill/>
          </a:ln>
        </p:spPr>
        <p:txBody>
          <a:bodyPr/>
          <a:lstStyle/>
          <a:p>
            <a:endParaRPr lang="zh-CN" altLang="en-US"/>
          </a:p>
        </p:txBody>
      </p:sp>
      <p:sp>
        <p:nvSpPr>
          <p:cNvPr id="72" name="Shape">
            <a:extLst>
              <a:ext uri="{FF2B5EF4-FFF2-40B4-BE49-F238E27FC236}">
                <a16:creationId xmlns:a16="http://schemas.microsoft.com/office/drawing/2014/main" id="{C8B42760-B2A1-42DE-8DD3-B71712A92C72}"/>
              </a:ext>
            </a:extLst>
          </p:cNvPr>
          <p:cNvSpPr/>
          <p:nvPr/>
        </p:nvSpPr>
        <p:spPr>
          <a:xfrm>
            <a:off x="2484120" y="4926443"/>
            <a:ext cx="1950720" cy="164592"/>
          </a:xfrm>
          <a:prstGeom prst="rect">
            <a:avLst/>
          </a:prstGeom>
          <a:solidFill>
            <a:srgbClr val="00A6A6"/>
          </a:solidFill>
          <a:ln>
            <a:noFill/>
          </a:ln>
        </p:spPr>
        <p:txBody>
          <a:bodyPr/>
          <a:lstStyle/>
          <a:p>
            <a:endParaRPr lang="zh-CN" altLang="en-US"/>
          </a:p>
        </p:txBody>
      </p:sp>
      <p:sp>
        <p:nvSpPr>
          <p:cNvPr id="73" name="Text">
            <a:extLst>
              <a:ext uri="{FF2B5EF4-FFF2-40B4-BE49-F238E27FC236}">
                <a16:creationId xmlns:a16="http://schemas.microsoft.com/office/drawing/2014/main" id="{EBBACBD5-90B1-4138-8177-D4C46E61C71E}"/>
              </a:ext>
            </a:extLst>
          </p:cNvPr>
          <p:cNvSpPr txBox="1"/>
          <p:nvPr/>
        </p:nvSpPr>
        <p:spPr>
          <a:xfrm>
            <a:off x="8473440" y="4880723"/>
            <a:ext cx="914400" cy="228600"/>
          </a:xfrm>
          <a:prstGeom prst="rect">
            <a:avLst/>
          </a:prstGeom>
          <a:noFill/>
          <a:ln>
            <a:noFill/>
          </a:ln>
        </p:spPr>
        <p:txBody>
          <a:bodyPr wrap="square" lIns="60000" tIns="40000" rIns="60000" bIns="40000" anchor="t"/>
          <a:lstStyle/>
          <a:p>
            <a:pPr algn="l"/>
            <a:r>
              <a:rPr lang="zh-CN" sz="1100" b="1">
                <a:solidFill>
                  <a:srgbClr val="1C2530"/>
                </a:solidFill>
                <a:latin typeface="Microsoft YaHei"/>
                <a:ea typeface="Microsoft YaHei"/>
                <a:cs typeface="Microsoft YaHei"/>
              </a:rPr>
              <a:t>20学分</a:t>
            </a:r>
          </a:p>
        </p:txBody>
      </p:sp>
      <p:sp>
        <p:nvSpPr>
          <p:cNvPr id="74" name="Text">
            <a:extLst>
              <a:ext uri="{FF2B5EF4-FFF2-40B4-BE49-F238E27FC236}">
                <a16:creationId xmlns:a16="http://schemas.microsoft.com/office/drawing/2014/main" id="{5DD269FB-64A7-40C4-BDEA-52B590FC8D43}"/>
              </a:ext>
            </a:extLst>
          </p:cNvPr>
          <p:cNvSpPr txBox="1"/>
          <p:nvPr/>
        </p:nvSpPr>
        <p:spPr>
          <a:xfrm>
            <a:off x="929640" y="5283059"/>
            <a:ext cx="1325880" cy="228600"/>
          </a:xfrm>
          <a:prstGeom prst="rect">
            <a:avLst/>
          </a:prstGeom>
          <a:noFill/>
          <a:ln>
            <a:noFill/>
          </a:ln>
        </p:spPr>
        <p:txBody>
          <a:bodyPr wrap="square" lIns="60000" tIns="40000" rIns="60000" bIns="40000" anchor="t"/>
          <a:lstStyle/>
          <a:p>
            <a:pPr algn="r"/>
            <a:r>
              <a:rPr lang="zh-CN" sz="1150">
                <a:solidFill>
                  <a:srgbClr val="5B677A"/>
                </a:solidFill>
                <a:latin typeface="Microsoft YaHei"/>
                <a:ea typeface="Microsoft YaHei"/>
                <a:cs typeface="Microsoft YaHei"/>
              </a:rPr>
              <a:t>实习实践</a:t>
            </a:r>
          </a:p>
        </p:txBody>
      </p:sp>
      <p:sp>
        <p:nvSpPr>
          <p:cNvPr id="75" name="Shape">
            <a:extLst>
              <a:ext uri="{FF2B5EF4-FFF2-40B4-BE49-F238E27FC236}">
                <a16:creationId xmlns:a16="http://schemas.microsoft.com/office/drawing/2014/main" id="{F32C8180-2FC5-4B58-8B95-C90513EA5670}"/>
              </a:ext>
            </a:extLst>
          </p:cNvPr>
          <p:cNvSpPr/>
          <p:nvPr/>
        </p:nvSpPr>
        <p:spPr>
          <a:xfrm>
            <a:off x="2484120" y="5319635"/>
            <a:ext cx="5852160" cy="164592"/>
          </a:xfrm>
          <a:prstGeom prst="rect">
            <a:avLst/>
          </a:prstGeom>
          <a:solidFill>
            <a:srgbClr val="D9E1EC"/>
          </a:solidFill>
          <a:ln>
            <a:noFill/>
          </a:ln>
        </p:spPr>
        <p:txBody>
          <a:bodyPr/>
          <a:lstStyle/>
          <a:p>
            <a:endParaRPr lang="zh-CN" altLang="en-US"/>
          </a:p>
        </p:txBody>
      </p:sp>
      <p:sp>
        <p:nvSpPr>
          <p:cNvPr id="76" name="Shape">
            <a:extLst>
              <a:ext uri="{FF2B5EF4-FFF2-40B4-BE49-F238E27FC236}">
                <a16:creationId xmlns:a16="http://schemas.microsoft.com/office/drawing/2014/main" id="{C124E049-2980-4C97-B979-42D5AA7E1043}"/>
              </a:ext>
            </a:extLst>
          </p:cNvPr>
          <p:cNvSpPr/>
          <p:nvPr/>
        </p:nvSpPr>
        <p:spPr>
          <a:xfrm>
            <a:off x="2484120" y="5319635"/>
            <a:ext cx="1463040" cy="164592"/>
          </a:xfrm>
          <a:prstGeom prst="rect">
            <a:avLst/>
          </a:prstGeom>
          <a:solidFill>
            <a:srgbClr val="3A8F5C"/>
          </a:solidFill>
          <a:ln>
            <a:noFill/>
          </a:ln>
        </p:spPr>
        <p:txBody>
          <a:bodyPr/>
          <a:lstStyle/>
          <a:p>
            <a:endParaRPr lang="zh-CN" altLang="en-US"/>
          </a:p>
        </p:txBody>
      </p:sp>
      <p:sp>
        <p:nvSpPr>
          <p:cNvPr id="77" name="Text">
            <a:extLst>
              <a:ext uri="{FF2B5EF4-FFF2-40B4-BE49-F238E27FC236}">
                <a16:creationId xmlns:a16="http://schemas.microsoft.com/office/drawing/2014/main" id="{F9A91FAE-D381-4D52-80BB-95C9551F9192}"/>
              </a:ext>
            </a:extLst>
          </p:cNvPr>
          <p:cNvSpPr txBox="1"/>
          <p:nvPr/>
        </p:nvSpPr>
        <p:spPr>
          <a:xfrm>
            <a:off x="8473440" y="5273915"/>
            <a:ext cx="914400" cy="228600"/>
          </a:xfrm>
          <a:prstGeom prst="rect">
            <a:avLst/>
          </a:prstGeom>
          <a:noFill/>
          <a:ln>
            <a:noFill/>
          </a:ln>
        </p:spPr>
        <p:txBody>
          <a:bodyPr wrap="square" lIns="60000" tIns="40000" rIns="60000" bIns="40000" anchor="t"/>
          <a:lstStyle/>
          <a:p>
            <a:pPr algn="l"/>
            <a:r>
              <a:rPr lang="zh-CN" sz="1100" b="1">
                <a:solidFill>
                  <a:srgbClr val="1C2530"/>
                </a:solidFill>
                <a:latin typeface="Microsoft YaHei"/>
                <a:ea typeface="Microsoft YaHei"/>
                <a:cs typeface="Microsoft YaHei"/>
              </a:rPr>
              <a:t>15学分</a:t>
            </a:r>
          </a:p>
        </p:txBody>
      </p:sp>
      <p:sp>
        <p:nvSpPr>
          <p:cNvPr id="79" name="Text">
            <a:extLst>
              <a:ext uri="{FF2B5EF4-FFF2-40B4-BE49-F238E27FC236}">
                <a16:creationId xmlns:a16="http://schemas.microsoft.com/office/drawing/2014/main" id="{0AB4663C-A97C-4FB0-AF63-DE64F300BF89}"/>
              </a:ext>
            </a:extLst>
          </p:cNvPr>
          <p:cNvSpPr txBox="1"/>
          <p:nvPr/>
        </p:nvSpPr>
        <p:spPr>
          <a:xfrm>
            <a:off x="929640" y="5676251"/>
            <a:ext cx="1325880" cy="228600"/>
          </a:xfrm>
          <a:prstGeom prst="rect">
            <a:avLst/>
          </a:prstGeom>
          <a:noFill/>
          <a:ln>
            <a:noFill/>
          </a:ln>
        </p:spPr>
        <p:txBody>
          <a:bodyPr wrap="square" lIns="60000" tIns="40000" rIns="60000" bIns="40000" anchor="t"/>
          <a:lstStyle/>
          <a:p>
            <a:pPr algn="r"/>
            <a:r>
              <a:rPr lang="zh-CN" sz="1150">
                <a:solidFill>
                  <a:srgbClr val="5B677A"/>
                </a:solidFill>
                <a:latin typeface="Microsoft YaHei"/>
                <a:ea typeface="Microsoft YaHei"/>
                <a:cs typeface="Microsoft YaHei"/>
              </a:rPr>
              <a:t>创新创业</a:t>
            </a:r>
          </a:p>
        </p:txBody>
      </p:sp>
      <p:sp>
        <p:nvSpPr>
          <p:cNvPr id="80" name="Shape">
            <a:extLst>
              <a:ext uri="{FF2B5EF4-FFF2-40B4-BE49-F238E27FC236}">
                <a16:creationId xmlns:a16="http://schemas.microsoft.com/office/drawing/2014/main" id="{61118F6A-300F-4FF5-B1C9-B332B662BB5C}"/>
              </a:ext>
            </a:extLst>
          </p:cNvPr>
          <p:cNvSpPr/>
          <p:nvPr/>
        </p:nvSpPr>
        <p:spPr>
          <a:xfrm>
            <a:off x="2484120" y="5712827"/>
            <a:ext cx="5852160" cy="164592"/>
          </a:xfrm>
          <a:prstGeom prst="rect">
            <a:avLst/>
          </a:prstGeom>
          <a:solidFill>
            <a:srgbClr val="D9E1EC"/>
          </a:solidFill>
          <a:ln>
            <a:noFill/>
          </a:ln>
        </p:spPr>
        <p:txBody>
          <a:bodyPr/>
          <a:lstStyle/>
          <a:p>
            <a:endParaRPr lang="zh-CN" altLang="en-US"/>
          </a:p>
        </p:txBody>
      </p:sp>
      <p:sp>
        <p:nvSpPr>
          <p:cNvPr id="81" name="Shape">
            <a:extLst>
              <a:ext uri="{FF2B5EF4-FFF2-40B4-BE49-F238E27FC236}">
                <a16:creationId xmlns:a16="http://schemas.microsoft.com/office/drawing/2014/main" id="{A1590DF4-561C-42EB-A81A-EF50D310435C}"/>
              </a:ext>
            </a:extLst>
          </p:cNvPr>
          <p:cNvSpPr/>
          <p:nvPr/>
        </p:nvSpPr>
        <p:spPr>
          <a:xfrm>
            <a:off x="2484120" y="5712827"/>
            <a:ext cx="292608" cy="164592"/>
          </a:xfrm>
          <a:prstGeom prst="rect">
            <a:avLst/>
          </a:prstGeom>
          <a:solidFill>
            <a:srgbClr val="D9A441"/>
          </a:solidFill>
          <a:ln>
            <a:noFill/>
          </a:ln>
        </p:spPr>
        <p:txBody>
          <a:bodyPr/>
          <a:lstStyle/>
          <a:p>
            <a:endParaRPr lang="zh-CN" altLang="en-US"/>
          </a:p>
        </p:txBody>
      </p:sp>
      <p:sp>
        <p:nvSpPr>
          <p:cNvPr id="82" name="Text">
            <a:extLst>
              <a:ext uri="{FF2B5EF4-FFF2-40B4-BE49-F238E27FC236}">
                <a16:creationId xmlns:a16="http://schemas.microsoft.com/office/drawing/2014/main" id="{1C4633F0-B351-4EDA-942C-B08760910A8A}"/>
              </a:ext>
            </a:extLst>
          </p:cNvPr>
          <p:cNvSpPr txBox="1"/>
          <p:nvPr/>
        </p:nvSpPr>
        <p:spPr>
          <a:xfrm>
            <a:off x="8473440" y="5667107"/>
            <a:ext cx="914400" cy="228600"/>
          </a:xfrm>
          <a:prstGeom prst="rect">
            <a:avLst/>
          </a:prstGeom>
          <a:noFill/>
          <a:ln>
            <a:noFill/>
          </a:ln>
        </p:spPr>
        <p:txBody>
          <a:bodyPr wrap="square" lIns="60000" tIns="40000" rIns="60000" bIns="40000" anchor="t"/>
          <a:lstStyle/>
          <a:p>
            <a:pPr algn="l"/>
            <a:r>
              <a:rPr lang="zh-CN" sz="1100" b="1">
                <a:solidFill>
                  <a:srgbClr val="1C2530"/>
                </a:solidFill>
                <a:latin typeface="Microsoft YaHei"/>
                <a:ea typeface="Microsoft YaHei"/>
                <a:cs typeface="Microsoft YaHei"/>
              </a:rPr>
              <a:t>3学分</a:t>
            </a:r>
          </a:p>
        </p:txBody>
      </p:sp>
      <p:sp>
        <p:nvSpPr>
          <p:cNvPr id="83" name="Text">
            <a:extLst>
              <a:ext uri="{FF2B5EF4-FFF2-40B4-BE49-F238E27FC236}">
                <a16:creationId xmlns:a16="http://schemas.microsoft.com/office/drawing/2014/main" id="{BB53C545-340C-49F3-905A-37A22DD68B07}"/>
              </a:ext>
            </a:extLst>
          </p:cNvPr>
          <p:cNvSpPr txBox="1"/>
          <p:nvPr/>
        </p:nvSpPr>
        <p:spPr>
          <a:xfrm>
            <a:off x="929640" y="6069443"/>
            <a:ext cx="1325880" cy="228600"/>
          </a:xfrm>
          <a:prstGeom prst="rect">
            <a:avLst/>
          </a:prstGeom>
          <a:noFill/>
          <a:ln>
            <a:noFill/>
          </a:ln>
        </p:spPr>
        <p:txBody>
          <a:bodyPr wrap="square" lIns="60000" tIns="40000" rIns="60000" bIns="40000" anchor="t"/>
          <a:lstStyle/>
          <a:p>
            <a:pPr algn="r"/>
            <a:r>
              <a:rPr lang="zh-CN" sz="1150">
                <a:solidFill>
                  <a:srgbClr val="5B677A"/>
                </a:solidFill>
                <a:latin typeface="Microsoft YaHei"/>
                <a:ea typeface="Microsoft YaHei"/>
                <a:cs typeface="Microsoft YaHei"/>
              </a:rPr>
              <a:t>毕业设计</a:t>
            </a:r>
          </a:p>
        </p:txBody>
      </p:sp>
      <p:sp>
        <p:nvSpPr>
          <p:cNvPr id="84" name="Shape">
            <a:extLst>
              <a:ext uri="{FF2B5EF4-FFF2-40B4-BE49-F238E27FC236}">
                <a16:creationId xmlns:a16="http://schemas.microsoft.com/office/drawing/2014/main" id="{0034C010-0B3F-4DCF-AE71-80631C956796}"/>
              </a:ext>
            </a:extLst>
          </p:cNvPr>
          <p:cNvSpPr/>
          <p:nvPr/>
        </p:nvSpPr>
        <p:spPr>
          <a:xfrm>
            <a:off x="2484120" y="6106019"/>
            <a:ext cx="5852160" cy="164592"/>
          </a:xfrm>
          <a:prstGeom prst="rect">
            <a:avLst/>
          </a:prstGeom>
          <a:solidFill>
            <a:srgbClr val="D9E1EC"/>
          </a:solidFill>
          <a:ln>
            <a:noFill/>
          </a:ln>
        </p:spPr>
        <p:txBody>
          <a:bodyPr/>
          <a:lstStyle/>
          <a:p>
            <a:endParaRPr lang="zh-CN" altLang="en-US"/>
          </a:p>
        </p:txBody>
      </p:sp>
      <p:sp>
        <p:nvSpPr>
          <p:cNvPr id="85" name="Shape">
            <a:extLst>
              <a:ext uri="{FF2B5EF4-FFF2-40B4-BE49-F238E27FC236}">
                <a16:creationId xmlns:a16="http://schemas.microsoft.com/office/drawing/2014/main" id="{22B45F31-6D74-4DE5-8BC9-679E29DB9B78}"/>
              </a:ext>
            </a:extLst>
          </p:cNvPr>
          <p:cNvSpPr/>
          <p:nvPr/>
        </p:nvSpPr>
        <p:spPr>
          <a:xfrm>
            <a:off x="2484120" y="6106019"/>
            <a:ext cx="585216" cy="164592"/>
          </a:xfrm>
          <a:prstGeom prst="rect">
            <a:avLst/>
          </a:prstGeom>
          <a:solidFill>
            <a:srgbClr val="15385B"/>
          </a:solidFill>
          <a:ln>
            <a:noFill/>
          </a:ln>
        </p:spPr>
        <p:txBody>
          <a:bodyPr/>
          <a:lstStyle/>
          <a:p>
            <a:endParaRPr lang="zh-CN" altLang="en-US"/>
          </a:p>
        </p:txBody>
      </p:sp>
      <p:sp>
        <p:nvSpPr>
          <p:cNvPr id="86" name="Text">
            <a:extLst>
              <a:ext uri="{FF2B5EF4-FFF2-40B4-BE49-F238E27FC236}">
                <a16:creationId xmlns:a16="http://schemas.microsoft.com/office/drawing/2014/main" id="{7E46983F-6DE3-4BE5-A5B7-0BC693C94408}"/>
              </a:ext>
            </a:extLst>
          </p:cNvPr>
          <p:cNvSpPr txBox="1"/>
          <p:nvPr/>
        </p:nvSpPr>
        <p:spPr>
          <a:xfrm>
            <a:off x="8473440" y="6060299"/>
            <a:ext cx="914400" cy="228600"/>
          </a:xfrm>
          <a:prstGeom prst="rect">
            <a:avLst/>
          </a:prstGeom>
          <a:noFill/>
          <a:ln>
            <a:noFill/>
          </a:ln>
        </p:spPr>
        <p:txBody>
          <a:bodyPr wrap="square" lIns="60000" tIns="40000" rIns="60000" bIns="40000" anchor="t"/>
          <a:lstStyle/>
          <a:p>
            <a:pPr algn="l"/>
            <a:r>
              <a:rPr lang="zh-CN" sz="1100" b="1">
                <a:solidFill>
                  <a:srgbClr val="1C2530"/>
                </a:solidFill>
                <a:latin typeface="Microsoft YaHei"/>
                <a:ea typeface="Microsoft YaHei"/>
                <a:cs typeface="Microsoft YaHei"/>
              </a:rPr>
              <a:t>6学分</a:t>
            </a:r>
          </a:p>
        </p:txBody>
      </p:sp>
      <p:sp>
        <p:nvSpPr>
          <p:cNvPr id="87" name="Card 设计原则">
            <a:extLst>
              <a:ext uri="{FF2B5EF4-FFF2-40B4-BE49-F238E27FC236}">
                <a16:creationId xmlns:a16="http://schemas.microsoft.com/office/drawing/2014/main" id="{3D6CC525-FC52-4BEE-9B0E-E465E523F658}"/>
              </a:ext>
            </a:extLst>
          </p:cNvPr>
          <p:cNvSpPr/>
          <p:nvPr/>
        </p:nvSpPr>
        <p:spPr>
          <a:xfrm>
            <a:off x="8427720" y="4094338"/>
            <a:ext cx="2834640" cy="2273917"/>
          </a:xfrm>
          <a:prstGeom prst="roundRect">
            <a:avLst/>
          </a:prstGeom>
          <a:solidFill>
            <a:srgbClr val="FCEDEE"/>
          </a:solidFill>
          <a:ln w="12700">
            <a:solidFill>
              <a:srgbClr val="D9E1EC"/>
            </a:solidFill>
          </a:ln>
        </p:spPr>
        <p:txBody>
          <a:bodyPr/>
          <a:lstStyle/>
          <a:p>
            <a:endParaRPr lang="zh-CN" altLang="en-US"/>
          </a:p>
        </p:txBody>
      </p:sp>
      <p:sp>
        <p:nvSpPr>
          <p:cNvPr id="88" name="Line">
            <a:extLst>
              <a:ext uri="{FF2B5EF4-FFF2-40B4-BE49-F238E27FC236}">
                <a16:creationId xmlns:a16="http://schemas.microsoft.com/office/drawing/2014/main" id="{DD2BD5A0-4D59-4EAA-872A-C19342383919}"/>
              </a:ext>
            </a:extLst>
          </p:cNvPr>
          <p:cNvSpPr/>
          <p:nvPr/>
        </p:nvSpPr>
        <p:spPr>
          <a:xfrm>
            <a:off x="8427720" y="4094339"/>
            <a:ext cx="73152" cy="2011680"/>
          </a:xfrm>
          <a:prstGeom prst="rect">
            <a:avLst/>
          </a:prstGeom>
          <a:solidFill>
            <a:srgbClr val="C5282F"/>
          </a:solidFill>
          <a:ln>
            <a:noFill/>
          </a:ln>
        </p:spPr>
        <p:txBody>
          <a:bodyPr/>
          <a:lstStyle/>
          <a:p>
            <a:endParaRPr lang="zh-CN" altLang="en-US"/>
          </a:p>
        </p:txBody>
      </p:sp>
      <p:sp>
        <p:nvSpPr>
          <p:cNvPr id="89" name="Text">
            <a:extLst>
              <a:ext uri="{FF2B5EF4-FFF2-40B4-BE49-F238E27FC236}">
                <a16:creationId xmlns:a16="http://schemas.microsoft.com/office/drawing/2014/main" id="{96A60F96-B5D3-4ED1-A27D-8912F1346CE2}"/>
              </a:ext>
            </a:extLst>
          </p:cNvPr>
          <p:cNvSpPr txBox="1"/>
          <p:nvPr/>
        </p:nvSpPr>
        <p:spPr>
          <a:xfrm>
            <a:off x="8592312" y="4204067"/>
            <a:ext cx="2542032" cy="292608"/>
          </a:xfrm>
          <a:prstGeom prst="rect">
            <a:avLst/>
          </a:prstGeom>
          <a:noFill/>
          <a:ln>
            <a:noFill/>
          </a:ln>
        </p:spPr>
        <p:txBody>
          <a:bodyPr wrap="square" lIns="60000" tIns="40000" rIns="60000" bIns="40000" anchor="t"/>
          <a:lstStyle/>
          <a:p>
            <a:pPr algn="l"/>
            <a:r>
              <a:rPr lang="zh-CN" sz="2000" b="1">
                <a:solidFill>
                  <a:srgbClr val="C5282F"/>
                </a:solidFill>
                <a:latin typeface="Microsoft YaHei"/>
                <a:ea typeface="Microsoft YaHei"/>
                <a:cs typeface="Microsoft YaHei"/>
              </a:rPr>
              <a:t>设计原则</a:t>
            </a:r>
          </a:p>
        </p:txBody>
      </p:sp>
      <p:sp>
        <p:nvSpPr>
          <p:cNvPr id="90" name="Text">
            <a:extLst>
              <a:ext uri="{FF2B5EF4-FFF2-40B4-BE49-F238E27FC236}">
                <a16:creationId xmlns:a16="http://schemas.microsoft.com/office/drawing/2014/main" id="{A3CC7DF1-0C98-4BBA-9301-2FD3ED033035}"/>
              </a:ext>
            </a:extLst>
          </p:cNvPr>
          <p:cNvSpPr txBox="1"/>
          <p:nvPr/>
        </p:nvSpPr>
        <p:spPr>
          <a:xfrm>
            <a:off x="8612124" y="4729847"/>
            <a:ext cx="2505456" cy="1444752"/>
          </a:xfrm>
          <a:prstGeom prst="rect">
            <a:avLst/>
          </a:prstGeom>
          <a:noFill/>
          <a:ln>
            <a:noFill/>
          </a:ln>
        </p:spPr>
        <p:txBody>
          <a:bodyPr wrap="square" lIns="60000" tIns="40000" rIns="60000" bIns="40000" anchor="t"/>
          <a:lstStyle/>
          <a:p>
            <a:pPr marL="230000" indent="-120000" algn="l">
              <a:buFont typeface="Arial"/>
              <a:buChar char="•"/>
            </a:pPr>
            <a:r>
              <a:rPr lang="zh-CN" sz="1400" b="1">
                <a:solidFill>
                  <a:srgbClr val="5B677A"/>
                </a:solidFill>
                <a:latin typeface="Microsoft YaHei"/>
                <a:ea typeface="Microsoft YaHei"/>
                <a:cs typeface="Microsoft YaHei"/>
              </a:rPr>
              <a:t>通识与思政夯实价值和基础</a:t>
            </a:r>
          </a:p>
          <a:p>
            <a:pPr marL="230000" indent="-120000" algn="l">
              <a:buFont typeface="Arial"/>
              <a:buChar char="•"/>
            </a:pPr>
            <a:r>
              <a:rPr lang="zh-CN" sz="1400" b="1">
                <a:solidFill>
                  <a:srgbClr val="5B677A"/>
                </a:solidFill>
                <a:latin typeface="Microsoft YaHei"/>
                <a:ea typeface="Microsoft YaHei"/>
                <a:cs typeface="Microsoft YaHei"/>
              </a:rPr>
              <a:t>专业核心承载双主干培养</a:t>
            </a:r>
          </a:p>
          <a:p>
            <a:pPr marL="230000" indent="-120000" algn="l">
              <a:buFont typeface="Arial"/>
              <a:buChar char="•"/>
            </a:pPr>
            <a:r>
              <a:rPr lang="zh-CN" sz="1400" b="1">
                <a:solidFill>
                  <a:srgbClr val="5B677A"/>
                </a:solidFill>
                <a:latin typeface="Microsoft YaHei"/>
                <a:ea typeface="Microsoft YaHei"/>
                <a:cs typeface="Microsoft YaHei"/>
              </a:rPr>
              <a:t>实践环节面向真实教育场景</a:t>
            </a:r>
          </a:p>
          <a:p>
            <a:pPr marL="230000" indent="-120000" algn="l">
              <a:buFont typeface="Arial"/>
              <a:buChar char="•"/>
            </a:pPr>
            <a:r>
              <a:rPr lang="zh-CN" sz="1400" b="1">
                <a:solidFill>
                  <a:srgbClr val="5B677A"/>
                </a:solidFill>
                <a:latin typeface="Microsoft YaHei"/>
                <a:ea typeface="Microsoft YaHei"/>
                <a:cs typeface="Microsoft YaHei"/>
              </a:rPr>
              <a:t>毕业设计实行双导师把关</a:t>
            </a:r>
          </a:p>
        </p:txBody>
      </p:sp>
    </p:spTree>
    <p:extLst>
      <p:ext uri="{BB962C8B-B14F-4D97-AF65-F5344CB8AC3E}">
        <p14:creationId xmlns:p14="http://schemas.microsoft.com/office/powerpoint/2010/main" val="16861933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Shape">
            <a:extLst>
              <a:ext uri="{FF2B5EF4-FFF2-40B4-BE49-F238E27FC236}">
                <a16:creationId xmlns:a16="http://schemas.microsoft.com/office/drawing/2014/main" id="{193EF610-4330-4C7B-87C8-10DA66262EB7}"/>
              </a:ext>
            </a:extLst>
          </p:cNvPr>
          <p:cNvSpPr/>
          <p:nvPr/>
        </p:nvSpPr>
        <p:spPr>
          <a:xfrm>
            <a:off x="667512" y="6396334"/>
            <a:ext cx="3317748" cy="379445"/>
          </a:xfrm>
          <a:prstGeom prst="roundRect">
            <a:avLst/>
          </a:prstGeom>
          <a:solidFill>
            <a:srgbClr val="FFFFFF"/>
          </a:solidFill>
          <a:ln w="12700">
            <a:solidFill>
              <a:srgbClr val="D9E1EC"/>
            </a:solidFill>
          </a:ln>
        </p:spPr>
        <p:txBody>
          <a:bodyPr/>
          <a:lstStyle/>
          <a:p>
            <a:endParaRPr lang="zh-CN" altLang="en-US"/>
          </a:p>
        </p:txBody>
      </p:sp>
      <p:pic>
        <p:nvPicPr>
          <p:cNvPr id="23" name="图片 22">
            <a:extLst>
              <a:ext uri="{FF2B5EF4-FFF2-40B4-BE49-F238E27FC236}">
                <a16:creationId xmlns:a16="http://schemas.microsoft.com/office/drawing/2014/main" id="{39AF018C-BD1E-4D1C-A575-89BC7165FB5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189341" y="28710"/>
            <a:ext cx="881729" cy="881729"/>
          </a:xfrm>
          <a:prstGeom prst="rect">
            <a:avLst/>
          </a:prstGeom>
        </p:spPr>
      </p:pic>
      <p:pic>
        <p:nvPicPr>
          <p:cNvPr id="24" name="图片 23">
            <a:extLst>
              <a:ext uri="{FF2B5EF4-FFF2-40B4-BE49-F238E27FC236}">
                <a16:creationId xmlns:a16="http://schemas.microsoft.com/office/drawing/2014/main" id="{118A43A9-C67F-4CB1-B9F4-63E761CBC2D0}"/>
              </a:ext>
            </a:extLst>
          </p:cNvPr>
          <p:cNvPicPr>
            <a:picLocks noChangeAspect="1"/>
          </p:cNvPicPr>
          <p:nvPr/>
        </p:nvPicPr>
        <p:blipFill>
          <a:blip r:embed="rId4" cstate="print">
            <a:extLst>
              <a:ext uri="{28A0092B-C50C-407E-A947-70E740481C1C}">
                <a14:useLocalDpi xmlns:a14="http://schemas.microsoft.com/office/drawing/2010/main" val="0"/>
              </a:ext>
            </a:extLst>
          </a:blip>
          <a:srcRect l="1133" r="1133"/>
          <a:stretch/>
        </p:blipFill>
        <p:spPr>
          <a:xfrm>
            <a:off x="274100" y="75737"/>
            <a:ext cx="802225" cy="806727"/>
          </a:xfrm>
          <a:prstGeom prst="rect">
            <a:avLst/>
          </a:prstGeom>
        </p:spPr>
      </p:pic>
      <p:sp>
        <p:nvSpPr>
          <p:cNvPr id="49" name="文本框 14">
            <a:extLst>
              <a:ext uri="{FF2B5EF4-FFF2-40B4-BE49-F238E27FC236}">
                <a16:creationId xmlns:a16="http://schemas.microsoft.com/office/drawing/2014/main" id="{1468C16D-84D0-4B5D-92BA-1BB4D58F722E}"/>
              </a:ext>
            </a:extLst>
          </p:cNvPr>
          <p:cNvSpPr txBox="1"/>
          <p:nvPr/>
        </p:nvSpPr>
        <p:spPr>
          <a:xfrm>
            <a:off x="0" y="1059901"/>
            <a:ext cx="12191999" cy="707886"/>
          </a:xfrm>
          <a:prstGeom prst="rect">
            <a:avLst/>
          </a:prstGeom>
          <a:noFill/>
        </p:spPr>
        <p:txBody>
          <a:bodyPr wrap="square" rtlCol="0">
            <a:spAutoFit/>
          </a:bodyPr>
          <a:lstStyle/>
          <a:p>
            <a:pPr algn="ctr"/>
            <a:r>
              <a:rPr lang="zh-CN" altLang="en-US" sz="2000" b="1" dirty="0">
                <a:solidFill>
                  <a:prstClr val="white"/>
                </a:solidFill>
                <a:latin typeface="Arial"/>
                <a:ea typeface="微软雅黑"/>
              </a:rPr>
              <a:t>教育学</a:t>
            </a:r>
            <a:r>
              <a:rPr lang="en-US" altLang="zh-CN" sz="2000" b="1" dirty="0">
                <a:solidFill>
                  <a:prstClr val="white"/>
                </a:solidFill>
                <a:latin typeface="Arial"/>
                <a:ea typeface="微软雅黑"/>
              </a:rPr>
              <a:t>+</a:t>
            </a:r>
            <a:r>
              <a:rPr lang="zh-CN" altLang="en-US" sz="2000" b="1" dirty="0">
                <a:solidFill>
                  <a:prstClr val="white"/>
                </a:solidFill>
                <a:latin typeface="Arial"/>
                <a:ea typeface="微软雅黑"/>
              </a:rPr>
              <a:t>人工智能”双学士学位复合型人才培养项目</a:t>
            </a:r>
            <a:endParaRPr lang="en-US" altLang="zh-CN" sz="2000" b="1" dirty="0">
              <a:solidFill>
                <a:prstClr val="white"/>
              </a:solidFill>
              <a:latin typeface="Arial"/>
              <a:ea typeface="微软雅黑"/>
            </a:endParaRPr>
          </a:p>
          <a:p>
            <a:pPr algn="just"/>
            <a:endParaRPr lang="zh-CN" altLang="en-US" sz="2000" b="1" dirty="0">
              <a:solidFill>
                <a:prstClr val="white"/>
              </a:solidFill>
              <a:latin typeface="Arial"/>
              <a:ea typeface="微软雅黑"/>
            </a:endParaRPr>
          </a:p>
        </p:txBody>
      </p:sp>
      <p:sp>
        <p:nvSpPr>
          <p:cNvPr id="25" name="文本框 24">
            <a:extLst>
              <a:ext uri="{FF2B5EF4-FFF2-40B4-BE49-F238E27FC236}">
                <a16:creationId xmlns:a16="http://schemas.microsoft.com/office/drawing/2014/main" id="{D2B29A73-493F-45ED-A593-8D7573299A30}"/>
              </a:ext>
            </a:extLst>
          </p:cNvPr>
          <p:cNvSpPr txBox="1"/>
          <p:nvPr/>
        </p:nvSpPr>
        <p:spPr>
          <a:xfrm>
            <a:off x="6313868" y="337344"/>
            <a:ext cx="6157730" cy="406971"/>
          </a:xfrm>
          <a:prstGeom prst="rect">
            <a:avLst/>
          </a:prstGeom>
          <a:noFill/>
        </p:spPr>
        <p:txBody>
          <a:bodyPr wrap="square">
            <a:spAutoFit/>
          </a:bodyPr>
          <a:lstStyle/>
          <a:p>
            <a:pPr algn="ctr" defTabSz="342900">
              <a:lnSpc>
                <a:spcPct val="125000"/>
              </a:lnSpc>
            </a:pPr>
            <a:endParaRPr lang="en-US" altLang="zh-CN" b="1">
              <a:latin typeface="微软雅黑" pitchFamily="34" charset="-122"/>
              <a:ea typeface="微软雅黑" pitchFamily="34" charset="-122"/>
              <a:cs typeface="Calibri" charset="0"/>
            </a:endParaRPr>
          </a:p>
        </p:txBody>
      </p:sp>
      <p:sp>
        <p:nvSpPr>
          <p:cNvPr id="26" name="文本框 11">
            <a:extLst>
              <a:ext uri="{FF2B5EF4-FFF2-40B4-BE49-F238E27FC236}">
                <a16:creationId xmlns:a16="http://schemas.microsoft.com/office/drawing/2014/main" id="{D7D3FDA0-EE55-4DA0-9A6C-9EE877927692}"/>
              </a:ext>
            </a:extLst>
          </p:cNvPr>
          <p:cNvSpPr txBox="1"/>
          <p:nvPr/>
        </p:nvSpPr>
        <p:spPr>
          <a:xfrm>
            <a:off x="1975284" y="1632283"/>
            <a:ext cx="498855"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400" b="0"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rPr>
              <a:t>1</a:t>
            </a:r>
            <a:endParaRPr kumimoji="0" lang="zh-CN" altLang="en-US" sz="4400" b="0"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27" name="文本框 12">
            <a:extLst>
              <a:ext uri="{FF2B5EF4-FFF2-40B4-BE49-F238E27FC236}">
                <a16:creationId xmlns:a16="http://schemas.microsoft.com/office/drawing/2014/main" id="{68A62499-6F06-4E26-845E-7CA94DC6CE82}"/>
              </a:ext>
            </a:extLst>
          </p:cNvPr>
          <p:cNvSpPr txBox="1"/>
          <p:nvPr/>
        </p:nvSpPr>
        <p:spPr>
          <a:xfrm>
            <a:off x="359003" y="1760040"/>
            <a:ext cx="8435041" cy="461665"/>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
                <a:srgbClr val="C00000"/>
              </a:buClr>
              <a:buSzTx/>
              <a:buFont typeface="Wingdings" panose="05000000000000000000" pitchFamily="2" charset="2"/>
              <a:buChar char="p"/>
              <a:tabLst/>
              <a:defRPr/>
            </a:pPr>
            <a:r>
              <a:rPr lang="zh-CN" altLang="en-US" sz="2400" b="1" kern="0" dirty="0">
                <a:solidFill>
                  <a:srgbClr val="004E86"/>
                </a:solidFill>
                <a:latin typeface="微软雅黑" panose="020B0503020204020204" pitchFamily="34" charset="-122"/>
                <a:ea typeface="微软雅黑" panose="020B0503020204020204" pitchFamily="34" charset="-122"/>
              </a:rPr>
              <a:t>通识与思政课程模块：强化价值塑造与数理、计算机基础</a:t>
            </a:r>
          </a:p>
        </p:txBody>
      </p:sp>
      <p:sp>
        <p:nvSpPr>
          <p:cNvPr id="18" name="文本框 17">
            <a:extLst>
              <a:ext uri="{FF2B5EF4-FFF2-40B4-BE49-F238E27FC236}">
                <a16:creationId xmlns:a16="http://schemas.microsoft.com/office/drawing/2014/main" id="{4C0D621A-BA30-4D0D-AE75-F1251D29CFDC}"/>
              </a:ext>
            </a:extLst>
          </p:cNvPr>
          <p:cNvSpPr txBox="1"/>
          <p:nvPr/>
        </p:nvSpPr>
        <p:spPr>
          <a:xfrm>
            <a:off x="6269498" y="489744"/>
            <a:ext cx="6157730" cy="406971"/>
          </a:xfrm>
          <a:prstGeom prst="rect">
            <a:avLst/>
          </a:prstGeom>
          <a:noFill/>
        </p:spPr>
        <p:txBody>
          <a:bodyPr wrap="square">
            <a:spAutoFit/>
          </a:bodyPr>
          <a:lstStyle/>
          <a:p>
            <a:pPr algn="ctr" defTabSz="342900">
              <a:lnSpc>
                <a:spcPct val="125000"/>
              </a:lnSpc>
            </a:pPr>
            <a:r>
              <a:rPr lang="zh-CN" altLang="en-US" b="1">
                <a:latin typeface="微软雅黑" pitchFamily="34" charset="-122"/>
                <a:ea typeface="微软雅黑" pitchFamily="34" charset="-122"/>
                <a:cs typeface="Calibri" charset="0"/>
              </a:rPr>
              <a:t>“教育学</a:t>
            </a:r>
            <a:r>
              <a:rPr lang="en-US" altLang="zh-CN" b="1">
                <a:latin typeface="微软雅黑" pitchFamily="34" charset="-122"/>
                <a:ea typeface="微软雅黑" pitchFamily="34" charset="-122"/>
                <a:cs typeface="Calibri" charset="0"/>
              </a:rPr>
              <a:t>+</a:t>
            </a:r>
            <a:r>
              <a:rPr lang="zh-CN" altLang="en-US" b="1">
                <a:latin typeface="微软雅黑" pitchFamily="34" charset="-122"/>
                <a:ea typeface="微软雅黑" pitchFamily="34" charset="-122"/>
                <a:cs typeface="Calibri" charset="0"/>
              </a:rPr>
              <a:t>人工智能”双学士学位复合型人才培养项目</a:t>
            </a:r>
            <a:endParaRPr lang="en-US" altLang="zh-CN" b="1">
              <a:latin typeface="微软雅黑" pitchFamily="34" charset="-122"/>
              <a:ea typeface="微软雅黑" pitchFamily="34" charset="-122"/>
              <a:cs typeface="Calibri" charset="0"/>
            </a:endParaRPr>
          </a:p>
        </p:txBody>
      </p:sp>
      <p:pic>
        <p:nvPicPr>
          <p:cNvPr id="19" name="图片 18">
            <a:extLst>
              <a:ext uri="{FF2B5EF4-FFF2-40B4-BE49-F238E27FC236}">
                <a16:creationId xmlns:a16="http://schemas.microsoft.com/office/drawing/2014/main" id="{2789922A-A52A-4C45-996A-7D753E2EE34A}"/>
              </a:ext>
            </a:extLst>
          </p:cNvPr>
          <p:cNvPicPr/>
          <p:nvPr/>
        </p:nvPicPr>
        <p:blipFill rotWithShape="1">
          <a:blip r:embed="rId5"/>
          <a:srcRect l="440" t="646" r="468"/>
          <a:stretch/>
        </p:blipFill>
        <p:spPr bwMode="auto">
          <a:xfrm>
            <a:off x="5436096" y="2221706"/>
            <a:ext cx="6558405" cy="4100154"/>
          </a:xfrm>
          <a:prstGeom prst="rect">
            <a:avLst/>
          </a:prstGeom>
          <a:ln>
            <a:noFill/>
          </a:ln>
          <a:effectLst>
            <a:softEdge rad="31750"/>
          </a:effectLst>
          <a:extLst>
            <a:ext uri="{53640926-AAD7-44D8-BBD7-CCE9431645EC}">
              <a14:shadowObscured xmlns:a14="http://schemas.microsoft.com/office/drawing/2010/main"/>
            </a:ext>
          </a:extLst>
        </p:spPr>
      </p:pic>
      <p:sp>
        <p:nvSpPr>
          <p:cNvPr id="28" name="矩形 27">
            <a:extLst>
              <a:ext uri="{FF2B5EF4-FFF2-40B4-BE49-F238E27FC236}">
                <a16:creationId xmlns:a16="http://schemas.microsoft.com/office/drawing/2014/main" id="{DA8B9BD3-7DA8-4891-9525-CB8E1BE83455}"/>
              </a:ext>
            </a:extLst>
          </p:cNvPr>
          <p:cNvSpPr/>
          <p:nvPr/>
        </p:nvSpPr>
        <p:spPr>
          <a:xfrm>
            <a:off x="0" y="924560"/>
            <a:ext cx="12192000" cy="665627"/>
          </a:xfrm>
          <a:prstGeom prst="rect">
            <a:avLst/>
          </a:prstGeom>
          <a:solidFill>
            <a:srgbClr val="4472C4">
              <a:lumMod val="50000"/>
            </a:srgbClr>
          </a:solidFill>
          <a:ln w="12700" cap="flat" cmpd="sng" algn="ctr">
            <a:solidFill>
              <a:srgbClr val="4472C4">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a:ea typeface="微软雅黑"/>
              <a:cs typeface="+mn-cs"/>
            </a:endParaRPr>
          </a:p>
        </p:txBody>
      </p:sp>
      <p:sp>
        <p:nvSpPr>
          <p:cNvPr id="31" name="矩形 30">
            <a:extLst>
              <a:ext uri="{FF2B5EF4-FFF2-40B4-BE49-F238E27FC236}">
                <a16:creationId xmlns:a16="http://schemas.microsoft.com/office/drawing/2014/main" id="{C87D22E5-9F4D-4432-84AE-1A51E7781D47}"/>
              </a:ext>
            </a:extLst>
          </p:cNvPr>
          <p:cNvSpPr/>
          <p:nvPr/>
        </p:nvSpPr>
        <p:spPr>
          <a:xfrm>
            <a:off x="2499359" y="924560"/>
            <a:ext cx="2152843" cy="665627"/>
          </a:xfrm>
          <a:prstGeom prst="rect">
            <a:avLst/>
          </a:prstGeom>
          <a:solidFill>
            <a:srgbClr val="FF9900"/>
          </a:solidFill>
          <a:ln w="12700" cap="flat" cmpd="sng" algn="ctr">
            <a:solidFill>
              <a:srgbClr val="FF99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Arial"/>
              <a:ea typeface="微软雅黑"/>
              <a:cs typeface="+mn-cs"/>
            </a:endParaRPr>
          </a:p>
        </p:txBody>
      </p:sp>
      <p:sp>
        <p:nvSpPr>
          <p:cNvPr id="32" name="文本框 14">
            <a:extLst>
              <a:ext uri="{FF2B5EF4-FFF2-40B4-BE49-F238E27FC236}">
                <a16:creationId xmlns:a16="http://schemas.microsoft.com/office/drawing/2014/main" id="{D0BBCC9C-2428-4175-8157-582BFABE6A60}"/>
              </a:ext>
            </a:extLst>
          </p:cNvPr>
          <p:cNvSpPr txBox="1"/>
          <p:nvPr/>
        </p:nvSpPr>
        <p:spPr>
          <a:xfrm>
            <a:off x="359003" y="1107051"/>
            <a:ext cx="1793840" cy="369332"/>
          </a:xfrm>
          <a:prstGeom prst="rect">
            <a:avLst/>
          </a:prstGeom>
          <a:noFill/>
        </p:spPr>
        <p:txBody>
          <a:bodyPr wrap="square" rtlCol="0">
            <a:spAutoFit/>
          </a:bodyPr>
          <a:lstStyle/>
          <a:p>
            <a:pPr algn="just"/>
            <a:r>
              <a:rPr lang="zh-CN" altLang="en-US" b="1">
                <a:solidFill>
                  <a:prstClr val="white"/>
                </a:solidFill>
                <a:latin typeface="Arial"/>
                <a:ea typeface="微软雅黑"/>
              </a:rPr>
              <a:t>一  总体思路</a:t>
            </a:r>
            <a:endParaRPr lang="zh-CN" altLang="en-US" b="1" dirty="0">
              <a:solidFill>
                <a:prstClr val="white"/>
              </a:solidFill>
              <a:latin typeface="Arial"/>
              <a:ea typeface="微软雅黑"/>
            </a:endParaRPr>
          </a:p>
        </p:txBody>
      </p:sp>
      <p:sp>
        <p:nvSpPr>
          <p:cNvPr id="33" name="文本框 14">
            <a:extLst>
              <a:ext uri="{FF2B5EF4-FFF2-40B4-BE49-F238E27FC236}">
                <a16:creationId xmlns:a16="http://schemas.microsoft.com/office/drawing/2014/main" id="{402BEFC2-BD2D-41F4-9AE2-AEAE02836E95}"/>
              </a:ext>
            </a:extLst>
          </p:cNvPr>
          <p:cNvSpPr txBox="1"/>
          <p:nvPr/>
        </p:nvSpPr>
        <p:spPr>
          <a:xfrm>
            <a:off x="2642427" y="1107051"/>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二  课程体系实施</a:t>
            </a:r>
            <a:endParaRPr lang="zh-CN" altLang="en-US" b="1" dirty="0">
              <a:solidFill>
                <a:prstClr val="white"/>
              </a:solidFill>
              <a:latin typeface="Arial"/>
              <a:ea typeface="微软雅黑"/>
            </a:endParaRPr>
          </a:p>
        </p:txBody>
      </p:sp>
      <p:sp>
        <p:nvSpPr>
          <p:cNvPr id="34" name="文本框 14">
            <a:extLst>
              <a:ext uri="{FF2B5EF4-FFF2-40B4-BE49-F238E27FC236}">
                <a16:creationId xmlns:a16="http://schemas.microsoft.com/office/drawing/2014/main" id="{A540E74C-8069-4EA9-9316-12C80E406BF5}"/>
              </a:ext>
            </a:extLst>
          </p:cNvPr>
          <p:cNvSpPr txBox="1"/>
          <p:nvPr/>
        </p:nvSpPr>
        <p:spPr>
          <a:xfrm>
            <a:off x="5054466" y="1071284"/>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三  实践体系实施</a:t>
            </a:r>
            <a:endParaRPr lang="zh-CN" altLang="en-US" b="1" dirty="0">
              <a:solidFill>
                <a:prstClr val="white"/>
              </a:solidFill>
              <a:latin typeface="Arial"/>
              <a:ea typeface="微软雅黑"/>
            </a:endParaRPr>
          </a:p>
        </p:txBody>
      </p:sp>
      <p:sp>
        <p:nvSpPr>
          <p:cNvPr id="35" name="文本框 14">
            <a:extLst>
              <a:ext uri="{FF2B5EF4-FFF2-40B4-BE49-F238E27FC236}">
                <a16:creationId xmlns:a16="http://schemas.microsoft.com/office/drawing/2014/main" id="{07B36DC3-8A06-4D67-BCC1-E3A0415EF56A}"/>
              </a:ext>
            </a:extLst>
          </p:cNvPr>
          <p:cNvSpPr txBox="1"/>
          <p:nvPr/>
        </p:nvSpPr>
        <p:spPr>
          <a:xfrm>
            <a:off x="7338510" y="1071183"/>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四  导师制与学业指导</a:t>
            </a:r>
            <a:endParaRPr lang="zh-CN" altLang="en-US" b="1" dirty="0">
              <a:solidFill>
                <a:prstClr val="white"/>
              </a:solidFill>
              <a:latin typeface="Arial"/>
              <a:ea typeface="微软雅黑"/>
            </a:endParaRPr>
          </a:p>
        </p:txBody>
      </p:sp>
      <p:sp>
        <p:nvSpPr>
          <p:cNvPr id="36" name="文本框 14">
            <a:extLst>
              <a:ext uri="{FF2B5EF4-FFF2-40B4-BE49-F238E27FC236}">
                <a16:creationId xmlns:a16="http://schemas.microsoft.com/office/drawing/2014/main" id="{50A8FA9F-3086-41DC-A779-2AB55B242086}"/>
              </a:ext>
            </a:extLst>
          </p:cNvPr>
          <p:cNvSpPr txBox="1"/>
          <p:nvPr/>
        </p:nvSpPr>
        <p:spPr>
          <a:xfrm>
            <a:off x="10133884" y="1058701"/>
            <a:ext cx="2058115" cy="369332"/>
          </a:xfrm>
          <a:prstGeom prst="rect">
            <a:avLst/>
          </a:prstGeom>
          <a:noFill/>
        </p:spPr>
        <p:txBody>
          <a:bodyPr wrap="square" rtlCol="0">
            <a:spAutoFit/>
          </a:bodyPr>
          <a:lstStyle/>
          <a:p>
            <a:pPr algn="just"/>
            <a:r>
              <a:rPr lang="zh-CN" altLang="en-US" b="1">
                <a:solidFill>
                  <a:prstClr val="white"/>
                </a:solidFill>
                <a:latin typeface="Arial"/>
                <a:ea typeface="微软雅黑"/>
              </a:rPr>
              <a:t>五  保障机制</a:t>
            </a:r>
            <a:endParaRPr lang="zh-CN" altLang="en-US" b="1" dirty="0">
              <a:solidFill>
                <a:prstClr val="white"/>
              </a:solidFill>
              <a:latin typeface="Arial"/>
              <a:ea typeface="微软雅黑"/>
            </a:endParaRPr>
          </a:p>
        </p:txBody>
      </p:sp>
      <p:grpSp>
        <p:nvGrpSpPr>
          <p:cNvPr id="3" name="组合 2">
            <a:extLst>
              <a:ext uri="{FF2B5EF4-FFF2-40B4-BE49-F238E27FC236}">
                <a16:creationId xmlns:a16="http://schemas.microsoft.com/office/drawing/2014/main" id="{E3BE880E-71D1-4944-AEDB-CBFF4BCEDE7E}"/>
              </a:ext>
            </a:extLst>
          </p:cNvPr>
          <p:cNvGrpSpPr/>
          <p:nvPr/>
        </p:nvGrpSpPr>
        <p:grpSpPr>
          <a:xfrm>
            <a:off x="794519" y="2322227"/>
            <a:ext cx="3536886" cy="1907695"/>
            <a:chOff x="594360" y="2571763"/>
            <a:chExt cx="3536886" cy="1907695"/>
          </a:xfrm>
        </p:grpSpPr>
        <p:grpSp>
          <p:nvGrpSpPr>
            <p:cNvPr id="2" name="组合 1">
              <a:extLst>
                <a:ext uri="{FF2B5EF4-FFF2-40B4-BE49-F238E27FC236}">
                  <a16:creationId xmlns:a16="http://schemas.microsoft.com/office/drawing/2014/main" id="{32535936-AE44-40D9-8285-EB6B19925B0F}"/>
                </a:ext>
              </a:extLst>
            </p:cNvPr>
            <p:cNvGrpSpPr/>
            <p:nvPr/>
          </p:nvGrpSpPr>
          <p:grpSpPr>
            <a:xfrm>
              <a:off x="594360" y="2571763"/>
              <a:ext cx="3536886" cy="1907695"/>
              <a:chOff x="594360" y="2571763"/>
              <a:chExt cx="3536886" cy="1907695"/>
            </a:xfrm>
          </p:grpSpPr>
          <p:sp>
            <p:nvSpPr>
              <p:cNvPr id="17" name="Card 通识与思政模块">
                <a:extLst>
                  <a:ext uri="{FF2B5EF4-FFF2-40B4-BE49-F238E27FC236}">
                    <a16:creationId xmlns:a16="http://schemas.microsoft.com/office/drawing/2014/main" id="{80BE8168-4A37-449E-8548-108FEFD919F4}"/>
                  </a:ext>
                </a:extLst>
              </p:cNvPr>
              <p:cNvSpPr/>
              <p:nvPr/>
            </p:nvSpPr>
            <p:spPr>
              <a:xfrm>
                <a:off x="594360" y="2571763"/>
                <a:ext cx="3536886" cy="1907695"/>
              </a:xfrm>
              <a:prstGeom prst="roundRect">
                <a:avLst/>
              </a:prstGeom>
              <a:solidFill>
                <a:srgbClr val="FCEDEE"/>
              </a:solidFill>
              <a:ln w="12700">
                <a:solidFill>
                  <a:srgbClr val="D9E1EC"/>
                </a:solidFill>
              </a:ln>
            </p:spPr>
            <p:txBody>
              <a:bodyPr/>
              <a:lstStyle/>
              <a:p>
                <a:endParaRPr lang="zh-CN" altLang="en-US"/>
              </a:p>
            </p:txBody>
          </p:sp>
          <p:sp>
            <p:nvSpPr>
              <p:cNvPr id="20" name="Line">
                <a:extLst>
                  <a:ext uri="{FF2B5EF4-FFF2-40B4-BE49-F238E27FC236}">
                    <a16:creationId xmlns:a16="http://schemas.microsoft.com/office/drawing/2014/main" id="{41468CE2-21BE-47B1-A26A-9DF68E40A994}"/>
                  </a:ext>
                </a:extLst>
              </p:cNvPr>
              <p:cNvSpPr/>
              <p:nvPr/>
            </p:nvSpPr>
            <p:spPr>
              <a:xfrm>
                <a:off x="594360" y="2571763"/>
                <a:ext cx="73152" cy="1907695"/>
              </a:xfrm>
              <a:prstGeom prst="rect">
                <a:avLst/>
              </a:prstGeom>
              <a:solidFill>
                <a:srgbClr val="C5282F"/>
              </a:solidFill>
              <a:ln>
                <a:noFill/>
              </a:ln>
            </p:spPr>
            <p:txBody>
              <a:bodyPr/>
              <a:lstStyle/>
              <a:p>
                <a:endParaRPr lang="zh-CN" altLang="en-US"/>
              </a:p>
            </p:txBody>
          </p:sp>
          <p:sp>
            <p:nvSpPr>
              <p:cNvPr id="21" name="Text">
                <a:extLst>
                  <a:ext uri="{FF2B5EF4-FFF2-40B4-BE49-F238E27FC236}">
                    <a16:creationId xmlns:a16="http://schemas.microsoft.com/office/drawing/2014/main" id="{5E926D1D-7AF0-4724-8C1A-09A7F0D3B685}"/>
                  </a:ext>
                </a:extLst>
              </p:cNvPr>
              <p:cNvSpPr txBox="1"/>
              <p:nvPr/>
            </p:nvSpPr>
            <p:spPr>
              <a:xfrm>
                <a:off x="758952" y="2681491"/>
                <a:ext cx="2953512" cy="292608"/>
              </a:xfrm>
              <a:prstGeom prst="rect">
                <a:avLst/>
              </a:prstGeom>
              <a:noFill/>
              <a:ln>
                <a:noFill/>
              </a:ln>
            </p:spPr>
            <p:txBody>
              <a:bodyPr wrap="square" lIns="60000" tIns="40000" rIns="60000" bIns="40000" anchor="t"/>
              <a:lstStyle/>
              <a:p>
                <a:pPr algn="ctr"/>
                <a:r>
                  <a:rPr lang="zh-CN" altLang="en-US" sz="1900" b="1">
                    <a:solidFill>
                      <a:srgbClr val="C5282F"/>
                    </a:solidFill>
                    <a:latin typeface="Microsoft YaHei"/>
                    <a:ea typeface="Microsoft YaHei"/>
                    <a:cs typeface="Microsoft YaHei"/>
                  </a:rPr>
                  <a:t>思政课程</a:t>
                </a:r>
                <a:endParaRPr lang="zh-CN" sz="1900" b="1">
                  <a:solidFill>
                    <a:srgbClr val="C5282F"/>
                  </a:solidFill>
                  <a:latin typeface="Microsoft YaHei"/>
                  <a:ea typeface="Microsoft YaHei"/>
                  <a:cs typeface="Microsoft YaHei"/>
                </a:endParaRPr>
              </a:p>
            </p:txBody>
          </p:sp>
        </p:grpSp>
        <p:sp>
          <p:nvSpPr>
            <p:cNvPr id="22" name="Text">
              <a:extLst>
                <a:ext uri="{FF2B5EF4-FFF2-40B4-BE49-F238E27FC236}">
                  <a16:creationId xmlns:a16="http://schemas.microsoft.com/office/drawing/2014/main" id="{9D3391FD-AE7E-48CA-83C5-D308F4165958}"/>
                </a:ext>
              </a:extLst>
            </p:cNvPr>
            <p:cNvSpPr txBox="1"/>
            <p:nvPr/>
          </p:nvSpPr>
          <p:spPr>
            <a:xfrm>
              <a:off x="699498" y="2856037"/>
              <a:ext cx="3431748" cy="1526937"/>
            </a:xfrm>
            <a:prstGeom prst="rect">
              <a:avLst/>
            </a:prstGeom>
            <a:noFill/>
            <a:ln>
              <a:noFill/>
            </a:ln>
          </p:spPr>
          <p:txBody>
            <a:bodyPr wrap="square" lIns="60000" tIns="40000" rIns="60000" bIns="40000" anchor="t"/>
            <a:lstStyle/>
            <a:p>
              <a:pPr marL="230000" indent="-120000">
                <a:buFont typeface="Arial"/>
                <a:buChar char="•"/>
              </a:pPr>
              <a:endParaRPr lang="en-US" altLang="zh-CN" sz="1200" b="1">
                <a:solidFill>
                  <a:srgbClr val="5B677A"/>
                </a:solidFill>
                <a:latin typeface="Microsoft YaHei"/>
                <a:ea typeface="Microsoft YaHei"/>
                <a:cs typeface="Microsoft YaHei"/>
              </a:endParaRPr>
            </a:p>
            <a:p>
              <a:pPr marL="230000" indent="-120000">
                <a:buFont typeface="Arial"/>
                <a:buChar char="•"/>
              </a:pPr>
              <a:r>
                <a:rPr lang="zh-CN" altLang="en-US" sz="1200" b="1">
                  <a:solidFill>
                    <a:srgbClr val="5B677A"/>
                  </a:solidFill>
                  <a:latin typeface="Microsoft YaHei"/>
                  <a:ea typeface="Microsoft YaHei"/>
                  <a:cs typeface="Microsoft YaHei"/>
                </a:rPr>
                <a:t>思想道德与法治</a:t>
              </a:r>
              <a:endParaRPr lang="en-US" altLang="zh-CN" sz="1200" b="1">
                <a:solidFill>
                  <a:srgbClr val="5B677A"/>
                </a:solidFill>
                <a:latin typeface="Microsoft YaHei"/>
                <a:ea typeface="Microsoft YaHei"/>
                <a:cs typeface="Microsoft YaHei"/>
              </a:endParaRPr>
            </a:p>
            <a:p>
              <a:pPr marL="230000" indent="-120000">
                <a:buFont typeface="Arial"/>
                <a:buChar char="•"/>
              </a:pPr>
              <a:r>
                <a:rPr lang="zh-CN" altLang="en-US" sz="1200" b="1">
                  <a:solidFill>
                    <a:srgbClr val="5B677A"/>
                  </a:solidFill>
                  <a:latin typeface="Microsoft YaHei"/>
                  <a:ea typeface="Microsoft YaHei"/>
                  <a:cs typeface="Microsoft YaHei"/>
                </a:rPr>
                <a:t>集中军事</a:t>
              </a:r>
              <a:endParaRPr lang="en-US" altLang="zh-CN" sz="1200" b="1">
                <a:solidFill>
                  <a:srgbClr val="5B677A"/>
                </a:solidFill>
                <a:latin typeface="Microsoft YaHei"/>
                <a:ea typeface="Microsoft YaHei"/>
                <a:cs typeface="Microsoft YaHei"/>
              </a:endParaRPr>
            </a:p>
            <a:p>
              <a:pPr marL="230000" indent="-120000" algn="l">
                <a:buFont typeface="Arial"/>
                <a:buChar char="•"/>
              </a:pPr>
              <a:r>
                <a:rPr lang="zh-CN" altLang="en-US" sz="1200" b="1">
                  <a:solidFill>
                    <a:srgbClr val="5B677A"/>
                  </a:solidFill>
                  <a:latin typeface="Microsoft YaHei"/>
                  <a:ea typeface="Microsoft YaHei"/>
                  <a:cs typeface="Microsoft YaHei"/>
                </a:rPr>
                <a:t>中国近代史纲要</a:t>
              </a:r>
              <a:endParaRPr lang="en-US" altLang="zh-CN" sz="1200" b="1">
                <a:solidFill>
                  <a:srgbClr val="5B677A"/>
                </a:solidFill>
                <a:latin typeface="Microsoft YaHei"/>
                <a:ea typeface="Microsoft YaHei"/>
                <a:cs typeface="Microsoft YaHei"/>
              </a:endParaRPr>
            </a:p>
            <a:p>
              <a:pPr marL="230000" indent="-120000" algn="l">
                <a:buFont typeface="Arial"/>
                <a:buChar char="•"/>
              </a:pPr>
              <a:r>
                <a:rPr lang="zh-CN" altLang="en-US" sz="1200" b="1">
                  <a:solidFill>
                    <a:srgbClr val="5B677A"/>
                  </a:solidFill>
                  <a:latin typeface="Microsoft YaHei"/>
                  <a:ea typeface="Microsoft YaHei"/>
                  <a:cs typeface="Microsoft YaHei"/>
                </a:rPr>
                <a:t>马克思主义基本原理</a:t>
              </a:r>
              <a:endParaRPr lang="en-US" altLang="zh-CN" sz="1200" b="1">
                <a:solidFill>
                  <a:srgbClr val="5B677A"/>
                </a:solidFill>
                <a:latin typeface="Microsoft YaHei"/>
                <a:ea typeface="Microsoft YaHei"/>
                <a:cs typeface="Microsoft YaHei"/>
              </a:endParaRPr>
            </a:p>
            <a:p>
              <a:pPr marL="230000" indent="-120000" algn="l">
                <a:buFont typeface="Arial"/>
                <a:buChar char="•"/>
              </a:pPr>
              <a:r>
                <a:rPr lang="zh-CN" altLang="en-US" sz="1200" b="1">
                  <a:solidFill>
                    <a:srgbClr val="5B677A"/>
                  </a:solidFill>
                  <a:latin typeface="Microsoft YaHei"/>
                  <a:ea typeface="Microsoft YaHei"/>
                  <a:cs typeface="Microsoft YaHei"/>
                </a:rPr>
                <a:t>毛泽东思想和中国特色社会主义理论体系概论</a:t>
              </a:r>
              <a:endParaRPr lang="en-US" altLang="zh-CN" sz="1200" b="1">
                <a:solidFill>
                  <a:srgbClr val="5B677A"/>
                </a:solidFill>
                <a:latin typeface="Microsoft YaHei"/>
                <a:ea typeface="Microsoft YaHei"/>
                <a:cs typeface="Microsoft YaHei"/>
              </a:endParaRPr>
            </a:p>
            <a:p>
              <a:pPr marL="230000" indent="-120000" algn="l">
                <a:buFont typeface="Arial"/>
                <a:buChar char="•"/>
              </a:pPr>
              <a:r>
                <a:rPr lang="zh-CN" altLang="en-US" sz="1200" b="1">
                  <a:solidFill>
                    <a:srgbClr val="5B677A"/>
                  </a:solidFill>
                  <a:latin typeface="Microsoft YaHei"/>
                  <a:ea typeface="Microsoft YaHei"/>
                  <a:cs typeface="Microsoft YaHei"/>
                </a:rPr>
                <a:t>习近平新时代中国特色社会主义思想概论</a:t>
              </a:r>
              <a:endParaRPr lang="en-US" altLang="zh-CN" sz="1200" b="1">
                <a:solidFill>
                  <a:srgbClr val="5B677A"/>
                </a:solidFill>
                <a:latin typeface="Microsoft YaHei"/>
                <a:ea typeface="Microsoft YaHei"/>
                <a:cs typeface="Microsoft YaHei"/>
              </a:endParaRPr>
            </a:p>
            <a:p>
              <a:pPr marL="230000" indent="-120000" algn="l">
                <a:buFont typeface="Arial"/>
                <a:buChar char="•"/>
              </a:pPr>
              <a:r>
                <a:rPr lang="en-US" altLang="zh-CN" sz="1200" b="1">
                  <a:solidFill>
                    <a:srgbClr val="5B677A"/>
                  </a:solidFill>
                  <a:latin typeface="Microsoft YaHei"/>
                  <a:ea typeface="Microsoft YaHei"/>
                  <a:cs typeface="Microsoft YaHei"/>
                </a:rPr>
                <a:t>……</a:t>
              </a:r>
            </a:p>
          </p:txBody>
        </p:sp>
      </p:grpSp>
      <p:sp>
        <p:nvSpPr>
          <p:cNvPr id="30" name="Text">
            <a:extLst>
              <a:ext uri="{FF2B5EF4-FFF2-40B4-BE49-F238E27FC236}">
                <a16:creationId xmlns:a16="http://schemas.microsoft.com/office/drawing/2014/main" id="{23932ECD-CE83-4606-B5FF-A8A17FA88248}"/>
              </a:ext>
            </a:extLst>
          </p:cNvPr>
          <p:cNvSpPr txBox="1"/>
          <p:nvPr/>
        </p:nvSpPr>
        <p:spPr>
          <a:xfrm>
            <a:off x="850392" y="6437376"/>
            <a:ext cx="2400808" cy="256032"/>
          </a:xfrm>
          <a:prstGeom prst="rect">
            <a:avLst/>
          </a:prstGeom>
          <a:noFill/>
          <a:ln>
            <a:noFill/>
          </a:ln>
        </p:spPr>
        <p:txBody>
          <a:bodyPr wrap="square" lIns="60000" tIns="40000" rIns="60000" bIns="40000" anchor="t"/>
          <a:lstStyle/>
          <a:p>
            <a:pPr algn="l"/>
            <a:r>
              <a:rPr lang="zh-CN" sz="1500" b="1">
                <a:solidFill>
                  <a:srgbClr val="1C2530"/>
                </a:solidFill>
                <a:latin typeface="Microsoft YaHei"/>
                <a:ea typeface="Microsoft YaHei"/>
                <a:cs typeface="Microsoft YaHei"/>
              </a:rPr>
              <a:t>实施要点：破除“拼盘课”</a:t>
            </a:r>
          </a:p>
        </p:txBody>
      </p:sp>
      <p:grpSp>
        <p:nvGrpSpPr>
          <p:cNvPr id="43" name="组合 42">
            <a:extLst>
              <a:ext uri="{FF2B5EF4-FFF2-40B4-BE49-F238E27FC236}">
                <a16:creationId xmlns:a16="http://schemas.microsoft.com/office/drawing/2014/main" id="{E5CC9D71-ADF6-4495-A5E4-8E77E35690E2}"/>
              </a:ext>
            </a:extLst>
          </p:cNvPr>
          <p:cNvGrpSpPr/>
          <p:nvPr/>
        </p:nvGrpSpPr>
        <p:grpSpPr>
          <a:xfrm>
            <a:off x="794519" y="4339650"/>
            <a:ext cx="3536886" cy="1984757"/>
            <a:chOff x="594360" y="2571763"/>
            <a:chExt cx="3536886" cy="1984757"/>
          </a:xfrm>
        </p:grpSpPr>
        <p:grpSp>
          <p:nvGrpSpPr>
            <p:cNvPr id="44" name="组合 43">
              <a:extLst>
                <a:ext uri="{FF2B5EF4-FFF2-40B4-BE49-F238E27FC236}">
                  <a16:creationId xmlns:a16="http://schemas.microsoft.com/office/drawing/2014/main" id="{7E225CB7-87C3-4371-B46C-2864F8258614}"/>
                </a:ext>
              </a:extLst>
            </p:cNvPr>
            <p:cNvGrpSpPr/>
            <p:nvPr/>
          </p:nvGrpSpPr>
          <p:grpSpPr>
            <a:xfrm>
              <a:off x="594360" y="2571763"/>
              <a:ext cx="3536886" cy="1907695"/>
              <a:chOff x="594360" y="2571763"/>
              <a:chExt cx="3536886" cy="1907695"/>
            </a:xfrm>
          </p:grpSpPr>
          <p:sp>
            <p:nvSpPr>
              <p:cNvPr id="46" name="Card 通识与思政模块">
                <a:extLst>
                  <a:ext uri="{FF2B5EF4-FFF2-40B4-BE49-F238E27FC236}">
                    <a16:creationId xmlns:a16="http://schemas.microsoft.com/office/drawing/2014/main" id="{A8E299EB-72A3-484D-BC40-BFD7CDF35731}"/>
                  </a:ext>
                </a:extLst>
              </p:cNvPr>
              <p:cNvSpPr/>
              <p:nvPr/>
            </p:nvSpPr>
            <p:spPr>
              <a:xfrm>
                <a:off x="594360" y="2571763"/>
                <a:ext cx="3536886" cy="1907695"/>
              </a:xfrm>
              <a:prstGeom prst="roundRect">
                <a:avLst/>
              </a:prstGeom>
              <a:solidFill>
                <a:srgbClr val="EAF3FB"/>
              </a:solidFill>
              <a:ln w="12700">
                <a:solidFill>
                  <a:srgbClr val="D9E1EC"/>
                </a:solidFill>
              </a:ln>
            </p:spPr>
            <p:txBody>
              <a:bodyPr/>
              <a:lstStyle/>
              <a:p>
                <a:endParaRPr lang="zh-CN" altLang="en-US"/>
              </a:p>
            </p:txBody>
          </p:sp>
          <p:sp>
            <p:nvSpPr>
              <p:cNvPr id="47" name="Line">
                <a:extLst>
                  <a:ext uri="{FF2B5EF4-FFF2-40B4-BE49-F238E27FC236}">
                    <a16:creationId xmlns:a16="http://schemas.microsoft.com/office/drawing/2014/main" id="{5CC428F0-10B9-4C7B-83A8-0D6F0305960D}"/>
                  </a:ext>
                </a:extLst>
              </p:cNvPr>
              <p:cNvSpPr/>
              <p:nvPr/>
            </p:nvSpPr>
            <p:spPr>
              <a:xfrm>
                <a:off x="594360" y="2571763"/>
                <a:ext cx="73152" cy="1907695"/>
              </a:xfrm>
              <a:prstGeom prst="rect">
                <a:avLst/>
              </a:prstGeom>
              <a:solidFill>
                <a:schemeClr val="tx2">
                  <a:lumMod val="60000"/>
                  <a:lumOff val="40000"/>
                </a:schemeClr>
              </a:solidFill>
              <a:ln>
                <a:noFill/>
              </a:ln>
            </p:spPr>
            <p:txBody>
              <a:bodyPr/>
              <a:lstStyle/>
              <a:p>
                <a:endParaRPr lang="zh-CN" altLang="en-US"/>
              </a:p>
            </p:txBody>
          </p:sp>
          <p:sp>
            <p:nvSpPr>
              <p:cNvPr id="48" name="Text">
                <a:extLst>
                  <a:ext uri="{FF2B5EF4-FFF2-40B4-BE49-F238E27FC236}">
                    <a16:creationId xmlns:a16="http://schemas.microsoft.com/office/drawing/2014/main" id="{CB37B055-585E-4821-9A29-A89C86BD1593}"/>
                  </a:ext>
                </a:extLst>
              </p:cNvPr>
              <p:cNvSpPr txBox="1"/>
              <p:nvPr/>
            </p:nvSpPr>
            <p:spPr>
              <a:xfrm>
                <a:off x="758952" y="2681491"/>
                <a:ext cx="2953512" cy="292608"/>
              </a:xfrm>
              <a:prstGeom prst="rect">
                <a:avLst/>
              </a:prstGeom>
              <a:noFill/>
              <a:ln>
                <a:noFill/>
              </a:ln>
            </p:spPr>
            <p:txBody>
              <a:bodyPr wrap="square" lIns="60000" tIns="40000" rIns="60000" bIns="40000" anchor="t"/>
              <a:lstStyle/>
              <a:p>
                <a:pPr algn="ctr"/>
                <a:r>
                  <a:rPr lang="zh-CN" altLang="en-US" sz="1900" b="1">
                    <a:solidFill>
                      <a:srgbClr val="1F487C"/>
                    </a:solidFill>
                    <a:latin typeface="Microsoft YaHei"/>
                    <a:ea typeface="Microsoft YaHei"/>
                    <a:cs typeface="Microsoft YaHei"/>
                  </a:rPr>
                  <a:t>通识课程</a:t>
                </a:r>
                <a:endParaRPr lang="zh-CN" sz="1900" b="1">
                  <a:solidFill>
                    <a:srgbClr val="1F487C"/>
                  </a:solidFill>
                  <a:latin typeface="Microsoft YaHei"/>
                  <a:ea typeface="Microsoft YaHei"/>
                  <a:cs typeface="Microsoft YaHei"/>
                </a:endParaRPr>
              </a:p>
            </p:txBody>
          </p:sp>
        </p:grpSp>
        <p:sp>
          <p:nvSpPr>
            <p:cNvPr id="45" name="Text">
              <a:extLst>
                <a:ext uri="{FF2B5EF4-FFF2-40B4-BE49-F238E27FC236}">
                  <a16:creationId xmlns:a16="http://schemas.microsoft.com/office/drawing/2014/main" id="{5AC0527B-8345-4FC8-9806-F27ECFAE538B}"/>
                </a:ext>
              </a:extLst>
            </p:cNvPr>
            <p:cNvSpPr txBox="1"/>
            <p:nvPr/>
          </p:nvSpPr>
          <p:spPr>
            <a:xfrm>
              <a:off x="667512" y="3029583"/>
              <a:ext cx="3431748" cy="1526937"/>
            </a:xfrm>
            <a:prstGeom prst="rect">
              <a:avLst/>
            </a:prstGeom>
            <a:noFill/>
            <a:ln>
              <a:noFill/>
            </a:ln>
          </p:spPr>
          <p:txBody>
            <a:bodyPr wrap="square" lIns="60000" tIns="40000" rIns="60000" bIns="40000" anchor="t"/>
            <a:lstStyle/>
            <a:p>
              <a:pPr marL="230000" indent="-120000">
                <a:buFont typeface="Arial"/>
                <a:buChar char="•"/>
              </a:pPr>
              <a:r>
                <a:rPr lang="zh-CN" altLang="en-US" sz="1200" b="1">
                  <a:solidFill>
                    <a:srgbClr val="5B677A"/>
                  </a:solidFill>
                  <a:latin typeface="Microsoft YaHei"/>
                  <a:ea typeface="Microsoft YaHei"/>
                  <a:cs typeface="Microsoft YaHei"/>
                </a:rPr>
                <a:t>法制安全教育</a:t>
              </a:r>
              <a:endParaRPr lang="en-US" altLang="zh-CN" sz="1200" b="1">
                <a:solidFill>
                  <a:srgbClr val="5B677A"/>
                </a:solidFill>
                <a:latin typeface="Microsoft YaHei"/>
                <a:ea typeface="Microsoft YaHei"/>
                <a:cs typeface="Microsoft YaHei"/>
              </a:endParaRPr>
            </a:p>
            <a:p>
              <a:pPr marL="230000" indent="-120000">
                <a:buFont typeface="Arial"/>
                <a:buChar char="•"/>
              </a:pPr>
              <a:r>
                <a:rPr lang="zh-CN" altLang="en-US" sz="1200" b="1">
                  <a:solidFill>
                    <a:srgbClr val="5B677A"/>
                  </a:solidFill>
                  <a:latin typeface="Microsoft YaHei"/>
                  <a:ea typeface="Microsoft YaHei"/>
                  <a:cs typeface="Microsoft YaHei"/>
                </a:rPr>
                <a:t>心理健康教育</a:t>
              </a:r>
              <a:endParaRPr lang="en-US" altLang="zh-CN" sz="1200" b="1">
                <a:solidFill>
                  <a:srgbClr val="5B677A"/>
                </a:solidFill>
                <a:latin typeface="Microsoft YaHei"/>
                <a:ea typeface="Microsoft YaHei"/>
                <a:cs typeface="Microsoft YaHei"/>
              </a:endParaRPr>
            </a:p>
            <a:p>
              <a:pPr marL="230000" indent="-120000">
                <a:buFont typeface="Arial"/>
                <a:buChar char="•"/>
              </a:pPr>
              <a:r>
                <a:rPr lang="zh-CN" altLang="en-US" sz="1200" b="1">
                  <a:solidFill>
                    <a:srgbClr val="5B677A"/>
                  </a:solidFill>
                  <a:latin typeface="Microsoft YaHei"/>
                  <a:ea typeface="Microsoft YaHei"/>
                  <a:cs typeface="Microsoft YaHei"/>
                </a:rPr>
                <a:t>国家安全教育</a:t>
              </a:r>
              <a:endParaRPr lang="en-US" altLang="zh-CN" sz="1200" b="1">
                <a:solidFill>
                  <a:srgbClr val="5B677A"/>
                </a:solidFill>
                <a:latin typeface="Microsoft YaHei"/>
                <a:ea typeface="Microsoft YaHei"/>
                <a:cs typeface="Microsoft YaHei"/>
              </a:endParaRPr>
            </a:p>
            <a:p>
              <a:pPr marL="230000" indent="-120000">
                <a:buFont typeface="Arial"/>
                <a:buChar char="•"/>
              </a:pPr>
              <a:r>
                <a:rPr lang="zh-CN" altLang="en-US" sz="1200" b="1">
                  <a:solidFill>
                    <a:srgbClr val="5B677A"/>
                  </a:solidFill>
                  <a:latin typeface="Microsoft YaHei"/>
                  <a:ea typeface="Microsoft YaHei"/>
                  <a:cs typeface="Microsoft YaHei"/>
                </a:rPr>
                <a:t>职业生涯规划</a:t>
              </a:r>
              <a:endParaRPr lang="en-US" altLang="zh-CN" sz="1200" b="1">
                <a:solidFill>
                  <a:srgbClr val="5B677A"/>
                </a:solidFill>
                <a:latin typeface="Microsoft YaHei"/>
                <a:ea typeface="Microsoft YaHei"/>
                <a:cs typeface="Microsoft YaHei"/>
              </a:endParaRPr>
            </a:p>
            <a:p>
              <a:pPr marL="230000" indent="-120000">
                <a:buFont typeface="Arial"/>
                <a:buChar char="•"/>
              </a:pPr>
              <a:r>
                <a:rPr lang="zh-CN" altLang="en-US" sz="1200" b="1">
                  <a:solidFill>
                    <a:srgbClr val="5B677A"/>
                  </a:solidFill>
                  <a:latin typeface="Microsoft YaHei"/>
                  <a:ea typeface="Microsoft YaHei"/>
                  <a:cs typeface="Microsoft YaHei"/>
                </a:rPr>
                <a:t>微积分导论</a:t>
              </a:r>
              <a:endParaRPr lang="en-US" altLang="zh-CN" sz="1200" b="1">
                <a:solidFill>
                  <a:srgbClr val="5B677A"/>
                </a:solidFill>
                <a:latin typeface="Microsoft YaHei"/>
                <a:ea typeface="Microsoft YaHei"/>
                <a:cs typeface="Microsoft YaHei"/>
              </a:endParaRPr>
            </a:p>
            <a:p>
              <a:pPr marL="230000" indent="-120000">
                <a:buFont typeface="Arial"/>
                <a:buChar char="•"/>
              </a:pPr>
              <a:r>
                <a:rPr lang="zh-CN" altLang="en-US" sz="1200" b="1">
                  <a:solidFill>
                    <a:srgbClr val="5B677A"/>
                  </a:solidFill>
                  <a:latin typeface="Microsoft YaHei"/>
                  <a:ea typeface="Microsoft YaHei"/>
                  <a:cs typeface="Microsoft YaHei"/>
                </a:rPr>
                <a:t>社科计算机基础</a:t>
              </a:r>
              <a:endParaRPr lang="en-US" altLang="zh-CN" sz="1200" b="1">
                <a:solidFill>
                  <a:srgbClr val="5B677A"/>
                </a:solidFill>
                <a:latin typeface="Microsoft YaHei"/>
                <a:ea typeface="Microsoft YaHei"/>
                <a:cs typeface="Microsoft YaHei"/>
              </a:endParaRPr>
            </a:p>
            <a:p>
              <a:pPr marL="230000" indent="-120000">
                <a:buFont typeface="Arial"/>
                <a:buChar char="•"/>
              </a:pPr>
              <a:r>
                <a:rPr lang="en-US" altLang="zh-CN" sz="1200" b="1">
                  <a:solidFill>
                    <a:srgbClr val="5B677A"/>
                  </a:solidFill>
                  <a:latin typeface="Microsoft YaHei"/>
                  <a:ea typeface="Microsoft YaHei"/>
                  <a:cs typeface="Microsoft YaHei"/>
                </a:rPr>
                <a:t>……</a:t>
              </a:r>
            </a:p>
          </p:txBody>
        </p:sp>
      </p:grpSp>
    </p:spTree>
    <p:extLst>
      <p:ext uri="{BB962C8B-B14F-4D97-AF65-F5344CB8AC3E}">
        <p14:creationId xmlns:p14="http://schemas.microsoft.com/office/powerpoint/2010/main" val="7602857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a:extLst>
              <a:ext uri="{FF2B5EF4-FFF2-40B4-BE49-F238E27FC236}">
                <a16:creationId xmlns:a16="http://schemas.microsoft.com/office/drawing/2014/main" id="{39AF018C-BD1E-4D1C-A575-89BC7165FB5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189341" y="28710"/>
            <a:ext cx="881729" cy="881729"/>
          </a:xfrm>
          <a:prstGeom prst="rect">
            <a:avLst/>
          </a:prstGeom>
        </p:spPr>
      </p:pic>
      <p:pic>
        <p:nvPicPr>
          <p:cNvPr id="24" name="图片 23">
            <a:extLst>
              <a:ext uri="{FF2B5EF4-FFF2-40B4-BE49-F238E27FC236}">
                <a16:creationId xmlns:a16="http://schemas.microsoft.com/office/drawing/2014/main" id="{118A43A9-C67F-4CB1-B9F4-63E761CBC2D0}"/>
              </a:ext>
            </a:extLst>
          </p:cNvPr>
          <p:cNvPicPr>
            <a:picLocks noChangeAspect="1"/>
          </p:cNvPicPr>
          <p:nvPr/>
        </p:nvPicPr>
        <p:blipFill>
          <a:blip r:embed="rId4" cstate="print">
            <a:extLst>
              <a:ext uri="{28A0092B-C50C-407E-A947-70E740481C1C}">
                <a14:useLocalDpi xmlns:a14="http://schemas.microsoft.com/office/drawing/2010/main" val="0"/>
              </a:ext>
            </a:extLst>
          </a:blip>
          <a:srcRect l="1133" r="1133"/>
          <a:stretch/>
        </p:blipFill>
        <p:spPr>
          <a:xfrm>
            <a:off x="274100" y="75737"/>
            <a:ext cx="802225" cy="806727"/>
          </a:xfrm>
          <a:prstGeom prst="rect">
            <a:avLst/>
          </a:prstGeom>
        </p:spPr>
      </p:pic>
      <p:sp>
        <p:nvSpPr>
          <p:cNvPr id="25" name="文本框 24">
            <a:extLst>
              <a:ext uri="{FF2B5EF4-FFF2-40B4-BE49-F238E27FC236}">
                <a16:creationId xmlns:a16="http://schemas.microsoft.com/office/drawing/2014/main" id="{D2B29A73-493F-45ED-A593-8D7573299A30}"/>
              </a:ext>
            </a:extLst>
          </p:cNvPr>
          <p:cNvSpPr txBox="1"/>
          <p:nvPr/>
        </p:nvSpPr>
        <p:spPr>
          <a:xfrm>
            <a:off x="6313868" y="337344"/>
            <a:ext cx="6157730" cy="406971"/>
          </a:xfrm>
          <a:prstGeom prst="rect">
            <a:avLst/>
          </a:prstGeom>
          <a:noFill/>
        </p:spPr>
        <p:txBody>
          <a:bodyPr wrap="square">
            <a:spAutoFit/>
          </a:bodyPr>
          <a:lstStyle/>
          <a:p>
            <a:pPr algn="ctr" defTabSz="342900">
              <a:lnSpc>
                <a:spcPct val="125000"/>
              </a:lnSpc>
            </a:pPr>
            <a:endParaRPr lang="en-US" altLang="zh-CN" b="1">
              <a:latin typeface="微软雅黑" pitchFamily="34" charset="-122"/>
              <a:ea typeface="微软雅黑" pitchFamily="34" charset="-122"/>
              <a:cs typeface="Calibri" charset="0"/>
            </a:endParaRPr>
          </a:p>
        </p:txBody>
      </p:sp>
      <p:sp>
        <p:nvSpPr>
          <p:cNvPr id="26" name="文本框 11">
            <a:extLst>
              <a:ext uri="{FF2B5EF4-FFF2-40B4-BE49-F238E27FC236}">
                <a16:creationId xmlns:a16="http://schemas.microsoft.com/office/drawing/2014/main" id="{D7D3FDA0-EE55-4DA0-9A6C-9EE877927692}"/>
              </a:ext>
            </a:extLst>
          </p:cNvPr>
          <p:cNvSpPr txBox="1"/>
          <p:nvPr/>
        </p:nvSpPr>
        <p:spPr>
          <a:xfrm>
            <a:off x="1975284" y="1632283"/>
            <a:ext cx="498855"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400" b="0"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rPr>
              <a:t>1</a:t>
            </a:r>
            <a:endParaRPr kumimoji="0" lang="zh-CN" altLang="en-US" sz="4400" b="0"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27" name="文本框 12">
            <a:extLst>
              <a:ext uri="{FF2B5EF4-FFF2-40B4-BE49-F238E27FC236}">
                <a16:creationId xmlns:a16="http://schemas.microsoft.com/office/drawing/2014/main" id="{68A62499-6F06-4E26-845E-7CA94DC6CE82}"/>
              </a:ext>
            </a:extLst>
          </p:cNvPr>
          <p:cNvSpPr txBox="1"/>
          <p:nvPr/>
        </p:nvSpPr>
        <p:spPr>
          <a:xfrm>
            <a:off x="359003" y="1760040"/>
            <a:ext cx="5804794" cy="461665"/>
          </a:xfrm>
          <a:prstGeom prst="rect">
            <a:avLst/>
          </a:prstGeom>
          <a:noFill/>
        </p:spPr>
        <p:txBody>
          <a:bodyPr wrap="none" rtlCol="0">
            <a:spAutoFit/>
          </a:bodyPr>
          <a:lstStyle/>
          <a:p>
            <a:pPr marL="457200" marR="0" lvl="0" indent="-457200" algn="l" defTabSz="914400" rtl="0" eaLnBrk="1" fontAlgn="auto" latinLnBrk="0" hangingPunct="1">
              <a:lnSpc>
                <a:spcPct val="100000"/>
              </a:lnSpc>
              <a:spcBef>
                <a:spcPts val="0"/>
              </a:spcBef>
              <a:spcAft>
                <a:spcPts val="0"/>
              </a:spcAft>
              <a:buClr>
                <a:srgbClr val="C00000"/>
              </a:buClr>
              <a:buSzTx/>
              <a:buFont typeface="Wingdings" panose="05000000000000000000" pitchFamily="2" charset="2"/>
              <a:buChar char="p"/>
              <a:tabLst/>
              <a:defRPr/>
            </a:pPr>
            <a:r>
              <a:rPr lang="zh-CN" altLang="en-US" sz="2400" b="1" kern="0">
                <a:solidFill>
                  <a:srgbClr val="004E86"/>
                </a:solidFill>
                <a:latin typeface="微软雅黑" panose="020B0503020204020204" pitchFamily="34" charset="-122"/>
                <a:ea typeface="微软雅黑" panose="020B0503020204020204" pitchFamily="34" charset="-122"/>
              </a:rPr>
              <a:t>专业核心课程模块</a:t>
            </a:r>
            <a:r>
              <a:rPr lang="en-US" altLang="zh-CN" sz="2400" b="1" kern="0">
                <a:solidFill>
                  <a:srgbClr val="004E86"/>
                </a:solidFill>
                <a:latin typeface="微软雅黑" panose="020B0503020204020204" pitchFamily="34" charset="-122"/>
                <a:ea typeface="微软雅黑" panose="020B0503020204020204" pitchFamily="34" charset="-122"/>
              </a:rPr>
              <a:t>+</a:t>
            </a:r>
            <a:r>
              <a:rPr lang="zh-CN" altLang="en-US" sz="2400" b="1" kern="0">
                <a:solidFill>
                  <a:srgbClr val="004E86"/>
                </a:solidFill>
                <a:latin typeface="微软雅黑" panose="020B0503020204020204" pitchFamily="34" charset="-122"/>
                <a:ea typeface="微软雅黑" panose="020B0503020204020204" pitchFamily="34" charset="-122"/>
              </a:rPr>
              <a:t>交叉融合课程模块</a:t>
            </a:r>
          </a:p>
        </p:txBody>
      </p:sp>
      <p:sp>
        <p:nvSpPr>
          <p:cNvPr id="18" name="文本框 17">
            <a:extLst>
              <a:ext uri="{FF2B5EF4-FFF2-40B4-BE49-F238E27FC236}">
                <a16:creationId xmlns:a16="http://schemas.microsoft.com/office/drawing/2014/main" id="{4C0D621A-BA30-4D0D-AE75-F1251D29CFDC}"/>
              </a:ext>
            </a:extLst>
          </p:cNvPr>
          <p:cNvSpPr txBox="1"/>
          <p:nvPr/>
        </p:nvSpPr>
        <p:spPr>
          <a:xfrm>
            <a:off x="6269498" y="489744"/>
            <a:ext cx="6157730" cy="406971"/>
          </a:xfrm>
          <a:prstGeom prst="rect">
            <a:avLst/>
          </a:prstGeom>
          <a:noFill/>
        </p:spPr>
        <p:txBody>
          <a:bodyPr wrap="square">
            <a:spAutoFit/>
          </a:bodyPr>
          <a:lstStyle/>
          <a:p>
            <a:pPr algn="ctr" defTabSz="342900">
              <a:lnSpc>
                <a:spcPct val="125000"/>
              </a:lnSpc>
            </a:pPr>
            <a:r>
              <a:rPr lang="zh-CN" altLang="en-US" b="1">
                <a:latin typeface="微软雅黑" pitchFamily="34" charset="-122"/>
                <a:ea typeface="微软雅黑" pitchFamily="34" charset="-122"/>
                <a:cs typeface="Calibri" charset="0"/>
              </a:rPr>
              <a:t>“教育学</a:t>
            </a:r>
            <a:r>
              <a:rPr lang="en-US" altLang="zh-CN" b="1">
                <a:latin typeface="微软雅黑" pitchFamily="34" charset="-122"/>
                <a:ea typeface="微软雅黑" pitchFamily="34" charset="-122"/>
                <a:cs typeface="Calibri" charset="0"/>
              </a:rPr>
              <a:t>+</a:t>
            </a:r>
            <a:r>
              <a:rPr lang="zh-CN" altLang="en-US" b="1">
                <a:latin typeface="微软雅黑" pitchFamily="34" charset="-122"/>
                <a:ea typeface="微软雅黑" pitchFamily="34" charset="-122"/>
                <a:cs typeface="Calibri" charset="0"/>
              </a:rPr>
              <a:t>人工智能”双学士学位复合型人才培养项目</a:t>
            </a:r>
            <a:endParaRPr lang="en-US" altLang="zh-CN" b="1">
              <a:latin typeface="微软雅黑" pitchFamily="34" charset="-122"/>
              <a:ea typeface="微软雅黑" pitchFamily="34" charset="-122"/>
              <a:cs typeface="Calibri" charset="0"/>
            </a:endParaRPr>
          </a:p>
        </p:txBody>
      </p:sp>
      <p:sp>
        <p:nvSpPr>
          <p:cNvPr id="54" name="文本框 53">
            <a:extLst>
              <a:ext uri="{FF2B5EF4-FFF2-40B4-BE49-F238E27FC236}">
                <a16:creationId xmlns:a16="http://schemas.microsoft.com/office/drawing/2014/main" id="{BD0E206E-D9E7-47C6-9E1C-93B723CC1C22}"/>
              </a:ext>
            </a:extLst>
          </p:cNvPr>
          <p:cNvSpPr txBox="1"/>
          <p:nvPr/>
        </p:nvSpPr>
        <p:spPr>
          <a:xfrm>
            <a:off x="359003" y="2754956"/>
            <a:ext cx="5602013" cy="2536400"/>
          </a:xfrm>
          <a:prstGeom prst="rect">
            <a:avLst/>
          </a:prstGeom>
          <a:noFill/>
        </p:spPr>
        <p:txBody>
          <a:bodyPr wrap="square">
            <a:spAutoFit/>
          </a:bodyPr>
          <a:lstStyle/>
          <a:p>
            <a:pPr algn="just">
              <a:lnSpc>
                <a:spcPct val="150000"/>
              </a:lnSpc>
            </a:pPr>
            <a:r>
              <a:rPr lang="zh-CN" altLang="en-US" b="1" dirty="0">
                <a:solidFill>
                  <a:srgbClr val="C00000"/>
                </a:solidFill>
                <a:latin typeface="微软雅黑" panose="020B0503020204020204" pitchFamily="34" charset="-122"/>
                <a:ea typeface="微软雅黑" panose="020B0503020204020204" pitchFamily="34" charset="-122"/>
              </a:rPr>
              <a:t>教育学科核心课程：</a:t>
            </a:r>
            <a:r>
              <a:rPr lang="zh-CN" altLang="en-US" b="1" dirty="0">
                <a:solidFill>
                  <a:schemeClr val="accent5">
                    <a:lumMod val="50000"/>
                  </a:schemeClr>
                </a:solidFill>
                <a:latin typeface="微软雅黑" panose="020B0503020204020204" pitchFamily="34" charset="-122"/>
                <a:ea typeface="微软雅黑" panose="020B0503020204020204" pitchFamily="34" charset="-122"/>
              </a:rPr>
              <a:t>教育学基础、中外教育史、教育心理学、课程与教学论、教育科学研究方法等。</a:t>
            </a:r>
          </a:p>
          <a:p>
            <a:pPr algn="just">
              <a:lnSpc>
                <a:spcPct val="150000"/>
              </a:lnSpc>
            </a:pPr>
            <a:r>
              <a:rPr lang="zh-CN" altLang="en-US" b="1" dirty="0">
                <a:solidFill>
                  <a:srgbClr val="C00000"/>
                </a:solidFill>
                <a:latin typeface="微软雅黑" panose="020B0503020204020204" pitchFamily="34" charset="-122"/>
                <a:ea typeface="微软雅黑" panose="020B0503020204020204" pitchFamily="34" charset="-122"/>
              </a:rPr>
              <a:t>人工智能学科核心课程</a:t>
            </a:r>
            <a:r>
              <a:rPr lang="zh-CN" altLang="en-US" b="1" dirty="0">
                <a:solidFill>
                  <a:schemeClr val="accent5">
                    <a:lumMod val="50000"/>
                  </a:schemeClr>
                </a:solidFill>
                <a:latin typeface="微软雅黑" panose="020B0503020204020204" pitchFamily="34" charset="-122"/>
                <a:ea typeface="微软雅黑" panose="020B0503020204020204" pitchFamily="34" charset="-122"/>
              </a:rPr>
              <a:t>：数据结构、人工智能基础、机器学习与深度学习、算法设计等。</a:t>
            </a:r>
          </a:p>
          <a:p>
            <a:pPr algn="just">
              <a:lnSpc>
                <a:spcPct val="150000"/>
              </a:lnSpc>
            </a:pPr>
            <a:r>
              <a:rPr lang="zh-CN" altLang="en-US" b="1" dirty="0">
                <a:solidFill>
                  <a:srgbClr val="C00000"/>
                </a:solidFill>
                <a:latin typeface="微软雅黑" panose="020B0503020204020204" pitchFamily="34" charset="-122"/>
                <a:ea typeface="微软雅黑" panose="020B0503020204020204" pitchFamily="34" charset="-122"/>
              </a:rPr>
              <a:t>交叉融合核心课程</a:t>
            </a:r>
            <a:r>
              <a:rPr lang="zh-CN" altLang="en-US" b="1" dirty="0">
                <a:solidFill>
                  <a:schemeClr val="accent5">
                    <a:lumMod val="50000"/>
                  </a:schemeClr>
                </a:solidFill>
                <a:latin typeface="微软雅黑" panose="020B0503020204020204" pitchFamily="34" charset="-122"/>
                <a:ea typeface="微软雅黑" panose="020B0503020204020204" pitchFamily="34" charset="-122"/>
              </a:rPr>
              <a:t>：智慧教育、教育大数据、智能教学系统、教育</a:t>
            </a:r>
            <a:r>
              <a:rPr lang="en-US" altLang="zh-CN" b="1" dirty="0">
                <a:solidFill>
                  <a:schemeClr val="accent5">
                    <a:lumMod val="50000"/>
                  </a:schemeClr>
                </a:solidFill>
                <a:latin typeface="微软雅黑" panose="020B0503020204020204" pitchFamily="34" charset="-122"/>
                <a:ea typeface="微软雅黑" panose="020B0503020204020204" pitchFamily="34" charset="-122"/>
              </a:rPr>
              <a:t>AI</a:t>
            </a:r>
            <a:r>
              <a:rPr lang="zh-CN" altLang="en-US" b="1" dirty="0">
                <a:solidFill>
                  <a:schemeClr val="accent5">
                    <a:lumMod val="50000"/>
                  </a:schemeClr>
                </a:solidFill>
                <a:latin typeface="微软雅黑" panose="020B0503020204020204" pitchFamily="34" charset="-122"/>
                <a:ea typeface="微软雅黑" panose="020B0503020204020204" pitchFamily="34" charset="-122"/>
              </a:rPr>
              <a:t>伦理</a:t>
            </a:r>
          </a:p>
        </p:txBody>
      </p:sp>
      <p:pic>
        <p:nvPicPr>
          <p:cNvPr id="55" name="图片 54">
            <a:extLst>
              <a:ext uri="{FF2B5EF4-FFF2-40B4-BE49-F238E27FC236}">
                <a16:creationId xmlns:a16="http://schemas.microsoft.com/office/drawing/2014/main" id="{A73E87EE-AB0E-4522-A977-21FF353F3F42}"/>
              </a:ext>
            </a:extLst>
          </p:cNvPr>
          <p:cNvPicPr>
            <a:picLocks noChangeAspect="1"/>
          </p:cNvPicPr>
          <p:nvPr/>
        </p:nvPicPr>
        <p:blipFill>
          <a:blip r:embed="rId5"/>
          <a:stretch>
            <a:fillRect/>
          </a:stretch>
        </p:blipFill>
        <p:spPr>
          <a:xfrm>
            <a:off x="4744973" y="2401723"/>
            <a:ext cx="7412303" cy="3658364"/>
          </a:xfrm>
          <a:prstGeom prst="rect">
            <a:avLst/>
          </a:prstGeom>
        </p:spPr>
      </p:pic>
      <p:sp>
        <p:nvSpPr>
          <p:cNvPr id="56" name="矩形 55">
            <a:extLst>
              <a:ext uri="{FF2B5EF4-FFF2-40B4-BE49-F238E27FC236}">
                <a16:creationId xmlns:a16="http://schemas.microsoft.com/office/drawing/2014/main" id="{5421953A-F593-48C5-9AC1-FE258D8F9C46}"/>
              </a:ext>
            </a:extLst>
          </p:cNvPr>
          <p:cNvSpPr/>
          <p:nvPr/>
        </p:nvSpPr>
        <p:spPr>
          <a:xfrm>
            <a:off x="0" y="924560"/>
            <a:ext cx="12192000" cy="665627"/>
          </a:xfrm>
          <a:prstGeom prst="rect">
            <a:avLst/>
          </a:prstGeom>
          <a:solidFill>
            <a:srgbClr val="4472C4">
              <a:lumMod val="50000"/>
            </a:srgbClr>
          </a:solidFill>
          <a:ln w="12700" cap="flat" cmpd="sng" algn="ctr">
            <a:solidFill>
              <a:srgbClr val="4472C4">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a:ea typeface="微软雅黑"/>
              <a:cs typeface="+mn-cs"/>
            </a:endParaRPr>
          </a:p>
        </p:txBody>
      </p:sp>
      <p:sp>
        <p:nvSpPr>
          <p:cNvPr id="57" name="矩形 56">
            <a:extLst>
              <a:ext uri="{FF2B5EF4-FFF2-40B4-BE49-F238E27FC236}">
                <a16:creationId xmlns:a16="http://schemas.microsoft.com/office/drawing/2014/main" id="{2DEF5280-8D77-4966-9F3B-C65D194676DC}"/>
              </a:ext>
            </a:extLst>
          </p:cNvPr>
          <p:cNvSpPr/>
          <p:nvPr/>
        </p:nvSpPr>
        <p:spPr>
          <a:xfrm>
            <a:off x="2499359" y="924560"/>
            <a:ext cx="2152843" cy="665627"/>
          </a:xfrm>
          <a:prstGeom prst="rect">
            <a:avLst/>
          </a:prstGeom>
          <a:solidFill>
            <a:srgbClr val="FF9900"/>
          </a:solidFill>
          <a:ln w="12700" cap="flat" cmpd="sng" algn="ctr">
            <a:solidFill>
              <a:srgbClr val="FF99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Arial"/>
              <a:ea typeface="微软雅黑"/>
              <a:cs typeface="+mn-cs"/>
            </a:endParaRPr>
          </a:p>
        </p:txBody>
      </p:sp>
      <p:sp>
        <p:nvSpPr>
          <p:cNvPr id="58" name="文本框 14">
            <a:extLst>
              <a:ext uri="{FF2B5EF4-FFF2-40B4-BE49-F238E27FC236}">
                <a16:creationId xmlns:a16="http://schemas.microsoft.com/office/drawing/2014/main" id="{74BD55B1-D239-4C9C-B7D0-E628332C8608}"/>
              </a:ext>
            </a:extLst>
          </p:cNvPr>
          <p:cNvSpPr txBox="1"/>
          <p:nvPr/>
        </p:nvSpPr>
        <p:spPr>
          <a:xfrm>
            <a:off x="359003" y="1107051"/>
            <a:ext cx="1793840" cy="369332"/>
          </a:xfrm>
          <a:prstGeom prst="rect">
            <a:avLst/>
          </a:prstGeom>
          <a:noFill/>
        </p:spPr>
        <p:txBody>
          <a:bodyPr wrap="square" rtlCol="0">
            <a:spAutoFit/>
          </a:bodyPr>
          <a:lstStyle/>
          <a:p>
            <a:pPr algn="just"/>
            <a:r>
              <a:rPr lang="zh-CN" altLang="en-US" b="1">
                <a:solidFill>
                  <a:prstClr val="white"/>
                </a:solidFill>
                <a:latin typeface="Arial"/>
                <a:ea typeface="微软雅黑"/>
              </a:rPr>
              <a:t>一  总体思路</a:t>
            </a:r>
            <a:endParaRPr lang="zh-CN" altLang="en-US" b="1" dirty="0">
              <a:solidFill>
                <a:prstClr val="white"/>
              </a:solidFill>
              <a:latin typeface="Arial"/>
              <a:ea typeface="微软雅黑"/>
            </a:endParaRPr>
          </a:p>
        </p:txBody>
      </p:sp>
      <p:sp>
        <p:nvSpPr>
          <p:cNvPr id="59" name="文本框 14">
            <a:extLst>
              <a:ext uri="{FF2B5EF4-FFF2-40B4-BE49-F238E27FC236}">
                <a16:creationId xmlns:a16="http://schemas.microsoft.com/office/drawing/2014/main" id="{572F7421-AC49-416B-8255-CD47E9A0CF77}"/>
              </a:ext>
            </a:extLst>
          </p:cNvPr>
          <p:cNvSpPr txBox="1"/>
          <p:nvPr/>
        </p:nvSpPr>
        <p:spPr>
          <a:xfrm>
            <a:off x="2642427" y="1107051"/>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二  课程体系实施</a:t>
            </a:r>
            <a:endParaRPr lang="zh-CN" altLang="en-US" b="1" dirty="0">
              <a:solidFill>
                <a:prstClr val="white"/>
              </a:solidFill>
              <a:latin typeface="Arial"/>
              <a:ea typeface="微软雅黑"/>
            </a:endParaRPr>
          </a:p>
        </p:txBody>
      </p:sp>
      <p:sp>
        <p:nvSpPr>
          <p:cNvPr id="60" name="文本框 14">
            <a:extLst>
              <a:ext uri="{FF2B5EF4-FFF2-40B4-BE49-F238E27FC236}">
                <a16:creationId xmlns:a16="http://schemas.microsoft.com/office/drawing/2014/main" id="{FD67DF65-5BBA-4AD7-A3CB-8A6B00750921}"/>
              </a:ext>
            </a:extLst>
          </p:cNvPr>
          <p:cNvSpPr txBox="1"/>
          <p:nvPr/>
        </p:nvSpPr>
        <p:spPr>
          <a:xfrm>
            <a:off x="5054466" y="1071284"/>
            <a:ext cx="3049915" cy="369332"/>
          </a:xfrm>
          <a:prstGeom prst="rect">
            <a:avLst/>
          </a:prstGeom>
          <a:noFill/>
        </p:spPr>
        <p:txBody>
          <a:bodyPr wrap="square" rtlCol="0">
            <a:spAutoFit/>
          </a:bodyPr>
          <a:lstStyle/>
          <a:p>
            <a:pPr algn="just"/>
            <a:r>
              <a:rPr lang="zh-CN" altLang="en-US" b="1" dirty="0">
                <a:solidFill>
                  <a:prstClr val="white"/>
                </a:solidFill>
                <a:latin typeface="Arial"/>
                <a:ea typeface="微软雅黑"/>
              </a:rPr>
              <a:t>三  实践体系实施</a:t>
            </a:r>
          </a:p>
        </p:txBody>
      </p:sp>
      <p:sp>
        <p:nvSpPr>
          <p:cNvPr id="61" name="文本框 14">
            <a:extLst>
              <a:ext uri="{FF2B5EF4-FFF2-40B4-BE49-F238E27FC236}">
                <a16:creationId xmlns:a16="http://schemas.microsoft.com/office/drawing/2014/main" id="{77F3F6FC-8CF8-46F8-ABDE-9A5EE49B41DB}"/>
              </a:ext>
            </a:extLst>
          </p:cNvPr>
          <p:cNvSpPr txBox="1"/>
          <p:nvPr/>
        </p:nvSpPr>
        <p:spPr>
          <a:xfrm>
            <a:off x="7338510" y="1071183"/>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四  导师制与学业指导</a:t>
            </a:r>
            <a:endParaRPr lang="zh-CN" altLang="en-US" b="1" dirty="0">
              <a:solidFill>
                <a:prstClr val="white"/>
              </a:solidFill>
              <a:latin typeface="Arial"/>
              <a:ea typeface="微软雅黑"/>
            </a:endParaRPr>
          </a:p>
        </p:txBody>
      </p:sp>
      <p:sp>
        <p:nvSpPr>
          <p:cNvPr id="62" name="文本框 14">
            <a:extLst>
              <a:ext uri="{FF2B5EF4-FFF2-40B4-BE49-F238E27FC236}">
                <a16:creationId xmlns:a16="http://schemas.microsoft.com/office/drawing/2014/main" id="{16F33D97-7394-46B5-9D13-94DC02A9DDC4}"/>
              </a:ext>
            </a:extLst>
          </p:cNvPr>
          <p:cNvSpPr txBox="1"/>
          <p:nvPr/>
        </p:nvSpPr>
        <p:spPr>
          <a:xfrm>
            <a:off x="10133884" y="1058701"/>
            <a:ext cx="2058115" cy="369332"/>
          </a:xfrm>
          <a:prstGeom prst="rect">
            <a:avLst/>
          </a:prstGeom>
          <a:noFill/>
        </p:spPr>
        <p:txBody>
          <a:bodyPr wrap="square" rtlCol="0">
            <a:spAutoFit/>
          </a:bodyPr>
          <a:lstStyle/>
          <a:p>
            <a:pPr algn="just"/>
            <a:r>
              <a:rPr lang="zh-CN" altLang="en-US" b="1">
                <a:solidFill>
                  <a:prstClr val="white"/>
                </a:solidFill>
                <a:latin typeface="Arial"/>
                <a:ea typeface="微软雅黑"/>
              </a:rPr>
              <a:t>五  保障机制</a:t>
            </a:r>
            <a:endParaRPr lang="zh-CN" altLang="en-US" b="1" dirty="0">
              <a:solidFill>
                <a:prstClr val="white"/>
              </a:solidFill>
              <a:latin typeface="Arial"/>
              <a:ea typeface="微软雅黑"/>
            </a:endParaRPr>
          </a:p>
        </p:txBody>
      </p:sp>
      <p:sp>
        <p:nvSpPr>
          <p:cNvPr id="20" name="Shape">
            <a:extLst>
              <a:ext uri="{FF2B5EF4-FFF2-40B4-BE49-F238E27FC236}">
                <a16:creationId xmlns:a16="http://schemas.microsoft.com/office/drawing/2014/main" id="{72A7FBF6-095A-45EA-8BA6-B54F16320662}"/>
              </a:ext>
            </a:extLst>
          </p:cNvPr>
          <p:cNvSpPr/>
          <p:nvPr/>
        </p:nvSpPr>
        <p:spPr>
          <a:xfrm>
            <a:off x="667512" y="6396334"/>
            <a:ext cx="4475988" cy="379445"/>
          </a:xfrm>
          <a:prstGeom prst="roundRect">
            <a:avLst/>
          </a:prstGeom>
          <a:solidFill>
            <a:srgbClr val="FFFFFF"/>
          </a:solidFill>
          <a:ln w="12700">
            <a:solidFill>
              <a:srgbClr val="D9E1EC"/>
            </a:solidFill>
          </a:ln>
        </p:spPr>
        <p:txBody>
          <a:bodyPr/>
          <a:lstStyle/>
          <a:p>
            <a:endParaRPr lang="zh-CN" altLang="en-US"/>
          </a:p>
        </p:txBody>
      </p:sp>
      <p:sp>
        <p:nvSpPr>
          <p:cNvPr id="21" name="Text">
            <a:extLst>
              <a:ext uri="{FF2B5EF4-FFF2-40B4-BE49-F238E27FC236}">
                <a16:creationId xmlns:a16="http://schemas.microsoft.com/office/drawing/2014/main" id="{407898DA-4D32-4FFF-ACBA-DF9058B02FAF}"/>
              </a:ext>
            </a:extLst>
          </p:cNvPr>
          <p:cNvSpPr txBox="1"/>
          <p:nvPr/>
        </p:nvSpPr>
        <p:spPr>
          <a:xfrm>
            <a:off x="929414" y="6356544"/>
            <a:ext cx="9738360" cy="256032"/>
          </a:xfrm>
          <a:prstGeom prst="rect">
            <a:avLst/>
          </a:prstGeom>
          <a:noFill/>
          <a:ln>
            <a:noFill/>
          </a:ln>
        </p:spPr>
        <p:txBody>
          <a:bodyPr wrap="square" lIns="60000" tIns="40000" rIns="60000" bIns="40000" anchor="t"/>
          <a:lstStyle/>
          <a:p>
            <a:pPr algn="l"/>
            <a:r>
              <a:rPr lang="zh-CN" sz="1500" b="1">
                <a:solidFill>
                  <a:srgbClr val="1C2530"/>
                </a:solidFill>
                <a:latin typeface="Microsoft YaHei"/>
                <a:ea typeface="Microsoft YaHei"/>
                <a:cs typeface="Microsoft YaHei"/>
              </a:rPr>
              <a:t>实施要点：紧跟技术迭代与教育改革年度更新</a:t>
            </a:r>
          </a:p>
        </p:txBody>
      </p:sp>
    </p:spTree>
    <p:extLst>
      <p:ext uri="{BB962C8B-B14F-4D97-AF65-F5344CB8AC3E}">
        <p14:creationId xmlns:p14="http://schemas.microsoft.com/office/powerpoint/2010/main" val="29535884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a:extLst>
              <a:ext uri="{FF2B5EF4-FFF2-40B4-BE49-F238E27FC236}">
                <a16:creationId xmlns:a16="http://schemas.microsoft.com/office/drawing/2014/main" id="{39AF018C-BD1E-4D1C-A575-89BC7165FB5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189341" y="28710"/>
            <a:ext cx="881729" cy="881729"/>
          </a:xfrm>
          <a:prstGeom prst="rect">
            <a:avLst/>
          </a:prstGeom>
        </p:spPr>
      </p:pic>
      <p:pic>
        <p:nvPicPr>
          <p:cNvPr id="24" name="图片 23">
            <a:extLst>
              <a:ext uri="{FF2B5EF4-FFF2-40B4-BE49-F238E27FC236}">
                <a16:creationId xmlns:a16="http://schemas.microsoft.com/office/drawing/2014/main" id="{118A43A9-C67F-4CB1-B9F4-63E761CBC2D0}"/>
              </a:ext>
            </a:extLst>
          </p:cNvPr>
          <p:cNvPicPr>
            <a:picLocks noChangeAspect="1"/>
          </p:cNvPicPr>
          <p:nvPr/>
        </p:nvPicPr>
        <p:blipFill>
          <a:blip r:embed="rId4" cstate="print">
            <a:extLst>
              <a:ext uri="{28A0092B-C50C-407E-A947-70E740481C1C}">
                <a14:useLocalDpi xmlns:a14="http://schemas.microsoft.com/office/drawing/2010/main" val="0"/>
              </a:ext>
            </a:extLst>
          </a:blip>
          <a:srcRect l="1133" r="1133"/>
          <a:stretch/>
        </p:blipFill>
        <p:spPr>
          <a:xfrm>
            <a:off x="274100" y="75737"/>
            <a:ext cx="802225" cy="806727"/>
          </a:xfrm>
          <a:prstGeom prst="rect">
            <a:avLst/>
          </a:prstGeom>
        </p:spPr>
      </p:pic>
      <p:sp>
        <p:nvSpPr>
          <p:cNvPr id="25" name="文本框 24">
            <a:extLst>
              <a:ext uri="{FF2B5EF4-FFF2-40B4-BE49-F238E27FC236}">
                <a16:creationId xmlns:a16="http://schemas.microsoft.com/office/drawing/2014/main" id="{D2B29A73-493F-45ED-A593-8D7573299A30}"/>
              </a:ext>
            </a:extLst>
          </p:cNvPr>
          <p:cNvSpPr txBox="1"/>
          <p:nvPr/>
        </p:nvSpPr>
        <p:spPr>
          <a:xfrm>
            <a:off x="6313868" y="337344"/>
            <a:ext cx="6157730" cy="406971"/>
          </a:xfrm>
          <a:prstGeom prst="rect">
            <a:avLst/>
          </a:prstGeom>
          <a:noFill/>
        </p:spPr>
        <p:txBody>
          <a:bodyPr wrap="square">
            <a:spAutoFit/>
          </a:bodyPr>
          <a:lstStyle/>
          <a:p>
            <a:pPr algn="ctr" defTabSz="342900">
              <a:lnSpc>
                <a:spcPct val="125000"/>
              </a:lnSpc>
            </a:pPr>
            <a:endParaRPr lang="en-US" altLang="zh-CN" b="1">
              <a:latin typeface="微软雅黑" pitchFamily="34" charset="-122"/>
              <a:ea typeface="微软雅黑" pitchFamily="34" charset="-122"/>
              <a:cs typeface="Calibri" charset="0"/>
            </a:endParaRPr>
          </a:p>
        </p:txBody>
      </p:sp>
      <p:sp>
        <p:nvSpPr>
          <p:cNvPr id="26" name="文本框 11">
            <a:extLst>
              <a:ext uri="{FF2B5EF4-FFF2-40B4-BE49-F238E27FC236}">
                <a16:creationId xmlns:a16="http://schemas.microsoft.com/office/drawing/2014/main" id="{D7D3FDA0-EE55-4DA0-9A6C-9EE877927692}"/>
              </a:ext>
            </a:extLst>
          </p:cNvPr>
          <p:cNvSpPr txBox="1"/>
          <p:nvPr/>
        </p:nvSpPr>
        <p:spPr>
          <a:xfrm>
            <a:off x="1975284" y="1632283"/>
            <a:ext cx="498855"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400" b="0"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rPr>
              <a:t>1</a:t>
            </a:r>
            <a:endParaRPr kumimoji="0" lang="zh-CN" altLang="en-US" sz="4400" b="0"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27" name="文本框 12">
            <a:extLst>
              <a:ext uri="{FF2B5EF4-FFF2-40B4-BE49-F238E27FC236}">
                <a16:creationId xmlns:a16="http://schemas.microsoft.com/office/drawing/2014/main" id="{68A62499-6F06-4E26-845E-7CA94DC6CE82}"/>
              </a:ext>
            </a:extLst>
          </p:cNvPr>
          <p:cNvSpPr txBox="1"/>
          <p:nvPr/>
        </p:nvSpPr>
        <p:spPr>
          <a:xfrm>
            <a:off x="359003" y="1760040"/>
            <a:ext cx="7417415" cy="461665"/>
          </a:xfrm>
          <a:prstGeom prst="rect">
            <a:avLst/>
          </a:prstGeom>
          <a:noFill/>
        </p:spPr>
        <p:txBody>
          <a:bodyPr wrap="none" rtlCol="0">
            <a:spAutoFit/>
          </a:bodyPr>
          <a:lstStyle/>
          <a:p>
            <a:pPr marL="457200" marR="0" lvl="0" indent="-457200" algn="l" defTabSz="914400" rtl="0" eaLnBrk="1" fontAlgn="auto" latinLnBrk="0" hangingPunct="1">
              <a:lnSpc>
                <a:spcPct val="100000"/>
              </a:lnSpc>
              <a:spcBef>
                <a:spcPts val="0"/>
              </a:spcBef>
              <a:spcAft>
                <a:spcPts val="0"/>
              </a:spcAft>
              <a:buClr>
                <a:srgbClr val="C00000"/>
              </a:buClr>
              <a:buSzTx/>
              <a:buFont typeface="Wingdings" panose="05000000000000000000" pitchFamily="2" charset="2"/>
              <a:buChar char="p"/>
              <a:tabLst/>
              <a:defRPr/>
            </a:pPr>
            <a:r>
              <a:rPr lang="zh-CN" altLang="en-US" sz="2400" b="1" kern="0" dirty="0">
                <a:solidFill>
                  <a:srgbClr val="004E86"/>
                </a:solidFill>
                <a:latin typeface="微软雅黑" panose="020B0503020204020204" pitchFamily="34" charset="-122"/>
                <a:ea typeface="微软雅黑" panose="020B0503020204020204" pitchFamily="34" charset="-122"/>
              </a:rPr>
              <a:t>三层次实践：课程实践、教育实践、工程实践递进</a:t>
            </a:r>
          </a:p>
        </p:txBody>
      </p:sp>
      <p:sp>
        <p:nvSpPr>
          <p:cNvPr id="18" name="文本框 17">
            <a:extLst>
              <a:ext uri="{FF2B5EF4-FFF2-40B4-BE49-F238E27FC236}">
                <a16:creationId xmlns:a16="http://schemas.microsoft.com/office/drawing/2014/main" id="{4C0D621A-BA30-4D0D-AE75-F1251D29CFDC}"/>
              </a:ext>
            </a:extLst>
          </p:cNvPr>
          <p:cNvSpPr txBox="1"/>
          <p:nvPr/>
        </p:nvSpPr>
        <p:spPr>
          <a:xfrm>
            <a:off x="6269498" y="489744"/>
            <a:ext cx="6157730" cy="406971"/>
          </a:xfrm>
          <a:prstGeom prst="rect">
            <a:avLst/>
          </a:prstGeom>
          <a:noFill/>
        </p:spPr>
        <p:txBody>
          <a:bodyPr wrap="square">
            <a:spAutoFit/>
          </a:bodyPr>
          <a:lstStyle/>
          <a:p>
            <a:pPr algn="ctr" defTabSz="342900">
              <a:lnSpc>
                <a:spcPct val="125000"/>
              </a:lnSpc>
            </a:pPr>
            <a:r>
              <a:rPr lang="zh-CN" altLang="en-US" b="1">
                <a:latin typeface="微软雅黑" pitchFamily="34" charset="-122"/>
                <a:ea typeface="微软雅黑" pitchFamily="34" charset="-122"/>
                <a:cs typeface="Calibri" charset="0"/>
              </a:rPr>
              <a:t>“教育学</a:t>
            </a:r>
            <a:r>
              <a:rPr lang="en-US" altLang="zh-CN" b="1">
                <a:latin typeface="微软雅黑" pitchFamily="34" charset="-122"/>
                <a:ea typeface="微软雅黑" pitchFamily="34" charset="-122"/>
                <a:cs typeface="Calibri" charset="0"/>
              </a:rPr>
              <a:t>+</a:t>
            </a:r>
            <a:r>
              <a:rPr lang="zh-CN" altLang="en-US" b="1">
                <a:latin typeface="微软雅黑" pitchFamily="34" charset="-122"/>
                <a:ea typeface="微软雅黑" pitchFamily="34" charset="-122"/>
                <a:cs typeface="Calibri" charset="0"/>
              </a:rPr>
              <a:t>人工智能”双学士学位复合型人才培养项目</a:t>
            </a:r>
            <a:endParaRPr lang="en-US" altLang="zh-CN" b="1">
              <a:latin typeface="微软雅黑" pitchFamily="34" charset="-122"/>
              <a:ea typeface="微软雅黑" pitchFamily="34" charset="-122"/>
              <a:cs typeface="Calibri" charset="0"/>
            </a:endParaRPr>
          </a:p>
        </p:txBody>
      </p:sp>
      <p:sp>
        <p:nvSpPr>
          <p:cNvPr id="20" name="Shape">
            <a:extLst>
              <a:ext uri="{FF2B5EF4-FFF2-40B4-BE49-F238E27FC236}">
                <a16:creationId xmlns:a16="http://schemas.microsoft.com/office/drawing/2014/main" id="{2866D3F5-0469-41CA-9DBB-667B973714A3}"/>
              </a:ext>
            </a:extLst>
          </p:cNvPr>
          <p:cNvSpPr/>
          <p:nvPr/>
        </p:nvSpPr>
        <p:spPr>
          <a:xfrm>
            <a:off x="969555" y="2370029"/>
            <a:ext cx="10012680" cy="896112"/>
          </a:xfrm>
          <a:prstGeom prst="roundRect">
            <a:avLst/>
          </a:prstGeom>
          <a:solidFill>
            <a:srgbClr val="EAF3FB"/>
          </a:solidFill>
          <a:ln w="12700">
            <a:solidFill>
              <a:srgbClr val="1F6FB2"/>
            </a:solidFill>
          </a:ln>
        </p:spPr>
        <p:txBody>
          <a:bodyPr/>
          <a:lstStyle/>
          <a:p>
            <a:endParaRPr lang="zh-CN" altLang="en-US"/>
          </a:p>
        </p:txBody>
      </p:sp>
      <p:sp>
        <p:nvSpPr>
          <p:cNvPr id="28" name="Text">
            <a:extLst>
              <a:ext uri="{FF2B5EF4-FFF2-40B4-BE49-F238E27FC236}">
                <a16:creationId xmlns:a16="http://schemas.microsoft.com/office/drawing/2014/main" id="{C0B17783-2DB0-4654-AA99-7E3BBFF7936F}"/>
              </a:ext>
            </a:extLst>
          </p:cNvPr>
          <p:cNvSpPr txBox="1"/>
          <p:nvPr/>
        </p:nvSpPr>
        <p:spPr>
          <a:xfrm>
            <a:off x="1262163" y="2580341"/>
            <a:ext cx="1920240" cy="320040"/>
          </a:xfrm>
          <a:prstGeom prst="rect">
            <a:avLst/>
          </a:prstGeom>
          <a:noFill/>
          <a:ln>
            <a:noFill/>
          </a:ln>
        </p:spPr>
        <p:txBody>
          <a:bodyPr wrap="square" lIns="60000" tIns="40000" rIns="60000" bIns="40000" anchor="t"/>
          <a:lstStyle/>
          <a:p>
            <a:pPr algn="l"/>
            <a:r>
              <a:rPr lang="zh-CN" sz="2400" b="1">
                <a:solidFill>
                  <a:srgbClr val="1F6FB2"/>
                </a:solidFill>
                <a:latin typeface="Microsoft YaHei"/>
                <a:ea typeface="Microsoft YaHei"/>
                <a:cs typeface="Microsoft YaHei"/>
              </a:rPr>
              <a:t>课程实践</a:t>
            </a:r>
          </a:p>
        </p:txBody>
      </p:sp>
      <p:sp>
        <p:nvSpPr>
          <p:cNvPr id="31" name="Text">
            <a:extLst>
              <a:ext uri="{FF2B5EF4-FFF2-40B4-BE49-F238E27FC236}">
                <a16:creationId xmlns:a16="http://schemas.microsoft.com/office/drawing/2014/main" id="{E4BDFB8F-4204-421F-8FF6-18FF5C0EDF35}"/>
              </a:ext>
            </a:extLst>
          </p:cNvPr>
          <p:cNvSpPr txBox="1"/>
          <p:nvPr/>
        </p:nvSpPr>
        <p:spPr>
          <a:xfrm>
            <a:off x="3392715" y="2626061"/>
            <a:ext cx="6995160" cy="256032"/>
          </a:xfrm>
          <a:prstGeom prst="rect">
            <a:avLst/>
          </a:prstGeom>
          <a:noFill/>
          <a:ln>
            <a:noFill/>
          </a:ln>
        </p:spPr>
        <p:txBody>
          <a:bodyPr wrap="square" lIns="60000" tIns="40000" rIns="60000" bIns="40000" anchor="t"/>
          <a:lstStyle/>
          <a:p>
            <a:pPr algn="l"/>
            <a:r>
              <a:rPr lang="zh-CN" sz="1600" b="1">
                <a:solidFill>
                  <a:srgbClr val="1C2530"/>
                </a:solidFill>
                <a:latin typeface="Microsoft YaHei"/>
                <a:ea typeface="Microsoft YaHei"/>
                <a:cs typeface="Microsoft YaHei"/>
              </a:rPr>
              <a:t>实验｜课程设计｜案例研讨</a:t>
            </a:r>
          </a:p>
        </p:txBody>
      </p:sp>
      <p:sp>
        <p:nvSpPr>
          <p:cNvPr id="32" name="Shape">
            <a:extLst>
              <a:ext uri="{FF2B5EF4-FFF2-40B4-BE49-F238E27FC236}">
                <a16:creationId xmlns:a16="http://schemas.microsoft.com/office/drawing/2014/main" id="{1DA4C25C-F8BD-456A-8A7A-C7F985E44FDC}"/>
              </a:ext>
            </a:extLst>
          </p:cNvPr>
          <p:cNvSpPr/>
          <p:nvPr/>
        </p:nvSpPr>
        <p:spPr>
          <a:xfrm>
            <a:off x="969555" y="3577037"/>
            <a:ext cx="10012680" cy="896112"/>
          </a:xfrm>
          <a:prstGeom prst="roundRect">
            <a:avLst/>
          </a:prstGeom>
          <a:solidFill>
            <a:srgbClr val="ECF7F0"/>
          </a:solidFill>
          <a:ln w="12700">
            <a:solidFill>
              <a:srgbClr val="3A8F5C"/>
            </a:solidFill>
          </a:ln>
        </p:spPr>
        <p:txBody>
          <a:bodyPr/>
          <a:lstStyle/>
          <a:p>
            <a:endParaRPr lang="zh-CN" altLang="en-US"/>
          </a:p>
        </p:txBody>
      </p:sp>
      <p:sp>
        <p:nvSpPr>
          <p:cNvPr id="33" name="Text">
            <a:extLst>
              <a:ext uri="{FF2B5EF4-FFF2-40B4-BE49-F238E27FC236}">
                <a16:creationId xmlns:a16="http://schemas.microsoft.com/office/drawing/2014/main" id="{F8FDE591-E849-44AB-9AE9-7F8556D554CA}"/>
              </a:ext>
            </a:extLst>
          </p:cNvPr>
          <p:cNvSpPr txBox="1"/>
          <p:nvPr/>
        </p:nvSpPr>
        <p:spPr>
          <a:xfrm>
            <a:off x="1262163" y="3787349"/>
            <a:ext cx="1920240" cy="320040"/>
          </a:xfrm>
          <a:prstGeom prst="rect">
            <a:avLst/>
          </a:prstGeom>
          <a:noFill/>
          <a:ln>
            <a:noFill/>
          </a:ln>
        </p:spPr>
        <p:txBody>
          <a:bodyPr wrap="square" lIns="60000" tIns="40000" rIns="60000" bIns="40000" anchor="t"/>
          <a:lstStyle/>
          <a:p>
            <a:pPr algn="l"/>
            <a:r>
              <a:rPr lang="zh-CN" sz="2400" b="1">
                <a:solidFill>
                  <a:srgbClr val="3A8F5C"/>
                </a:solidFill>
                <a:latin typeface="Microsoft YaHei"/>
                <a:ea typeface="Microsoft YaHei"/>
                <a:cs typeface="Microsoft YaHei"/>
              </a:rPr>
              <a:t>教育实践</a:t>
            </a:r>
          </a:p>
        </p:txBody>
      </p:sp>
      <p:sp>
        <p:nvSpPr>
          <p:cNvPr id="34" name="Text">
            <a:extLst>
              <a:ext uri="{FF2B5EF4-FFF2-40B4-BE49-F238E27FC236}">
                <a16:creationId xmlns:a16="http://schemas.microsoft.com/office/drawing/2014/main" id="{9B7A8DB9-4E5A-4653-B4FA-AE5DC8132D56}"/>
              </a:ext>
            </a:extLst>
          </p:cNvPr>
          <p:cNvSpPr txBox="1"/>
          <p:nvPr/>
        </p:nvSpPr>
        <p:spPr>
          <a:xfrm>
            <a:off x="3392715" y="3833069"/>
            <a:ext cx="6995160" cy="256032"/>
          </a:xfrm>
          <a:prstGeom prst="rect">
            <a:avLst/>
          </a:prstGeom>
          <a:noFill/>
          <a:ln>
            <a:noFill/>
          </a:ln>
        </p:spPr>
        <p:txBody>
          <a:bodyPr wrap="square" lIns="60000" tIns="40000" rIns="60000" bIns="40000" anchor="t"/>
          <a:lstStyle/>
          <a:p>
            <a:r>
              <a:rPr lang="zh-CN" altLang="en-US" sz="1600" b="1" dirty="0">
                <a:solidFill>
                  <a:srgbClr val="1C2530"/>
                </a:solidFill>
                <a:latin typeface="Microsoft YaHei"/>
                <a:ea typeface="Microsoft YaHei"/>
              </a:rPr>
              <a:t>中小学智慧教育见习｜教育实习</a:t>
            </a:r>
          </a:p>
        </p:txBody>
      </p:sp>
      <p:sp>
        <p:nvSpPr>
          <p:cNvPr id="35" name="Shape">
            <a:extLst>
              <a:ext uri="{FF2B5EF4-FFF2-40B4-BE49-F238E27FC236}">
                <a16:creationId xmlns:a16="http://schemas.microsoft.com/office/drawing/2014/main" id="{6864BD80-9EF1-44C5-8500-3A3F8CC8EE7A}"/>
              </a:ext>
            </a:extLst>
          </p:cNvPr>
          <p:cNvSpPr/>
          <p:nvPr/>
        </p:nvSpPr>
        <p:spPr>
          <a:xfrm>
            <a:off x="969555" y="4784045"/>
            <a:ext cx="10012680" cy="896112"/>
          </a:xfrm>
          <a:prstGeom prst="roundRect">
            <a:avLst/>
          </a:prstGeom>
          <a:solidFill>
            <a:srgbClr val="FCEDEE"/>
          </a:solidFill>
          <a:ln w="12700">
            <a:solidFill>
              <a:srgbClr val="C5282F"/>
            </a:solidFill>
          </a:ln>
        </p:spPr>
        <p:txBody>
          <a:bodyPr/>
          <a:lstStyle/>
          <a:p>
            <a:endParaRPr lang="zh-CN" altLang="en-US"/>
          </a:p>
        </p:txBody>
      </p:sp>
      <p:sp>
        <p:nvSpPr>
          <p:cNvPr id="36" name="Text">
            <a:extLst>
              <a:ext uri="{FF2B5EF4-FFF2-40B4-BE49-F238E27FC236}">
                <a16:creationId xmlns:a16="http://schemas.microsoft.com/office/drawing/2014/main" id="{A3D16D3C-16AD-4DF8-B3B5-A09AF0E43AF5}"/>
              </a:ext>
            </a:extLst>
          </p:cNvPr>
          <p:cNvSpPr txBox="1"/>
          <p:nvPr/>
        </p:nvSpPr>
        <p:spPr>
          <a:xfrm>
            <a:off x="1262163" y="4994357"/>
            <a:ext cx="1920240" cy="320040"/>
          </a:xfrm>
          <a:prstGeom prst="rect">
            <a:avLst/>
          </a:prstGeom>
          <a:noFill/>
          <a:ln>
            <a:noFill/>
          </a:ln>
        </p:spPr>
        <p:txBody>
          <a:bodyPr wrap="square" lIns="60000" tIns="40000" rIns="60000" bIns="40000" anchor="t"/>
          <a:lstStyle/>
          <a:p>
            <a:pPr algn="l"/>
            <a:r>
              <a:rPr lang="zh-CN" sz="2400" b="1">
                <a:solidFill>
                  <a:srgbClr val="C5282F"/>
                </a:solidFill>
                <a:latin typeface="Microsoft YaHei"/>
                <a:ea typeface="Microsoft YaHei"/>
                <a:cs typeface="Microsoft YaHei"/>
              </a:rPr>
              <a:t>工程实践</a:t>
            </a:r>
          </a:p>
        </p:txBody>
      </p:sp>
      <p:sp>
        <p:nvSpPr>
          <p:cNvPr id="37" name="Text">
            <a:extLst>
              <a:ext uri="{FF2B5EF4-FFF2-40B4-BE49-F238E27FC236}">
                <a16:creationId xmlns:a16="http://schemas.microsoft.com/office/drawing/2014/main" id="{F072D1D8-471B-4D02-B444-DE3961786AB0}"/>
              </a:ext>
            </a:extLst>
          </p:cNvPr>
          <p:cNvSpPr txBox="1"/>
          <p:nvPr/>
        </p:nvSpPr>
        <p:spPr>
          <a:xfrm>
            <a:off x="3392715" y="5040077"/>
            <a:ext cx="6995160" cy="256032"/>
          </a:xfrm>
          <a:prstGeom prst="rect">
            <a:avLst/>
          </a:prstGeom>
          <a:noFill/>
          <a:ln>
            <a:noFill/>
          </a:ln>
        </p:spPr>
        <p:txBody>
          <a:bodyPr wrap="square" lIns="60000" tIns="40000" rIns="60000" bIns="40000" anchor="t"/>
          <a:lstStyle/>
          <a:p>
            <a:r>
              <a:rPr lang="zh-CN" altLang="en-US" sz="1600" b="1" dirty="0">
                <a:solidFill>
                  <a:srgbClr val="1C2530"/>
                </a:solidFill>
                <a:latin typeface="Microsoft YaHei"/>
                <a:ea typeface="Microsoft YaHei"/>
              </a:rPr>
              <a:t>教育</a:t>
            </a:r>
            <a:r>
              <a:rPr lang="en-US" altLang="zh-CN" sz="1600" b="1" dirty="0">
                <a:solidFill>
                  <a:srgbClr val="1C2530"/>
                </a:solidFill>
                <a:latin typeface="Microsoft YaHei"/>
                <a:ea typeface="Microsoft YaHei"/>
              </a:rPr>
              <a:t>AI</a:t>
            </a:r>
            <a:r>
              <a:rPr lang="zh-CN" altLang="en-US" sz="1600" b="1" dirty="0">
                <a:solidFill>
                  <a:srgbClr val="1C2530"/>
                </a:solidFill>
                <a:latin typeface="Microsoft YaHei"/>
                <a:ea typeface="Microsoft YaHei"/>
              </a:rPr>
              <a:t>产品研发｜企业真实项目</a:t>
            </a:r>
          </a:p>
        </p:txBody>
      </p:sp>
      <p:sp>
        <p:nvSpPr>
          <p:cNvPr id="38" name="Card 实践目标">
            <a:extLst>
              <a:ext uri="{FF2B5EF4-FFF2-40B4-BE49-F238E27FC236}">
                <a16:creationId xmlns:a16="http://schemas.microsoft.com/office/drawing/2014/main" id="{8BF2BAE3-2469-47D8-9C76-201A484D2EE0}"/>
              </a:ext>
            </a:extLst>
          </p:cNvPr>
          <p:cNvSpPr/>
          <p:nvPr/>
        </p:nvSpPr>
        <p:spPr>
          <a:xfrm>
            <a:off x="969555" y="5799029"/>
            <a:ext cx="4800600" cy="983234"/>
          </a:xfrm>
          <a:prstGeom prst="roundRect">
            <a:avLst/>
          </a:prstGeom>
          <a:solidFill>
            <a:srgbClr val="FFFFFF"/>
          </a:solidFill>
          <a:ln w="12700">
            <a:solidFill>
              <a:srgbClr val="D9E1EC"/>
            </a:solidFill>
          </a:ln>
        </p:spPr>
        <p:txBody>
          <a:bodyPr/>
          <a:lstStyle/>
          <a:p>
            <a:endParaRPr lang="zh-CN" altLang="en-US"/>
          </a:p>
        </p:txBody>
      </p:sp>
      <p:sp>
        <p:nvSpPr>
          <p:cNvPr id="39" name="Line">
            <a:extLst>
              <a:ext uri="{FF2B5EF4-FFF2-40B4-BE49-F238E27FC236}">
                <a16:creationId xmlns:a16="http://schemas.microsoft.com/office/drawing/2014/main" id="{8A6F67E0-6672-498E-8A94-50927C7DEBAC}"/>
              </a:ext>
            </a:extLst>
          </p:cNvPr>
          <p:cNvSpPr/>
          <p:nvPr/>
        </p:nvSpPr>
        <p:spPr>
          <a:xfrm>
            <a:off x="969555" y="5799028"/>
            <a:ext cx="91440" cy="914191"/>
          </a:xfrm>
          <a:prstGeom prst="rect">
            <a:avLst/>
          </a:prstGeom>
          <a:solidFill>
            <a:srgbClr val="00A6A6"/>
          </a:solidFill>
          <a:ln>
            <a:noFill/>
          </a:ln>
        </p:spPr>
        <p:txBody>
          <a:bodyPr/>
          <a:lstStyle/>
          <a:p>
            <a:endParaRPr lang="zh-CN" altLang="en-US"/>
          </a:p>
        </p:txBody>
      </p:sp>
      <p:sp>
        <p:nvSpPr>
          <p:cNvPr id="40" name="Text">
            <a:extLst>
              <a:ext uri="{FF2B5EF4-FFF2-40B4-BE49-F238E27FC236}">
                <a16:creationId xmlns:a16="http://schemas.microsoft.com/office/drawing/2014/main" id="{10AD2A91-953A-429D-841D-041210728B4C}"/>
              </a:ext>
            </a:extLst>
          </p:cNvPr>
          <p:cNvSpPr txBox="1"/>
          <p:nvPr/>
        </p:nvSpPr>
        <p:spPr>
          <a:xfrm>
            <a:off x="1134147" y="5908757"/>
            <a:ext cx="4507992" cy="292608"/>
          </a:xfrm>
          <a:prstGeom prst="rect">
            <a:avLst/>
          </a:prstGeom>
          <a:noFill/>
          <a:ln>
            <a:noFill/>
          </a:ln>
        </p:spPr>
        <p:txBody>
          <a:bodyPr wrap="square" lIns="60000" tIns="40000" rIns="60000" bIns="40000" anchor="t"/>
          <a:lstStyle/>
          <a:p>
            <a:pPr algn="l"/>
            <a:r>
              <a:rPr lang="zh-CN" sz="2000" b="1">
                <a:solidFill>
                  <a:srgbClr val="00A6A6"/>
                </a:solidFill>
                <a:latin typeface="Microsoft YaHei"/>
                <a:ea typeface="Microsoft YaHei"/>
                <a:cs typeface="Microsoft YaHei"/>
              </a:rPr>
              <a:t>实践目标</a:t>
            </a:r>
          </a:p>
        </p:txBody>
      </p:sp>
      <p:sp>
        <p:nvSpPr>
          <p:cNvPr id="41" name="Text">
            <a:extLst>
              <a:ext uri="{FF2B5EF4-FFF2-40B4-BE49-F238E27FC236}">
                <a16:creationId xmlns:a16="http://schemas.microsoft.com/office/drawing/2014/main" id="{221C01E3-DD75-4AEE-9184-20FDC81BC020}"/>
              </a:ext>
            </a:extLst>
          </p:cNvPr>
          <p:cNvSpPr txBox="1"/>
          <p:nvPr/>
        </p:nvSpPr>
        <p:spPr>
          <a:xfrm>
            <a:off x="1152435" y="6274517"/>
            <a:ext cx="4471416" cy="256032"/>
          </a:xfrm>
          <a:prstGeom prst="rect">
            <a:avLst/>
          </a:prstGeom>
          <a:noFill/>
          <a:ln>
            <a:noFill/>
          </a:ln>
        </p:spPr>
        <p:txBody>
          <a:bodyPr wrap="square" lIns="60000" tIns="40000" rIns="60000" bIns="40000" anchor="t"/>
          <a:lstStyle/>
          <a:p>
            <a:pPr marL="230000" indent="-120000" algn="l">
              <a:buFont typeface="Arial"/>
              <a:buChar char="•"/>
            </a:pPr>
            <a:r>
              <a:rPr lang="zh-CN" sz="1120" dirty="0">
                <a:solidFill>
                  <a:srgbClr val="5B677A"/>
                </a:solidFill>
                <a:latin typeface="Microsoft YaHei"/>
                <a:ea typeface="Microsoft YaHei"/>
                <a:cs typeface="Microsoft YaHei"/>
              </a:rPr>
              <a:t>让学生在真实教育问题中完成技术方案、教学方案与产品方案的转化</a:t>
            </a:r>
          </a:p>
        </p:txBody>
      </p:sp>
      <p:sp>
        <p:nvSpPr>
          <p:cNvPr id="42" name="Card 评价方式">
            <a:extLst>
              <a:ext uri="{FF2B5EF4-FFF2-40B4-BE49-F238E27FC236}">
                <a16:creationId xmlns:a16="http://schemas.microsoft.com/office/drawing/2014/main" id="{A15F7791-E975-48A8-AE74-FE25D91BAAE5}"/>
              </a:ext>
            </a:extLst>
          </p:cNvPr>
          <p:cNvSpPr/>
          <p:nvPr/>
        </p:nvSpPr>
        <p:spPr>
          <a:xfrm>
            <a:off x="6181635" y="5799029"/>
            <a:ext cx="4800600" cy="983234"/>
          </a:xfrm>
          <a:prstGeom prst="roundRect">
            <a:avLst/>
          </a:prstGeom>
          <a:solidFill>
            <a:srgbClr val="FFFFFF"/>
          </a:solidFill>
          <a:ln w="12700">
            <a:solidFill>
              <a:srgbClr val="D9E1EC"/>
            </a:solidFill>
          </a:ln>
        </p:spPr>
        <p:txBody>
          <a:bodyPr/>
          <a:lstStyle/>
          <a:p>
            <a:endParaRPr lang="zh-CN" altLang="en-US"/>
          </a:p>
        </p:txBody>
      </p:sp>
      <p:sp>
        <p:nvSpPr>
          <p:cNvPr id="43" name="Line">
            <a:extLst>
              <a:ext uri="{FF2B5EF4-FFF2-40B4-BE49-F238E27FC236}">
                <a16:creationId xmlns:a16="http://schemas.microsoft.com/office/drawing/2014/main" id="{DF5B64CA-93B0-4D99-BC48-74C948A4E2E9}"/>
              </a:ext>
            </a:extLst>
          </p:cNvPr>
          <p:cNvSpPr/>
          <p:nvPr/>
        </p:nvSpPr>
        <p:spPr>
          <a:xfrm>
            <a:off x="6181634" y="5799029"/>
            <a:ext cx="87863" cy="914190"/>
          </a:xfrm>
          <a:prstGeom prst="rect">
            <a:avLst/>
          </a:prstGeom>
          <a:solidFill>
            <a:srgbClr val="D9A441"/>
          </a:solidFill>
          <a:ln>
            <a:noFill/>
          </a:ln>
        </p:spPr>
        <p:txBody>
          <a:bodyPr/>
          <a:lstStyle/>
          <a:p>
            <a:endParaRPr lang="zh-CN" altLang="en-US"/>
          </a:p>
        </p:txBody>
      </p:sp>
      <p:sp>
        <p:nvSpPr>
          <p:cNvPr id="44" name="Text">
            <a:extLst>
              <a:ext uri="{FF2B5EF4-FFF2-40B4-BE49-F238E27FC236}">
                <a16:creationId xmlns:a16="http://schemas.microsoft.com/office/drawing/2014/main" id="{A43779DE-4D4C-45FC-8FEB-90BEA5A9A908}"/>
              </a:ext>
            </a:extLst>
          </p:cNvPr>
          <p:cNvSpPr txBox="1"/>
          <p:nvPr/>
        </p:nvSpPr>
        <p:spPr>
          <a:xfrm>
            <a:off x="6346227" y="5908757"/>
            <a:ext cx="4507992" cy="292608"/>
          </a:xfrm>
          <a:prstGeom prst="rect">
            <a:avLst/>
          </a:prstGeom>
          <a:noFill/>
          <a:ln>
            <a:noFill/>
          </a:ln>
        </p:spPr>
        <p:txBody>
          <a:bodyPr wrap="square" lIns="60000" tIns="40000" rIns="60000" bIns="40000" anchor="t"/>
          <a:lstStyle/>
          <a:p>
            <a:pPr algn="l"/>
            <a:r>
              <a:rPr lang="zh-CN" sz="2000" b="1">
                <a:solidFill>
                  <a:srgbClr val="D9A441"/>
                </a:solidFill>
                <a:latin typeface="Microsoft YaHei"/>
                <a:ea typeface="Microsoft YaHei"/>
                <a:cs typeface="Microsoft YaHei"/>
              </a:rPr>
              <a:t>评价方式</a:t>
            </a:r>
          </a:p>
        </p:txBody>
      </p:sp>
      <p:sp>
        <p:nvSpPr>
          <p:cNvPr id="45" name="Text">
            <a:extLst>
              <a:ext uri="{FF2B5EF4-FFF2-40B4-BE49-F238E27FC236}">
                <a16:creationId xmlns:a16="http://schemas.microsoft.com/office/drawing/2014/main" id="{2EDA5DFD-3A96-46A3-B403-7534D92C280A}"/>
              </a:ext>
            </a:extLst>
          </p:cNvPr>
          <p:cNvSpPr txBox="1"/>
          <p:nvPr/>
        </p:nvSpPr>
        <p:spPr>
          <a:xfrm>
            <a:off x="6364515" y="6274517"/>
            <a:ext cx="4471416" cy="256032"/>
          </a:xfrm>
          <a:prstGeom prst="rect">
            <a:avLst/>
          </a:prstGeom>
          <a:noFill/>
          <a:ln>
            <a:noFill/>
          </a:ln>
        </p:spPr>
        <p:txBody>
          <a:bodyPr wrap="square" lIns="60000" tIns="40000" rIns="60000" bIns="40000" anchor="t"/>
          <a:lstStyle/>
          <a:p>
            <a:pPr marL="230000" indent="-120000" algn="l">
              <a:buFont typeface="Arial"/>
              <a:buChar char="•"/>
            </a:pPr>
            <a:r>
              <a:rPr lang="zh-CN" sz="1120">
                <a:solidFill>
                  <a:srgbClr val="5B677A"/>
                </a:solidFill>
                <a:latin typeface="Microsoft YaHei"/>
                <a:ea typeface="Microsoft YaHei"/>
                <a:cs typeface="Microsoft YaHei"/>
              </a:rPr>
              <a:t>项目成果、课堂表现、实习表现、毕业设计多元评价协同</a:t>
            </a:r>
          </a:p>
        </p:txBody>
      </p:sp>
      <p:sp>
        <p:nvSpPr>
          <p:cNvPr id="46" name="矩形 45">
            <a:extLst>
              <a:ext uri="{FF2B5EF4-FFF2-40B4-BE49-F238E27FC236}">
                <a16:creationId xmlns:a16="http://schemas.microsoft.com/office/drawing/2014/main" id="{9CF45D67-242C-4856-897D-D6168AD10B39}"/>
              </a:ext>
            </a:extLst>
          </p:cNvPr>
          <p:cNvSpPr/>
          <p:nvPr/>
        </p:nvSpPr>
        <p:spPr>
          <a:xfrm>
            <a:off x="0" y="924560"/>
            <a:ext cx="12192000" cy="665627"/>
          </a:xfrm>
          <a:prstGeom prst="rect">
            <a:avLst/>
          </a:prstGeom>
          <a:solidFill>
            <a:srgbClr val="4472C4">
              <a:lumMod val="50000"/>
            </a:srgbClr>
          </a:solidFill>
          <a:ln w="12700" cap="flat" cmpd="sng" algn="ctr">
            <a:solidFill>
              <a:srgbClr val="4472C4">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a:ea typeface="微软雅黑"/>
              <a:cs typeface="+mn-cs"/>
            </a:endParaRPr>
          </a:p>
        </p:txBody>
      </p:sp>
      <p:sp>
        <p:nvSpPr>
          <p:cNvPr id="47" name="矩形 46">
            <a:extLst>
              <a:ext uri="{FF2B5EF4-FFF2-40B4-BE49-F238E27FC236}">
                <a16:creationId xmlns:a16="http://schemas.microsoft.com/office/drawing/2014/main" id="{DB44C352-49FE-44AE-821B-7B390D4F9DAE}"/>
              </a:ext>
            </a:extLst>
          </p:cNvPr>
          <p:cNvSpPr/>
          <p:nvPr/>
        </p:nvSpPr>
        <p:spPr>
          <a:xfrm>
            <a:off x="4917439" y="924560"/>
            <a:ext cx="2152843" cy="665627"/>
          </a:xfrm>
          <a:prstGeom prst="rect">
            <a:avLst/>
          </a:prstGeom>
          <a:solidFill>
            <a:srgbClr val="FF9900"/>
          </a:solidFill>
          <a:ln w="12700" cap="flat" cmpd="sng" algn="ctr">
            <a:solidFill>
              <a:srgbClr val="FF99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Arial"/>
              <a:ea typeface="微软雅黑"/>
              <a:cs typeface="+mn-cs"/>
            </a:endParaRPr>
          </a:p>
        </p:txBody>
      </p:sp>
      <p:sp>
        <p:nvSpPr>
          <p:cNvPr id="48" name="文本框 14">
            <a:extLst>
              <a:ext uri="{FF2B5EF4-FFF2-40B4-BE49-F238E27FC236}">
                <a16:creationId xmlns:a16="http://schemas.microsoft.com/office/drawing/2014/main" id="{FB5AEE9A-3CDA-487D-8527-C50D66397A17}"/>
              </a:ext>
            </a:extLst>
          </p:cNvPr>
          <p:cNvSpPr txBox="1"/>
          <p:nvPr/>
        </p:nvSpPr>
        <p:spPr>
          <a:xfrm>
            <a:off x="359003" y="1107051"/>
            <a:ext cx="1793840" cy="369332"/>
          </a:xfrm>
          <a:prstGeom prst="rect">
            <a:avLst/>
          </a:prstGeom>
          <a:noFill/>
        </p:spPr>
        <p:txBody>
          <a:bodyPr wrap="square" rtlCol="0">
            <a:spAutoFit/>
          </a:bodyPr>
          <a:lstStyle/>
          <a:p>
            <a:pPr algn="just"/>
            <a:r>
              <a:rPr lang="zh-CN" altLang="en-US" b="1">
                <a:solidFill>
                  <a:prstClr val="white"/>
                </a:solidFill>
                <a:latin typeface="Arial"/>
                <a:ea typeface="微软雅黑"/>
              </a:rPr>
              <a:t>一  总体思路</a:t>
            </a:r>
            <a:endParaRPr lang="zh-CN" altLang="en-US" b="1" dirty="0">
              <a:solidFill>
                <a:prstClr val="white"/>
              </a:solidFill>
              <a:latin typeface="Arial"/>
              <a:ea typeface="微软雅黑"/>
            </a:endParaRPr>
          </a:p>
        </p:txBody>
      </p:sp>
      <p:sp>
        <p:nvSpPr>
          <p:cNvPr id="50" name="文本框 14">
            <a:extLst>
              <a:ext uri="{FF2B5EF4-FFF2-40B4-BE49-F238E27FC236}">
                <a16:creationId xmlns:a16="http://schemas.microsoft.com/office/drawing/2014/main" id="{BB06ADFE-163E-4705-910A-4EE21B6304DE}"/>
              </a:ext>
            </a:extLst>
          </p:cNvPr>
          <p:cNvSpPr txBox="1"/>
          <p:nvPr/>
        </p:nvSpPr>
        <p:spPr>
          <a:xfrm>
            <a:off x="2642427" y="1107051"/>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二  课程体系实施</a:t>
            </a:r>
            <a:endParaRPr lang="zh-CN" altLang="en-US" b="1" dirty="0">
              <a:solidFill>
                <a:prstClr val="white"/>
              </a:solidFill>
              <a:latin typeface="Arial"/>
              <a:ea typeface="微软雅黑"/>
            </a:endParaRPr>
          </a:p>
        </p:txBody>
      </p:sp>
      <p:sp>
        <p:nvSpPr>
          <p:cNvPr id="51" name="文本框 14">
            <a:extLst>
              <a:ext uri="{FF2B5EF4-FFF2-40B4-BE49-F238E27FC236}">
                <a16:creationId xmlns:a16="http://schemas.microsoft.com/office/drawing/2014/main" id="{9B19FA25-8EA7-477A-8F7A-2E603227DA26}"/>
              </a:ext>
            </a:extLst>
          </p:cNvPr>
          <p:cNvSpPr txBox="1"/>
          <p:nvPr/>
        </p:nvSpPr>
        <p:spPr>
          <a:xfrm>
            <a:off x="5054466" y="1071284"/>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三  实践体系实施</a:t>
            </a:r>
            <a:endParaRPr lang="zh-CN" altLang="en-US" b="1" dirty="0">
              <a:solidFill>
                <a:prstClr val="white"/>
              </a:solidFill>
              <a:latin typeface="Arial"/>
              <a:ea typeface="微软雅黑"/>
            </a:endParaRPr>
          </a:p>
        </p:txBody>
      </p:sp>
      <p:sp>
        <p:nvSpPr>
          <p:cNvPr id="52" name="文本框 14">
            <a:extLst>
              <a:ext uri="{FF2B5EF4-FFF2-40B4-BE49-F238E27FC236}">
                <a16:creationId xmlns:a16="http://schemas.microsoft.com/office/drawing/2014/main" id="{5979E5AE-A8F4-41E4-8C4F-796D5873F234}"/>
              </a:ext>
            </a:extLst>
          </p:cNvPr>
          <p:cNvSpPr txBox="1"/>
          <p:nvPr/>
        </p:nvSpPr>
        <p:spPr>
          <a:xfrm>
            <a:off x="7338510" y="1071183"/>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四  导师制与学业指导</a:t>
            </a:r>
            <a:endParaRPr lang="zh-CN" altLang="en-US" b="1" dirty="0">
              <a:solidFill>
                <a:prstClr val="white"/>
              </a:solidFill>
              <a:latin typeface="Arial"/>
              <a:ea typeface="微软雅黑"/>
            </a:endParaRPr>
          </a:p>
        </p:txBody>
      </p:sp>
      <p:sp>
        <p:nvSpPr>
          <p:cNvPr id="53" name="文本框 14">
            <a:extLst>
              <a:ext uri="{FF2B5EF4-FFF2-40B4-BE49-F238E27FC236}">
                <a16:creationId xmlns:a16="http://schemas.microsoft.com/office/drawing/2014/main" id="{C9F18B51-3F49-4394-87BC-04AEC4717E4F}"/>
              </a:ext>
            </a:extLst>
          </p:cNvPr>
          <p:cNvSpPr txBox="1"/>
          <p:nvPr/>
        </p:nvSpPr>
        <p:spPr>
          <a:xfrm>
            <a:off x="10133884" y="1058701"/>
            <a:ext cx="2058115" cy="369332"/>
          </a:xfrm>
          <a:prstGeom prst="rect">
            <a:avLst/>
          </a:prstGeom>
          <a:noFill/>
        </p:spPr>
        <p:txBody>
          <a:bodyPr wrap="square" rtlCol="0">
            <a:spAutoFit/>
          </a:bodyPr>
          <a:lstStyle/>
          <a:p>
            <a:pPr algn="just"/>
            <a:r>
              <a:rPr lang="zh-CN" altLang="en-US" b="1">
                <a:solidFill>
                  <a:prstClr val="white"/>
                </a:solidFill>
                <a:latin typeface="Arial"/>
                <a:ea typeface="微软雅黑"/>
              </a:rPr>
              <a:t>五  保障机制</a:t>
            </a:r>
            <a:endParaRPr lang="zh-CN" altLang="en-US" b="1" dirty="0">
              <a:solidFill>
                <a:prstClr val="white"/>
              </a:solidFill>
              <a:latin typeface="Arial"/>
              <a:ea typeface="微软雅黑"/>
            </a:endParaRPr>
          </a:p>
        </p:txBody>
      </p:sp>
    </p:spTree>
    <p:extLst>
      <p:ext uri="{BB962C8B-B14F-4D97-AF65-F5344CB8AC3E}">
        <p14:creationId xmlns:p14="http://schemas.microsoft.com/office/powerpoint/2010/main" val="20177943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a:extLst>
              <a:ext uri="{FF2B5EF4-FFF2-40B4-BE49-F238E27FC236}">
                <a16:creationId xmlns:a16="http://schemas.microsoft.com/office/drawing/2014/main" id="{39AF018C-BD1E-4D1C-A575-89BC7165FB5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189341" y="28710"/>
            <a:ext cx="881729" cy="881729"/>
          </a:xfrm>
          <a:prstGeom prst="rect">
            <a:avLst/>
          </a:prstGeom>
        </p:spPr>
      </p:pic>
      <p:pic>
        <p:nvPicPr>
          <p:cNvPr id="24" name="图片 23">
            <a:extLst>
              <a:ext uri="{FF2B5EF4-FFF2-40B4-BE49-F238E27FC236}">
                <a16:creationId xmlns:a16="http://schemas.microsoft.com/office/drawing/2014/main" id="{118A43A9-C67F-4CB1-B9F4-63E761CBC2D0}"/>
              </a:ext>
            </a:extLst>
          </p:cNvPr>
          <p:cNvPicPr>
            <a:picLocks noChangeAspect="1"/>
          </p:cNvPicPr>
          <p:nvPr/>
        </p:nvPicPr>
        <p:blipFill>
          <a:blip r:embed="rId4" cstate="print">
            <a:extLst>
              <a:ext uri="{28A0092B-C50C-407E-A947-70E740481C1C}">
                <a14:useLocalDpi xmlns:a14="http://schemas.microsoft.com/office/drawing/2010/main" val="0"/>
              </a:ext>
            </a:extLst>
          </a:blip>
          <a:srcRect l="1133" r="1133"/>
          <a:stretch/>
        </p:blipFill>
        <p:spPr>
          <a:xfrm>
            <a:off x="274100" y="75737"/>
            <a:ext cx="802225" cy="806727"/>
          </a:xfrm>
          <a:prstGeom prst="rect">
            <a:avLst/>
          </a:prstGeom>
        </p:spPr>
      </p:pic>
      <p:sp>
        <p:nvSpPr>
          <p:cNvPr id="49" name="文本框 14">
            <a:extLst>
              <a:ext uri="{FF2B5EF4-FFF2-40B4-BE49-F238E27FC236}">
                <a16:creationId xmlns:a16="http://schemas.microsoft.com/office/drawing/2014/main" id="{1468C16D-84D0-4B5D-92BA-1BB4D58F722E}"/>
              </a:ext>
            </a:extLst>
          </p:cNvPr>
          <p:cNvSpPr txBox="1"/>
          <p:nvPr/>
        </p:nvSpPr>
        <p:spPr>
          <a:xfrm>
            <a:off x="0" y="1059901"/>
            <a:ext cx="12191999" cy="707886"/>
          </a:xfrm>
          <a:prstGeom prst="rect">
            <a:avLst/>
          </a:prstGeom>
          <a:noFill/>
        </p:spPr>
        <p:txBody>
          <a:bodyPr wrap="square" rtlCol="0">
            <a:spAutoFit/>
          </a:bodyPr>
          <a:lstStyle/>
          <a:p>
            <a:pPr algn="ctr"/>
            <a:r>
              <a:rPr lang="zh-CN" altLang="en-US" sz="2000" b="1" dirty="0">
                <a:solidFill>
                  <a:prstClr val="white"/>
                </a:solidFill>
                <a:latin typeface="Arial"/>
                <a:ea typeface="微软雅黑"/>
              </a:rPr>
              <a:t>教育学</a:t>
            </a:r>
            <a:r>
              <a:rPr lang="en-US" altLang="zh-CN" sz="2000" b="1" dirty="0">
                <a:solidFill>
                  <a:prstClr val="white"/>
                </a:solidFill>
                <a:latin typeface="Arial"/>
                <a:ea typeface="微软雅黑"/>
              </a:rPr>
              <a:t>+</a:t>
            </a:r>
            <a:r>
              <a:rPr lang="zh-CN" altLang="en-US" sz="2000" b="1" dirty="0">
                <a:solidFill>
                  <a:prstClr val="white"/>
                </a:solidFill>
                <a:latin typeface="Arial"/>
                <a:ea typeface="微软雅黑"/>
              </a:rPr>
              <a:t>人工智能”双学士学位复合型人才培养项目</a:t>
            </a:r>
            <a:endParaRPr lang="en-US" altLang="zh-CN" sz="2000" b="1" dirty="0">
              <a:solidFill>
                <a:prstClr val="white"/>
              </a:solidFill>
              <a:latin typeface="Arial"/>
              <a:ea typeface="微软雅黑"/>
            </a:endParaRPr>
          </a:p>
          <a:p>
            <a:pPr algn="just"/>
            <a:endParaRPr lang="zh-CN" altLang="en-US" sz="2000" b="1" dirty="0">
              <a:solidFill>
                <a:prstClr val="white"/>
              </a:solidFill>
              <a:latin typeface="Arial"/>
              <a:ea typeface="微软雅黑"/>
            </a:endParaRPr>
          </a:p>
        </p:txBody>
      </p:sp>
      <p:sp>
        <p:nvSpPr>
          <p:cNvPr id="25" name="文本框 24">
            <a:extLst>
              <a:ext uri="{FF2B5EF4-FFF2-40B4-BE49-F238E27FC236}">
                <a16:creationId xmlns:a16="http://schemas.microsoft.com/office/drawing/2014/main" id="{D2B29A73-493F-45ED-A593-8D7573299A30}"/>
              </a:ext>
            </a:extLst>
          </p:cNvPr>
          <p:cNvSpPr txBox="1"/>
          <p:nvPr/>
        </p:nvSpPr>
        <p:spPr>
          <a:xfrm>
            <a:off x="6313868" y="337344"/>
            <a:ext cx="6157730" cy="406971"/>
          </a:xfrm>
          <a:prstGeom prst="rect">
            <a:avLst/>
          </a:prstGeom>
          <a:noFill/>
        </p:spPr>
        <p:txBody>
          <a:bodyPr wrap="square">
            <a:spAutoFit/>
          </a:bodyPr>
          <a:lstStyle/>
          <a:p>
            <a:pPr algn="ctr" defTabSz="342900">
              <a:lnSpc>
                <a:spcPct val="125000"/>
              </a:lnSpc>
            </a:pPr>
            <a:endParaRPr lang="en-US" altLang="zh-CN" b="1">
              <a:latin typeface="微软雅黑" pitchFamily="34" charset="-122"/>
              <a:ea typeface="微软雅黑" pitchFamily="34" charset="-122"/>
              <a:cs typeface="Calibri" charset="0"/>
            </a:endParaRPr>
          </a:p>
        </p:txBody>
      </p:sp>
      <p:sp>
        <p:nvSpPr>
          <p:cNvPr id="26" name="文本框 11">
            <a:extLst>
              <a:ext uri="{FF2B5EF4-FFF2-40B4-BE49-F238E27FC236}">
                <a16:creationId xmlns:a16="http://schemas.microsoft.com/office/drawing/2014/main" id="{D7D3FDA0-EE55-4DA0-9A6C-9EE877927692}"/>
              </a:ext>
            </a:extLst>
          </p:cNvPr>
          <p:cNvSpPr txBox="1"/>
          <p:nvPr/>
        </p:nvSpPr>
        <p:spPr>
          <a:xfrm>
            <a:off x="1975284" y="1632283"/>
            <a:ext cx="498855"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400" b="0"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rPr>
              <a:t>1</a:t>
            </a:r>
            <a:endParaRPr kumimoji="0" lang="zh-CN" altLang="en-US" sz="4400" b="0"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27" name="文本框 12">
            <a:extLst>
              <a:ext uri="{FF2B5EF4-FFF2-40B4-BE49-F238E27FC236}">
                <a16:creationId xmlns:a16="http://schemas.microsoft.com/office/drawing/2014/main" id="{68A62499-6F06-4E26-845E-7CA94DC6CE82}"/>
              </a:ext>
            </a:extLst>
          </p:cNvPr>
          <p:cNvSpPr txBox="1"/>
          <p:nvPr/>
        </p:nvSpPr>
        <p:spPr>
          <a:xfrm>
            <a:off x="359003" y="1760040"/>
            <a:ext cx="6801862" cy="461665"/>
          </a:xfrm>
          <a:prstGeom prst="rect">
            <a:avLst/>
          </a:prstGeom>
          <a:noFill/>
        </p:spPr>
        <p:txBody>
          <a:bodyPr wrap="none" rtlCol="0">
            <a:spAutoFit/>
          </a:bodyPr>
          <a:lstStyle/>
          <a:p>
            <a:pPr marL="457200" marR="0" lvl="0" indent="-457200" algn="l" defTabSz="914400" rtl="0" eaLnBrk="1" fontAlgn="auto" latinLnBrk="0" hangingPunct="1">
              <a:lnSpc>
                <a:spcPct val="100000"/>
              </a:lnSpc>
              <a:spcBef>
                <a:spcPts val="0"/>
              </a:spcBef>
              <a:spcAft>
                <a:spcPts val="0"/>
              </a:spcAft>
              <a:buClr>
                <a:srgbClr val="C00000"/>
              </a:buClr>
              <a:buSzTx/>
              <a:buFont typeface="Wingdings" panose="05000000000000000000" pitchFamily="2" charset="2"/>
              <a:buChar char="p"/>
              <a:tabLst/>
              <a:defRPr/>
            </a:pPr>
            <a:r>
              <a:rPr lang="zh-CN" altLang="en-US" sz="2400" b="1" kern="0" dirty="0">
                <a:solidFill>
                  <a:srgbClr val="004E86"/>
                </a:solidFill>
                <a:latin typeface="微软雅黑" panose="020B0503020204020204" pitchFamily="34" charset="-122"/>
                <a:ea typeface="微软雅黑" panose="020B0503020204020204" pitchFamily="34" charset="-122"/>
              </a:rPr>
              <a:t>校内共建平台与校外共享基地形成全链条支撑</a:t>
            </a:r>
          </a:p>
        </p:txBody>
      </p:sp>
      <p:sp>
        <p:nvSpPr>
          <p:cNvPr id="18" name="文本框 17">
            <a:extLst>
              <a:ext uri="{FF2B5EF4-FFF2-40B4-BE49-F238E27FC236}">
                <a16:creationId xmlns:a16="http://schemas.microsoft.com/office/drawing/2014/main" id="{4C0D621A-BA30-4D0D-AE75-F1251D29CFDC}"/>
              </a:ext>
            </a:extLst>
          </p:cNvPr>
          <p:cNvSpPr txBox="1"/>
          <p:nvPr/>
        </p:nvSpPr>
        <p:spPr>
          <a:xfrm>
            <a:off x="6269498" y="489744"/>
            <a:ext cx="6157730" cy="406971"/>
          </a:xfrm>
          <a:prstGeom prst="rect">
            <a:avLst/>
          </a:prstGeom>
          <a:noFill/>
        </p:spPr>
        <p:txBody>
          <a:bodyPr wrap="square">
            <a:spAutoFit/>
          </a:bodyPr>
          <a:lstStyle/>
          <a:p>
            <a:pPr algn="ctr" defTabSz="342900">
              <a:lnSpc>
                <a:spcPct val="125000"/>
              </a:lnSpc>
            </a:pPr>
            <a:r>
              <a:rPr lang="zh-CN" altLang="en-US" b="1">
                <a:latin typeface="微软雅黑" pitchFamily="34" charset="-122"/>
                <a:ea typeface="微软雅黑" pitchFamily="34" charset="-122"/>
                <a:cs typeface="Calibri" charset="0"/>
              </a:rPr>
              <a:t>“教育学</a:t>
            </a:r>
            <a:r>
              <a:rPr lang="en-US" altLang="zh-CN" b="1">
                <a:latin typeface="微软雅黑" pitchFamily="34" charset="-122"/>
                <a:ea typeface="微软雅黑" pitchFamily="34" charset="-122"/>
                <a:cs typeface="Calibri" charset="0"/>
              </a:rPr>
              <a:t>+</a:t>
            </a:r>
            <a:r>
              <a:rPr lang="zh-CN" altLang="en-US" b="1">
                <a:latin typeface="微软雅黑" pitchFamily="34" charset="-122"/>
                <a:ea typeface="微软雅黑" pitchFamily="34" charset="-122"/>
                <a:cs typeface="Calibri" charset="0"/>
              </a:rPr>
              <a:t>人工智能”双学士学位复合型人才培养项目</a:t>
            </a:r>
            <a:endParaRPr lang="en-US" altLang="zh-CN" b="1">
              <a:latin typeface="微软雅黑" pitchFamily="34" charset="-122"/>
              <a:ea typeface="微软雅黑" pitchFamily="34" charset="-122"/>
              <a:cs typeface="Calibri" charset="0"/>
            </a:endParaRPr>
          </a:p>
        </p:txBody>
      </p:sp>
      <p:sp>
        <p:nvSpPr>
          <p:cNvPr id="47" name="Text">
            <a:extLst>
              <a:ext uri="{FF2B5EF4-FFF2-40B4-BE49-F238E27FC236}">
                <a16:creationId xmlns:a16="http://schemas.microsoft.com/office/drawing/2014/main" id="{7397E683-A70E-4727-9BD5-166FE811F649}"/>
              </a:ext>
            </a:extLst>
          </p:cNvPr>
          <p:cNvSpPr txBox="1"/>
          <p:nvPr/>
        </p:nvSpPr>
        <p:spPr>
          <a:xfrm>
            <a:off x="517754" y="2166617"/>
            <a:ext cx="10149840" cy="502920"/>
          </a:xfrm>
          <a:prstGeom prst="rect">
            <a:avLst/>
          </a:prstGeom>
          <a:noFill/>
          <a:ln>
            <a:noFill/>
          </a:ln>
        </p:spPr>
        <p:txBody>
          <a:bodyPr wrap="square" lIns="60000" tIns="40000" rIns="60000" bIns="40000" anchor="t"/>
          <a:lstStyle/>
          <a:p>
            <a:pPr algn="l"/>
            <a:endParaRPr lang="zh-CN" sz="2700" b="1">
              <a:solidFill>
                <a:srgbClr val="1C2530"/>
              </a:solidFill>
              <a:latin typeface="Microsoft YaHei"/>
              <a:ea typeface="Microsoft YaHei"/>
              <a:cs typeface="Microsoft YaHei"/>
            </a:endParaRPr>
          </a:p>
        </p:txBody>
      </p:sp>
      <p:sp>
        <p:nvSpPr>
          <p:cNvPr id="48" name="Card 校内共建">
            <a:extLst>
              <a:ext uri="{FF2B5EF4-FFF2-40B4-BE49-F238E27FC236}">
                <a16:creationId xmlns:a16="http://schemas.microsoft.com/office/drawing/2014/main" id="{914822ED-7EBB-4ABE-815C-5E6D48F693F3}"/>
              </a:ext>
            </a:extLst>
          </p:cNvPr>
          <p:cNvSpPr/>
          <p:nvPr/>
        </p:nvSpPr>
        <p:spPr>
          <a:xfrm>
            <a:off x="651866" y="2423047"/>
            <a:ext cx="5166360" cy="2291033"/>
          </a:xfrm>
          <a:prstGeom prst="roundRect">
            <a:avLst/>
          </a:prstGeom>
          <a:solidFill>
            <a:srgbClr val="EAF3FB"/>
          </a:solidFill>
          <a:ln w="12700">
            <a:solidFill>
              <a:srgbClr val="D9E1EC"/>
            </a:solidFill>
          </a:ln>
        </p:spPr>
        <p:txBody>
          <a:bodyPr/>
          <a:lstStyle/>
          <a:p>
            <a:endParaRPr lang="zh-CN" altLang="en-US"/>
          </a:p>
        </p:txBody>
      </p:sp>
      <p:sp>
        <p:nvSpPr>
          <p:cNvPr id="50" name="Line">
            <a:extLst>
              <a:ext uri="{FF2B5EF4-FFF2-40B4-BE49-F238E27FC236}">
                <a16:creationId xmlns:a16="http://schemas.microsoft.com/office/drawing/2014/main" id="{62A838BB-5059-4776-AEA1-7BF09764F1B4}"/>
              </a:ext>
            </a:extLst>
          </p:cNvPr>
          <p:cNvSpPr/>
          <p:nvPr/>
        </p:nvSpPr>
        <p:spPr>
          <a:xfrm>
            <a:off x="651866" y="2423047"/>
            <a:ext cx="91442" cy="2145148"/>
          </a:xfrm>
          <a:prstGeom prst="rect">
            <a:avLst/>
          </a:prstGeom>
          <a:solidFill>
            <a:srgbClr val="1F6FB2"/>
          </a:solidFill>
          <a:ln>
            <a:noFill/>
          </a:ln>
        </p:spPr>
        <p:txBody>
          <a:bodyPr/>
          <a:lstStyle/>
          <a:p>
            <a:endParaRPr lang="zh-CN" altLang="en-US"/>
          </a:p>
        </p:txBody>
      </p:sp>
      <p:sp>
        <p:nvSpPr>
          <p:cNvPr id="51" name="Text">
            <a:extLst>
              <a:ext uri="{FF2B5EF4-FFF2-40B4-BE49-F238E27FC236}">
                <a16:creationId xmlns:a16="http://schemas.microsoft.com/office/drawing/2014/main" id="{2BD142DB-A49D-421C-BF60-E97C5103AC5E}"/>
              </a:ext>
            </a:extLst>
          </p:cNvPr>
          <p:cNvSpPr txBox="1"/>
          <p:nvPr/>
        </p:nvSpPr>
        <p:spPr>
          <a:xfrm>
            <a:off x="816458" y="2532775"/>
            <a:ext cx="4873752" cy="292608"/>
          </a:xfrm>
          <a:prstGeom prst="rect">
            <a:avLst/>
          </a:prstGeom>
          <a:noFill/>
          <a:ln>
            <a:noFill/>
          </a:ln>
        </p:spPr>
        <p:txBody>
          <a:bodyPr wrap="square" lIns="60000" tIns="40000" rIns="60000" bIns="40000" anchor="t"/>
          <a:lstStyle/>
          <a:p>
            <a:pPr algn="l"/>
            <a:r>
              <a:rPr lang="zh-CN" sz="2000" b="1">
                <a:solidFill>
                  <a:srgbClr val="1F6FB2"/>
                </a:solidFill>
                <a:latin typeface="Microsoft YaHei"/>
                <a:ea typeface="Microsoft YaHei"/>
                <a:cs typeface="Microsoft YaHei"/>
              </a:rPr>
              <a:t>校内共建</a:t>
            </a:r>
          </a:p>
        </p:txBody>
      </p:sp>
      <p:sp>
        <p:nvSpPr>
          <p:cNvPr id="52" name="Text">
            <a:extLst>
              <a:ext uri="{FF2B5EF4-FFF2-40B4-BE49-F238E27FC236}">
                <a16:creationId xmlns:a16="http://schemas.microsoft.com/office/drawing/2014/main" id="{64DAAA24-2A38-4DBE-8EAA-2A4024138F36}"/>
              </a:ext>
            </a:extLst>
          </p:cNvPr>
          <p:cNvSpPr txBox="1"/>
          <p:nvPr/>
        </p:nvSpPr>
        <p:spPr>
          <a:xfrm>
            <a:off x="828852" y="3099703"/>
            <a:ext cx="4837176" cy="1255291"/>
          </a:xfrm>
          <a:prstGeom prst="rect">
            <a:avLst/>
          </a:prstGeom>
          <a:noFill/>
          <a:ln>
            <a:noFill/>
          </a:ln>
        </p:spPr>
        <p:txBody>
          <a:bodyPr wrap="square" lIns="60000" tIns="40000" rIns="60000" bIns="40000" anchor="t"/>
          <a:lstStyle/>
          <a:p>
            <a:pPr marL="230000" indent="-120000" algn="l">
              <a:buFont typeface="Arial"/>
              <a:buChar char="•"/>
            </a:pPr>
            <a:r>
              <a:rPr lang="zh-CN" sz="1600" dirty="0">
                <a:solidFill>
                  <a:srgbClr val="5B677A"/>
                </a:solidFill>
                <a:latin typeface="Microsoft YaHei"/>
                <a:ea typeface="Microsoft YaHei"/>
                <a:cs typeface="Microsoft YaHei"/>
              </a:rPr>
              <a:t>智慧教育实验室</a:t>
            </a:r>
          </a:p>
          <a:p>
            <a:pPr marL="230000" indent="-120000" algn="l">
              <a:buFont typeface="Arial"/>
              <a:buChar char="•"/>
            </a:pPr>
            <a:r>
              <a:rPr lang="zh-CN" sz="1600" dirty="0">
                <a:solidFill>
                  <a:srgbClr val="5B677A"/>
                </a:solidFill>
                <a:latin typeface="Microsoft YaHei"/>
                <a:ea typeface="Microsoft YaHei"/>
                <a:cs typeface="Microsoft YaHei"/>
              </a:rPr>
              <a:t>教育大数据中心</a:t>
            </a:r>
          </a:p>
          <a:p>
            <a:pPr marL="230000" indent="-120000" algn="l">
              <a:buFont typeface="Arial"/>
              <a:buChar char="•"/>
            </a:pPr>
            <a:r>
              <a:rPr lang="zh-CN" sz="1600" dirty="0">
                <a:solidFill>
                  <a:srgbClr val="5B677A"/>
                </a:solidFill>
                <a:latin typeface="Microsoft YaHei"/>
                <a:ea typeface="Microsoft YaHei"/>
                <a:cs typeface="Microsoft YaHei"/>
              </a:rPr>
              <a:t>AI实训平台</a:t>
            </a:r>
          </a:p>
          <a:p>
            <a:pPr marL="230000" indent="-120000" algn="l">
              <a:buFont typeface="Arial"/>
              <a:buChar char="•"/>
            </a:pPr>
            <a:r>
              <a:rPr lang="zh-CN" sz="1600" dirty="0">
                <a:solidFill>
                  <a:srgbClr val="5B677A"/>
                </a:solidFill>
                <a:latin typeface="Microsoft YaHei"/>
                <a:ea typeface="Microsoft YaHei"/>
                <a:cs typeface="Microsoft YaHei"/>
              </a:rPr>
              <a:t>科研反哺教学与课程共建机制</a:t>
            </a:r>
          </a:p>
        </p:txBody>
      </p:sp>
      <p:sp>
        <p:nvSpPr>
          <p:cNvPr id="53" name="Card 校外共享">
            <a:extLst>
              <a:ext uri="{FF2B5EF4-FFF2-40B4-BE49-F238E27FC236}">
                <a16:creationId xmlns:a16="http://schemas.microsoft.com/office/drawing/2014/main" id="{0B998AAD-A1F3-4BB3-B3D2-DB14DD66790C}"/>
              </a:ext>
            </a:extLst>
          </p:cNvPr>
          <p:cNvSpPr/>
          <p:nvPr/>
        </p:nvSpPr>
        <p:spPr>
          <a:xfrm>
            <a:off x="6229706" y="2423047"/>
            <a:ext cx="5166360" cy="2291033"/>
          </a:xfrm>
          <a:prstGeom prst="roundRect">
            <a:avLst/>
          </a:prstGeom>
          <a:solidFill>
            <a:srgbClr val="E8F7F7"/>
          </a:solidFill>
          <a:ln w="12700">
            <a:solidFill>
              <a:srgbClr val="D9E1EC"/>
            </a:solidFill>
          </a:ln>
        </p:spPr>
        <p:txBody>
          <a:bodyPr/>
          <a:lstStyle/>
          <a:p>
            <a:endParaRPr lang="zh-CN" altLang="en-US"/>
          </a:p>
        </p:txBody>
      </p:sp>
      <p:sp>
        <p:nvSpPr>
          <p:cNvPr id="56" name="Line">
            <a:extLst>
              <a:ext uri="{FF2B5EF4-FFF2-40B4-BE49-F238E27FC236}">
                <a16:creationId xmlns:a16="http://schemas.microsoft.com/office/drawing/2014/main" id="{FBAF36C3-2FEB-4187-BBBD-DE7223709820}"/>
              </a:ext>
            </a:extLst>
          </p:cNvPr>
          <p:cNvSpPr/>
          <p:nvPr/>
        </p:nvSpPr>
        <p:spPr>
          <a:xfrm>
            <a:off x="6229706" y="2423047"/>
            <a:ext cx="91442" cy="2145148"/>
          </a:xfrm>
          <a:prstGeom prst="rect">
            <a:avLst/>
          </a:prstGeom>
          <a:solidFill>
            <a:srgbClr val="00A6A6"/>
          </a:solidFill>
          <a:ln>
            <a:noFill/>
          </a:ln>
        </p:spPr>
        <p:txBody>
          <a:bodyPr/>
          <a:lstStyle/>
          <a:p>
            <a:endParaRPr lang="zh-CN" altLang="en-US"/>
          </a:p>
        </p:txBody>
      </p:sp>
      <p:sp>
        <p:nvSpPr>
          <p:cNvPr id="57" name="Text">
            <a:extLst>
              <a:ext uri="{FF2B5EF4-FFF2-40B4-BE49-F238E27FC236}">
                <a16:creationId xmlns:a16="http://schemas.microsoft.com/office/drawing/2014/main" id="{0C700322-7AF8-4F49-8D57-4FBC9F21A1D4}"/>
              </a:ext>
            </a:extLst>
          </p:cNvPr>
          <p:cNvSpPr txBox="1"/>
          <p:nvPr/>
        </p:nvSpPr>
        <p:spPr>
          <a:xfrm>
            <a:off x="6394298" y="2532775"/>
            <a:ext cx="4873752" cy="292608"/>
          </a:xfrm>
          <a:prstGeom prst="rect">
            <a:avLst/>
          </a:prstGeom>
          <a:noFill/>
          <a:ln>
            <a:noFill/>
          </a:ln>
        </p:spPr>
        <p:txBody>
          <a:bodyPr wrap="square" lIns="60000" tIns="40000" rIns="60000" bIns="40000" anchor="t"/>
          <a:lstStyle/>
          <a:p>
            <a:pPr algn="l"/>
            <a:r>
              <a:rPr lang="zh-CN" sz="2000" b="1">
                <a:solidFill>
                  <a:srgbClr val="00A6A6"/>
                </a:solidFill>
                <a:latin typeface="Microsoft YaHei"/>
                <a:ea typeface="Microsoft YaHei"/>
                <a:cs typeface="Microsoft YaHei"/>
              </a:rPr>
              <a:t>校外共享</a:t>
            </a:r>
          </a:p>
        </p:txBody>
      </p:sp>
      <p:sp>
        <p:nvSpPr>
          <p:cNvPr id="58" name="Text">
            <a:extLst>
              <a:ext uri="{FF2B5EF4-FFF2-40B4-BE49-F238E27FC236}">
                <a16:creationId xmlns:a16="http://schemas.microsoft.com/office/drawing/2014/main" id="{8DD5A906-53A9-4037-8009-2BA44D4B64C4}"/>
              </a:ext>
            </a:extLst>
          </p:cNvPr>
          <p:cNvSpPr txBox="1"/>
          <p:nvPr/>
        </p:nvSpPr>
        <p:spPr>
          <a:xfrm>
            <a:off x="6406692" y="3099703"/>
            <a:ext cx="4837176" cy="1255291"/>
          </a:xfrm>
          <a:prstGeom prst="rect">
            <a:avLst/>
          </a:prstGeom>
          <a:noFill/>
          <a:ln>
            <a:noFill/>
          </a:ln>
        </p:spPr>
        <p:txBody>
          <a:bodyPr wrap="square" lIns="60000" tIns="40000" rIns="60000" bIns="40000" anchor="t"/>
          <a:lstStyle/>
          <a:p>
            <a:pPr marL="230000" indent="-120000" algn="l">
              <a:buFont typeface="Arial"/>
              <a:buChar char="•"/>
            </a:pPr>
            <a:r>
              <a:rPr lang="zh-CN" sz="1600" dirty="0">
                <a:solidFill>
                  <a:srgbClr val="5B677A"/>
                </a:solidFill>
                <a:latin typeface="Microsoft YaHei"/>
                <a:ea typeface="Microsoft YaHei"/>
                <a:cs typeface="Microsoft YaHei"/>
              </a:rPr>
              <a:t>华为、科大讯飞等企业实践基地</a:t>
            </a:r>
          </a:p>
          <a:p>
            <a:pPr marL="230000" indent="-120000" algn="l">
              <a:buFont typeface="Arial"/>
              <a:buChar char="•"/>
            </a:pPr>
            <a:r>
              <a:rPr lang="zh-CN" sz="1600" dirty="0">
                <a:solidFill>
                  <a:srgbClr val="5B677A"/>
                </a:solidFill>
                <a:latin typeface="Microsoft YaHei"/>
                <a:ea typeface="Microsoft YaHei"/>
                <a:cs typeface="Microsoft YaHei"/>
              </a:rPr>
              <a:t>中小学智慧教育见习与实习场景</a:t>
            </a:r>
          </a:p>
          <a:p>
            <a:pPr marL="230000" indent="-120000" algn="l">
              <a:buFont typeface="Arial"/>
              <a:buChar char="•"/>
            </a:pPr>
            <a:r>
              <a:rPr lang="zh-CN" sz="1600" dirty="0">
                <a:solidFill>
                  <a:srgbClr val="5B677A"/>
                </a:solidFill>
                <a:latin typeface="Microsoft YaHei"/>
                <a:ea typeface="Microsoft YaHei"/>
                <a:cs typeface="Microsoft YaHei"/>
              </a:rPr>
              <a:t>校外“三校一院”协同资源</a:t>
            </a:r>
          </a:p>
          <a:p>
            <a:pPr marL="230000" indent="-120000" algn="l">
              <a:buFont typeface="Arial"/>
              <a:buChar char="•"/>
            </a:pPr>
            <a:r>
              <a:rPr lang="zh-CN" sz="1600" dirty="0">
                <a:solidFill>
                  <a:srgbClr val="5B677A"/>
                </a:solidFill>
                <a:latin typeface="Microsoft YaHei"/>
                <a:ea typeface="Microsoft YaHei"/>
                <a:cs typeface="Microsoft YaHei"/>
              </a:rPr>
              <a:t>企业真实项目导入课程与实训</a:t>
            </a:r>
          </a:p>
        </p:txBody>
      </p:sp>
      <p:sp>
        <p:nvSpPr>
          <p:cNvPr id="59" name="Text">
            <a:extLst>
              <a:ext uri="{FF2B5EF4-FFF2-40B4-BE49-F238E27FC236}">
                <a16:creationId xmlns:a16="http://schemas.microsoft.com/office/drawing/2014/main" id="{F9AF0B48-5F71-4796-8D41-83A9105E096C}"/>
              </a:ext>
            </a:extLst>
          </p:cNvPr>
          <p:cNvSpPr txBox="1"/>
          <p:nvPr/>
        </p:nvSpPr>
        <p:spPr>
          <a:xfrm>
            <a:off x="877420" y="6455113"/>
            <a:ext cx="10332720" cy="274320"/>
          </a:xfrm>
          <a:prstGeom prst="rect">
            <a:avLst/>
          </a:prstGeom>
          <a:noFill/>
          <a:ln>
            <a:noFill/>
          </a:ln>
        </p:spPr>
        <p:txBody>
          <a:bodyPr wrap="square" lIns="60000" tIns="40000" rIns="60000" bIns="40000" anchor="t"/>
          <a:lstStyle/>
          <a:p>
            <a:pPr algn="l"/>
            <a:r>
              <a:rPr lang="zh-CN" b="1" dirty="0">
                <a:solidFill>
                  <a:srgbClr val="1C2530"/>
                </a:solidFill>
                <a:latin typeface="Microsoft YaHei"/>
                <a:ea typeface="Microsoft YaHei"/>
                <a:cs typeface="Microsoft YaHei"/>
              </a:rPr>
              <a:t>平台作用：支撑从课程、项目、实习到毕业设计的连续培养，降低跨学院、跨场景协同成本。</a:t>
            </a:r>
          </a:p>
        </p:txBody>
      </p:sp>
      <p:sp>
        <p:nvSpPr>
          <p:cNvPr id="65" name="矩形 64">
            <a:extLst>
              <a:ext uri="{FF2B5EF4-FFF2-40B4-BE49-F238E27FC236}">
                <a16:creationId xmlns:a16="http://schemas.microsoft.com/office/drawing/2014/main" id="{2E4F8018-A8F9-4596-AAE4-0AE888F6FE10}"/>
              </a:ext>
            </a:extLst>
          </p:cNvPr>
          <p:cNvSpPr/>
          <p:nvPr/>
        </p:nvSpPr>
        <p:spPr>
          <a:xfrm>
            <a:off x="0" y="924560"/>
            <a:ext cx="12192000" cy="665627"/>
          </a:xfrm>
          <a:prstGeom prst="rect">
            <a:avLst/>
          </a:prstGeom>
          <a:solidFill>
            <a:srgbClr val="4472C4">
              <a:lumMod val="50000"/>
            </a:srgbClr>
          </a:solidFill>
          <a:ln w="12700" cap="flat" cmpd="sng" algn="ctr">
            <a:solidFill>
              <a:srgbClr val="4472C4">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a:ea typeface="微软雅黑"/>
              <a:cs typeface="+mn-cs"/>
            </a:endParaRPr>
          </a:p>
        </p:txBody>
      </p:sp>
      <p:sp>
        <p:nvSpPr>
          <p:cNvPr id="66" name="矩形 65">
            <a:extLst>
              <a:ext uri="{FF2B5EF4-FFF2-40B4-BE49-F238E27FC236}">
                <a16:creationId xmlns:a16="http://schemas.microsoft.com/office/drawing/2014/main" id="{F0ECAEA2-0C8E-4F6D-81B8-0431FEBB083C}"/>
              </a:ext>
            </a:extLst>
          </p:cNvPr>
          <p:cNvSpPr/>
          <p:nvPr/>
        </p:nvSpPr>
        <p:spPr>
          <a:xfrm>
            <a:off x="4917439" y="924560"/>
            <a:ext cx="2152843" cy="665627"/>
          </a:xfrm>
          <a:prstGeom prst="rect">
            <a:avLst/>
          </a:prstGeom>
          <a:solidFill>
            <a:srgbClr val="FF9900"/>
          </a:solidFill>
          <a:ln w="12700" cap="flat" cmpd="sng" algn="ctr">
            <a:solidFill>
              <a:srgbClr val="FF99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Arial"/>
              <a:ea typeface="微软雅黑"/>
              <a:cs typeface="+mn-cs"/>
            </a:endParaRPr>
          </a:p>
        </p:txBody>
      </p:sp>
      <p:sp>
        <p:nvSpPr>
          <p:cNvPr id="67" name="文本框 14">
            <a:extLst>
              <a:ext uri="{FF2B5EF4-FFF2-40B4-BE49-F238E27FC236}">
                <a16:creationId xmlns:a16="http://schemas.microsoft.com/office/drawing/2014/main" id="{854283DD-59CD-4532-9D08-3BE4B6672307}"/>
              </a:ext>
            </a:extLst>
          </p:cNvPr>
          <p:cNvSpPr txBox="1"/>
          <p:nvPr/>
        </p:nvSpPr>
        <p:spPr>
          <a:xfrm>
            <a:off x="359003" y="1107051"/>
            <a:ext cx="1793840" cy="369332"/>
          </a:xfrm>
          <a:prstGeom prst="rect">
            <a:avLst/>
          </a:prstGeom>
          <a:noFill/>
        </p:spPr>
        <p:txBody>
          <a:bodyPr wrap="square" rtlCol="0">
            <a:spAutoFit/>
          </a:bodyPr>
          <a:lstStyle/>
          <a:p>
            <a:pPr algn="just"/>
            <a:r>
              <a:rPr lang="zh-CN" altLang="en-US" b="1">
                <a:solidFill>
                  <a:prstClr val="white"/>
                </a:solidFill>
                <a:latin typeface="Arial"/>
                <a:ea typeface="微软雅黑"/>
              </a:rPr>
              <a:t>一  总体思路</a:t>
            </a:r>
            <a:endParaRPr lang="zh-CN" altLang="en-US" b="1" dirty="0">
              <a:solidFill>
                <a:prstClr val="white"/>
              </a:solidFill>
              <a:latin typeface="Arial"/>
              <a:ea typeface="微软雅黑"/>
            </a:endParaRPr>
          </a:p>
        </p:txBody>
      </p:sp>
      <p:sp>
        <p:nvSpPr>
          <p:cNvPr id="68" name="文本框 14">
            <a:extLst>
              <a:ext uri="{FF2B5EF4-FFF2-40B4-BE49-F238E27FC236}">
                <a16:creationId xmlns:a16="http://schemas.microsoft.com/office/drawing/2014/main" id="{D9006F67-001E-40EB-8C84-3C93A27F171A}"/>
              </a:ext>
            </a:extLst>
          </p:cNvPr>
          <p:cNvSpPr txBox="1"/>
          <p:nvPr/>
        </p:nvSpPr>
        <p:spPr>
          <a:xfrm>
            <a:off x="2642427" y="1107051"/>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二  课程体系实施</a:t>
            </a:r>
            <a:endParaRPr lang="zh-CN" altLang="en-US" b="1" dirty="0">
              <a:solidFill>
                <a:prstClr val="white"/>
              </a:solidFill>
              <a:latin typeface="Arial"/>
              <a:ea typeface="微软雅黑"/>
            </a:endParaRPr>
          </a:p>
        </p:txBody>
      </p:sp>
      <p:sp>
        <p:nvSpPr>
          <p:cNvPr id="69" name="文本框 14">
            <a:extLst>
              <a:ext uri="{FF2B5EF4-FFF2-40B4-BE49-F238E27FC236}">
                <a16:creationId xmlns:a16="http://schemas.microsoft.com/office/drawing/2014/main" id="{11B0F070-C421-4967-9DC0-FCFB7C6985A3}"/>
              </a:ext>
            </a:extLst>
          </p:cNvPr>
          <p:cNvSpPr txBox="1"/>
          <p:nvPr/>
        </p:nvSpPr>
        <p:spPr>
          <a:xfrm>
            <a:off x="5054466" y="1071284"/>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三  实践体系实施</a:t>
            </a:r>
            <a:endParaRPr lang="zh-CN" altLang="en-US" b="1" dirty="0">
              <a:solidFill>
                <a:prstClr val="white"/>
              </a:solidFill>
              <a:latin typeface="Arial"/>
              <a:ea typeface="微软雅黑"/>
            </a:endParaRPr>
          </a:p>
        </p:txBody>
      </p:sp>
      <p:sp>
        <p:nvSpPr>
          <p:cNvPr id="70" name="文本框 14">
            <a:extLst>
              <a:ext uri="{FF2B5EF4-FFF2-40B4-BE49-F238E27FC236}">
                <a16:creationId xmlns:a16="http://schemas.microsoft.com/office/drawing/2014/main" id="{32CB2971-3FA0-4975-AB1C-9611A98982C4}"/>
              </a:ext>
            </a:extLst>
          </p:cNvPr>
          <p:cNvSpPr txBox="1"/>
          <p:nvPr/>
        </p:nvSpPr>
        <p:spPr>
          <a:xfrm>
            <a:off x="7338510" y="1071183"/>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四  导师制与学业指导</a:t>
            </a:r>
            <a:endParaRPr lang="zh-CN" altLang="en-US" b="1" dirty="0">
              <a:solidFill>
                <a:prstClr val="white"/>
              </a:solidFill>
              <a:latin typeface="Arial"/>
              <a:ea typeface="微软雅黑"/>
            </a:endParaRPr>
          </a:p>
        </p:txBody>
      </p:sp>
      <p:sp>
        <p:nvSpPr>
          <p:cNvPr id="71" name="文本框 14">
            <a:extLst>
              <a:ext uri="{FF2B5EF4-FFF2-40B4-BE49-F238E27FC236}">
                <a16:creationId xmlns:a16="http://schemas.microsoft.com/office/drawing/2014/main" id="{A5771CCC-BE16-4BE4-8D09-5EDBC9ED547D}"/>
              </a:ext>
            </a:extLst>
          </p:cNvPr>
          <p:cNvSpPr txBox="1"/>
          <p:nvPr/>
        </p:nvSpPr>
        <p:spPr>
          <a:xfrm>
            <a:off x="10133884" y="1058701"/>
            <a:ext cx="2058115" cy="369332"/>
          </a:xfrm>
          <a:prstGeom prst="rect">
            <a:avLst/>
          </a:prstGeom>
          <a:noFill/>
        </p:spPr>
        <p:txBody>
          <a:bodyPr wrap="square" rtlCol="0">
            <a:spAutoFit/>
          </a:bodyPr>
          <a:lstStyle/>
          <a:p>
            <a:pPr algn="just"/>
            <a:r>
              <a:rPr lang="zh-CN" altLang="en-US" b="1">
                <a:solidFill>
                  <a:prstClr val="white"/>
                </a:solidFill>
                <a:latin typeface="Arial"/>
                <a:ea typeface="微软雅黑"/>
              </a:rPr>
              <a:t>五  保障机制</a:t>
            </a:r>
            <a:endParaRPr lang="zh-CN" altLang="en-US" b="1" dirty="0">
              <a:solidFill>
                <a:prstClr val="white"/>
              </a:solidFill>
              <a:latin typeface="Arial"/>
              <a:ea typeface="微软雅黑"/>
            </a:endParaRPr>
          </a:p>
        </p:txBody>
      </p:sp>
      <p:pic>
        <p:nvPicPr>
          <p:cNvPr id="28" name="图片 27">
            <a:extLst>
              <a:ext uri="{FF2B5EF4-FFF2-40B4-BE49-F238E27FC236}">
                <a16:creationId xmlns:a16="http://schemas.microsoft.com/office/drawing/2014/main" id="{CB2E487F-C842-43AD-982C-CFAE9447F26D}"/>
              </a:ext>
            </a:extLst>
          </p:cNvPr>
          <p:cNvPicPr/>
          <p:nvPr/>
        </p:nvPicPr>
        <p:blipFill>
          <a:blip r:embed="rId5"/>
          <a:stretch>
            <a:fillRect/>
          </a:stretch>
        </p:blipFill>
        <p:spPr>
          <a:xfrm>
            <a:off x="877420" y="4262022"/>
            <a:ext cx="2689230" cy="1474281"/>
          </a:xfrm>
          <a:prstGeom prst="rect">
            <a:avLst/>
          </a:prstGeom>
          <a:noFill/>
          <a:ln>
            <a:noFill/>
          </a:ln>
          <a:effectLst>
            <a:softEdge rad="31750"/>
          </a:effectLst>
        </p:spPr>
      </p:pic>
      <p:pic>
        <p:nvPicPr>
          <p:cNvPr id="29" name="图片 28">
            <a:extLst>
              <a:ext uri="{FF2B5EF4-FFF2-40B4-BE49-F238E27FC236}">
                <a16:creationId xmlns:a16="http://schemas.microsoft.com/office/drawing/2014/main" id="{2657EB92-8665-4891-957E-EEBC4F47F411}"/>
              </a:ext>
            </a:extLst>
          </p:cNvPr>
          <p:cNvPicPr/>
          <p:nvPr/>
        </p:nvPicPr>
        <p:blipFill>
          <a:blip r:embed="rId6"/>
          <a:stretch>
            <a:fillRect/>
          </a:stretch>
        </p:blipFill>
        <p:spPr>
          <a:xfrm>
            <a:off x="2769791" y="4629314"/>
            <a:ext cx="3097003" cy="1617022"/>
          </a:xfrm>
          <a:prstGeom prst="rect">
            <a:avLst/>
          </a:prstGeom>
          <a:noFill/>
          <a:ln>
            <a:noFill/>
          </a:ln>
          <a:effectLst>
            <a:softEdge rad="31750"/>
          </a:effectLst>
        </p:spPr>
      </p:pic>
      <p:pic>
        <p:nvPicPr>
          <p:cNvPr id="33" name="图片 32">
            <a:extLst>
              <a:ext uri="{FF2B5EF4-FFF2-40B4-BE49-F238E27FC236}">
                <a16:creationId xmlns:a16="http://schemas.microsoft.com/office/drawing/2014/main" id="{F8AF32D3-0312-43A3-A6EB-09CB5227FF88}"/>
              </a:ext>
            </a:extLst>
          </p:cNvPr>
          <p:cNvPicPr>
            <a:picLocks noChangeAspect="1"/>
          </p:cNvPicPr>
          <p:nvPr/>
        </p:nvPicPr>
        <p:blipFill>
          <a:blip r:embed="rId7">
            <a:lum bright="12000" contrast="12000"/>
          </a:blip>
          <a:srcRect t="26880" r="111"/>
          <a:stretch>
            <a:fillRect/>
          </a:stretch>
        </p:blipFill>
        <p:spPr>
          <a:xfrm>
            <a:off x="6563796" y="4262022"/>
            <a:ext cx="2946395" cy="1618340"/>
          </a:xfrm>
          <a:prstGeom prst="rect">
            <a:avLst/>
          </a:prstGeom>
          <a:effectLst>
            <a:softEdge rad="31750"/>
          </a:effectLst>
        </p:spPr>
      </p:pic>
      <p:pic>
        <p:nvPicPr>
          <p:cNvPr id="31" name="图片 30">
            <a:extLst>
              <a:ext uri="{FF2B5EF4-FFF2-40B4-BE49-F238E27FC236}">
                <a16:creationId xmlns:a16="http://schemas.microsoft.com/office/drawing/2014/main" id="{4FD86AC7-7ADA-4833-8E0A-8FA585B3BE99}"/>
              </a:ext>
            </a:extLst>
          </p:cNvPr>
          <p:cNvPicPr>
            <a:picLocks noChangeAspect="1"/>
          </p:cNvPicPr>
          <p:nvPr/>
        </p:nvPicPr>
        <p:blipFill>
          <a:blip r:embed="rId8">
            <a:lum bright="6000" contrast="6000"/>
          </a:blip>
          <a:stretch>
            <a:fillRect/>
          </a:stretch>
        </p:blipFill>
        <p:spPr>
          <a:xfrm>
            <a:off x="8209958" y="4629314"/>
            <a:ext cx="2914674" cy="1673717"/>
          </a:xfrm>
          <a:prstGeom prst="rect">
            <a:avLst/>
          </a:prstGeom>
          <a:effectLst>
            <a:softEdge rad="31750"/>
          </a:effectLst>
        </p:spPr>
      </p:pic>
    </p:spTree>
    <p:extLst>
      <p:ext uri="{BB962C8B-B14F-4D97-AF65-F5344CB8AC3E}">
        <p14:creationId xmlns:p14="http://schemas.microsoft.com/office/powerpoint/2010/main" val="26336370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Shape">
            <a:extLst>
              <a:ext uri="{FF2B5EF4-FFF2-40B4-BE49-F238E27FC236}">
                <a16:creationId xmlns:a16="http://schemas.microsoft.com/office/drawing/2014/main" id="{BE3ACA6C-8749-4B3A-AA13-27C14B726DC0}"/>
              </a:ext>
            </a:extLst>
          </p:cNvPr>
          <p:cNvSpPr/>
          <p:nvPr/>
        </p:nvSpPr>
        <p:spPr>
          <a:xfrm>
            <a:off x="667512" y="6396334"/>
            <a:ext cx="3317748" cy="379445"/>
          </a:xfrm>
          <a:prstGeom prst="roundRect">
            <a:avLst/>
          </a:prstGeom>
          <a:solidFill>
            <a:srgbClr val="FFFFFF"/>
          </a:solidFill>
          <a:ln w="12700">
            <a:solidFill>
              <a:srgbClr val="D9E1EC"/>
            </a:solidFill>
          </a:ln>
        </p:spPr>
        <p:txBody>
          <a:bodyPr/>
          <a:lstStyle/>
          <a:p>
            <a:endParaRPr lang="zh-CN" altLang="en-US"/>
          </a:p>
        </p:txBody>
      </p:sp>
      <p:pic>
        <p:nvPicPr>
          <p:cNvPr id="23" name="图片 22">
            <a:extLst>
              <a:ext uri="{FF2B5EF4-FFF2-40B4-BE49-F238E27FC236}">
                <a16:creationId xmlns:a16="http://schemas.microsoft.com/office/drawing/2014/main" id="{39AF018C-BD1E-4D1C-A575-89BC7165FB5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189341" y="28710"/>
            <a:ext cx="881729" cy="881729"/>
          </a:xfrm>
          <a:prstGeom prst="rect">
            <a:avLst/>
          </a:prstGeom>
        </p:spPr>
      </p:pic>
      <p:pic>
        <p:nvPicPr>
          <p:cNvPr id="24" name="图片 23">
            <a:extLst>
              <a:ext uri="{FF2B5EF4-FFF2-40B4-BE49-F238E27FC236}">
                <a16:creationId xmlns:a16="http://schemas.microsoft.com/office/drawing/2014/main" id="{118A43A9-C67F-4CB1-B9F4-63E761CBC2D0}"/>
              </a:ext>
            </a:extLst>
          </p:cNvPr>
          <p:cNvPicPr>
            <a:picLocks noChangeAspect="1"/>
          </p:cNvPicPr>
          <p:nvPr/>
        </p:nvPicPr>
        <p:blipFill>
          <a:blip r:embed="rId4" cstate="print">
            <a:extLst>
              <a:ext uri="{28A0092B-C50C-407E-A947-70E740481C1C}">
                <a14:useLocalDpi xmlns:a14="http://schemas.microsoft.com/office/drawing/2010/main" val="0"/>
              </a:ext>
            </a:extLst>
          </a:blip>
          <a:srcRect l="1133" r="1133"/>
          <a:stretch/>
        </p:blipFill>
        <p:spPr>
          <a:xfrm>
            <a:off x="274100" y="75737"/>
            <a:ext cx="802225" cy="806727"/>
          </a:xfrm>
          <a:prstGeom prst="rect">
            <a:avLst/>
          </a:prstGeom>
        </p:spPr>
      </p:pic>
      <p:sp>
        <p:nvSpPr>
          <p:cNvPr id="25" name="文本框 24">
            <a:extLst>
              <a:ext uri="{FF2B5EF4-FFF2-40B4-BE49-F238E27FC236}">
                <a16:creationId xmlns:a16="http://schemas.microsoft.com/office/drawing/2014/main" id="{D2B29A73-493F-45ED-A593-8D7573299A30}"/>
              </a:ext>
            </a:extLst>
          </p:cNvPr>
          <p:cNvSpPr txBox="1"/>
          <p:nvPr/>
        </p:nvSpPr>
        <p:spPr>
          <a:xfrm>
            <a:off x="6313868" y="337344"/>
            <a:ext cx="6157730" cy="406971"/>
          </a:xfrm>
          <a:prstGeom prst="rect">
            <a:avLst/>
          </a:prstGeom>
          <a:noFill/>
        </p:spPr>
        <p:txBody>
          <a:bodyPr wrap="square">
            <a:spAutoFit/>
          </a:bodyPr>
          <a:lstStyle/>
          <a:p>
            <a:pPr algn="ctr" defTabSz="342900">
              <a:lnSpc>
                <a:spcPct val="125000"/>
              </a:lnSpc>
            </a:pPr>
            <a:endParaRPr lang="en-US" altLang="zh-CN" b="1">
              <a:latin typeface="微软雅黑" pitchFamily="34" charset="-122"/>
              <a:ea typeface="微软雅黑" pitchFamily="34" charset="-122"/>
              <a:cs typeface="Calibri" charset="0"/>
            </a:endParaRPr>
          </a:p>
        </p:txBody>
      </p:sp>
      <p:sp>
        <p:nvSpPr>
          <p:cNvPr id="26" name="文本框 11">
            <a:extLst>
              <a:ext uri="{FF2B5EF4-FFF2-40B4-BE49-F238E27FC236}">
                <a16:creationId xmlns:a16="http://schemas.microsoft.com/office/drawing/2014/main" id="{D7D3FDA0-EE55-4DA0-9A6C-9EE877927692}"/>
              </a:ext>
            </a:extLst>
          </p:cNvPr>
          <p:cNvSpPr txBox="1"/>
          <p:nvPr/>
        </p:nvSpPr>
        <p:spPr>
          <a:xfrm>
            <a:off x="1975284" y="1632283"/>
            <a:ext cx="498855"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400" b="0"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rPr>
              <a:t>1</a:t>
            </a:r>
            <a:endParaRPr kumimoji="0" lang="zh-CN" altLang="en-US" sz="4400" b="0"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27" name="文本框 12">
            <a:extLst>
              <a:ext uri="{FF2B5EF4-FFF2-40B4-BE49-F238E27FC236}">
                <a16:creationId xmlns:a16="http://schemas.microsoft.com/office/drawing/2014/main" id="{68A62499-6F06-4E26-845E-7CA94DC6CE82}"/>
              </a:ext>
            </a:extLst>
          </p:cNvPr>
          <p:cNvSpPr txBox="1"/>
          <p:nvPr/>
        </p:nvSpPr>
        <p:spPr>
          <a:xfrm>
            <a:off x="359003" y="1760040"/>
            <a:ext cx="3108543" cy="461665"/>
          </a:xfrm>
          <a:prstGeom prst="rect">
            <a:avLst/>
          </a:prstGeom>
          <a:noFill/>
        </p:spPr>
        <p:txBody>
          <a:bodyPr wrap="none" rtlCol="0">
            <a:spAutoFit/>
          </a:bodyPr>
          <a:lstStyle/>
          <a:p>
            <a:pPr marL="457200" marR="0" lvl="0" indent="-457200" algn="l" defTabSz="914400" rtl="0" eaLnBrk="1" fontAlgn="auto" latinLnBrk="0" hangingPunct="1">
              <a:lnSpc>
                <a:spcPct val="100000"/>
              </a:lnSpc>
              <a:spcBef>
                <a:spcPts val="0"/>
              </a:spcBef>
              <a:spcAft>
                <a:spcPts val="0"/>
              </a:spcAft>
              <a:buClr>
                <a:srgbClr val="C00000"/>
              </a:buClr>
              <a:buSzTx/>
              <a:buFont typeface="Wingdings" panose="05000000000000000000" pitchFamily="2" charset="2"/>
              <a:buChar char="p"/>
              <a:tabLst/>
              <a:defRPr/>
            </a:pPr>
            <a:r>
              <a:rPr lang="zh-CN" altLang="en-US" sz="2400" b="1" kern="0">
                <a:solidFill>
                  <a:srgbClr val="004E86"/>
                </a:solidFill>
                <a:latin typeface="微软雅黑" panose="020B0503020204020204" pitchFamily="34" charset="-122"/>
                <a:ea typeface="微软雅黑" panose="020B0503020204020204" pitchFamily="34" charset="-122"/>
              </a:rPr>
              <a:t>实践体系课程模块</a:t>
            </a:r>
          </a:p>
        </p:txBody>
      </p:sp>
      <p:sp>
        <p:nvSpPr>
          <p:cNvPr id="18" name="文本框 17">
            <a:extLst>
              <a:ext uri="{FF2B5EF4-FFF2-40B4-BE49-F238E27FC236}">
                <a16:creationId xmlns:a16="http://schemas.microsoft.com/office/drawing/2014/main" id="{4C0D621A-BA30-4D0D-AE75-F1251D29CFDC}"/>
              </a:ext>
            </a:extLst>
          </p:cNvPr>
          <p:cNvSpPr txBox="1"/>
          <p:nvPr/>
        </p:nvSpPr>
        <p:spPr>
          <a:xfrm>
            <a:off x="6269498" y="489744"/>
            <a:ext cx="6157730" cy="406971"/>
          </a:xfrm>
          <a:prstGeom prst="rect">
            <a:avLst/>
          </a:prstGeom>
          <a:noFill/>
        </p:spPr>
        <p:txBody>
          <a:bodyPr wrap="square">
            <a:spAutoFit/>
          </a:bodyPr>
          <a:lstStyle/>
          <a:p>
            <a:pPr algn="ctr" defTabSz="342900">
              <a:lnSpc>
                <a:spcPct val="125000"/>
              </a:lnSpc>
            </a:pPr>
            <a:r>
              <a:rPr lang="zh-CN" altLang="en-US" b="1">
                <a:latin typeface="微软雅黑" pitchFamily="34" charset="-122"/>
                <a:ea typeface="微软雅黑" pitchFamily="34" charset="-122"/>
                <a:cs typeface="Calibri" charset="0"/>
              </a:rPr>
              <a:t>“教育学</a:t>
            </a:r>
            <a:r>
              <a:rPr lang="en-US" altLang="zh-CN" b="1">
                <a:latin typeface="微软雅黑" pitchFamily="34" charset="-122"/>
                <a:ea typeface="微软雅黑" pitchFamily="34" charset="-122"/>
                <a:cs typeface="Calibri" charset="0"/>
              </a:rPr>
              <a:t>+</a:t>
            </a:r>
            <a:r>
              <a:rPr lang="zh-CN" altLang="en-US" b="1">
                <a:latin typeface="微软雅黑" pitchFamily="34" charset="-122"/>
                <a:ea typeface="微软雅黑" pitchFamily="34" charset="-122"/>
                <a:cs typeface="Calibri" charset="0"/>
              </a:rPr>
              <a:t>人工智能”双学士学位复合型人才培养项目</a:t>
            </a:r>
            <a:endParaRPr lang="en-US" altLang="zh-CN" b="1">
              <a:latin typeface="微软雅黑" pitchFamily="34" charset="-122"/>
              <a:ea typeface="微软雅黑" pitchFamily="34" charset="-122"/>
              <a:cs typeface="Calibri" charset="0"/>
            </a:endParaRPr>
          </a:p>
        </p:txBody>
      </p:sp>
      <p:sp>
        <p:nvSpPr>
          <p:cNvPr id="46" name="矩形 45">
            <a:extLst>
              <a:ext uri="{FF2B5EF4-FFF2-40B4-BE49-F238E27FC236}">
                <a16:creationId xmlns:a16="http://schemas.microsoft.com/office/drawing/2014/main" id="{9CF45D67-242C-4856-897D-D6168AD10B39}"/>
              </a:ext>
            </a:extLst>
          </p:cNvPr>
          <p:cNvSpPr/>
          <p:nvPr/>
        </p:nvSpPr>
        <p:spPr>
          <a:xfrm>
            <a:off x="0" y="924560"/>
            <a:ext cx="12192000" cy="665627"/>
          </a:xfrm>
          <a:prstGeom prst="rect">
            <a:avLst/>
          </a:prstGeom>
          <a:solidFill>
            <a:srgbClr val="4472C4">
              <a:lumMod val="50000"/>
            </a:srgbClr>
          </a:solidFill>
          <a:ln w="12700" cap="flat" cmpd="sng" algn="ctr">
            <a:solidFill>
              <a:srgbClr val="4472C4">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a:ea typeface="微软雅黑"/>
              <a:cs typeface="+mn-cs"/>
            </a:endParaRPr>
          </a:p>
        </p:txBody>
      </p:sp>
      <p:sp>
        <p:nvSpPr>
          <p:cNvPr id="47" name="矩形 46">
            <a:extLst>
              <a:ext uri="{FF2B5EF4-FFF2-40B4-BE49-F238E27FC236}">
                <a16:creationId xmlns:a16="http://schemas.microsoft.com/office/drawing/2014/main" id="{DB44C352-49FE-44AE-821B-7B390D4F9DAE}"/>
              </a:ext>
            </a:extLst>
          </p:cNvPr>
          <p:cNvSpPr/>
          <p:nvPr/>
        </p:nvSpPr>
        <p:spPr>
          <a:xfrm>
            <a:off x="4917439" y="924560"/>
            <a:ext cx="2152843" cy="665627"/>
          </a:xfrm>
          <a:prstGeom prst="rect">
            <a:avLst/>
          </a:prstGeom>
          <a:solidFill>
            <a:srgbClr val="FF9900"/>
          </a:solidFill>
          <a:ln w="12700" cap="flat" cmpd="sng" algn="ctr">
            <a:solidFill>
              <a:srgbClr val="FF99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Arial"/>
              <a:ea typeface="微软雅黑"/>
              <a:cs typeface="+mn-cs"/>
            </a:endParaRPr>
          </a:p>
        </p:txBody>
      </p:sp>
      <p:sp>
        <p:nvSpPr>
          <p:cNvPr id="48" name="文本框 14">
            <a:extLst>
              <a:ext uri="{FF2B5EF4-FFF2-40B4-BE49-F238E27FC236}">
                <a16:creationId xmlns:a16="http://schemas.microsoft.com/office/drawing/2014/main" id="{FB5AEE9A-3CDA-487D-8527-C50D66397A17}"/>
              </a:ext>
            </a:extLst>
          </p:cNvPr>
          <p:cNvSpPr txBox="1"/>
          <p:nvPr/>
        </p:nvSpPr>
        <p:spPr>
          <a:xfrm>
            <a:off x="359003" y="1107051"/>
            <a:ext cx="1793840" cy="369332"/>
          </a:xfrm>
          <a:prstGeom prst="rect">
            <a:avLst/>
          </a:prstGeom>
          <a:noFill/>
        </p:spPr>
        <p:txBody>
          <a:bodyPr wrap="square" rtlCol="0">
            <a:spAutoFit/>
          </a:bodyPr>
          <a:lstStyle/>
          <a:p>
            <a:pPr algn="just"/>
            <a:r>
              <a:rPr lang="zh-CN" altLang="en-US" b="1">
                <a:solidFill>
                  <a:prstClr val="white"/>
                </a:solidFill>
                <a:latin typeface="Arial"/>
                <a:ea typeface="微软雅黑"/>
              </a:rPr>
              <a:t>一  总体思路</a:t>
            </a:r>
            <a:endParaRPr lang="zh-CN" altLang="en-US" b="1" dirty="0">
              <a:solidFill>
                <a:prstClr val="white"/>
              </a:solidFill>
              <a:latin typeface="Arial"/>
              <a:ea typeface="微软雅黑"/>
            </a:endParaRPr>
          </a:p>
        </p:txBody>
      </p:sp>
      <p:sp>
        <p:nvSpPr>
          <p:cNvPr id="50" name="文本框 14">
            <a:extLst>
              <a:ext uri="{FF2B5EF4-FFF2-40B4-BE49-F238E27FC236}">
                <a16:creationId xmlns:a16="http://schemas.microsoft.com/office/drawing/2014/main" id="{BB06ADFE-163E-4705-910A-4EE21B6304DE}"/>
              </a:ext>
            </a:extLst>
          </p:cNvPr>
          <p:cNvSpPr txBox="1"/>
          <p:nvPr/>
        </p:nvSpPr>
        <p:spPr>
          <a:xfrm>
            <a:off x="2642427" y="1107051"/>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二  课程体系实施</a:t>
            </a:r>
            <a:endParaRPr lang="zh-CN" altLang="en-US" b="1" dirty="0">
              <a:solidFill>
                <a:prstClr val="white"/>
              </a:solidFill>
              <a:latin typeface="Arial"/>
              <a:ea typeface="微软雅黑"/>
            </a:endParaRPr>
          </a:p>
        </p:txBody>
      </p:sp>
      <p:sp>
        <p:nvSpPr>
          <p:cNvPr id="51" name="文本框 14">
            <a:extLst>
              <a:ext uri="{FF2B5EF4-FFF2-40B4-BE49-F238E27FC236}">
                <a16:creationId xmlns:a16="http://schemas.microsoft.com/office/drawing/2014/main" id="{9B19FA25-8EA7-477A-8F7A-2E603227DA26}"/>
              </a:ext>
            </a:extLst>
          </p:cNvPr>
          <p:cNvSpPr txBox="1"/>
          <p:nvPr/>
        </p:nvSpPr>
        <p:spPr>
          <a:xfrm>
            <a:off x="5054466" y="1071284"/>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三  实践体系实施</a:t>
            </a:r>
            <a:endParaRPr lang="zh-CN" altLang="en-US" b="1" dirty="0">
              <a:solidFill>
                <a:prstClr val="white"/>
              </a:solidFill>
              <a:latin typeface="Arial"/>
              <a:ea typeface="微软雅黑"/>
            </a:endParaRPr>
          </a:p>
        </p:txBody>
      </p:sp>
      <p:sp>
        <p:nvSpPr>
          <p:cNvPr id="52" name="文本框 14">
            <a:extLst>
              <a:ext uri="{FF2B5EF4-FFF2-40B4-BE49-F238E27FC236}">
                <a16:creationId xmlns:a16="http://schemas.microsoft.com/office/drawing/2014/main" id="{5979E5AE-A8F4-41E4-8C4F-796D5873F234}"/>
              </a:ext>
            </a:extLst>
          </p:cNvPr>
          <p:cNvSpPr txBox="1"/>
          <p:nvPr/>
        </p:nvSpPr>
        <p:spPr>
          <a:xfrm>
            <a:off x="7338510" y="1071183"/>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四  导师制与学业指导</a:t>
            </a:r>
            <a:endParaRPr lang="zh-CN" altLang="en-US" b="1" dirty="0">
              <a:solidFill>
                <a:prstClr val="white"/>
              </a:solidFill>
              <a:latin typeface="Arial"/>
              <a:ea typeface="微软雅黑"/>
            </a:endParaRPr>
          </a:p>
        </p:txBody>
      </p:sp>
      <p:sp>
        <p:nvSpPr>
          <p:cNvPr id="53" name="文本框 14">
            <a:extLst>
              <a:ext uri="{FF2B5EF4-FFF2-40B4-BE49-F238E27FC236}">
                <a16:creationId xmlns:a16="http://schemas.microsoft.com/office/drawing/2014/main" id="{C9F18B51-3F49-4394-87BC-04AEC4717E4F}"/>
              </a:ext>
            </a:extLst>
          </p:cNvPr>
          <p:cNvSpPr txBox="1"/>
          <p:nvPr/>
        </p:nvSpPr>
        <p:spPr>
          <a:xfrm>
            <a:off x="10133884" y="1058701"/>
            <a:ext cx="2058115" cy="369332"/>
          </a:xfrm>
          <a:prstGeom prst="rect">
            <a:avLst/>
          </a:prstGeom>
          <a:noFill/>
        </p:spPr>
        <p:txBody>
          <a:bodyPr wrap="square" rtlCol="0">
            <a:spAutoFit/>
          </a:bodyPr>
          <a:lstStyle/>
          <a:p>
            <a:pPr algn="just"/>
            <a:r>
              <a:rPr lang="zh-CN" altLang="en-US" b="1">
                <a:solidFill>
                  <a:prstClr val="white"/>
                </a:solidFill>
                <a:latin typeface="Arial"/>
                <a:ea typeface="微软雅黑"/>
              </a:rPr>
              <a:t>五  保障机制</a:t>
            </a:r>
            <a:endParaRPr lang="zh-CN" altLang="en-US" b="1" dirty="0">
              <a:solidFill>
                <a:prstClr val="white"/>
              </a:solidFill>
              <a:latin typeface="Arial"/>
              <a:ea typeface="微软雅黑"/>
            </a:endParaRPr>
          </a:p>
        </p:txBody>
      </p:sp>
      <p:sp>
        <p:nvSpPr>
          <p:cNvPr id="77" name="Shape">
            <a:extLst>
              <a:ext uri="{FF2B5EF4-FFF2-40B4-BE49-F238E27FC236}">
                <a16:creationId xmlns:a16="http://schemas.microsoft.com/office/drawing/2014/main" id="{BC2E8168-1EB4-40B9-800E-67652D069E14}"/>
              </a:ext>
            </a:extLst>
          </p:cNvPr>
          <p:cNvSpPr/>
          <p:nvPr/>
        </p:nvSpPr>
        <p:spPr>
          <a:xfrm>
            <a:off x="552643" y="2638446"/>
            <a:ext cx="10835640" cy="411480"/>
          </a:xfrm>
          <a:prstGeom prst="rect">
            <a:avLst/>
          </a:prstGeom>
          <a:solidFill>
            <a:srgbClr val="15385B"/>
          </a:solidFill>
          <a:ln>
            <a:noFill/>
          </a:ln>
        </p:spPr>
        <p:txBody>
          <a:bodyPr/>
          <a:lstStyle/>
          <a:p>
            <a:endParaRPr lang="zh-CN" altLang="en-US"/>
          </a:p>
        </p:txBody>
      </p:sp>
      <p:sp>
        <p:nvSpPr>
          <p:cNvPr id="78" name="Text">
            <a:extLst>
              <a:ext uri="{FF2B5EF4-FFF2-40B4-BE49-F238E27FC236}">
                <a16:creationId xmlns:a16="http://schemas.microsoft.com/office/drawing/2014/main" id="{8AC271D1-2698-4611-A7AD-65511511DFA7}"/>
              </a:ext>
            </a:extLst>
          </p:cNvPr>
          <p:cNvSpPr txBox="1"/>
          <p:nvPr/>
        </p:nvSpPr>
        <p:spPr>
          <a:xfrm>
            <a:off x="1324925" y="2711598"/>
            <a:ext cx="2834640" cy="219456"/>
          </a:xfrm>
          <a:prstGeom prst="rect">
            <a:avLst/>
          </a:prstGeom>
          <a:noFill/>
          <a:ln>
            <a:noFill/>
          </a:ln>
        </p:spPr>
        <p:txBody>
          <a:bodyPr wrap="square" lIns="60000" tIns="40000" rIns="60000" bIns="40000" anchor="t"/>
          <a:lstStyle/>
          <a:p>
            <a:pPr algn="l"/>
            <a:r>
              <a:rPr lang="zh-CN" sz="1400" b="1">
                <a:solidFill>
                  <a:srgbClr val="FFFFFF"/>
                </a:solidFill>
                <a:latin typeface="Microsoft YaHei"/>
                <a:ea typeface="Microsoft YaHei"/>
                <a:cs typeface="Microsoft YaHei"/>
              </a:rPr>
              <a:t>课程</a:t>
            </a:r>
            <a:r>
              <a:rPr lang="zh-CN" altLang="en-US" sz="1400" b="1">
                <a:solidFill>
                  <a:srgbClr val="FFFFFF"/>
                </a:solidFill>
                <a:latin typeface="Microsoft YaHei"/>
                <a:ea typeface="Microsoft YaHei"/>
                <a:cs typeface="Microsoft YaHei"/>
              </a:rPr>
              <a:t>名称</a:t>
            </a:r>
            <a:endParaRPr lang="zh-CN" sz="1400" b="1">
              <a:solidFill>
                <a:srgbClr val="FFFFFF"/>
              </a:solidFill>
              <a:latin typeface="Microsoft YaHei"/>
              <a:ea typeface="Microsoft YaHei"/>
              <a:cs typeface="Microsoft YaHei"/>
            </a:endParaRPr>
          </a:p>
        </p:txBody>
      </p:sp>
      <p:sp>
        <p:nvSpPr>
          <p:cNvPr id="79" name="Text">
            <a:extLst>
              <a:ext uri="{FF2B5EF4-FFF2-40B4-BE49-F238E27FC236}">
                <a16:creationId xmlns:a16="http://schemas.microsoft.com/office/drawing/2014/main" id="{DC0F3115-AAA4-42CE-8B5B-57C8C4880855}"/>
              </a:ext>
            </a:extLst>
          </p:cNvPr>
          <p:cNvSpPr txBox="1"/>
          <p:nvPr/>
        </p:nvSpPr>
        <p:spPr>
          <a:xfrm>
            <a:off x="4653727" y="2711598"/>
            <a:ext cx="4663440" cy="219456"/>
          </a:xfrm>
          <a:prstGeom prst="rect">
            <a:avLst/>
          </a:prstGeom>
          <a:noFill/>
          <a:ln>
            <a:noFill/>
          </a:ln>
        </p:spPr>
        <p:txBody>
          <a:bodyPr wrap="square" lIns="60000" tIns="40000" rIns="60000" bIns="40000" anchor="t"/>
          <a:lstStyle/>
          <a:p>
            <a:pPr algn="l"/>
            <a:r>
              <a:rPr lang="zh-CN" sz="1400" b="1">
                <a:solidFill>
                  <a:srgbClr val="FFFFFF"/>
                </a:solidFill>
                <a:latin typeface="Microsoft YaHei"/>
                <a:ea typeface="Microsoft YaHei"/>
                <a:cs typeface="Microsoft YaHei"/>
              </a:rPr>
              <a:t>场景化训练重点</a:t>
            </a:r>
          </a:p>
        </p:txBody>
      </p:sp>
      <p:sp>
        <p:nvSpPr>
          <p:cNvPr id="80" name="Text">
            <a:extLst>
              <a:ext uri="{FF2B5EF4-FFF2-40B4-BE49-F238E27FC236}">
                <a16:creationId xmlns:a16="http://schemas.microsoft.com/office/drawing/2014/main" id="{C4432C3F-502D-4AE2-BE16-4D35068F900B}"/>
              </a:ext>
            </a:extLst>
          </p:cNvPr>
          <p:cNvSpPr txBox="1"/>
          <p:nvPr/>
        </p:nvSpPr>
        <p:spPr>
          <a:xfrm>
            <a:off x="8609595" y="2686755"/>
            <a:ext cx="2103120" cy="219456"/>
          </a:xfrm>
          <a:prstGeom prst="rect">
            <a:avLst/>
          </a:prstGeom>
          <a:noFill/>
          <a:ln>
            <a:noFill/>
          </a:ln>
        </p:spPr>
        <p:txBody>
          <a:bodyPr wrap="square" lIns="60000" tIns="40000" rIns="60000" bIns="40000" anchor="t"/>
          <a:lstStyle/>
          <a:p>
            <a:pPr algn="l"/>
            <a:r>
              <a:rPr lang="zh-CN" sz="1400" b="1">
                <a:solidFill>
                  <a:srgbClr val="FFFFFF"/>
                </a:solidFill>
                <a:latin typeface="Microsoft YaHei"/>
                <a:ea typeface="Microsoft YaHei"/>
                <a:cs typeface="Microsoft YaHei"/>
              </a:rPr>
              <a:t>能力指向</a:t>
            </a:r>
          </a:p>
        </p:txBody>
      </p:sp>
      <p:sp>
        <p:nvSpPr>
          <p:cNvPr id="81" name="Shape">
            <a:extLst>
              <a:ext uri="{FF2B5EF4-FFF2-40B4-BE49-F238E27FC236}">
                <a16:creationId xmlns:a16="http://schemas.microsoft.com/office/drawing/2014/main" id="{E43B7417-D3CC-499E-8246-20C3B6EFB698}"/>
              </a:ext>
            </a:extLst>
          </p:cNvPr>
          <p:cNvSpPr/>
          <p:nvPr/>
        </p:nvSpPr>
        <p:spPr>
          <a:xfrm>
            <a:off x="552643" y="3077358"/>
            <a:ext cx="10835640" cy="530352"/>
          </a:xfrm>
          <a:prstGeom prst="rect">
            <a:avLst/>
          </a:prstGeom>
          <a:solidFill>
            <a:srgbClr val="FFFFFF"/>
          </a:solidFill>
          <a:ln w="12700">
            <a:solidFill>
              <a:srgbClr val="D9E1EC"/>
            </a:solidFill>
          </a:ln>
        </p:spPr>
        <p:txBody>
          <a:bodyPr/>
          <a:lstStyle/>
          <a:p>
            <a:endParaRPr lang="zh-CN" altLang="en-US"/>
          </a:p>
        </p:txBody>
      </p:sp>
      <p:sp>
        <p:nvSpPr>
          <p:cNvPr id="82" name="Text">
            <a:extLst>
              <a:ext uri="{FF2B5EF4-FFF2-40B4-BE49-F238E27FC236}">
                <a16:creationId xmlns:a16="http://schemas.microsoft.com/office/drawing/2014/main" id="{65343F3C-ED4A-49F1-9CFC-7C5410742B19}"/>
              </a:ext>
            </a:extLst>
          </p:cNvPr>
          <p:cNvSpPr txBox="1"/>
          <p:nvPr/>
        </p:nvSpPr>
        <p:spPr>
          <a:xfrm>
            <a:off x="735523" y="3150510"/>
            <a:ext cx="2743200" cy="274320"/>
          </a:xfrm>
          <a:prstGeom prst="rect">
            <a:avLst/>
          </a:prstGeom>
          <a:noFill/>
          <a:ln>
            <a:noFill/>
          </a:ln>
        </p:spPr>
        <p:txBody>
          <a:bodyPr wrap="square" lIns="60000" tIns="40000" rIns="60000" bIns="40000" anchor="t"/>
          <a:lstStyle/>
          <a:p>
            <a:pPr algn="l"/>
            <a:r>
              <a:rPr lang="zh-CN" altLang="en-US" sz="1400" b="1">
                <a:solidFill>
                  <a:srgbClr val="1C2530"/>
                </a:solidFill>
                <a:latin typeface="Microsoft YaHei"/>
                <a:ea typeface="Microsoft YaHei"/>
                <a:cs typeface="Microsoft YaHei"/>
              </a:rPr>
              <a:t>人机协同教学技能训练</a:t>
            </a:r>
            <a:endParaRPr lang="zh-CN" sz="1400" b="1">
              <a:solidFill>
                <a:srgbClr val="1C2530"/>
              </a:solidFill>
              <a:latin typeface="Microsoft YaHei"/>
              <a:ea typeface="Microsoft YaHei"/>
              <a:cs typeface="Microsoft YaHei"/>
            </a:endParaRPr>
          </a:p>
        </p:txBody>
      </p:sp>
      <p:sp>
        <p:nvSpPr>
          <p:cNvPr id="83" name="Text">
            <a:extLst>
              <a:ext uri="{FF2B5EF4-FFF2-40B4-BE49-F238E27FC236}">
                <a16:creationId xmlns:a16="http://schemas.microsoft.com/office/drawing/2014/main" id="{6FF2954E-551A-41B9-B31C-4EC964F47031}"/>
              </a:ext>
            </a:extLst>
          </p:cNvPr>
          <p:cNvSpPr txBox="1"/>
          <p:nvPr/>
        </p:nvSpPr>
        <p:spPr>
          <a:xfrm>
            <a:off x="3666175" y="3212007"/>
            <a:ext cx="4709160" cy="274320"/>
          </a:xfrm>
          <a:prstGeom prst="rect">
            <a:avLst/>
          </a:prstGeom>
          <a:noFill/>
          <a:ln>
            <a:noFill/>
          </a:ln>
        </p:spPr>
        <p:txBody>
          <a:bodyPr wrap="square" lIns="60000" tIns="40000" rIns="60000" bIns="40000" anchor="t"/>
          <a:lstStyle/>
          <a:p>
            <a:pPr algn="l"/>
            <a:r>
              <a:rPr lang="zh-CN" sz="1400" b="1">
                <a:solidFill>
                  <a:srgbClr val="5B677A"/>
                </a:solidFill>
                <a:latin typeface="Microsoft YaHei"/>
                <a:ea typeface="Microsoft YaHei"/>
                <a:cs typeface="Microsoft YaHei"/>
              </a:rPr>
              <a:t>课程开发、师生机协同、课堂流程优化</a:t>
            </a:r>
          </a:p>
        </p:txBody>
      </p:sp>
      <p:sp>
        <p:nvSpPr>
          <p:cNvPr id="84" name="Text">
            <a:extLst>
              <a:ext uri="{FF2B5EF4-FFF2-40B4-BE49-F238E27FC236}">
                <a16:creationId xmlns:a16="http://schemas.microsoft.com/office/drawing/2014/main" id="{98716D4E-622A-4385-984B-EAB57A608E49}"/>
              </a:ext>
            </a:extLst>
          </p:cNvPr>
          <p:cNvSpPr txBox="1"/>
          <p:nvPr/>
        </p:nvSpPr>
        <p:spPr>
          <a:xfrm>
            <a:off x="8564261" y="3190090"/>
            <a:ext cx="2692522" cy="274320"/>
          </a:xfrm>
          <a:prstGeom prst="rect">
            <a:avLst/>
          </a:prstGeom>
          <a:noFill/>
          <a:ln>
            <a:noFill/>
          </a:ln>
        </p:spPr>
        <p:txBody>
          <a:bodyPr wrap="square" lIns="60000" tIns="40000" rIns="60000" bIns="40000" anchor="t"/>
          <a:lstStyle/>
          <a:p>
            <a:pPr algn="l"/>
            <a:r>
              <a:rPr lang="zh-CN" altLang="en-US" sz="1400" b="1">
                <a:solidFill>
                  <a:srgbClr val="C00000"/>
                </a:solidFill>
                <a:latin typeface="Microsoft YaHei"/>
                <a:ea typeface="Microsoft YaHei"/>
                <a:cs typeface="Microsoft YaHei"/>
              </a:rPr>
              <a:t>专业知识基础、价值引领与规范</a:t>
            </a:r>
            <a:endParaRPr lang="zh-CN" sz="1400" b="1">
              <a:solidFill>
                <a:srgbClr val="C00000"/>
              </a:solidFill>
              <a:latin typeface="Microsoft YaHei"/>
              <a:ea typeface="Microsoft YaHei"/>
              <a:cs typeface="Microsoft YaHei"/>
            </a:endParaRPr>
          </a:p>
        </p:txBody>
      </p:sp>
      <p:sp>
        <p:nvSpPr>
          <p:cNvPr id="85" name="Shape">
            <a:extLst>
              <a:ext uri="{FF2B5EF4-FFF2-40B4-BE49-F238E27FC236}">
                <a16:creationId xmlns:a16="http://schemas.microsoft.com/office/drawing/2014/main" id="{FF80897C-8BDE-4972-9391-4FFCD3E670F0}"/>
              </a:ext>
            </a:extLst>
          </p:cNvPr>
          <p:cNvSpPr/>
          <p:nvPr/>
        </p:nvSpPr>
        <p:spPr>
          <a:xfrm>
            <a:off x="552643" y="3717438"/>
            <a:ext cx="10835640" cy="530352"/>
          </a:xfrm>
          <a:prstGeom prst="rect">
            <a:avLst/>
          </a:prstGeom>
          <a:solidFill>
            <a:srgbClr val="F1F5FA"/>
          </a:solidFill>
          <a:ln w="12700">
            <a:solidFill>
              <a:srgbClr val="D9E1EC"/>
            </a:solidFill>
          </a:ln>
        </p:spPr>
        <p:txBody>
          <a:bodyPr/>
          <a:lstStyle/>
          <a:p>
            <a:endParaRPr lang="zh-CN" altLang="en-US"/>
          </a:p>
        </p:txBody>
      </p:sp>
      <p:sp>
        <p:nvSpPr>
          <p:cNvPr id="86" name="Text">
            <a:extLst>
              <a:ext uri="{FF2B5EF4-FFF2-40B4-BE49-F238E27FC236}">
                <a16:creationId xmlns:a16="http://schemas.microsoft.com/office/drawing/2014/main" id="{9E642998-A545-41B2-B987-1F9CD00ED0E7}"/>
              </a:ext>
            </a:extLst>
          </p:cNvPr>
          <p:cNvSpPr txBox="1"/>
          <p:nvPr/>
        </p:nvSpPr>
        <p:spPr>
          <a:xfrm>
            <a:off x="718631" y="3845454"/>
            <a:ext cx="2743200" cy="274320"/>
          </a:xfrm>
          <a:prstGeom prst="rect">
            <a:avLst/>
          </a:prstGeom>
          <a:noFill/>
          <a:ln>
            <a:noFill/>
          </a:ln>
        </p:spPr>
        <p:txBody>
          <a:bodyPr wrap="square" lIns="60000" tIns="40000" rIns="60000" bIns="40000" anchor="t"/>
          <a:lstStyle/>
          <a:p>
            <a:pPr algn="l"/>
            <a:r>
              <a:rPr lang="zh-CN" altLang="en-US" sz="1400" b="1">
                <a:solidFill>
                  <a:srgbClr val="1C2530"/>
                </a:solidFill>
                <a:latin typeface="Microsoft YaHei"/>
                <a:ea typeface="Microsoft YaHei"/>
                <a:cs typeface="Microsoft YaHei"/>
              </a:rPr>
              <a:t>教育</a:t>
            </a:r>
            <a:r>
              <a:rPr lang="en-US" altLang="zh-CN" sz="1400" b="1">
                <a:solidFill>
                  <a:srgbClr val="1C2530"/>
                </a:solidFill>
                <a:latin typeface="Microsoft YaHei"/>
                <a:ea typeface="Microsoft YaHei"/>
                <a:cs typeface="Microsoft YaHei"/>
              </a:rPr>
              <a:t>AI</a:t>
            </a:r>
            <a:r>
              <a:rPr lang="zh-CN" altLang="en-US" sz="1400" b="1">
                <a:solidFill>
                  <a:srgbClr val="1C2530"/>
                </a:solidFill>
                <a:latin typeface="Microsoft YaHei"/>
                <a:ea typeface="Microsoft YaHei"/>
                <a:cs typeface="Microsoft YaHei"/>
              </a:rPr>
              <a:t>项目管理实训</a:t>
            </a:r>
            <a:endParaRPr lang="zh-CN" sz="1400" b="1">
              <a:solidFill>
                <a:srgbClr val="1C2530"/>
              </a:solidFill>
              <a:latin typeface="Microsoft YaHei"/>
              <a:ea typeface="Microsoft YaHei"/>
              <a:cs typeface="Microsoft YaHei"/>
            </a:endParaRPr>
          </a:p>
        </p:txBody>
      </p:sp>
      <p:sp>
        <p:nvSpPr>
          <p:cNvPr id="87" name="Text">
            <a:extLst>
              <a:ext uri="{FF2B5EF4-FFF2-40B4-BE49-F238E27FC236}">
                <a16:creationId xmlns:a16="http://schemas.microsoft.com/office/drawing/2014/main" id="{DB0D04FC-CA0C-4F70-B811-D6EDB4397831}"/>
              </a:ext>
            </a:extLst>
          </p:cNvPr>
          <p:cNvSpPr txBox="1"/>
          <p:nvPr/>
        </p:nvSpPr>
        <p:spPr>
          <a:xfrm>
            <a:off x="3666175" y="3852087"/>
            <a:ext cx="4709160" cy="274320"/>
          </a:xfrm>
          <a:prstGeom prst="rect">
            <a:avLst/>
          </a:prstGeom>
          <a:noFill/>
          <a:ln>
            <a:noFill/>
          </a:ln>
        </p:spPr>
        <p:txBody>
          <a:bodyPr wrap="square" lIns="60000" tIns="40000" rIns="60000" bIns="40000" anchor="t"/>
          <a:lstStyle/>
          <a:p>
            <a:r>
              <a:rPr lang="zh-CN" altLang="en-US" sz="1400" b="1">
                <a:solidFill>
                  <a:srgbClr val="5B677A"/>
                </a:solidFill>
                <a:latin typeface="Microsoft YaHei"/>
                <a:ea typeface="Microsoft YaHei"/>
              </a:rPr>
              <a:t>需求分析、架构设计、开发测试、部署迭代</a:t>
            </a:r>
          </a:p>
        </p:txBody>
      </p:sp>
      <p:sp>
        <p:nvSpPr>
          <p:cNvPr id="88" name="Text">
            <a:extLst>
              <a:ext uri="{FF2B5EF4-FFF2-40B4-BE49-F238E27FC236}">
                <a16:creationId xmlns:a16="http://schemas.microsoft.com/office/drawing/2014/main" id="{5A3B74BB-23EE-4631-B974-6D076BF81C02}"/>
              </a:ext>
            </a:extLst>
          </p:cNvPr>
          <p:cNvSpPr txBox="1"/>
          <p:nvPr/>
        </p:nvSpPr>
        <p:spPr>
          <a:xfrm>
            <a:off x="8564261" y="3839290"/>
            <a:ext cx="2724912" cy="274320"/>
          </a:xfrm>
          <a:prstGeom prst="rect">
            <a:avLst/>
          </a:prstGeom>
          <a:noFill/>
          <a:ln>
            <a:noFill/>
          </a:ln>
        </p:spPr>
        <p:txBody>
          <a:bodyPr wrap="square" lIns="60000" tIns="40000" rIns="60000" bIns="40000" anchor="t"/>
          <a:lstStyle/>
          <a:p>
            <a:pPr algn="l"/>
            <a:r>
              <a:rPr lang="zh-CN" altLang="en-US" sz="1400" b="1">
                <a:solidFill>
                  <a:srgbClr val="C5282F"/>
                </a:solidFill>
                <a:latin typeface="Microsoft YaHei"/>
                <a:ea typeface="Microsoft YaHei"/>
                <a:cs typeface="Microsoft YaHei"/>
              </a:rPr>
              <a:t>专业知识基础、核心研究能力</a:t>
            </a:r>
            <a:endParaRPr lang="zh-CN" altLang="zh-CN" sz="1400" b="1">
              <a:solidFill>
                <a:srgbClr val="C5282F"/>
              </a:solidFill>
              <a:latin typeface="Microsoft YaHei"/>
              <a:ea typeface="Microsoft YaHei"/>
              <a:cs typeface="Microsoft YaHei"/>
            </a:endParaRPr>
          </a:p>
        </p:txBody>
      </p:sp>
      <p:sp>
        <p:nvSpPr>
          <p:cNvPr id="89" name="Shape">
            <a:extLst>
              <a:ext uri="{FF2B5EF4-FFF2-40B4-BE49-F238E27FC236}">
                <a16:creationId xmlns:a16="http://schemas.microsoft.com/office/drawing/2014/main" id="{22281D90-954D-4F32-8F32-E2B600B3582B}"/>
              </a:ext>
            </a:extLst>
          </p:cNvPr>
          <p:cNvSpPr/>
          <p:nvPr/>
        </p:nvSpPr>
        <p:spPr>
          <a:xfrm>
            <a:off x="552643" y="4357518"/>
            <a:ext cx="10835640" cy="530352"/>
          </a:xfrm>
          <a:prstGeom prst="rect">
            <a:avLst/>
          </a:prstGeom>
          <a:solidFill>
            <a:srgbClr val="FFFFFF"/>
          </a:solidFill>
          <a:ln w="12700">
            <a:solidFill>
              <a:srgbClr val="D9E1EC"/>
            </a:solidFill>
          </a:ln>
        </p:spPr>
        <p:txBody>
          <a:bodyPr/>
          <a:lstStyle/>
          <a:p>
            <a:endParaRPr lang="zh-CN" altLang="en-US"/>
          </a:p>
        </p:txBody>
      </p:sp>
      <p:sp>
        <p:nvSpPr>
          <p:cNvPr id="90" name="Text">
            <a:extLst>
              <a:ext uri="{FF2B5EF4-FFF2-40B4-BE49-F238E27FC236}">
                <a16:creationId xmlns:a16="http://schemas.microsoft.com/office/drawing/2014/main" id="{1BD7C662-96CF-4002-9B22-8F581B61E1F2}"/>
              </a:ext>
            </a:extLst>
          </p:cNvPr>
          <p:cNvSpPr txBox="1"/>
          <p:nvPr/>
        </p:nvSpPr>
        <p:spPr>
          <a:xfrm>
            <a:off x="735523" y="4485534"/>
            <a:ext cx="2743200" cy="274320"/>
          </a:xfrm>
          <a:prstGeom prst="rect">
            <a:avLst/>
          </a:prstGeom>
          <a:noFill/>
          <a:ln>
            <a:noFill/>
          </a:ln>
        </p:spPr>
        <p:txBody>
          <a:bodyPr wrap="square" lIns="60000" tIns="40000" rIns="60000" bIns="40000" anchor="t"/>
          <a:lstStyle/>
          <a:p>
            <a:pPr algn="l"/>
            <a:r>
              <a:rPr lang="zh-CN" altLang="en-US" sz="1400" b="1">
                <a:solidFill>
                  <a:srgbClr val="1C2530"/>
                </a:solidFill>
                <a:latin typeface="Microsoft YaHei"/>
                <a:ea typeface="Microsoft YaHei"/>
                <a:cs typeface="Microsoft YaHei"/>
              </a:rPr>
              <a:t>教育大数据应用实训</a:t>
            </a:r>
            <a:endParaRPr lang="zh-CN" sz="1400" b="1">
              <a:solidFill>
                <a:srgbClr val="1C2530"/>
              </a:solidFill>
              <a:latin typeface="Microsoft YaHei"/>
              <a:ea typeface="Microsoft YaHei"/>
              <a:cs typeface="Microsoft YaHei"/>
            </a:endParaRPr>
          </a:p>
        </p:txBody>
      </p:sp>
      <p:sp>
        <p:nvSpPr>
          <p:cNvPr id="91" name="Text">
            <a:extLst>
              <a:ext uri="{FF2B5EF4-FFF2-40B4-BE49-F238E27FC236}">
                <a16:creationId xmlns:a16="http://schemas.microsoft.com/office/drawing/2014/main" id="{D7BF0D37-206E-4498-91E7-ACA7DF462BFA}"/>
              </a:ext>
            </a:extLst>
          </p:cNvPr>
          <p:cNvSpPr txBox="1"/>
          <p:nvPr/>
        </p:nvSpPr>
        <p:spPr>
          <a:xfrm>
            <a:off x="3666175" y="4492167"/>
            <a:ext cx="4709160" cy="274320"/>
          </a:xfrm>
          <a:prstGeom prst="rect">
            <a:avLst/>
          </a:prstGeom>
          <a:noFill/>
          <a:ln>
            <a:noFill/>
          </a:ln>
        </p:spPr>
        <p:txBody>
          <a:bodyPr wrap="square" lIns="60000" tIns="40000" rIns="60000" bIns="40000" anchor="t"/>
          <a:lstStyle/>
          <a:p>
            <a:r>
              <a:rPr lang="zh-CN" altLang="en-US" sz="1400" b="1">
                <a:solidFill>
                  <a:srgbClr val="5B677A"/>
                </a:solidFill>
                <a:latin typeface="Microsoft YaHei"/>
                <a:ea typeface="Microsoft YaHei"/>
              </a:rPr>
              <a:t>数据采集、分析可视化、学习分析、质量监测</a:t>
            </a:r>
          </a:p>
        </p:txBody>
      </p:sp>
      <p:sp>
        <p:nvSpPr>
          <p:cNvPr id="92" name="Text">
            <a:extLst>
              <a:ext uri="{FF2B5EF4-FFF2-40B4-BE49-F238E27FC236}">
                <a16:creationId xmlns:a16="http://schemas.microsoft.com/office/drawing/2014/main" id="{CC785F16-9337-476C-9C34-2FC93B4B1582}"/>
              </a:ext>
            </a:extLst>
          </p:cNvPr>
          <p:cNvSpPr txBox="1"/>
          <p:nvPr/>
        </p:nvSpPr>
        <p:spPr>
          <a:xfrm>
            <a:off x="8632455" y="4470683"/>
            <a:ext cx="2057400" cy="274320"/>
          </a:xfrm>
          <a:prstGeom prst="rect">
            <a:avLst/>
          </a:prstGeom>
          <a:noFill/>
          <a:ln>
            <a:noFill/>
          </a:ln>
        </p:spPr>
        <p:txBody>
          <a:bodyPr wrap="square" lIns="60000" tIns="40000" rIns="60000" bIns="40000" anchor="t"/>
          <a:lstStyle/>
          <a:p>
            <a:pPr algn="l"/>
            <a:endParaRPr lang="zh-CN" sz="1400" b="1">
              <a:solidFill>
                <a:srgbClr val="C5282F"/>
              </a:solidFill>
              <a:latin typeface="Microsoft YaHei"/>
              <a:ea typeface="Microsoft YaHei"/>
              <a:cs typeface="Microsoft YaHei"/>
            </a:endParaRPr>
          </a:p>
        </p:txBody>
      </p:sp>
      <p:sp>
        <p:nvSpPr>
          <p:cNvPr id="93" name="Shape">
            <a:extLst>
              <a:ext uri="{FF2B5EF4-FFF2-40B4-BE49-F238E27FC236}">
                <a16:creationId xmlns:a16="http://schemas.microsoft.com/office/drawing/2014/main" id="{DB152DB3-0199-472C-AD65-01F4289C7E22}"/>
              </a:ext>
            </a:extLst>
          </p:cNvPr>
          <p:cNvSpPr/>
          <p:nvPr/>
        </p:nvSpPr>
        <p:spPr>
          <a:xfrm>
            <a:off x="552643" y="4997598"/>
            <a:ext cx="10835640" cy="530352"/>
          </a:xfrm>
          <a:prstGeom prst="rect">
            <a:avLst/>
          </a:prstGeom>
          <a:solidFill>
            <a:srgbClr val="F1F5FA"/>
          </a:solidFill>
          <a:ln w="12700">
            <a:solidFill>
              <a:srgbClr val="D9E1EC"/>
            </a:solidFill>
          </a:ln>
        </p:spPr>
        <p:txBody>
          <a:bodyPr/>
          <a:lstStyle/>
          <a:p>
            <a:endParaRPr lang="zh-CN" altLang="en-US"/>
          </a:p>
        </p:txBody>
      </p:sp>
      <p:sp>
        <p:nvSpPr>
          <p:cNvPr id="94" name="Text">
            <a:extLst>
              <a:ext uri="{FF2B5EF4-FFF2-40B4-BE49-F238E27FC236}">
                <a16:creationId xmlns:a16="http://schemas.microsoft.com/office/drawing/2014/main" id="{2C59CF4C-1745-4D21-A49F-CDBAE8F5B654}"/>
              </a:ext>
            </a:extLst>
          </p:cNvPr>
          <p:cNvSpPr txBox="1"/>
          <p:nvPr/>
        </p:nvSpPr>
        <p:spPr>
          <a:xfrm>
            <a:off x="735523" y="5125614"/>
            <a:ext cx="2743200" cy="274320"/>
          </a:xfrm>
          <a:prstGeom prst="rect">
            <a:avLst/>
          </a:prstGeom>
          <a:noFill/>
          <a:ln>
            <a:noFill/>
          </a:ln>
        </p:spPr>
        <p:txBody>
          <a:bodyPr wrap="square" lIns="60000" tIns="40000" rIns="60000" bIns="40000" anchor="t"/>
          <a:lstStyle/>
          <a:p>
            <a:pPr algn="l"/>
            <a:r>
              <a:rPr lang="zh-CN" altLang="en-US" sz="1400" b="1">
                <a:solidFill>
                  <a:srgbClr val="1C2530"/>
                </a:solidFill>
                <a:latin typeface="Microsoft YaHei"/>
                <a:ea typeface="Microsoft YaHei"/>
                <a:cs typeface="Microsoft YaHei"/>
              </a:rPr>
              <a:t>人工智能技术综合实训</a:t>
            </a:r>
            <a:endParaRPr lang="zh-CN" sz="1400" b="1">
              <a:solidFill>
                <a:srgbClr val="1C2530"/>
              </a:solidFill>
              <a:latin typeface="Microsoft YaHei"/>
              <a:ea typeface="Microsoft YaHei"/>
              <a:cs typeface="Microsoft YaHei"/>
            </a:endParaRPr>
          </a:p>
        </p:txBody>
      </p:sp>
      <p:sp>
        <p:nvSpPr>
          <p:cNvPr id="95" name="Text">
            <a:extLst>
              <a:ext uri="{FF2B5EF4-FFF2-40B4-BE49-F238E27FC236}">
                <a16:creationId xmlns:a16="http://schemas.microsoft.com/office/drawing/2014/main" id="{E1E5D70A-B3C9-4AFC-95D7-D937FE1A9E59}"/>
              </a:ext>
            </a:extLst>
          </p:cNvPr>
          <p:cNvSpPr txBox="1"/>
          <p:nvPr/>
        </p:nvSpPr>
        <p:spPr>
          <a:xfrm>
            <a:off x="3666175" y="5132247"/>
            <a:ext cx="4709160" cy="274320"/>
          </a:xfrm>
          <a:prstGeom prst="rect">
            <a:avLst/>
          </a:prstGeom>
          <a:noFill/>
          <a:ln>
            <a:noFill/>
          </a:ln>
        </p:spPr>
        <p:txBody>
          <a:bodyPr wrap="square" lIns="60000" tIns="40000" rIns="60000" bIns="40000" anchor="t"/>
          <a:lstStyle/>
          <a:p>
            <a:r>
              <a:rPr lang="zh-CN" altLang="en-US" sz="1400" b="1">
                <a:solidFill>
                  <a:srgbClr val="5B677A"/>
                </a:solidFill>
                <a:latin typeface="Microsoft YaHei"/>
                <a:ea typeface="Microsoft YaHei"/>
              </a:rPr>
              <a:t>大模型教育场景应用、智能体工具链、个性化学习支持</a:t>
            </a:r>
          </a:p>
        </p:txBody>
      </p:sp>
      <p:sp>
        <p:nvSpPr>
          <p:cNvPr id="96" name="Text">
            <a:extLst>
              <a:ext uri="{FF2B5EF4-FFF2-40B4-BE49-F238E27FC236}">
                <a16:creationId xmlns:a16="http://schemas.microsoft.com/office/drawing/2014/main" id="{9F874AC0-DDB2-4F41-8B5D-115B15F80907}"/>
              </a:ext>
            </a:extLst>
          </p:cNvPr>
          <p:cNvSpPr txBox="1"/>
          <p:nvPr/>
        </p:nvSpPr>
        <p:spPr>
          <a:xfrm>
            <a:off x="8562609" y="5112320"/>
            <a:ext cx="2875402" cy="274320"/>
          </a:xfrm>
          <a:prstGeom prst="rect">
            <a:avLst/>
          </a:prstGeom>
          <a:noFill/>
          <a:ln>
            <a:noFill/>
          </a:ln>
        </p:spPr>
        <p:txBody>
          <a:bodyPr wrap="square" lIns="60000" tIns="40000" rIns="60000" bIns="40000" anchor="t"/>
          <a:lstStyle/>
          <a:p>
            <a:pPr algn="l"/>
            <a:r>
              <a:rPr lang="zh-CN" altLang="en-US" sz="1400" b="1">
                <a:solidFill>
                  <a:srgbClr val="C5282F"/>
                </a:solidFill>
                <a:latin typeface="Microsoft YaHei"/>
                <a:ea typeface="Microsoft YaHei"/>
                <a:cs typeface="Microsoft YaHei"/>
              </a:rPr>
              <a:t>核心研究能力、创新发展能力</a:t>
            </a:r>
            <a:endParaRPr lang="zh-CN" sz="1400" b="1">
              <a:solidFill>
                <a:srgbClr val="C5282F"/>
              </a:solidFill>
              <a:latin typeface="Microsoft YaHei"/>
              <a:ea typeface="Microsoft YaHei"/>
              <a:cs typeface="Microsoft YaHei"/>
            </a:endParaRPr>
          </a:p>
        </p:txBody>
      </p:sp>
      <p:sp>
        <p:nvSpPr>
          <p:cNvPr id="97" name="Shape">
            <a:extLst>
              <a:ext uri="{FF2B5EF4-FFF2-40B4-BE49-F238E27FC236}">
                <a16:creationId xmlns:a16="http://schemas.microsoft.com/office/drawing/2014/main" id="{EDF93029-5379-4197-AE5E-25D7A6721571}"/>
              </a:ext>
            </a:extLst>
          </p:cNvPr>
          <p:cNvSpPr/>
          <p:nvPr/>
        </p:nvSpPr>
        <p:spPr>
          <a:xfrm>
            <a:off x="552643" y="5637678"/>
            <a:ext cx="10835640" cy="530352"/>
          </a:xfrm>
          <a:prstGeom prst="rect">
            <a:avLst/>
          </a:prstGeom>
          <a:solidFill>
            <a:srgbClr val="FFFFFF"/>
          </a:solidFill>
          <a:ln w="12700">
            <a:solidFill>
              <a:srgbClr val="D9E1EC"/>
            </a:solidFill>
          </a:ln>
        </p:spPr>
        <p:txBody>
          <a:bodyPr/>
          <a:lstStyle/>
          <a:p>
            <a:endParaRPr lang="zh-CN" altLang="en-US"/>
          </a:p>
        </p:txBody>
      </p:sp>
      <p:sp>
        <p:nvSpPr>
          <p:cNvPr id="98" name="Text">
            <a:extLst>
              <a:ext uri="{FF2B5EF4-FFF2-40B4-BE49-F238E27FC236}">
                <a16:creationId xmlns:a16="http://schemas.microsoft.com/office/drawing/2014/main" id="{9EAE9B02-467A-4D9C-B967-88211CF0B51E}"/>
              </a:ext>
            </a:extLst>
          </p:cNvPr>
          <p:cNvSpPr txBox="1"/>
          <p:nvPr/>
        </p:nvSpPr>
        <p:spPr>
          <a:xfrm>
            <a:off x="735523" y="5750949"/>
            <a:ext cx="2743200" cy="274320"/>
          </a:xfrm>
          <a:prstGeom prst="rect">
            <a:avLst/>
          </a:prstGeom>
          <a:noFill/>
          <a:ln>
            <a:noFill/>
          </a:ln>
        </p:spPr>
        <p:txBody>
          <a:bodyPr wrap="square" lIns="60000" tIns="40000" rIns="60000" bIns="40000" anchor="t"/>
          <a:lstStyle/>
          <a:p>
            <a:pPr algn="l"/>
            <a:r>
              <a:rPr lang="zh-CN" altLang="en-US" sz="1400" b="1">
                <a:solidFill>
                  <a:srgbClr val="1C2530"/>
                </a:solidFill>
                <a:latin typeface="Microsoft YaHei"/>
                <a:ea typeface="Microsoft YaHei"/>
                <a:cs typeface="Microsoft YaHei"/>
              </a:rPr>
              <a:t>人工智能教育实习</a:t>
            </a:r>
            <a:endParaRPr lang="zh-CN" sz="1400" b="1">
              <a:solidFill>
                <a:srgbClr val="1C2530"/>
              </a:solidFill>
              <a:latin typeface="Microsoft YaHei"/>
              <a:ea typeface="Microsoft YaHei"/>
              <a:cs typeface="Microsoft YaHei"/>
            </a:endParaRPr>
          </a:p>
        </p:txBody>
      </p:sp>
      <p:sp>
        <p:nvSpPr>
          <p:cNvPr id="99" name="Text">
            <a:extLst>
              <a:ext uri="{FF2B5EF4-FFF2-40B4-BE49-F238E27FC236}">
                <a16:creationId xmlns:a16="http://schemas.microsoft.com/office/drawing/2014/main" id="{611BE075-E186-4BEA-86B2-4AE56E5CF383}"/>
              </a:ext>
            </a:extLst>
          </p:cNvPr>
          <p:cNvSpPr txBox="1"/>
          <p:nvPr/>
        </p:nvSpPr>
        <p:spPr>
          <a:xfrm>
            <a:off x="3666175" y="5772327"/>
            <a:ext cx="4709160" cy="274320"/>
          </a:xfrm>
          <a:prstGeom prst="rect">
            <a:avLst/>
          </a:prstGeom>
          <a:noFill/>
          <a:ln>
            <a:noFill/>
          </a:ln>
        </p:spPr>
        <p:txBody>
          <a:bodyPr wrap="square" lIns="60000" tIns="40000" rIns="60000" bIns="40000" anchor="t"/>
          <a:lstStyle/>
          <a:p>
            <a:r>
              <a:rPr lang="zh-CN" altLang="en-US" sz="1400" b="1">
                <a:solidFill>
                  <a:srgbClr val="5B677A"/>
                </a:solidFill>
                <a:latin typeface="Microsoft YaHei"/>
                <a:ea typeface="Microsoft YaHei"/>
              </a:rPr>
              <a:t>教育公平、隐私保护、合规治理、技术向善</a:t>
            </a:r>
          </a:p>
        </p:txBody>
      </p:sp>
      <p:sp>
        <p:nvSpPr>
          <p:cNvPr id="100" name="Text">
            <a:extLst>
              <a:ext uri="{FF2B5EF4-FFF2-40B4-BE49-F238E27FC236}">
                <a16:creationId xmlns:a16="http://schemas.microsoft.com/office/drawing/2014/main" id="{E3240FC9-99C7-4890-A022-E6BD4BED1B36}"/>
              </a:ext>
            </a:extLst>
          </p:cNvPr>
          <p:cNvSpPr txBox="1"/>
          <p:nvPr/>
        </p:nvSpPr>
        <p:spPr>
          <a:xfrm>
            <a:off x="8562609" y="5757476"/>
            <a:ext cx="2724912" cy="274320"/>
          </a:xfrm>
          <a:prstGeom prst="rect">
            <a:avLst/>
          </a:prstGeom>
          <a:noFill/>
          <a:ln>
            <a:noFill/>
          </a:ln>
        </p:spPr>
        <p:txBody>
          <a:bodyPr wrap="square" lIns="60000" tIns="40000" rIns="60000" bIns="40000" anchor="t"/>
          <a:lstStyle/>
          <a:p>
            <a:pPr algn="l"/>
            <a:r>
              <a:rPr lang="zh-CN" altLang="en-US" sz="1400" b="1">
                <a:solidFill>
                  <a:srgbClr val="C5282F"/>
                </a:solidFill>
                <a:latin typeface="Microsoft YaHei"/>
                <a:ea typeface="Microsoft YaHei"/>
                <a:cs typeface="Microsoft YaHei"/>
              </a:rPr>
              <a:t>创新发展能力、价值引领与规范</a:t>
            </a:r>
            <a:endParaRPr lang="zh-CN" sz="1400" b="1">
              <a:solidFill>
                <a:srgbClr val="C5282F"/>
              </a:solidFill>
              <a:latin typeface="Microsoft YaHei"/>
              <a:ea typeface="Microsoft YaHei"/>
              <a:cs typeface="Microsoft YaHei"/>
            </a:endParaRPr>
          </a:p>
        </p:txBody>
      </p:sp>
      <p:sp>
        <p:nvSpPr>
          <p:cNvPr id="102" name="Text">
            <a:extLst>
              <a:ext uri="{FF2B5EF4-FFF2-40B4-BE49-F238E27FC236}">
                <a16:creationId xmlns:a16="http://schemas.microsoft.com/office/drawing/2014/main" id="{E52E9D51-5270-4E6B-B577-ECC931B8F4F6}"/>
              </a:ext>
            </a:extLst>
          </p:cNvPr>
          <p:cNvSpPr txBox="1"/>
          <p:nvPr/>
        </p:nvSpPr>
        <p:spPr>
          <a:xfrm>
            <a:off x="804103" y="2218217"/>
            <a:ext cx="10149840" cy="502920"/>
          </a:xfrm>
          <a:prstGeom prst="rect">
            <a:avLst/>
          </a:prstGeom>
          <a:noFill/>
          <a:ln>
            <a:noFill/>
          </a:ln>
        </p:spPr>
        <p:txBody>
          <a:bodyPr wrap="square" lIns="60000" tIns="40000" rIns="60000" bIns="40000" anchor="t"/>
          <a:lstStyle/>
          <a:p>
            <a:pPr algn="l"/>
            <a:r>
              <a:rPr lang="zh-CN" sz="2000" b="1" dirty="0">
                <a:solidFill>
                  <a:srgbClr val="1C2530"/>
                </a:solidFill>
                <a:latin typeface="Microsoft YaHei"/>
                <a:ea typeface="Microsoft YaHei"/>
                <a:cs typeface="Microsoft YaHei"/>
              </a:rPr>
              <a:t>把AI能力具体落到教育设计、系统开发、数据治理和伦理规范</a:t>
            </a:r>
          </a:p>
        </p:txBody>
      </p:sp>
      <p:sp>
        <p:nvSpPr>
          <p:cNvPr id="105" name="Text">
            <a:extLst>
              <a:ext uri="{FF2B5EF4-FFF2-40B4-BE49-F238E27FC236}">
                <a16:creationId xmlns:a16="http://schemas.microsoft.com/office/drawing/2014/main" id="{524870DD-646A-4B03-8D46-4D433985AACA}"/>
              </a:ext>
            </a:extLst>
          </p:cNvPr>
          <p:cNvSpPr txBox="1"/>
          <p:nvPr/>
        </p:nvSpPr>
        <p:spPr>
          <a:xfrm>
            <a:off x="850392" y="6437376"/>
            <a:ext cx="3020568" cy="256032"/>
          </a:xfrm>
          <a:prstGeom prst="rect">
            <a:avLst/>
          </a:prstGeom>
          <a:noFill/>
          <a:ln>
            <a:noFill/>
          </a:ln>
        </p:spPr>
        <p:txBody>
          <a:bodyPr wrap="square" lIns="60000" tIns="40000" rIns="60000" bIns="40000" anchor="t"/>
          <a:lstStyle/>
          <a:p>
            <a:pPr algn="l"/>
            <a:r>
              <a:rPr lang="zh-CN" sz="1500" b="1">
                <a:solidFill>
                  <a:srgbClr val="1C2530"/>
                </a:solidFill>
                <a:latin typeface="Microsoft YaHei"/>
                <a:ea typeface="Microsoft YaHei"/>
                <a:cs typeface="Microsoft YaHei"/>
              </a:rPr>
              <a:t>实施要点：实践教学占比≥20%</a:t>
            </a:r>
          </a:p>
        </p:txBody>
      </p:sp>
      <p:sp>
        <p:nvSpPr>
          <p:cNvPr id="44" name="Text">
            <a:extLst>
              <a:ext uri="{FF2B5EF4-FFF2-40B4-BE49-F238E27FC236}">
                <a16:creationId xmlns:a16="http://schemas.microsoft.com/office/drawing/2014/main" id="{0F106D4C-CD29-4EF0-925D-C7C6E3283AAB}"/>
              </a:ext>
            </a:extLst>
          </p:cNvPr>
          <p:cNvSpPr txBox="1"/>
          <p:nvPr/>
        </p:nvSpPr>
        <p:spPr>
          <a:xfrm>
            <a:off x="8564261" y="4447675"/>
            <a:ext cx="2724912" cy="274320"/>
          </a:xfrm>
          <a:prstGeom prst="rect">
            <a:avLst/>
          </a:prstGeom>
          <a:noFill/>
          <a:ln>
            <a:noFill/>
          </a:ln>
        </p:spPr>
        <p:txBody>
          <a:bodyPr wrap="square" lIns="60000" tIns="40000" rIns="60000" bIns="40000" anchor="t"/>
          <a:lstStyle/>
          <a:p>
            <a:pPr algn="l"/>
            <a:r>
              <a:rPr lang="zh-CN" altLang="en-US" sz="1400" b="1">
                <a:solidFill>
                  <a:srgbClr val="C5282F"/>
                </a:solidFill>
                <a:latin typeface="Microsoft YaHei"/>
                <a:ea typeface="Microsoft YaHei"/>
                <a:cs typeface="Microsoft YaHei"/>
              </a:rPr>
              <a:t>专业知识基础、核心研究能力</a:t>
            </a:r>
            <a:endParaRPr lang="zh-CN" altLang="zh-CN" sz="1400" b="1">
              <a:solidFill>
                <a:srgbClr val="C5282F"/>
              </a:solidFill>
              <a:latin typeface="Microsoft YaHei"/>
              <a:ea typeface="Microsoft YaHei"/>
              <a:cs typeface="Microsoft YaHei"/>
            </a:endParaRPr>
          </a:p>
        </p:txBody>
      </p:sp>
    </p:spTree>
    <p:extLst>
      <p:ext uri="{BB962C8B-B14F-4D97-AF65-F5344CB8AC3E}">
        <p14:creationId xmlns:p14="http://schemas.microsoft.com/office/powerpoint/2010/main" val="23863522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a:extLst>
              <a:ext uri="{FF2B5EF4-FFF2-40B4-BE49-F238E27FC236}">
                <a16:creationId xmlns:a16="http://schemas.microsoft.com/office/drawing/2014/main" id="{39AF018C-BD1E-4D1C-A575-89BC7165FB50}"/>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189341" y="28710"/>
            <a:ext cx="881729" cy="881729"/>
          </a:xfrm>
          <a:prstGeom prst="rect">
            <a:avLst/>
          </a:prstGeom>
        </p:spPr>
      </p:pic>
      <p:pic>
        <p:nvPicPr>
          <p:cNvPr id="24" name="图片 23">
            <a:extLst>
              <a:ext uri="{FF2B5EF4-FFF2-40B4-BE49-F238E27FC236}">
                <a16:creationId xmlns:a16="http://schemas.microsoft.com/office/drawing/2014/main" id="{118A43A9-C67F-4CB1-B9F4-63E761CBC2D0}"/>
              </a:ext>
            </a:extLst>
          </p:cNvPr>
          <p:cNvPicPr>
            <a:picLocks noChangeAspect="1"/>
          </p:cNvPicPr>
          <p:nvPr/>
        </p:nvPicPr>
        <p:blipFill>
          <a:blip r:embed="rId6" cstate="print">
            <a:extLst>
              <a:ext uri="{28A0092B-C50C-407E-A947-70E740481C1C}">
                <a14:useLocalDpi xmlns:a14="http://schemas.microsoft.com/office/drawing/2010/main" val="0"/>
              </a:ext>
            </a:extLst>
          </a:blip>
          <a:srcRect l="1133" r="1133"/>
          <a:stretch/>
        </p:blipFill>
        <p:spPr>
          <a:xfrm>
            <a:off x="274100" y="75737"/>
            <a:ext cx="802225" cy="806727"/>
          </a:xfrm>
          <a:prstGeom prst="rect">
            <a:avLst/>
          </a:prstGeom>
        </p:spPr>
      </p:pic>
      <p:sp>
        <p:nvSpPr>
          <p:cNvPr id="42" name="Text 4">
            <a:extLst>
              <a:ext uri="{FF2B5EF4-FFF2-40B4-BE49-F238E27FC236}">
                <a16:creationId xmlns:a16="http://schemas.microsoft.com/office/drawing/2014/main" id="{99C2D58F-7C72-4E09-808C-AE618BD6D498}"/>
              </a:ext>
            </a:extLst>
          </p:cNvPr>
          <p:cNvSpPr/>
          <p:nvPr/>
        </p:nvSpPr>
        <p:spPr>
          <a:xfrm>
            <a:off x="1189341" y="7085837"/>
            <a:ext cx="1524000" cy="838200"/>
          </a:xfrm>
          <a:prstGeom prst="rect">
            <a:avLst/>
          </a:prstGeom>
          <a:noFill/>
          <a:ln/>
        </p:spPr>
        <p:txBody>
          <a:bodyPr vert="horz" wrap="square" lIns="0" tIns="0" rIns="0" bIns="0" rtlCol="0" anchor="ctr"/>
          <a:lstStyle/>
          <a:p>
            <a:pPr marL="0" indent="0" algn="ctr">
              <a:lnSpc>
                <a:spcPts val="1650"/>
              </a:lnSpc>
              <a:buNone/>
            </a:pPr>
            <a:endParaRPr lang="en-US" sz="1050" dirty="0"/>
          </a:p>
        </p:txBody>
      </p:sp>
      <p:sp>
        <p:nvSpPr>
          <p:cNvPr id="54" name="Text 6">
            <a:extLst>
              <a:ext uri="{FF2B5EF4-FFF2-40B4-BE49-F238E27FC236}">
                <a16:creationId xmlns:a16="http://schemas.microsoft.com/office/drawing/2014/main" id="{18EF005A-18C2-4DD0-A619-A133B6B66CDB}"/>
              </a:ext>
            </a:extLst>
          </p:cNvPr>
          <p:cNvSpPr/>
          <p:nvPr/>
        </p:nvSpPr>
        <p:spPr>
          <a:xfrm>
            <a:off x="3284841" y="7085837"/>
            <a:ext cx="1524000" cy="838200"/>
          </a:xfrm>
          <a:prstGeom prst="rect">
            <a:avLst/>
          </a:prstGeom>
          <a:noFill/>
          <a:ln/>
        </p:spPr>
        <p:txBody>
          <a:bodyPr vert="horz" wrap="square" lIns="0" tIns="0" rIns="0" bIns="0" rtlCol="0" anchor="ctr"/>
          <a:lstStyle/>
          <a:p>
            <a:pPr marL="0" indent="0" algn="ctr">
              <a:lnSpc>
                <a:spcPts val="1650"/>
              </a:lnSpc>
              <a:buNone/>
            </a:pPr>
            <a:endParaRPr lang="en-US" sz="1050" dirty="0"/>
          </a:p>
        </p:txBody>
      </p:sp>
      <p:sp>
        <p:nvSpPr>
          <p:cNvPr id="57" name="Text 8">
            <a:extLst>
              <a:ext uri="{FF2B5EF4-FFF2-40B4-BE49-F238E27FC236}">
                <a16:creationId xmlns:a16="http://schemas.microsoft.com/office/drawing/2014/main" id="{15755AD8-8421-466C-973E-140CA8C5F3C4}"/>
              </a:ext>
            </a:extLst>
          </p:cNvPr>
          <p:cNvSpPr/>
          <p:nvPr/>
        </p:nvSpPr>
        <p:spPr>
          <a:xfrm>
            <a:off x="5380341" y="7085837"/>
            <a:ext cx="1524000" cy="838200"/>
          </a:xfrm>
          <a:prstGeom prst="rect">
            <a:avLst/>
          </a:prstGeom>
          <a:noFill/>
          <a:ln/>
        </p:spPr>
        <p:txBody>
          <a:bodyPr vert="horz" wrap="square" lIns="0" tIns="0" rIns="0" bIns="0" rtlCol="0" anchor="ctr"/>
          <a:lstStyle/>
          <a:p>
            <a:pPr marL="0" indent="0" algn="ctr">
              <a:lnSpc>
                <a:spcPts val="1650"/>
              </a:lnSpc>
              <a:buNone/>
            </a:pPr>
            <a:endParaRPr lang="en-US" sz="1050" dirty="0"/>
          </a:p>
        </p:txBody>
      </p:sp>
      <p:sp>
        <p:nvSpPr>
          <p:cNvPr id="60" name="Text 10">
            <a:extLst>
              <a:ext uri="{FF2B5EF4-FFF2-40B4-BE49-F238E27FC236}">
                <a16:creationId xmlns:a16="http://schemas.microsoft.com/office/drawing/2014/main" id="{A03C8CEF-029C-470E-9EF0-D98C91A00147}"/>
              </a:ext>
            </a:extLst>
          </p:cNvPr>
          <p:cNvSpPr/>
          <p:nvPr/>
        </p:nvSpPr>
        <p:spPr>
          <a:xfrm>
            <a:off x="7475841" y="7085837"/>
            <a:ext cx="1524000" cy="838200"/>
          </a:xfrm>
          <a:prstGeom prst="rect">
            <a:avLst/>
          </a:prstGeom>
          <a:noFill/>
          <a:ln/>
        </p:spPr>
        <p:txBody>
          <a:bodyPr vert="horz" wrap="square" lIns="0" tIns="0" rIns="0" bIns="0" rtlCol="0" anchor="ctr"/>
          <a:lstStyle/>
          <a:p>
            <a:pPr marL="0" indent="0" algn="ctr">
              <a:lnSpc>
                <a:spcPts val="1650"/>
              </a:lnSpc>
              <a:buNone/>
            </a:pPr>
            <a:endParaRPr lang="en-US" sz="1050" dirty="0"/>
          </a:p>
        </p:txBody>
      </p:sp>
      <p:sp>
        <p:nvSpPr>
          <p:cNvPr id="72" name="Text 4">
            <a:extLst>
              <a:ext uri="{FF2B5EF4-FFF2-40B4-BE49-F238E27FC236}">
                <a16:creationId xmlns:a16="http://schemas.microsoft.com/office/drawing/2014/main" id="{E9A67A16-C000-4C06-9196-D156DD3B45AD}"/>
              </a:ext>
            </a:extLst>
          </p:cNvPr>
          <p:cNvSpPr/>
          <p:nvPr/>
        </p:nvSpPr>
        <p:spPr>
          <a:xfrm>
            <a:off x="215611" y="7072775"/>
            <a:ext cx="2362200" cy="1085850"/>
          </a:xfrm>
          <a:prstGeom prst="rect">
            <a:avLst/>
          </a:prstGeom>
          <a:noFill/>
          <a:ln/>
        </p:spPr>
        <p:txBody>
          <a:bodyPr vert="horz" wrap="square" lIns="0" tIns="0" rIns="0" bIns="0" rtlCol="0" anchor="ctr"/>
          <a:lstStyle/>
          <a:p>
            <a:pPr marL="0" indent="0" algn="r">
              <a:lnSpc>
                <a:spcPts val="1650"/>
              </a:lnSpc>
              <a:buNone/>
            </a:pPr>
            <a:endParaRPr lang="en-US" sz="1050" dirty="0"/>
          </a:p>
        </p:txBody>
      </p:sp>
      <p:sp>
        <p:nvSpPr>
          <p:cNvPr id="76" name="Text 8">
            <a:extLst>
              <a:ext uri="{FF2B5EF4-FFF2-40B4-BE49-F238E27FC236}">
                <a16:creationId xmlns:a16="http://schemas.microsoft.com/office/drawing/2014/main" id="{4C153DAE-F142-4801-8E6C-0F40B080B863}"/>
              </a:ext>
            </a:extLst>
          </p:cNvPr>
          <p:cNvSpPr/>
          <p:nvPr/>
        </p:nvSpPr>
        <p:spPr>
          <a:xfrm>
            <a:off x="7475841" y="7200918"/>
            <a:ext cx="2362200" cy="876300"/>
          </a:xfrm>
          <a:prstGeom prst="rect">
            <a:avLst/>
          </a:prstGeom>
          <a:noFill/>
          <a:ln/>
        </p:spPr>
        <p:txBody>
          <a:bodyPr vert="horz" wrap="square" lIns="0" tIns="0" rIns="0" bIns="0" rtlCol="0" anchor="ctr"/>
          <a:lstStyle/>
          <a:p>
            <a:pPr marL="0" indent="0" algn="l">
              <a:lnSpc>
                <a:spcPts val="1650"/>
              </a:lnSpc>
              <a:buNone/>
            </a:pPr>
            <a:endParaRPr lang="en-US" sz="1050" dirty="0"/>
          </a:p>
        </p:txBody>
      </p:sp>
      <p:sp>
        <p:nvSpPr>
          <p:cNvPr id="78" name="Text 10">
            <a:extLst>
              <a:ext uri="{FF2B5EF4-FFF2-40B4-BE49-F238E27FC236}">
                <a16:creationId xmlns:a16="http://schemas.microsoft.com/office/drawing/2014/main" id="{0C5BA853-33A0-4813-9A80-7350CCF56D1E}"/>
              </a:ext>
            </a:extLst>
          </p:cNvPr>
          <p:cNvSpPr/>
          <p:nvPr/>
        </p:nvSpPr>
        <p:spPr>
          <a:xfrm>
            <a:off x="7475841" y="8367730"/>
            <a:ext cx="2362200" cy="876300"/>
          </a:xfrm>
          <a:prstGeom prst="rect">
            <a:avLst/>
          </a:prstGeom>
          <a:noFill/>
          <a:ln/>
        </p:spPr>
        <p:txBody>
          <a:bodyPr vert="horz" wrap="square" lIns="0" tIns="0" rIns="0" bIns="0" rtlCol="0" anchor="ctr"/>
          <a:lstStyle/>
          <a:p>
            <a:pPr marL="0" indent="0" algn="l">
              <a:lnSpc>
                <a:spcPts val="1650"/>
              </a:lnSpc>
              <a:buNone/>
            </a:pPr>
            <a:endParaRPr lang="en-US" sz="1050" dirty="0"/>
          </a:p>
        </p:txBody>
      </p:sp>
      <p:graphicFrame>
        <p:nvGraphicFramePr>
          <p:cNvPr id="43" name="表格 42">
            <a:extLst>
              <a:ext uri="{FF2B5EF4-FFF2-40B4-BE49-F238E27FC236}">
                <a16:creationId xmlns:a16="http://schemas.microsoft.com/office/drawing/2014/main" id="{64510984-BB60-47D6-9388-11DF5EFA3334}"/>
              </a:ext>
            </a:extLst>
          </p:cNvPr>
          <p:cNvGraphicFramePr>
            <a:graphicFrameLocks noGrp="1"/>
          </p:cNvGraphicFramePr>
          <p:nvPr>
            <p:custDataLst>
              <p:tags r:id="rId1"/>
            </p:custDataLst>
          </p:nvPr>
        </p:nvGraphicFramePr>
        <p:xfrm>
          <a:off x="7657546" y="6387880"/>
          <a:ext cx="2456905" cy="365760"/>
        </p:xfrm>
        <a:graphic>
          <a:graphicData uri="http://schemas.openxmlformats.org/drawingml/2006/table">
            <a:tbl>
              <a:tblPr firstRow="1" bandRow="1">
                <a:effectLst>
                  <a:outerShdw blurRad="63500" sx="102000" sy="102000" algn="ctr" rotWithShape="0">
                    <a:prstClr val="black">
                      <a:alpha val="40000"/>
                    </a:prstClr>
                  </a:outerShdw>
                </a:effectLst>
              </a:tblPr>
              <a:tblGrid>
                <a:gridCol w="2456905">
                  <a:extLst>
                    <a:ext uri="{9D8B030D-6E8A-4147-A177-3AD203B41FA5}">
                      <a16:colId xmlns:a16="http://schemas.microsoft.com/office/drawing/2014/main" val="20000"/>
                    </a:ext>
                  </a:extLst>
                </a:gridCol>
              </a:tblGrid>
              <a:tr h="0">
                <a:tc>
                  <a:txBody>
                    <a:bodyPr/>
                    <a:lstStyle>
                      <a:lvl1pPr marL="0" algn="l" defTabSz="914400" rtl="0" eaLnBrk="1" latinLnBrk="0" hangingPunct="1">
                        <a:defRPr sz="1800" b="1" kern="1200">
                          <a:solidFill>
                            <a:schemeClr val="lt1"/>
                          </a:solidFill>
                          <a:latin typeface="等线"/>
                        </a:defRPr>
                      </a:lvl1pPr>
                      <a:lvl2pPr marL="457200" algn="l" defTabSz="914400" rtl="0" eaLnBrk="1" latinLnBrk="0" hangingPunct="1">
                        <a:defRPr sz="1800" b="1" kern="1200">
                          <a:solidFill>
                            <a:schemeClr val="lt1"/>
                          </a:solidFill>
                          <a:latin typeface="等线"/>
                        </a:defRPr>
                      </a:lvl2pPr>
                      <a:lvl3pPr marL="914400" algn="l" defTabSz="914400" rtl="0" eaLnBrk="1" latinLnBrk="0" hangingPunct="1">
                        <a:defRPr sz="1800" b="1" kern="1200">
                          <a:solidFill>
                            <a:schemeClr val="lt1"/>
                          </a:solidFill>
                          <a:latin typeface="等线"/>
                        </a:defRPr>
                      </a:lvl3pPr>
                      <a:lvl4pPr marL="1371600" algn="l" defTabSz="914400" rtl="0" eaLnBrk="1" latinLnBrk="0" hangingPunct="1">
                        <a:defRPr sz="1800" b="1" kern="1200">
                          <a:solidFill>
                            <a:schemeClr val="lt1"/>
                          </a:solidFill>
                          <a:latin typeface="等线"/>
                        </a:defRPr>
                      </a:lvl4pPr>
                      <a:lvl5pPr marL="1828800" algn="l" defTabSz="914400" rtl="0" eaLnBrk="1" latinLnBrk="0" hangingPunct="1">
                        <a:defRPr sz="1800" b="1" kern="1200">
                          <a:solidFill>
                            <a:schemeClr val="lt1"/>
                          </a:solidFill>
                          <a:latin typeface="等线"/>
                        </a:defRPr>
                      </a:lvl5pPr>
                      <a:lvl6pPr marL="2286000" algn="l" defTabSz="914400" rtl="0" eaLnBrk="1" latinLnBrk="0" hangingPunct="1">
                        <a:defRPr sz="1800" b="1" kern="1200">
                          <a:solidFill>
                            <a:schemeClr val="lt1"/>
                          </a:solidFill>
                          <a:latin typeface="等线"/>
                        </a:defRPr>
                      </a:lvl6pPr>
                      <a:lvl7pPr marL="2743200" algn="l" defTabSz="914400" rtl="0" eaLnBrk="1" latinLnBrk="0" hangingPunct="1">
                        <a:defRPr sz="1800" b="1" kern="1200">
                          <a:solidFill>
                            <a:schemeClr val="lt1"/>
                          </a:solidFill>
                          <a:latin typeface="等线"/>
                        </a:defRPr>
                      </a:lvl7pPr>
                      <a:lvl8pPr marL="3200400" algn="l" defTabSz="914400" rtl="0" eaLnBrk="1" latinLnBrk="0" hangingPunct="1">
                        <a:defRPr sz="1800" b="1" kern="1200">
                          <a:solidFill>
                            <a:schemeClr val="lt1"/>
                          </a:solidFill>
                          <a:latin typeface="等线"/>
                        </a:defRPr>
                      </a:lvl8pPr>
                      <a:lvl9pPr marL="3657600" algn="l" defTabSz="914400" rtl="0" eaLnBrk="1" latinLnBrk="0" hangingPunct="1">
                        <a:defRPr sz="1800" b="1" kern="1200">
                          <a:solidFill>
                            <a:schemeClr val="lt1"/>
                          </a:solidFill>
                          <a:latin typeface="等线"/>
                        </a:defRPr>
                      </a:lvl9pPr>
                    </a:lstStyle>
                    <a:p>
                      <a:pPr algn="ctr"/>
                      <a:r>
                        <a:rPr lang="zh-CN" altLang="en-US" b="1">
                          <a:latin typeface="微软雅黑" panose="020B0503020204020204" charset="-122"/>
                          <a:ea typeface="微软雅黑" panose="020B0503020204020204" charset="-122"/>
                        </a:rPr>
                        <a:t>跨学院资源共建共享</a:t>
                      </a:r>
                    </a:p>
                  </a:txBody>
                  <a:tcPr anchor="ctr">
                    <a:lnL w="12700" cmpd="sng">
                      <a:solidFill>
                        <a:sysClr val="window" lastClr="CEEACA"/>
                      </a:solidFill>
                    </a:lnL>
                    <a:lnR w="12700" cmpd="sng">
                      <a:solidFill>
                        <a:sysClr val="window" lastClr="CEEACA"/>
                      </a:solidFill>
                    </a:lnR>
                    <a:lnT w="12700" cmpd="sng">
                      <a:solidFill>
                        <a:sysClr val="window" lastClr="CEEACA"/>
                      </a:solidFill>
                    </a:lnT>
                    <a:lnB w="38100" cmpd="sng">
                      <a:solidFill>
                        <a:sysClr val="window" lastClr="CEEACA"/>
                      </a:solidFill>
                    </a:lnB>
                    <a:lnTlToBr w="12700" cmpd="sng">
                      <a:noFill/>
                      <a:prstDash val="solid"/>
                    </a:lnTlToBr>
                    <a:lnBlToTr w="12700" cmpd="sng">
                      <a:noFill/>
                      <a:prstDash val="solid"/>
                    </a:lnBlToTr>
                    <a:solidFill>
                      <a:srgbClr val="4472C4">
                        <a:lumMod val="50000"/>
                      </a:srgbClr>
                    </a:solidFill>
                  </a:tcPr>
                </a:tc>
                <a:extLst>
                  <a:ext uri="{0D108BD9-81ED-4DB2-BD59-A6C34878D82A}">
                    <a16:rowId xmlns:a16="http://schemas.microsoft.com/office/drawing/2014/main" val="10000"/>
                  </a:ext>
                </a:extLst>
              </a:tr>
            </a:tbl>
          </a:graphicData>
        </a:graphic>
      </p:graphicFrame>
      <p:grpSp>
        <p:nvGrpSpPr>
          <p:cNvPr id="44" name="组合 43">
            <a:extLst>
              <a:ext uri="{FF2B5EF4-FFF2-40B4-BE49-F238E27FC236}">
                <a16:creationId xmlns:a16="http://schemas.microsoft.com/office/drawing/2014/main" id="{35D7E55B-8491-4690-8636-08CF6F5C2354}"/>
              </a:ext>
            </a:extLst>
          </p:cNvPr>
          <p:cNvGrpSpPr/>
          <p:nvPr/>
        </p:nvGrpSpPr>
        <p:grpSpPr>
          <a:xfrm>
            <a:off x="7720193" y="2112784"/>
            <a:ext cx="2011045" cy="1895833"/>
            <a:chOff x="13695" y="2529"/>
            <a:chExt cx="2911" cy="2745"/>
          </a:xfrm>
        </p:grpSpPr>
        <p:sp>
          <p:nvSpPr>
            <p:cNvPr id="45" name="椭圆 44">
              <a:extLst>
                <a:ext uri="{FF2B5EF4-FFF2-40B4-BE49-F238E27FC236}">
                  <a16:creationId xmlns:a16="http://schemas.microsoft.com/office/drawing/2014/main" id="{9FCFE3D8-0F75-49C3-A929-8FE0E40A59CA}"/>
                </a:ext>
              </a:extLst>
            </p:cNvPr>
            <p:cNvSpPr/>
            <p:nvPr/>
          </p:nvSpPr>
          <p:spPr>
            <a:xfrm>
              <a:off x="14605" y="3349"/>
              <a:ext cx="1121" cy="1040"/>
            </a:xfrm>
            <a:prstGeom prst="ellipse">
              <a:avLst/>
            </a:prstGeom>
            <a:solidFill>
              <a:srgbClr val="5B9BD5">
                <a:lumMod val="40000"/>
                <a:lumOff val="60000"/>
              </a:srgbClr>
            </a:solidFill>
            <a:ln w="12700" cap="flat" cmpd="sng" algn="ctr">
              <a:solidFill>
                <a:srgbClr val="4472C4">
                  <a:lumMod val="20000"/>
                  <a:lumOff val="8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latin typeface="等线"/>
                <a:ea typeface="等线" panose="02010600030101010101" pitchFamily="2" charset="-122"/>
                <a:cs typeface="+mn-cs"/>
              </a:endParaRPr>
            </a:p>
          </p:txBody>
        </p:sp>
        <p:grpSp>
          <p:nvGrpSpPr>
            <p:cNvPr id="46" name="组合 45">
              <a:extLst>
                <a:ext uri="{FF2B5EF4-FFF2-40B4-BE49-F238E27FC236}">
                  <a16:creationId xmlns:a16="http://schemas.microsoft.com/office/drawing/2014/main" id="{32A5DD92-1D1B-47F5-9CB4-BC27CA4C0074}"/>
                </a:ext>
              </a:extLst>
            </p:cNvPr>
            <p:cNvGrpSpPr/>
            <p:nvPr/>
          </p:nvGrpSpPr>
          <p:grpSpPr>
            <a:xfrm>
              <a:off x="14605" y="2529"/>
              <a:ext cx="1050" cy="977"/>
              <a:chOff x="14781" y="3158"/>
              <a:chExt cx="1223" cy="1240"/>
            </a:xfrm>
          </p:grpSpPr>
          <p:grpSp>
            <p:nvGrpSpPr>
              <p:cNvPr id="69" name="组合 68">
                <a:extLst>
                  <a:ext uri="{FF2B5EF4-FFF2-40B4-BE49-F238E27FC236}">
                    <a16:creationId xmlns:a16="http://schemas.microsoft.com/office/drawing/2014/main" id="{1F814C20-6E40-4360-9EB0-8D48FC13D9D3}"/>
                  </a:ext>
                </a:extLst>
              </p:cNvPr>
              <p:cNvGrpSpPr/>
              <p:nvPr/>
            </p:nvGrpSpPr>
            <p:grpSpPr>
              <a:xfrm>
                <a:off x="14781" y="3158"/>
                <a:ext cx="1223" cy="1240"/>
                <a:chOff x="14659" y="3259"/>
                <a:chExt cx="1912" cy="1920"/>
              </a:xfrm>
            </p:grpSpPr>
            <p:sp>
              <p:nvSpPr>
                <p:cNvPr id="73" name="任意多边形 13">
                  <a:extLst>
                    <a:ext uri="{FF2B5EF4-FFF2-40B4-BE49-F238E27FC236}">
                      <a16:creationId xmlns:a16="http://schemas.microsoft.com/office/drawing/2014/main" id="{7284CF92-4940-4F59-8C75-96F815550ECE}"/>
                    </a:ext>
                  </a:extLst>
                </p:cNvPr>
                <p:cNvSpPr/>
                <p:nvPr/>
              </p:nvSpPr>
              <p:spPr>
                <a:xfrm>
                  <a:off x="14659" y="3259"/>
                  <a:ext cx="1004" cy="1921"/>
                </a:xfrm>
                <a:custGeom>
                  <a:avLst/>
                  <a:gdLst>
                    <a:gd name="connsiteX0" fmla="*/ 1004 w 1004"/>
                    <a:gd name="connsiteY0" fmla="*/ 1921 h 1921"/>
                    <a:gd name="connsiteX1" fmla="*/ 0 w 1004"/>
                    <a:gd name="connsiteY1" fmla="*/ 961 h 1921"/>
                    <a:gd name="connsiteX2" fmla="*/ 1004 w 1004"/>
                    <a:gd name="connsiteY2" fmla="*/ 0 h 1921"/>
                  </a:gdLst>
                  <a:ahLst/>
                  <a:cxnLst>
                    <a:cxn ang="0">
                      <a:pos x="connsiteX0" y="connsiteY0"/>
                    </a:cxn>
                    <a:cxn ang="0">
                      <a:pos x="connsiteX1" y="connsiteY1"/>
                    </a:cxn>
                    <a:cxn ang="0">
                      <a:pos x="connsiteX2" y="connsiteY2"/>
                    </a:cxn>
                  </a:cxnLst>
                  <a:rect l="l" t="t" r="r" b="b"/>
                  <a:pathLst>
                    <a:path w="1004" h="1921">
                      <a:moveTo>
                        <a:pt x="1004" y="1921"/>
                      </a:moveTo>
                      <a:cubicBezTo>
                        <a:pt x="449" y="1921"/>
                        <a:pt x="0" y="1491"/>
                        <a:pt x="0" y="961"/>
                      </a:cubicBezTo>
                      <a:cubicBezTo>
                        <a:pt x="0" y="430"/>
                        <a:pt x="449" y="0"/>
                        <a:pt x="1004" y="0"/>
                      </a:cubicBezTo>
                    </a:path>
                  </a:pathLst>
                </a:custGeom>
                <a:noFill/>
                <a:ln w="19050" cap="flat" cmpd="sng" algn="ctr">
                  <a:solidFill>
                    <a:srgbClr val="4472C4">
                      <a:lumMod val="75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75" name="任意多边形 12">
                  <a:extLst>
                    <a:ext uri="{FF2B5EF4-FFF2-40B4-BE49-F238E27FC236}">
                      <a16:creationId xmlns:a16="http://schemas.microsoft.com/office/drawing/2014/main" id="{C3CD2A6E-D941-419F-8812-8ACE487E649D}"/>
                    </a:ext>
                  </a:extLst>
                </p:cNvPr>
                <p:cNvSpPr/>
                <p:nvPr/>
              </p:nvSpPr>
              <p:spPr>
                <a:xfrm>
                  <a:off x="14777" y="3263"/>
                  <a:ext cx="1794" cy="1814"/>
                </a:xfrm>
                <a:custGeom>
                  <a:avLst/>
                  <a:gdLst>
                    <a:gd name="connsiteX0" fmla="*/ 870 w 1794"/>
                    <a:gd name="connsiteY0" fmla="*/ 0 h 1814"/>
                    <a:gd name="connsiteX1" fmla="*/ 1792 w 1794"/>
                    <a:gd name="connsiteY1" fmla="*/ 982 h 1814"/>
                    <a:gd name="connsiteX2" fmla="*/ 902 w 1794"/>
                    <a:gd name="connsiteY2" fmla="*/ 1814 h 1814"/>
                    <a:gd name="connsiteX3" fmla="*/ 0 w 1794"/>
                    <a:gd name="connsiteY3" fmla="*/ 956 h 1814"/>
                    <a:gd name="connsiteX4" fmla="*/ 958 w 1794"/>
                    <a:gd name="connsiteY4" fmla="*/ 111 h 1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94" h="1814">
                      <a:moveTo>
                        <a:pt x="870" y="0"/>
                      </a:moveTo>
                      <a:cubicBezTo>
                        <a:pt x="1522" y="7"/>
                        <a:pt x="1822" y="502"/>
                        <a:pt x="1792" y="982"/>
                      </a:cubicBezTo>
                      <a:cubicBezTo>
                        <a:pt x="1761" y="1472"/>
                        <a:pt x="1392" y="1804"/>
                        <a:pt x="902" y="1814"/>
                      </a:cubicBezTo>
                      <a:cubicBezTo>
                        <a:pt x="412" y="1824"/>
                        <a:pt x="0" y="1424"/>
                        <a:pt x="0" y="956"/>
                      </a:cubicBezTo>
                      <a:cubicBezTo>
                        <a:pt x="0" y="488"/>
                        <a:pt x="411" y="78"/>
                        <a:pt x="958" y="111"/>
                      </a:cubicBezTo>
                    </a:path>
                  </a:pathLst>
                </a:custGeom>
                <a:noFill/>
                <a:ln w="19050" cap="flat" cmpd="sng" algn="ctr">
                  <a:solidFill>
                    <a:srgbClr val="4472C4">
                      <a:lumMod val="75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77" name="任意多边形 16">
                  <a:extLst>
                    <a:ext uri="{FF2B5EF4-FFF2-40B4-BE49-F238E27FC236}">
                      <a16:creationId xmlns:a16="http://schemas.microsoft.com/office/drawing/2014/main" id="{69381931-1060-4089-B251-437C54913944}"/>
                    </a:ext>
                  </a:extLst>
                </p:cNvPr>
                <p:cNvSpPr/>
                <p:nvPr/>
              </p:nvSpPr>
              <p:spPr>
                <a:xfrm>
                  <a:off x="14908" y="3370"/>
                  <a:ext cx="1524" cy="1594"/>
                </a:xfrm>
                <a:custGeom>
                  <a:avLst/>
                  <a:gdLst>
                    <a:gd name="connsiteX0" fmla="*/ 805 w 1524"/>
                    <a:gd name="connsiteY0" fmla="*/ 0 h 1594"/>
                    <a:gd name="connsiteX1" fmla="*/ 1522 w 1524"/>
                    <a:gd name="connsiteY1" fmla="*/ 851 h 1594"/>
                    <a:gd name="connsiteX2" fmla="*/ 760 w 1524"/>
                    <a:gd name="connsiteY2" fmla="*/ 1594 h 1594"/>
                    <a:gd name="connsiteX3" fmla="*/ 0 w 1524"/>
                    <a:gd name="connsiteY3" fmla="*/ 850 h 1594"/>
                  </a:gdLst>
                  <a:ahLst/>
                  <a:cxnLst>
                    <a:cxn ang="0">
                      <a:pos x="connsiteX0" y="connsiteY0"/>
                    </a:cxn>
                    <a:cxn ang="0">
                      <a:pos x="connsiteX1" y="connsiteY1"/>
                    </a:cxn>
                    <a:cxn ang="0">
                      <a:pos x="connsiteX2" y="connsiteY2"/>
                    </a:cxn>
                    <a:cxn ang="0">
                      <a:pos x="connsiteX3" y="connsiteY3"/>
                    </a:cxn>
                  </a:cxnLst>
                  <a:rect l="l" t="t" r="r" b="b"/>
                  <a:pathLst>
                    <a:path w="1524" h="1594">
                      <a:moveTo>
                        <a:pt x="805" y="0"/>
                      </a:moveTo>
                      <a:cubicBezTo>
                        <a:pt x="1289" y="68"/>
                        <a:pt x="1552" y="424"/>
                        <a:pt x="1522" y="851"/>
                      </a:cubicBezTo>
                      <a:cubicBezTo>
                        <a:pt x="1494" y="1249"/>
                        <a:pt x="1177" y="1594"/>
                        <a:pt x="760" y="1594"/>
                      </a:cubicBezTo>
                      <a:cubicBezTo>
                        <a:pt x="343" y="1594"/>
                        <a:pt x="0" y="1249"/>
                        <a:pt x="0" y="850"/>
                      </a:cubicBezTo>
                    </a:path>
                  </a:pathLst>
                </a:custGeom>
                <a:noFill/>
                <a:ln w="19050" cap="flat" cmpd="sng" algn="ctr">
                  <a:solidFill>
                    <a:srgbClr val="4472C4">
                      <a:lumMod val="75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latin typeface="等线"/>
                    <a:ea typeface="等线" panose="02010600030101010101" pitchFamily="2" charset="-122"/>
                    <a:cs typeface="+mn-cs"/>
                  </a:endParaRPr>
                </a:p>
              </p:txBody>
            </p:sp>
          </p:grpSp>
          <p:sp>
            <p:nvSpPr>
              <p:cNvPr id="71" name="文本框 70">
                <a:extLst>
                  <a:ext uri="{FF2B5EF4-FFF2-40B4-BE49-F238E27FC236}">
                    <a16:creationId xmlns:a16="http://schemas.microsoft.com/office/drawing/2014/main" id="{D3796CC0-D12A-41BE-91C6-3B8B7EA67B86}"/>
                  </a:ext>
                </a:extLst>
              </p:cNvPr>
              <p:cNvSpPr txBox="1"/>
              <p:nvPr/>
            </p:nvSpPr>
            <p:spPr>
              <a:xfrm>
                <a:off x="14884" y="3325"/>
                <a:ext cx="987" cy="90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300" b="1" i="0" u="none" strike="noStrike" kern="0" cap="none" spc="0" normalizeH="0" baseline="0" noProof="0">
                    <a:ln>
                      <a:noFill/>
                    </a:ln>
                    <a:solidFill>
                      <a:prstClr val="black"/>
                    </a:solidFill>
                    <a:effectLst/>
                    <a:uLnTx/>
                    <a:uFillTx/>
                    <a:latin typeface="微软雅黑" panose="020B0503020204020204" charset="-122"/>
                    <a:ea typeface="微软雅黑" panose="020B0503020204020204" charset="-122"/>
                  </a:rPr>
                  <a:t>教育学者</a:t>
                </a:r>
              </a:p>
            </p:txBody>
          </p:sp>
        </p:grpSp>
        <p:grpSp>
          <p:nvGrpSpPr>
            <p:cNvPr id="47" name="组合 46">
              <a:extLst>
                <a:ext uri="{FF2B5EF4-FFF2-40B4-BE49-F238E27FC236}">
                  <a16:creationId xmlns:a16="http://schemas.microsoft.com/office/drawing/2014/main" id="{B0B7D96D-D4B0-41C6-8D5A-024D58E6FD07}"/>
                </a:ext>
              </a:extLst>
            </p:cNvPr>
            <p:cNvGrpSpPr/>
            <p:nvPr/>
          </p:nvGrpSpPr>
          <p:grpSpPr>
            <a:xfrm>
              <a:off x="15541" y="3179"/>
              <a:ext cx="1065" cy="964"/>
              <a:chOff x="15951" y="3983"/>
              <a:chExt cx="1240" cy="1223"/>
            </a:xfrm>
          </p:grpSpPr>
          <p:grpSp>
            <p:nvGrpSpPr>
              <p:cNvPr id="64" name="组合 63">
                <a:extLst>
                  <a:ext uri="{FF2B5EF4-FFF2-40B4-BE49-F238E27FC236}">
                    <a16:creationId xmlns:a16="http://schemas.microsoft.com/office/drawing/2014/main" id="{5D4DB987-09B4-44D3-BA2E-02D118C02669}"/>
                  </a:ext>
                </a:extLst>
              </p:cNvPr>
              <p:cNvGrpSpPr/>
              <p:nvPr/>
            </p:nvGrpSpPr>
            <p:grpSpPr>
              <a:xfrm rot="5880000">
                <a:off x="15959" y="3975"/>
                <a:ext cx="1223" cy="1240"/>
                <a:chOff x="14659" y="3259"/>
                <a:chExt cx="1912" cy="1920"/>
              </a:xfrm>
            </p:grpSpPr>
            <p:sp>
              <p:nvSpPr>
                <p:cNvPr id="66" name="任意多边形 27">
                  <a:extLst>
                    <a:ext uri="{FF2B5EF4-FFF2-40B4-BE49-F238E27FC236}">
                      <a16:creationId xmlns:a16="http://schemas.microsoft.com/office/drawing/2014/main" id="{14500D18-3240-4487-92EE-E6C9CA42C810}"/>
                    </a:ext>
                  </a:extLst>
                </p:cNvPr>
                <p:cNvSpPr/>
                <p:nvPr/>
              </p:nvSpPr>
              <p:spPr>
                <a:xfrm>
                  <a:off x="14659" y="3259"/>
                  <a:ext cx="1004" cy="1921"/>
                </a:xfrm>
                <a:custGeom>
                  <a:avLst/>
                  <a:gdLst>
                    <a:gd name="connsiteX0" fmla="*/ 1004 w 1004"/>
                    <a:gd name="connsiteY0" fmla="*/ 1921 h 1921"/>
                    <a:gd name="connsiteX1" fmla="*/ 0 w 1004"/>
                    <a:gd name="connsiteY1" fmla="*/ 961 h 1921"/>
                    <a:gd name="connsiteX2" fmla="*/ 1004 w 1004"/>
                    <a:gd name="connsiteY2" fmla="*/ 0 h 1921"/>
                  </a:gdLst>
                  <a:ahLst/>
                  <a:cxnLst>
                    <a:cxn ang="0">
                      <a:pos x="connsiteX0" y="connsiteY0"/>
                    </a:cxn>
                    <a:cxn ang="0">
                      <a:pos x="connsiteX1" y="connsiteY1"/>
                    </a:cxn>
                    <a:cxn ang="0">
                      <a:pos x="connsiteX2" y="connsiteY2"/>
                    </a:cxn>
                  </a:cxnLst>
                  <a:rect l="l" t="t" r="r" b="b"/>
                  <a:pathLst>
                    <a:path w="1004" h="1921">
                      <a:moveTo>
                        <a:pt x="1004" y="1921"/>
                      </a:moveTo>
                      <a:cubicBezTo>
                        <a:pt x="449" y="1921"/>
                        <a:pt x="0" y="1491"/>
                        <a:pt x="0" y="961"/>
                      </a:cubicBezTo>
                      <a:cubicBezTo>
                        <a:pt x="0" y="430"/>
                        <a:pt x="449" y="0"/>
                        <a:pt x="1004" y="0"/>
                      </a:cubicBezTo>
                    </a:path>
                  </a:pathLst>
                </a:custGeom>
                <a:noFill/>
                <a:ln w="19050" cap="flat" cmpd="sng" algn="ctr">
                  <a:solidFill>
                    <a:srgbClr val="ED7D31">
                      <a:lumMod val="75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67" name="任意多边形 28">
                  <a:extLst>
                    <a:ext uri="{FF2B5EF4-FFF2-40B4-BE49-F238E27FC236}">
                      <a16:creationId xmlns:a16="http://schemas.microsoft.com/office/drawing/2014/main" id="{AFED36AA-21D4-430B-ADDF-1A51B247908D}"/>
                    </a:ext>
                  </a:extLst>
                </p:cNvPr>
                <p:cNvSpPr/>
                <p:nvPr/>
              </p:nvSpPr>
              <p:spPr>
                <a:xfrm>
                  <a:off x="14777" y="3263"/>
                  <a:ext cx="1794" cy="1814"/>
                </a:xfrm>
                <a:custGeom>
                  <a:avLst/>
                  <a:gdLst>
                    <a:gd name="connsiteX0" fmla="*/ 870 w 1794"/>
                    <a:gd name="connsiteY0" fmla="*/ 0 h 1814"/>
                    <a:gd name="connsiteX1" fmla="*/ 1792 w 1794"/>
                    <a:gd name="connsiteY1" fmla="*/ 982 h 1814"/>
                    <a:gd name="connsiteX2" fmla="*/ 902 w 1794"/>
                    <a:gd name="connsiteY2" fmla="*/ 1814 h 1814"/>
                    <a:gd name="connsiteX3" fmla="*/ 0 w 1794"/>
                    <a:gd name="connsiteY3" fmla="*/ 956 h 1814"/>
                    <a:gd name="connsiteX4" fmla="*/ 958 w 1794"/>
                    <a:gd name="connsiteY4" fmla="*/ 111 h 1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94" h="1814">
                      <a:moveTo>
                        <a:pt x="870" y="0"/>
                      </a:moveTo>
                      <a:cubicBezTo>
                        <a:pt x="1522" y="7"/>
                        <a:pt x="1822" y="502"/>
                        <a:pt x="1792" y="982"/>
                      </a:cubicBezTo>
                      <a:cubicBezTo>
                        <a:pt x="1761" y="1472"/>
                        <a:pt x="1392" y="1804"/>
                        <a:pt x="902" y="1814"/>
                      </a:cubicBezTo>
                      <a:cubicBezTo>
                        <a:pt x="412" y="1824"/>
                        <a:pt x="0" y="1424"/>
                        <a:pt x="0" y="956"/>
                      </a:cubicBezTo>
                      <a:cubicBezTo>
                        <a:pt x="0" y="488"/>
                        <a:pt x="411" y="78"/>
                        <a:pt x="958" y="111"/>
                      </a:cubicBezTo>
                    </a:path>
                  </a:pathLst>
                </a:custGeom>
                <a:noFill/>
                <a:ln w="19050" cap="flat" cmpd="sng" algn="ctr">
                  <a:solidFill>
                    <a:srgbClr val="ED7D31">
                      <a:lumMod val="75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68" name="任意多边形 29">
                  <a:extLst>
                    <a:ext uri="{FF2B5EF4-FFF2-40B4-BE49-F238E27FC236}">
                      <a16:creationId xmlns:a16="http://schemas.microsoft.com/office/drawing/2014/main" id="{D8F0F630-0D83-4124-B2CF-9906EB16A959}"/>
                    </a:ext>
                  </a:extLst>
                </p:cNvPr>
                <p:cNvSpPr/>
                <p:nvPr/>
              </p:nvSpPr>
              <p:spPr>
                <a:xfrm>
                  <a:off x="14908" y="3370"/>
                  <a:ext cx="1524" cy="1594"/>
                </a:xfrm>
                <a:custGeom>
                  <a:avLst/>
                  <a:gdLst>
                    <a:gd name="connsiteX0" fmla="*/ 805 w 1524"/>
                    <a:gd name="connsiteY0" fmla="*/ 0 h 1594"/>
                    <a:gd name="connsiteX1" fmla="*/ 1522 w 1524"/>
                    <a:gd name="connsiteY1" fmla="*/ 851 h 1594"/>
                    <a:gd name="connsiteX2" fmla="*/ 760 w 1524"/>
                    <a:gd name="connsiteY2" fmla="*/ 1594 h 1594"/>
                    <a:gd name="connsiteX3" fmla="*/ 0 w 1524"/>
                    <a:gd name="connsiteY3" fmla="*/ 850 h 1594"/>
                  </a:gdLst>
                  <a:ahLst/>
                  <a:cxnLst>
                    <a:cxn ang="0">
                      <a:pos x="connsiteX0" y="connsiteY0"/>
                    </a:cxn>
                    <a:cxn ang="0">
                      <a:pos x="connsiteX1" y="connsiteY1"/>
                    </a:cxn>
                    <a:cxn ang="0">
                      <a:pos x="connsiteX2" y="connsiteY2"/>
                    </a:cxn>
                    <a:cxn ang="0">
                      <a:pos x="connsiteX3" y="connsiteY3"/>
                    </a:cxn>
                  </a:cxnLst>
                  <a:rect l="l" t="t" r="r" b="b"/>
                  <a:pathLst>
                    <a:path w="1524" h="1594">
                      <a:moveTo>
                        <a:pt x="805" y="0"/>
                      </a:moveTo>
                      <a:cubicBezTo>
                        <a:pt x="1289" y="68"/>
                        <a:pt x="1552" y="424"/>
                        <a:pt x="1522" y="851"/>
                      </a:cubicBezTo>
                      <a:cubicBezTo>
                        <a:pt x="1494" y="1249"/>
                        <a:pt x="1177" y="1594"/>
                        <a:pt x="760" y="1594"/>
                      </a:cubicBezTo>
                      <a:cubicBezTo>
                        <a:pt x="343" y="1594"/>
                        <a:pt x="0" y="1249"/>
                        <a:pt x="0" y="850"/>
                      </a:cubicBezTo>
                    </a:path>
                  </a:pathLst>
                </a:custGeom>
                <a:noFill/>
                <a:ln w="19050" cap="flat" cmpd="sng" algn="ctr">
                  <a:solidFill>
                    <a:srgbClr val="ED7D31">
                      <a:lumMod val="75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latin typeface="等线"/>
                    <a:ea typeface="等线" panose="02010600030101010101" pitchFamily="2" charset="-122"/>
                    <a:cs typeface="+mn-cs"/>
                  </a:endParaRPr>
                </a:p>
              </p:txBody>
            </p:sp>
          </p:grpSp>
          <p:sp>
            <p:nvSpPr>
              <p:cNvPr id="65" name="文本框 64">
                <a:extLst>
                  <a:ext uri="{FF2B5EF4-FFF2-40B4-BE49-F238E27FC236}">
                    <a16:creationId xmlns:a16="http://schemas.microsoft.com/office/drawing/2014/main" id="{9550BEAF-C419-436C-A163-6084EAAC14AD}"/>
                  </a:ext>
                </a:extLst>
              </p:cNvPr>
              <p:cNvSpPr txBox="1"/>
              <p:nvPr/>
            </p:nvSpPr>
            <p:spPr>
              <a:xfrm>
                <a:off x="16104" y="4169"/>
                <a:ext cx="987" cy="90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300" b="1" i="0" u="none" strike="noStrike" kern="0" cap="none" spc="0" normalizeH="0" baseline="0" noProof="0">
                    <a:ln>
                      <a:noFill/>
                    </a:ln>
                    <a:solidFill>
                      <a:prstClr val="black"/>
                    </a:solidFill>
                    <a:effectLst/>
                    <a:uLnTx/>
                    <a:uFillTx/>
                    <a:latin typeface="微软雅黑" panose="020B0503020204020204" charset="-122"/>
                    <a:ea typeface="微软雅黑" panose="020B0503020204020204" charset="-122"/>
                  </a:rPr>
                  <a:t>AI</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300" b="1" i="0" u="none" strike="noStrike" kern="0" cap="none" spc="0" normalizeH="0" baseline="0" noProof="0">
                    <a:ln>
                      <a:noFill/>
                    </a:ln>
                    <a:solidFill>
                      <a:prstClr val="black"/>
                    </a:solidFill>
                    <a:effectLst/>
                    <a:uLnTx/>
                    <a:uFillTx/>
                    <a:latin typeface="微软雅黑" panose="020B0503020204020204" charset="-122"/>
                    <a:ea typeface="微软雅黑" panose="020B0503020204020204" charset="-122"/>
                  </a:rPr>
                  <a:t>专家</a:t>
                </a:r>
              </a:p>
            </p:txBody>
          </p:sp>
        </p:grpSp>
        <p:grpSp>
          <p:nvGrpSpPr>
            <p:cNvPr id="48" name="组合 47">
              <a:extLst>
                <a:ext uri="{FF2B5EF4-FFF2-40B4-BE49-F238E27FC236}">
                  <a16:creationId xmlns:a16="http://schemas.microsoft.com/office/drawing/2014/main" id="{303D6B19-D25D-44DC-8A35-A5968BB374EE}"/>
                </a:ext>
              </a:extLst>
            </p:cNvPr>
            <p:cNvGrpSpPr/>
            <p:nvPr/>
          </p:nvGrpSpPr>
          <p:grpSpPr>
            <a:xfrm>
              <a:off x="14647" y="4296"/>
              <a:ext cx="1050" cy="978"/>
              <a:chOff x="14845" y="5394"/>
              <a:chExt cx="1224" cy="1241"/>
            </a:xfrm>
          </p:grpSpPr>
          <p:grpSp>
            <p:nvGrpSpPr>
              <p:cNvPr id="58" name="组合 57">
                <a:extLst>
                  <a:ext uri="{FF2B5EF4-FFF2-40B4-BE49-F238E27FC236}">
                    <a16:creationId xmlns:a16="http://schemas.microsoft.com/office/drawing/2014/main" id="{DA476C57-9E74-42F0-ABC4-CEF6600E034E}"/>
                  </a:ext>
                </a:extLst>
              </p:cNvPr>
              <p:cNvGrpSpPr/>
              <p:nvPr/>
            </p:nvGrpSpPr>
            <p:grpSpPr>
              <a:xfrm rot="9840000">
                <a:off x="14845" y="5394"/>
                <a:ext cx="1224" cy="1241"/>
                <a:chOff x="15737" y="3323"/>
                <a:chExt cx="1914" cy="1921"/>
              </a:xfrm>
            </p:grpSpPr>
            <p:sp>
              <p:nvSpPr>
                <p:cNvPr id="61" name="任意多边形 32">
                  <a:extLst>
                    <a:ext uri="{FF2B5EF4-FFF2-40B4-BE49-F238E27FC236}">
                      <a16:creationId xmlns:a16="http://schemas.microsoft.com/office/drawing/2014/main" id="{E2F6879E-BB70-4387-8444-8440B74533E4}"/>
                    </a:ext>
                  </a:extLst>
                </p:cNvPr>
                <p:cNvSpPr/>
                <p:nvPr/>
              </p:nvSpPr>
              <p:spPr>
                <a:xfrm>
                  <a:off x="15737" y="3323"/>
                  <a:ext cx="1004" cy="1921"/>
                </a:xfrm>
                <a:custGeom>
                  <a:avLst/>
                  <a:gdLst>
                    <a:gd name="connsiteX0" fmla="*/ 1004 w 1004"/>
                    <a:gd name="connsiteY0" fmla="*/ 1921 h 1921"/>
                    <a:gd name="connsiteX1" fmla="*/ 0 w 1004"/>
                    <a:gd name="connsiteY1" fmla="*/ 961 h 1921"/>
                    <a:gd name="connsiteX2" fmla="*/ 1004 w 1004"/>
                    <a:gd name="connsiteY2" fmla="*/ 0 h 1921"/>
                  </a:gdLst>
                  <a:ahLst/>
                  <a:cxnLst>
                    <a:cxn ang="0">
                      <a:pos x="connsiteX0" y="connsiteY0"/>
                    </a:cxn>
                    <a:cxn ang="0">
                      <a:pos x="connsiteX1" y="connsiteY1"/>
                    </a:cxn>
                    <a:cxn ang="0">
                      <a:pos x="connsiteX2" y="connsiteY2"/>
                    </a:cxn>
                  </a:cxnLst>
                  <a:rect l="l" t="t" r="r" b="b"/>
                  <a:pathLst>
                    <a:path w="1004" h="1921">
                      <a:moveTo>
                        <a:pt x="1004" y="1921"/>
                      </a:moveTo>
                      <a:cubicBezTo>
                        <a:pt x="449" y="1921"/>
                        <a:pt x="0" y="1491"/>
                        <a:pt x="0" y="961"/>
                      </a:cubicBezTo>
                      <a:cubicBezTo>
                        <a:pt x="0" y="430"/>
                        <a:pt x="449" y="0"/>
                        <a:pt x="1004" y="0"/>
                      </a:cubicBezTo>
                    </a:path>
                  </a:pathLst>
                </a:custGeom>
                <a:noFill/>
                <a:ln w="19050" cap="flat" cmpd="sng" algn="ctr">
                  <a:solidFill>
                    <a:srgbClr val="70AD47">
                      <a:lumMod val="75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62" name="任意多边形 33">
                  <a:extLst>
                    <a:ext uri="{FF2B5EF4-FFF2-40B4-BE49-F238E27FC236}">
                      <a16:creationId xmlns:a16="http://schemas.microsoft.com/office/drawing/2014/main" id="{FC7808C3-C014-4289-BAAF-248377101EC1}"/>
                    </a:ext>
                  </a:extLst>
                </p:cNvPr>
                <p:cNvSpPr/>
                <p:nvPr/>
              </p:nvSpPr>
              <p:spPr>
                <a:xfrm>
                  <a:off x="15856" y="3329"/>
                  <a:ext cx="1795" cy="1813"/>
                </a:xfrm>
                <a:custGeom>
                  <a:avLst/>
                  <a:gdLst>
                    <a:gd name="connsiteX0" fmla="*/ 870 w 1794"/>
                    <a:gd name="connsiteY0" fmla="*/ 0 h 1814"/>
                    <a:gd name="connsiteX1" fmla="*/ 1792 w 1794"/>
                    <a:gd name="connsiteY1" fmla="*/ 982 h 1814"/>
                    <a:gd name="connsiteX2" fmla="*/ 902 w 1794"/>
                    <a:gd name="connsiteY2" fmla="*/ 1814 h 1814"/>
                    <a:gd name="connsiteX3" fmla="*/ 0 w 1794"/>
                    <a:gd name="connsiteY3" fmla="*/ 956 h 1814"/>
                    <a:gd name="connsiteX4" fmla="*/ 958 w 1794"/>
                    <a:gd name="connsiteY4" fmla="*/ 111 h 1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94" h="1814">
                      <a:moveTo>
                        <a:pt x="870" y="0"/>
                      </a:moveTo>
                      <a:cubicBezTo>
                        <a:pt x="1522" y="7"/>
                        <a:pt x="1822" y="502"/>
                        <a:pt x="1792" y="982"/>
                      </a:cubicBezTo>
                      <a:cubicBezTo>
                        <a:pt x="1761" y="1472"/>
                        <a:pt x="1392" y="1804"/>
                        <a:pt x="902" y="1814"/>
                      </a:cubicBezTo>
                      <a:cubicBezTo>
                        <a:pt x="412" y="1824"/>
                        <a:pt x="0" y="1424"/>
                        <a:pt x="0" y="956"/>
                      </a:cubicBezTo>
                      <a:cubicBezTo>
                        <a:pt x="0" y="488"/>
                        <a:pt x="411" y="78"/>
                        <a:pt x="958" y="111"/>
                      </a:cubicBezTo>
                    </a:path>
                  </a:pathLst>
                </a:custGeom>
                <a:noFill/>
                <a:ln w="19050" cap="flat" cmpd="sng" algn="ctr">
                  <a:solidFill>
                    <a:srgbClr val="70AD47">
                      <a:lumMod val="75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63" name="任意多边形 34">
                  <a:extLst>
                    <a:ext uri="{FF2B5EF4-FFF2-40B4-BE49-F238E27FC236}">
                      <a16:creationId xmlns:a16="http://schemas.microsoft.com/office/drawing/2014/main" id="{543C8A7A-672B-45EB-A7C4-6296A5D12382}"/>
                    </a:ext>
                  </a:extLst>
                </p:cNvPr>
                <p:cNvSpPr/>
                <p:nvPr/>
              </p:nvSpPr>
              <p:spPr>
                <a:xfrm>
                  <a:off x="15992" y="3436"/>
                  <a:ext cx="1524" cy="1594"/>
                </a:xfrm>
                <a:custGeom>
                  <a:avLst/>
                  <a:gdLst>
                    <a:gd name="connsiteX0" fmla="*/ 805 w 1524"/>
                    <a:gd name="connsiteY0" fmla="*/ 0 h 1594"/>
                    <a:gd name="connsiteX1" fmla="*/ 1522 w 1524"/>
                    <a:gd name="connsiteY1" fmla="*/ 851 h 1594"/>
                    <a:gd name="connsiteX2" fmla="*/ 760 w 1524"/>
                    <a:gd name="connsiteY2" fmla="*/ 1594 h 1594"/>
                    <a:gd name="connsiteX3" fmla="*/ 0 w 1524"/>
                    <a:gd name="connsiteY3" fmla="*/ 850 h 1594"/>
                  </a:gdLst>
                  <a:ahLst/>
                  <a:cxnLst>
                    <a:cxn ang="0">
                      <a:pos x="connsiteX0" y="connsiteY0"/>
                    </a:cxn>
                    <a:cxn ang="0">
                      <a:pos x="connsiteX1" y="connsiteY1"/>
                    </a:cxn>
                    <a:cxn ang="0">
                      <a:pos x="connsiteX2" y="connsiteY2"/>
                    </a:cxn>
                    <a:cxn ang="0">
                      <a:pos x="connsiteX3" y="connsiteY3"/>
                    </a:cxn>
                  </a:cxnLst>
                  <a:rect l="l" t="t" r="r" b="b"/>
                  <a:pathLst>
                    <a:path w="1524" h="1594">
                      <a:moveTo>
                        <a:pt x="805" y="0"/>
                      </a:moveTo>
                      <a:cubicBezTo>
                        <a:pt x="1289" y="68"/>
                        <a:pt x="1552" y="424"/>
                        <a:pt x="1522" y="851"/>
                      </a:cubicBezTo>
                      <a:cubicBezTo>
                        <a:pt x="1494" y="1249"/>
                        <a:pt x="1177" y="1594"/>
                        <a:pt x="760" y="1594"/>
                      </a:cubicBezTo>
                      <a:cubicBezTo>
                        <a:pt x="343" y="1594"/>
                        <a:pt x="0" y="1249"/>
                        <a:pt x="0" y="850"/>
                      </a:cubicBezTo>
                    </a:path>
                  </a:pathLst>
                </a:custGeom>
                <a:noFill/>
                <a:ln w="19050" cap="flat" cmpd="sng" algn="ctr">
                  <a:solidFill>
                    <a:srgbClr val="70AD47">
                      <a:lumMod val="75000"/>
                    </a:srgbClr>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latin typeface="等线"/>
                    <a:ea typeface="等线" panose="02010600030101010101" pitchFamily="2" charset="-122"/>
                    <a:cs typeface="+mn-cs"/>
                  </a:endParaRPr>
                </a:p>
              </p:txBody>
            </p:sp>
          </p:grpSp>
          <p:sp>
            <p:nvSpPr>
              <p:cNvPr id="59" name="文本框 58">
                <a:extLst>
                  <a:ext uri="{FF2B5EF4-FFF2-40B4-BE49-F238E27FC236}">
                    <a16:creationId xmlns:a16="http://schemas.microsoft.com/office/drawing/2014/main" id="{FC999FA9-BADA-4665-B741-2E6603095888}"/>
                  </a:ext>
                </a:extLst>
              </p:cNvPr>
              <p:cNvSpPr txBox="1"/>
              <p:nvPr/>
            </p:nvSpPr>
            <p:spPr>
              <a:xfrm>
                <a:off x="14946" y="5664"/>
                <a:ext cx="987" cy="90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300" b="1" i="0" u="none" strike="noStrike" kern="0" cap="none" spc="0" normalizeH="0" baseline="0" noProof="0">
                    <a:ln>
                      <a:noFill/>
                    </a:ln>
                    <a:solidFill>
                      <a:prstClr val="black"/>
                    </a:solidFill>
                    <a:effectLst/>
                    <a:uLnTx/>
                    <a:uFillTx/>
                    <a:latin typeface="微软雅黑" panose="020B0503020204020204" charset="-122"/>
                    <a:ea typeface="微软雅黑" panose="020B0503020204020204" charset="-122"/>
                  </a:rPr>
                  <a:t>教学名师</a:t>
                </a:r>
              </a:p>
            </p:txBody>
          </p:sp>
        </p:grpSp>
        <p:grpSp>
          <p:nvGrpSpPr>
            <p:cNvPr id="49" name="组合 48">
              <a:extLst>
                <a:ext uri="{FF2B5EF4-FFF2-40B4-BE49-F238E27FC236}">
                  <a16:creationId xmlns:a16="http://schemas.microsoft.com/office/drawing/2014/main" id="{461B0246-CD0E-43EA-80E5-9A9D79B66689}"/>
                </a:ext>
              </a:extLst>
            </p:cNvPr>
            <p:cNvGrpSpPr/>
            <p:nvPr/>
          </p:nvGrpSpPr>
          <p:grpSpPr>
            <a:xfrm>
              <a:off x="13695" y="3189"/>
              <a:ext cx="1066" cy="992"/>
              <a:chOff x="13721" y="3996"/>
              <a:chExt cx="1241" cy="1259"/>
            </a:xfrm>
          </p:grpSpPr>
          <p:grpSp>
            <p:nvGrpSpPr>
              <p:cNvPr id="51" name="组合 50">
                <a:extLst>
                  <a:ext uri="{FF2B5EF4-FFF2-40B4-BE49-F238E27FC236}">
                    <a16:creationId xmlns:a16="http://schemas.microsoft.com/office/drawing/2014/main" id="{D0F3E75B-EB7D-4DE5-9FE6-57A4ACDB2B53}"/>
                  </a:ext>
                </a:extLst>
              </p:cNvPr>
              <p:cNvGrpSpPr/>
              <p:nvPr/>
            </p:nvGrpSpPr>
            <p:grpSpPr>
              <a:xfrm rot="18300000">
                <a:off x="13712" y="4005"/>
                <a:ext cx="1259" cy="1241"/>
                <a:chOff x="14659" y="3259"/>
                <a:chExt cx="1968" cy="1921"/>
              </a:xfrm>
            </p:grpSpPr>
            <p:sp>
              <p:nvSpPr>
                <p:cNvPr id="53" name="任意多边形 40">
                  <a:extLst>
                    <a:ext uri="{FF2B5EF4-FFF2-40B4-BE49-F238E27FC236}">
                      <a16:creationId xmlns:a16="http://schemas.microsoft.com/office/drawing/2014/main" id="{A997698D-5C53-46C4-8E9F-5B7BA9733769}"/>
                    </a:ext>
                  </a:extLst>
                </p:cNvPr>
                <p:cNvSpPr/>
                <p:nvPr/>
              </p:nvSpPr>
              <p:spPr>
                <a:xfrm>
                  <a:off x="14659" y="3259"/>
                  <a:ext cx="1004" cy="1921"/>
                </a:xfrm>
                <a:custGeom>
                  <a:avLst/>
                  <a:gdLst>
                    <a:gd name="connsiteX0" fmla="*/ 1004 w 1004"/>
                    <a:gd name="connsiteY0" fmla="*/ 1921 h 1921"/>
                    <a:gd name="connsiteX1" fmla="*/ 0 w 1004"/>
                    <a:gd name="connsiteY1" fmla="*/ 961 h 1921"/>
                    <a:gd name="connsiteX2" fmla="*/ 1004 w 1004"/>
                    <a:gd name="connsiteY2" fmla="*/ 0 h 1921"/>
                  </a:gdLst>
                  <a:ahLst/>
                  <a:cxnLst>
                    <a:cxn ang="0">
                      <a:pos x="connsiteX0" y="connsiteY0"/>
                    </a:cxn>
                    <a:cxn ang="0">
                      <a:pos x="connsiteX1" y="connsiteY1"/>
                    </a:cxn>
                    <a:cxn ang="0">
                      <a:pos x="connsiteX2" y="connsiteY2"/>
                    </a:cxn>
                  </a:cxnLst>
                  <a:rect l="l" t="t" r="r" b="b"/>
                  <a:pathLst>
                    <a:path w="1004" h="1921">
                      <a:moveTo>
                        <a:pt x="1004" y="1921"/>
                      </a:moveTo>
                      <a:cubicBezTo>
                        <a:pt x="449" y="1921"/>
                        <a:pt x="0" y="1491"/>
                        <a:pt x="0" y="961"/>
                      </a:cubicBezTo>
                      <a:cubicBezTo>
                        <a:pt x="0" y="430"/>
                        <a:pt x="449" y="0"/>
                        <a:pt x="1004" y="0"/>
                      </a:cubicBezTo>
                    </a:path>
                  </a:pathLst>
                </a:custGeom>
                <a:noFill/>
                <a:ln w="19050" cap="flat" cmpd="sng" algn="ctr">
                  <a:solidFill>
                    <a:srgbClr val="2C939F"/>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55" name="任意多边形 41">
                  <a:extLst>
                    <a:ext uri="{FF2B5EF4-FFF2-40B4-BE49-F238E27FC236}">
                      <a16:creationId xmlns:a16="http://schemas.microsoft.com/office/drawing/2014/main" id="{EFCEDE2F-A32A-4C13-A0B2-7FDF863065C3}"/>
                    </a:ext>
                  </a:extLst>
                </p:cNvPr>
                <p:cNvSpPr/>
                <p:nvPr/>
              </p:nvSpPr>
              <p:spPr>
                <a:xfrm>
                  <a:off x="14776" y="3263"/>
                  <a:ext cx="1851" cy="1814"/>
                </a:xfrm>
                <a:custGeom>
                  <a:avLst/>
                  <a:gdLst>
                    <a:gd name="connsiteX0" fmla="*/ 870 w 1794"/>
                    <a:gd name="connsiteY0" fmla="*/ 0 h 1814"/>
                    <a:gd name="connsiteX1" fmla="*/ 1792 w 1794"/>
                    <a:gd name="connsiteY1" fmla="*/ 982 h 1814"/>
                    <a:gd name="connsiteX2" fmla="*/ 902 w 1794"/>
                    <a:gd name="connsiteY2" fmla="*/ 1814 h 1814"/>
                    <a:gd name="connsiteX3" fmla="*/ 0 w 1794"/>
                    <a:gd name="connsiteY3" fmla="*/ 956 h 1814"/>
                    <a:gd name="connsiteX4" fmla="*/ 958 w 1794"/>
                    <a:gd name="connsiteY4" fmla="*/ 111 h 1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94" h="1814">
                      <a:moveTo>
                        <a:pt x="870" y="0"/>
                      </a:moveTo>
                      <a:cubicBezTo>
                        <a:pt x="1522" y="7"/>
                        <a:pt x="1822" y="502"/>
                        <a:pt x="1792" y="982"/>
                      </a:cubicBezTo>
                      <a:cubicBezTo>
                        <a:pt x="1761" y="1472"/>
                        <a:pt x="1392" y="1804"/>
                        <a:pt x="902" y="1814"/>
                      </a:cubicBezTo>
                      <a:cubicBezTo>
                        <a:pt x="412" y="1824"/>
                        <a:pt x="0" y="1424"/>
                        <a:pt x="0" y="956"/>
                      </a:cubicBezTo>
                      <a:cubicBezTo>
                        <a:pt x="0" y="488"/>
                        <a:pt x="411" y="78"/>
                        <a:pt x="958" y="111"/>
                      </a:cubicBezTo>
                    </a:path>
                  </a:pathLst>
                </a:custGeom>
                <a:noFill/>
                <a:ln w="19050" cap="flat" cmpd="sng" algn="ctr">
                  <a:solidFill>
                    <a:srgbClr val="2C939F"/>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56" name="任意多边形 42">
                  <a:extLst>
                    <a:ext uri="{FF2B5EF4-FFF2-40B4-BE49-F238E27FC236}">
                      <a16:creationId xmlns:a16="http://schemas.microsoft.com/office/drawing/2014/main" id="{A7071C7D-33D0-4CE6-B0F0-2911D42E3939}"/>
                    </a:ext>
                  </a:extLst>
                </p:cNvPr>
                <p:cNvSpPr/>
                <p:nvPr/>
              </p:nvSpPr>
              <p:spPr>
                <a:xfrm>
                  <a:off x="14909" y="3371"/>
                  <a:ext cx="1561" cy="1594"/>
                </a:xfrm>
                <a:custGeom>
                  <a:avLst/>
                  <a:gdLst>
                    <a:gd name="connsiteX0" fmla="*/ 805 w 1524"/>
                    <a:gd name="connsiteY0" fmla="*/ 0 h 1594"/>
                    <a:gd name="connsiteX1" fmla="*/ 1522 w 1524"/>
                    <a:gd name="connsiteY1" fmla="*/ 851 h 1594"/>
                    <a:gd name="connsiteX2" fmla="*/ 760 w 1524"/>
                    <a:gd name="connsiteY2" fmla="*/ 1594 h 1594"/>
                    <a:gd name="connsiteX3" fmla="*/ 0 w 1524"/>
                    <a:gd name="connsiteY3" fmla="*/ 850 h 1594"/>
                  </a:gdLst>
                  <a:ahLst/>
                  <a:cxnLst>
                    <a:cxn ang="0">
                      <a:pos x="connsiteX0" y="connsiteY0"/>
                    </a:cxn>
                    <a:cxn ang="0">
                      <a:pos x="connsiteX1" y="connsiteY1"/>
                    </a:cxn>
                    <a:cxn ang="0">
                      <a:pos x="connsiteX2" y="connsiteY2"/>
                    </a:cxn>
                    <a:cxn ang="0">
                      <a:pos x="connsiteX3" y="connsiteY3"/>
                    </a:cxn>
                  </a:cxnLst>
                  <a:rect l="l" t="t" r="r" b="b"/>
                  <a:pathLst>
                    <a:path w="1524" h="1594">
                      <a:moveTo>
                        <a:pt x="805" y="0"/>
                      </a:moveTo>
                      <a:cubicBezTo>
                        <a:pt x="1289" y="68"/>
                        <a:pt x="1552" y="424"/>
                        <a:pt x="1522" y="851"/>
                      </a:cubicBezTo>
                      <a:cubicBezTo>
                        <a:pt x="1494" y="1249"/>
                        <a:pt x="1177" y="1594"/>
                        <a:pt x="760" y="1594"/>
                      </a:cubicBezTo>
                      <a:cubicBezTo>
                        <a:pt x="343" y="1594"/>
                        <a:pt x="0" y="1249"/>
                        <a:pt x="0" y="850"/>
                      </a:cubicBezTo>
                    </a:path>
                  </a:pathLst>
                </a:custGeom>
                <a:noFill/>
                <a:ln w="19050" cap="flat" cmpd="sng" algn="ctr">
                  <a:solidFill>
                    <a:srgbClr val="2C939F"/>
                  </a:solidFill>
                  <a:prstDash val="solid"/>
                  <a:miter lim="800000"/>
                </a:ln>
                <a:effectLst/>
                <a:extLst>
                  <a:ext uri="{909E8E84-426E-40DD-AFC4-6F175D3DCCD1}">
                    <a14:hiddenFill xmlns:a14="http://schemas.microsoft.com/office/drawing/2010/main">
                      <a:solidFill>
                        <a:schemeClr val="accent1"/>
                      </a:solidFill>
                    </a14:hiddenFill>
                  </a:ext>
                </a:ex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white"/>
                    </a:solidFill>
                    <a:effectLst/>
                    <a:uLnTx/>
                    <a:uFillTx/>
                    <a:latin typeface="等线"/>
                    <a:ea typeface="等线" panose="02010600030101010101" pitchFamily="2" charset="-122"/>
                    <a:cs typeface="+mn-cs"/>
                  </a:endParaRPr>
                </a:p>
              </p:txBody>
            </p:sp>
          </p:grpSp>
          <p:sp>
            <p:nvSpPr>
              <p:cNvPr id="52" name="文本框 51">
                <a:extLst>
                  <a:ext uri="{FF2B5EF4-FFF2-40B4-BE49-F238E27FC236}">
                    <a16:creationId xmlns:a16="http://schemas.microsoft.com/office/drawing/2014/main" id="{A1F08439-7057-4F2D-949D-014DA69A61E5}"/>
                  </a:ext>
                </a:extLst>
              </p:cNvPr>
              <p:cNvSpPr txBox="1"/>
              <p:nvPr/>
            </p:nvSpPr>
            <p:spPr>
              <a:xfrm>
                <a:off x="13866" y="4134"/>
                <a:ext cx="987" cy="90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300" b="1" i="0" u="none" strike="noStrike" kern="0" cap="none" spc="0" normalizeH="0" baseline="0" noProof="0">
                    <a:ln>
                      <a:noFill/>
                    </a:ln>
                    <a:solidFill>
                      <a:prstClr val="black"/>
                    </a:solidFill>
                    <a:effectLst/>
                    <a:uLnTx/>
                    <a:uFillTx/>
                    <a:latin typeface="微软雅黑" panose="020B0503020204020204" charset="-122"/>
                    <a:ea typeface="微软雅黑" panose="020B0503020204020204" charset="-122"/>
                    <a:sym typeface="+mn-ea"/>
                  </a:rPr>
                  <a:t>企业骨干</a:t>
                </a:r>
                <a:endParaRPr kumimoji="0" lang="en-US" altLang="zh-CN" sz="1300" b="1" i="0" u="none" strike="noStrike" kern="0" cap="none" spc="0" normalizeH="0" baseline="0" noProof="0">
                  <a:ln>
                    <a:noFill/>
                  </a:ln>
                  <a:solidFill>
                    <a:prstClr val="black"/>
                  </a:solidFill>
                  <a:effectLst/>
                  <a:uLnTx/>
                  <a:uFillTx/>
                  <a:latin typeface="微软雅黑" panose="020B0503020204020204" charset="-122"/>
                  <a:ea typeface="微软雅黑" panose="020B0503020204020204" charset="-122"/>
                  <a:sym typeface="+mn-ea"/>
                </a:endParaRPr>
              </a:p>
            </p:txBody>
          </p:sp>
        </p:grpSp>
        <p:sp>
          <p:nvSpPr>
            <p:cNvPr id="50" name="文本框 49">
              <a:extLst>
                <a:ext uri="{FF2B5EF4-FFF2-40B4-BE49-F238E27FC236}">
                  <a16:creationId xmlns:a16="http://schemas.microsoft.com/office/drawing/2014/main" id="{1D2893C6-53AC-4322-A8F0-033140B0AECC}"/>
                </a:ext>
              </a:extLst>
            </p:cNvPr>
            <p:cNvSpPr txBox="1"/>
            <p:nvPr/>
          </p:nvSpPr>
          <p:spPr>
            <a:xfrm>
              <a:off x="14645" y="3521"/>
              <a:ext cx="1107" cy="758"/>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a:ln>
                    <a:noFill/>
                  </a:ln>
                  <a:solidFill>
                    <a:prstClr val="black"/>
                  </a:solidFill>
                  <a:effectLst/>
                  <a:uLnTx/>
                  <a:uFillTx/>
                  <a:latin typeface="微软雅黑" panose="020B0503020204020204" charset="-122"/>
                  <a:ea typeface="微软雅黑" panose="020B0503020204020204" charset="-122"/>
                </a:rPr>
                <a:t>四位</a:t>
              </a:r>
              <a:endParaRPr kumimoji="0" lang="en-US" altLang="zh-CN" sz="1400" b="1" i="0" u="none" strike="noStrike" kern="0" cap="none" spc="0" normalizeH="0" baseline="0" noProof="0">
                <a:ln>
                  <a:noFill/>
                </a:ln>
                <a:solidFill>
                  <a:prstClr val="black"/>
                </a:solidFill>
                <a:effectLst/>
                <a:uLnTx/>
                <a:uFillTx/>
                <a:latin typeface="微软雅黑" panose="020B0503020204020204" charset="-122"/>
                <a:ea typeface="微软雅黑" panose="020B050302020402020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a:ln>
                    <a:noFill/>
                  </a:ln>
                  <a:solidFill>
                    <a:prstClr val="black"/>
                  </a:solidFill>
                  <a:effectLst/>
                  <a:uLnTx/>
                  <a:uFillTx/>
                  <a:latin typeface="微软雅黑" panose="020B0503020204020204" charset="-122"/>
                  <a:ea typeface="微软雅黑" panose="020B0503020204020204" charset="-122"/>
                </a:rPr>
                <a:t>一体</a:t>
              </a:r>
            </a:p>
          </p:txBody>
        </p:sp>
      </p:grpSp>
      <p:graphicFrame>
        <p:nvGraphicFramePr>
          <p:cNvPr id="79" name="表格 78">
            <a:extLst>
              <a:ext uri="{FF2B5EF4-FFF2-40B4-BE49-F238E27FC236}">
                <a16:creationId xmlns:a16="http://schemas.microsoft.com/office/drawing/2014/main" id="{8211152F-492A-4419-8086-7A0318AF8BE6}"/>
              </a:ext>
            </a:extLst>
          </p:cNvPr>
          <p:cNvGraphicFramePr>
            <a:graphicFrameLocks noGrp="1"/>
          </p:cNvGraphicFramePr>
          <p:nvPr>
            <p:custDataLst>
              <p:tags r:id="rId2"/>
            </p:custDataLst>
          </p:nvPr>
        </p:nvGraphicFramePr>
        <p:xfrm>
          <a:off x="7554435" y="4037343"/>
          <a:ext cx="2342563" cy="365760"/>
        </p:xfrm>
        <a:graphic>
          <a:graphicData uri="http://schemas.openxmlformats.org/drawingml/2006/table">
            <a:tbl>
              <a:tblPr firstRow="1" bandRow="1">
                <a:effectLst>
                  <a:outerShdw blurRad="63500" sx="102000" sy="102000" algn="ctr" rotWithShape="0">
                    <a:prstClr val="black">
                      <a:alpha val="40000"/>
                    </a:prstClr>
                  </a:outerShdw>
                </a:effectLst>
              </a:tblPr>
              <a:tblGrid>
                <a:gridCol w="2342563">
                  <a:extLst>
                    <a:ext uri="{9D8B030D-6E8A-4147-A177-3AD203B41FA5}">
                      <a16:colId xmlns:a16="http://schemas.microsoft.com/office/drawing/2014/main" val="20000"/>
                    </a:ext>
                  </a:extLst>
                </a:gridCol>
              </a:tblGrid>
              <a:tr h="0">
                <a:tc>
                  <a:txBody>
                    <a:bodyPr/>
                    <a:lstStyle>
                      <a:lvl1pPr marL="0" algn="l" defTabSz="914400" rtl="0" eaLnBrk="1" latinLnBrk="0" hangingPunct="1">
                        <a:defRPr sz="1800" b="1" kern="1200">
                          <a:solidFill>
                            <a:schemeClr val="lt1"/>
                          </a:solidFill>
                          <a:latin typeface="等线"/>
                        </a:defRPr>
                      </a:lvl1pPr>
                      <a:lvl2pPr marL="457200" algn="l" defTabSz="914400" rtl="0" eaLnBrk="1" latinLnBrk="0" hangingPunct="1">
                        <a:defRPr sz="1800" b="1" kern="1200">
                          <a:solidFill>
                            <a:schemeClr val="lt1"/>
                          </a:solidFill>
                          <a:latin typeface="等线"/>
                        </a:defRPr>
                      </a:lvl2pPr>
                      <a:lvl3pPr marL="914400" algn="l" defTabSz="914400" rtl="0" eaLnBrk="1" latinLnBrk="0" hangingPunct="1">
                        <a:defRPr sz="1800" b="1" kern="1200">
                          <a:solidFill>
                            <a:schemeClr val="lt1"/>
                          </a:solidFill>
                          <a:latin typeface="等线"/>
                        </a:defRPr>
                      </a:lvl3pPr>
                      <a:lvl4pPr marL="1371600" algn="l" defTabSz="914400" rtl="0" eaLnBrk="1" latinLnBrk="0" hangingPunct="1">
                        <a:defRPr sz="1800" b="1" kern="1200">
                          <a:solidFill>
                            <a:schemeClr val="lt1"/>
                          </a:solidFill>
                          <a:latin typeface="等线"/>
                        </a:defRPr>
                      </a:lvl4pPr>
                      <a:lvl5pPr marL="1828800" algn="l" defTabSz="914400" rtl="0" eaLnBrk="1" latinLnBrk="0" hangingPunct="1">
                        <a:defRPr sz="1800" b="1" kern="1200">
                          <a:solidFill>
                            <a:schemeClr val="lt1"/>
                          </a:solidFill>
                          <a:latin typeface="等线"/>
                        </a:defRPr>
                      </a:lvl5pPr>
                      <a:lvl6pPr marL="2286000" algn="l" defTabSz="914400" rtl="0" eaLnBrk="1" latinLnBrk="0" hangingPunct="1">
                        <a:defRPr sz="1800" b="1" kern="1200">
                          <a:solidFill>
                            <a:schemeClr val="lt1"/>
                          </a:solidFill>
                          <a:latin typeface="等线"/>
                        </a:defRPr>
                      </a:lvl6pPr>
                      <a:lvl7pPr marL="2743200" algn="l" defTabSz="914400" rtl="0" eaLnBrk="1" latinLnBrk="0" hangingPunct="1">
                        <a:defRPr sz="1800" b="1" kern="1200">
                          <a:solidFill>
                            <a:schemeClr val="lt1"/>
                          </a:solidFill>
                          <a:latin typeface="等线"/>
                        </a:defRPr>
                      </a:lvl7pPr>
                      <a:lvl8pPr marL="3200400" algn="l" defTabSz="914400" rtl="0" eaLnBrk="1" latinLnBrk="0" hangingPunct="1">
                        <a:defRPr sz="1800" b="1" kern="1200">
                          <a:solidFill>
                            <a:schemeClr val="lt1"/>
                          </a:solidFill>
                          <a:latin typeface="等线"/>
                        </a:defRPr>
                      </a:lvl8pPr>
                      <a:lvl9pPr marL="3657600" algn="l" defTabSz="914400" rtl="0" eaLnBrk="1" latinLnBrk="0" hangingPunct="1">
                        <a:defRPr sz="1800" b="1" kern="1200">
                          <a:solidFill>
                            <a:schemeClr val="lt1"/>
                          </a:solidFill>
                          <a:latin typeface="等线"/>
                        </a:defRPr>
                      </a:lvl9pPr>
                    </a:lstStyle>
                    <a:p>
                      <a:pPr algn="ctr"/>
                      <a:r>
                        <a:rPr lang="zh-CN" altLang="en-US" b="1">
                          <a:latin typeface="微软雅黑" panose="020B0503020204020204" charset="-122"/>
                          <a:ea typeface="微软雅黑" panose="020B0503020204020204" charset="-122"/>
                        </a:rPr>
                        <a:t>教学团队跨界融合</a:t>
                      </a:r>
                    </a:p>
                  </a:txBody>
                  <a:tcPr anchor="ctr">
                    <a:lnL w="12700" cmpd="sng">
                      <a:solidFill>
                        <a:sysClr val="window" lastClr="CEEACA"/>
                      </a:solidFill>
                    </a:lnL>
                    <a:lnR w="12700" cmpd="sng">
                      <a:solidFill>
                        <a:sysClr val="window" lastClr="CEEACA"/>
                      </a:solidFill>
                    </a:lnR>
                    <a:lnT w="12700" cmpd="sng">
                      <a:solidFill>
                        <a:sysClr val="window" lastClr="CEEACA"/>
                      </a:solidFill>
                    </a:lnT>
                    <a:lnB w="38100" cmpd="sng">
                      <a:solidFill>
                        <a:sysClr val="window" lastClr="CEEACA"/>
                      </a:solidFill>
                    </a:lnB>
                    <a:lnTlToBr w="12700" cmpd="sng">
                      <a:noFill/>
                      <a:prstDash val="solid"/>
                    </a:lnTlToBr>
                    <a:lnBlToTr w="12700" cmpd="sng">
                      <a:noFill/>
                      <a:prstDash val="solid"/>
                    </a:lnBlToTr>
                    <a:solidFill>
                      <a:srgbClr val="4472C4">
                        <a:lumMod val="50000"/>
                      </a:srgbClr>
                    </a:solidFill>
                  </a:tcPr>
                </a:tc>
                <a:extLst>
                  <a:ext uri="{0D108BD9-81ED-4DB2-BD59-A6C34878D82A}">
                    <a16:rowId xmlns:a16="http://schemas.microsoft.com/office/drawing/2014/main" val="10000"/>
                  </a:ext>
                </a:extLst>
              </a:tr>
            </a:tbl>
          </a:graphicData>
        </a:graphic>
      </p:graphicFrame>
      <p:grpSp>
        <p:nvGrpSpPr>
          <p:cNvPr id="83" name="组合 82">
            <a:extLst>
              <a:ext uri="{FF2B5EF4-FFF2-40B4-BE49-F238E27FC236}">
                <a16:creationId xmlns:a16="http://schemas.microsoft.com/office/drawing/2014/main" id="{79D3B444-2396-4DF0-A9BC-75D5B9A7FE23}"/>
              </a:ext>
            </a:extLst>
          </p:cNvPr>
          <p:cNvGrpSpPr/>
          <p:nvPr/>
        </p:nvGrpSpPr>
        <p:grpSpPr>
          <a:xfrm>
            <a:off x="7118533" y="4523305"/>
            <a:ext cx="3158606" cy="1797685"/>
            <a:chOff x="7627582" y="4736707"/>
            <a:chExt cx="3158606" cy="1797685"/>
          </a:xfrm>
        </p:grpSpPr>
        <p:grpSp>
          <p:nvGrpSpPr>
            <p:cNvPr id="92" name="组合 91">
              <a:extLst>
                <a:ext uri="{FF2B5EF4-FFF2-40B4-BE49-F238E27FC236}">
                  <a16:creationId xmlns:a16="http://schemas.microsoft.com/office/drawing/2014/main" id="{30685396-2CC0-4854-A704-8535AC14431F}"/>
                </a:ext>
              </a:extLst>
            </p:cNvPr>
            <p:cNvGrpSpPr/>
            <p:nvPr/>
          </p:nvGrpSpPr>
          <p:grpSpPr>
            <a:xfrm>
              <a:off x="8002348" y="4736707"/>
              <a:ext cx="2783840" cy="1797685"/>
              <a:chOff x="7943385" y="2753358"/>
              <a:chExt cx="2783840" cy="1797685"/>
            </a:xfrm>
          </p:grpSpPr>
          <p:sp>
            <p:nvSpPr>
              <p:cNvPr id="94" name="02">
                <a:extLst>
                  <a:ext uri="{FF2B5EF4-FFF2-40B4-BE49-F238E27FC236}">
                    <a16:creationId xmlns:a16="http://schemas.microsoft.com/office/drawing/2014/main" id="{C548E9AC-04FD-47B6-8751-2882C95A57AD}"/>
                  </a:ext>
                </a:extLst>
              </p:cNvPr>
              <p:cNvSpPr txBox="1"/>
              <p:nvPr/>
            </p:nvSpPr>
            <p:spPr>
              <a:xfrm>
                <a:off x="9502661" y="3118660"/>
                <a:ext cx="411520" cy="532838"/>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charset="-122"/>
                    <a:ea typeface="微软雅黑" panose="020B0503020204020204" charset="-122"/>
                  </a:defRPr>
                </a:lvl1pPr>
              </a:lstStyle>
              <a:p>
                <a:pPr marL="0" marR="0" lvl="0" indent="0" algn="ctr" defTabSz="914400" eaLnBrk="1" fontAlgn="auto" latinLnBrk="0" hangingPunct="1">
                  <a:lnSpc>
                    <a:spcPct val="130000"/>
                  </a:lnSpc>
                  <a:spcBef>
                    <a:spcPts val="0"/>
                  </a:spcBef>
                  <a:spcAft>
                    <a:spcPts val="0"/>
                  </a:spcAft>
                  <a:buClrTx/>
                  <a:buSzTx/>
                  <a:buFontTx/>
                  <a:buNone/>
                  <a:tabLst/>
                  <a:defRPr/>
                </a:pPr>
                <a:r>
                  <a:rPr kumimoji="0" lang="en-US" altLang="zh-CN" sz="1400" b="1" i="0" u="sng"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sym typeface="+mn-lt"/>
                  </a:rPr>
                  <a:t>专题培训</a:t>
                </a:r>
              </a:p>
            </p:txBody>
          </p:sp>
          <p:sp>
            <p:nvSpPr>
              <p:cNvPr id="95" name="03">
                <a:extLst>
                  <a:ext uri="{FF2B5EF4-FFF2-40B4-BE49-F238E27FC236}">
                    <a16:creationId xmlns:a16="http://schemas.microsoft.com/office/drawing/2014/main" id="{3071306E-A864-4EE0-B05F-DAE577F2AA04}"/>
                  </a:ext>
                </a:extLst>
              </p:cNvPr>
              <p:cNvSpPr txBox="1"/>
              <p:nvPr/>
            </p:nvSpPr>
            <p:spPr>
              <a:xfrm>
                <a:off x="8827768" y="4181784"/>
                <a:ext cx="1016635" cy="252762"/>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charset="-122"/>
                    <a:ea typeface="微软雅黑" panose="020B0503020204020204" charset="-122"/>
                  </a:defRPr>
                </a:lvl1pPr>
              </a:lstStyle>
              <a:p>
                <a:pPr marL="0" marR="0" lvl="0" indent="0" algn="ctr" defTabSz="914400" eaLnBrk="1" fontAlgn="auto" latinLnBrk="0" hangingPunct="1">
                  <a:lnSpc>
                    <a:spcPct val="130000"/>
                  </a:lnSpc>
                  <a:spcBef>
                    <a:spcPts val="0"/>
                  </a:spcBef>
                  <a:spcAft>
                    <a:spcPts val="0"/>
                  </a:spcAft>
                  <a:buClrTx/>
                  <a:buSzTx/>
                  <a:buFontTx/>
                  <a:buNone/>
                  <a:tabLst/>
                  <a:defRPr/>
                </a:pPr>
                <a:r>
                  <a:rPr kumimoji="0" lang="en-US" altLang="zh-CN" sz="1400" b="1" i="0" u="sng"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sym typeface="+mn-lt"/>
                  </a:rPr>
                  <a:t>工作坊研学</a:t>
                </a:r>
              </a:p>
            </p:txBody>
          </p:sp>
          <p:sp>
            <p:nvSpPr>
              <p:cNvPr id="96" name="koppt-多边形">
                <a:extLst>
                  <a:ext uri="{FF2B5EF4-FFF2-40B4-BE49-F238E27FC236}">
                    <a16:creationId xmlns:a16="http://schemas.microsoft.com/office/drawing/2014/main" id="{81767A9A-D37D-4ACB-883A-C56ACEC002C9}"/>
                  </a:ext>
                </a:extLst>
              </p:cNvPr>
              <p:cNvSpPr/>
              <p:nvPr/>
            </p:nvSpPr>
            <p:spPr bwMode="auto">
              <a:xfrm>
                <a:off x="7943385" y="2775584"/>
                <a:ext cx="1355725" cy="1757045"/>
              </a:xfrm>
              <a:custGeom>
                <a:avLst/>
                <a:gdLst>
                  <a:gd name="T0" fmla="*/ 2487 w 2487"/>
                  <a:gd name="T1" fmla="*/ 1477 h 4312"/>
                  <a:gd name="T2" fmla="*/ 1634 w 2487"/>
                  <a:gd name="T3" fmla="*/ 0 h 4312"/>
                  <a:gd name="T4" fmla="*/ 0 w 2487"/>
                  <a:gd name="T5" fmla="*/ 2835 h 4312"/>
                  <a:gd name="T6" fmla="*/ 848 w 2487"/>
                  <a:gd name="T7" fmla="*/ 4312 h 4312"/>
                  <a:gd name="T8" fmla="*/ 1703 w 2487"/>
                  <a:gd name="T9" fmla="*/ 2838 h 4312"/>
                  <a:gd name="T10" fmla="*/ 2487 w 2487"/>
                  <a:gd name="T11" fmla="*/ 1477 h 4312"/>
                </a:gdLst>
                <a:ahLst/>
                <a:cxnLst>
                  <a:cxn ang="0">
                    <a:pos x="T0" y="T1"/>
                  </a:cxn>
                  <a:cxn ang="0">
                    <a:pos x="T2" y="T3"/>
                  </a:cxn>
                  <a:cxn ang="0">
                    <a:pos x="T4" y="T5"/>
                  </a:cxn>
                  <a:cxn ang="0">
                    <a:pos x="T6" y="T7"/>
                  </a:cxn>
                  <a:cxn ang="0">
                    <a:pos x="T8" y="T9"/>
                  </a:cxn>
                  <a:cxn ang="0">
                    <a:pos x="T10" y="T11"/>
                  </a:cxn>
                </a:cxnLst>
                <a:rect l="0" t="0" r="r" b="b"/>
                <a:pathLst>
                  <a:path w="2487" h="4312">
                    <a:moveTo>
                      <a:pt x="2487" y="1477"/>
                    </a:moveTo>
                    <a:lnTo>
                      <a:pt x="1634" y="0"/>
                    </a:lnTo>
                    <a:lnTo>
                      <a:pt x="0" y="2835"/>
                    </a:lnTo>
                    <a:lnTo>
                      <a:pt x="848" y="4312"/>
                    </a:lnTo>
                    <a:lnTo>
                      <a:pt x="1703" y="2838"/>
                    </a:lnTo>
                    <a:lnTo>
                      <a:pt x="2487" y="1477"/>
                    </a:lnTo>
                    <a:close/>
                  </a:path>
                </a:pathLst>
              </a:custGeom>
              <a:solidFill>
                <a:srgbClr val="5B9BD5">
                  <a:lumMod val="50000"/>
                </a:srgbClr>
              </a:solidFill>
              <a:ln w="25400">
                <a:solidFill>
                  <a:srgbClr val="FFFFFF"/>
                </a:solid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800" b="0" i="0" u="none" strike="noStrike" kern="0" cap="none" spc="0" normalizeH="0" baseline="0" noProof="0">
                  <a:ln>
                    <a:noFill/>
                  </a:ln>
                  <a:solidFill>
                    <a:prstClr val="black"/>
                  </a:solidFill>
                  <a:effectLst/>
                  <a:uLnTx/>
                  <a:uFillTx/>
                  <a:latin typeface="微软雅黑" panose="020B0503020204020204" charset="-122"/>
                  <a:ea typeface="微软雅黑" panose="020B0503020204020204" charset="-122"/>
                  <a:cs typeface="+mn-ea"/>
                  <a:sym typeface="+mn-lt"/>
                </a:endParaRPr>
              </a:p>
            </p:txBody>
          </p:sp>
          <p:sp>
            <p:nvSpPr>
              <p:cNvPr id="97" name="koppt-多边形">
                <a:extLst>
                  <a:ext uri="{FF2B5EF4-FFF2-40B4-BE49-F238E27FC236}">
                    <a16:creationId xmlns:a16="http://schemas.microsoft.com/office/drawing/2014/main" id="{22F8E187-8D3C-45AD-A180-CF03E442EBA1}"/>
                  </a:ext>
                </a:extLst>
              </p:cNvPr>
              <p:cNvSpPr/>
              <p:nvPr/>
            </p:nvSpPr>
            <p:spPr bwMode="auto">
              <a:xfrm>
                <a:off x="8419000" y="3909693"/>
                <a:ext cx="2275205" cy="641350"/>
              </a:xfrm>
              <a:custGeom>
                <a:avLst/>
                <a:gdLst>
                  <a:gd name="T0" fmla="*/ 855 w 4127"/>
                  <a:gd name="T1" fmla="*/ 3 h 1477"/>
                  <a:gd name="T2" fmla="*/ 0 w 4127"/>
                  <a:gd name="T3" fmla="*/ 1477 h 1477"/>
                  <a:gd name="T4" fmla="*/ 3279 w 4127"/>
                  <a:gd name="T5" fmla="*/ 1477 h 1477"/>
                  <a:gd name="T6" fmla="*/ 4127 w 4127"/>
                  <a:gd name="T7" fmla="*/ 0 h 1477"/>
                  <a:gd name="T8" fmla="*/ 2423 w 4127"/>
                  <a:gd name="T9" fmla="*/ 3 h 1477"/>
                  <a:gd name="T10" fmla="*/ 855 w 4127"/>
                  <a:gd name="T11" fmla="*/ 3 h 1477"/>
                </a:gdLst>
                <a:ahLst/>
                <a:cxnLst>
                  <a:cxn ang="0">
                    <a:pos x="T0" y="T1"/>
                  </a:cxn>
                  <a:cxn ang="0">
                    <a:pos x="T2" y="T3"/>
                  </a:cxn>
                  <a:cxn ang="0">
                    <a:pos x="T4" y="T5"/>
                  </a:cxn>
                  <a:cxn ang="0">
                    <a:pos x="T6" y="T7"/>
                  </a:cxn>
                  <a:cxn ang="0">
                    <a:pos x="T8" y="T9"/>
                  </a:cxn>
                  <a:cxn ang="0">
                    <a:pos x="T10" y="T11"/>
                  </a:cxn>
                </a:cxnLst>
                <a:rect l="0" t="0" r="r" b="b"/>
                <a:pathLst>
                  <a:path w="4127" h="1477">
                    <a:moveTo>
                      <a:pt x="855" y="3"/>
                    </a:moveTo>
                    <a:lnTo>
                      <a:pt x="0" y="1477"/>
                    </a:lnTo>
                    <a:lnTo>
                      <a:pt x="3279" y="1477"/>
                    </a:lnTo>
                    <a:lnTo>
                      <a:pt x="4127" y="0"/>
                    </a:lnTo>
                    <a:lnTo>
                      <a:pt x="2423" y="3"/>
                    </a:lnTo>
                    <a:lnTo>
                      <a:pt x="855" y="3"/>
                    </a:lnTo>
                    <a:close/>
                  </a:path>
                </a:pathLst>
              </a:custGeom>
              <a:solidFill>
                <a:srgbClr val="AF1E23"/>
              </a:solidFill>
              <a:ln w="25400">
                <a:solidFill>
                  <a:srgbClr val="FFFFFF"/>
                </a:solid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800" b="0" i="0" u="sng" strike="noStrike" kern="0" cap="none" spc="0" normalizeH="0" baseline="0" noProof="0">
                  <a:ln>
                    <a:noFill/>
                  </a:ln>
                  <a:solidFill>
                    <a:prstClr val="black"/>
                  </a:solidFill>
                  <a:effectLst/>
                  <a:uLnTx/>
                  <a:uFillTx/>
                  <a:latin typeface="微软雅黑" panose="020B0503020204020204" charset="-122"/>
                  <a:ea typeface="微软雅黑" panose="020B0503020204020204" charset="-122"/>
                  <a:cs typeface="+mn-ea"/>
                  <a:sym typeface="+mn-lt"/>
                </a:endParaRPr>
              </a:p>
            </p:txBody>
          </p:sp>
          <p:sp>
            <p:nvSpPr>
              <p:cNvPr id="98" name="koppt-多边形">
                <a:extLst>
                  <a:ext uri="{FF2B5EF4-FFF2-40B4-BE49-F238E27FC236}">
                    <a16:creationId xmlns:a16="http://schemas.microsoft.com/office/drawing/2014/main" id="{68582E1D-FFA5-4172-A9F1-DC7B404D0D83}"/>
                  </a:ext>
                </a:extLst>
              </p:cNvPr>
              <p:cNvSpPr/>
              <p:nvPr/>
            </p:nvSpPr>
            <p:spPr bwMode="auto">
              <a:xfrm>
                <a:off x="8832385" y="2753358"/>
                <a:ext cx="1894840" cy="1156335"/>
              </a:xfrm>
              <a:custGeom>
                <a:avLst/>
                <a:gdLst>
                  <a:gd name="T0" fmla="*/ 0 w 3341"/>
                  <a:gd name="T1" fmla="*/ 0 h 2838"/>
                  <a:gd name="T2" fmla="*/ 853 w 3341"/>
                  <a:gd name="T3" fmla="*/ 1477 h 2838"/>
                  <a:gd name="T4" fmla="*/ 1637 w 3341"/>
                  <a:gd name="T5" fmla="*/ 2838 h 2838"/>
                  <a:gd name="T6" fmla="*/ 3341 w 3341"/>
                  <a:gd name="T7" fmla="*/ 2835 h 2838"/>
                  <a:gd name="T8" fmla="*/ 1704 w 3341"/>
                  <a:gd name="T9" fmla="*/ 0 h 2838"/>
                  <a:gd name="T10" fmla="*/ 0 w 3341"/>
                  <a:gd name="T11" fmla="*/ 0 h 2838"/>
                </a:gdLst>
                <a:ahLst/>
                <a:cxnLst>
                  <a:cxn ang="0">
                    <a:pos x="T0" y="T1"/>
                  </a:cxn>
                  <a:cxn ang="0">
                    <a:pos x="T2" y="T3"/>
                  </a:cxn>
                  <a:cxn ang="0">
                    <a:pos x="T4" y="T5"/>
                  </a:cxn>
                  <a:cxn ang="0">
                    <a:pos x="T6" y="T7"/>
                  </a:cxn>
                  <a:cxn ang="0">
                    <a:pos x="T8" y="T9"/>
                  </a:cxn>
                  <a:cxn ang="0">
                    <a:pos x="T10" y="T11"/>
                  </a:cxn>
                </a:cxnLst>
                <a:rect l="0" t="0" r="r" b="b"/>
                <a:pathLst>
                  <a:path w="3341" h="2838">
                    <a:moveTo>
                      <a:pt x="0" y="0"/>
                    </a:moveTo>
                    <a:lnTo>
                      <a:pt x="853" y="1477"/>
                    </a:lnTo>
                    <a:lnTo>
                      <a:pt x="1637" y="2838"/>
                    </a:lnTo>
                    <a:lnTo>
                      <a:pt x="3341" y="2835"/>
                    </a:lnTo>
                    <a:lnTo>
                      <a:pt x="1704" y="0"/>
                    </a:lnTo>
                    <a:lnTo>
                      <a:pt x="0" y="0"/>
                    </a:lnTo>
                    <a:close/>
                  </a:path>
                </a:pathLst>
              </a:custGeom>
              <a:solidFill>
                <a:srgbClr val="ED7D31"/>
              </a:solidFill>
              <a:ln w="25400">
                <a:solidFill>
                  <a:srgbClr val="FFFFFF"/>
                </a:solid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800" b="0" i="0" u="sng" strike="noStrike" kern="0" cap="none" spc="0" normalizeH="0" baseline="0" noProof="0">
                  <a:ln>
                    <a:noFill/>
                  </a:ln>
                  <a:solidFill>
                    <a:prstClr val="black"/>
                  </a:solidFill>
                  <a:effectLst/>
                  <a:uLnTx/>
                  <a:uFillTx/>
                  <a:latin typeface="微软雅黑" panose="020B0503020204020204" charset="-122"/>
                  <a:ea typeface="微软雅黑" panose="020B0503020204020204" charset="-122"/>
                  <a:cs typeface="+mn-ea"/>
                  <a:sym typeface="+mn-lt"/>
                </a:endParaRPr>
              </a:p>
            </p:txBody>
          </p:sp>
          <p:sp>
            <p:nvSpPr>
              <p:cNvPr id="99" name="01">
                <a:extLst>
                  <a:ext uri="{FF2B5EF4-FFF2-40B4-BE49-F238E27FC236}">
                    <a16:creationId xmlns:a16="http://schemas.microsoft.com/office/drawing/2014/main" id="{06A03F6A-0DE9-4166-882E-6B94551E8426}"/>
                  </a:ext>
                </a:extLst>
              </p:cNvPr>
              <p:cNvSpPr txBox="1"/>
              <p:nvPr/>
            </p:nvSpPr>
            <p:spPr>
              <a:xfrm>
                <a:off x="8159654" y="3225041"/>
                <a:ext cx="768633" cy="252762"/>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charset="-122"/>
                    <a:ea typeface="微软雅黑" panose="020B0503020204020204" charset="-122"/>
                  </a:defRPr>
                </a:lvl1pPr>
              </a:lstStyle>
              <a:p>
                <a:pPr marL="0" marR="0" lvl="0" indent="0" algn="ctr" defTabSz="914400" eaLnBrk="1" fontAlgn="auto" latinLnBrk="0" hangingPunct="1">
                  <a:lnSpc>
                    <a:spcPct val="130000"/>
                  </a:lnSpc>
                  <a:spcBef>
                    <a:spcPts val="0"/>
                  </a:spcBef>
                  <a:spcAft>
                    <a:spcPts val="0"/>
                  </a:spcAft>
                  <a:buClrTx/>
                  <a:buSzTx/>
                  <a:buFontTx/>
                  <a:buNone/>
                  <a:tabLst/>
                  <a:defRPr/>
                </a:pPr>
                <a:endParaRPr kumimoji="0" lang="en-US" altLang="zh-CN" sz="14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sym typeface="+mn-lt"/>
                </a:endParaRPr>
              </a:p>
            </p:txBody>
          </p:sp>
          <p:sp>
            <p:nvSpPr>
              <p:cNvPr id="100" name="02">
                <a:extLst>
                  <a:ext uri="{FF2B5EF4-FFF2-40B4-BE49-F238E27FC236}">
                    <a16:creationId xmlns:a16="http://schemas.microsoft.com/office/drawing/2014/main" id="{729D70F7-F6C0-4C68-8274-145928D357E0}"/>
                  </a:ext>
                </a:extLst>
              </p:cNvPr>
              <p:cNvSpPr txBox="1"/>
              <p:nvPr/>
            </p:nvSpPr>
            <p:spPr>
              <a:xfrm>
                <a:off x="8780034" y="2883002"/>
                <a:ext cx="1714661" cy="812915"/>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charset="-122"/>
                    <a:ea typeface="微软雅黑" panose="020B0503020204020204" charset="-122"/>
                  </a:defRPr>
                </a:lvl1pPr>
              </a:lstStyle>
              <a:p>
                <a:pPr marL="0" marR="0" lvl="0" indent="0" algn="ctr" defTabSz="914400" eaLnBrk="1" fontAlgn="auto" latinLnBrk="0" hangingPunct="1">
                  <a:lnSpc>
                    <a:spcPct val="130000"/>
                  </a:lnSpc>
                  <a:spcBef>
                    <a:spcPts val="0"/>
                  </a:spcBef>
                  <a:spcAft>
                    <a:spcPts val="0"/>
                  </a:spcAft>
                  <a:buClrTx/>
                  <a:buSzTx/>
                  <a:buFontTx/>
                  <a:buNone/>
                  <a:tabLst/>
                  <a:defRPr/>
                </a:pPr>
                <a:r>
                  <a:rPr kumimoji="0" lang="zh-CN" altLang="en-US" sz="1400" b="1"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ea"/>
                    <a:sym typeface="+mn-lt"/>
                  </a:rPr>
                  <a:t>平台</a:t>
                </a:r>
                <a:endParaRPr kumimoji="0" lang="en-US" altLang="zh-CN" sz="1400" b="1"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ea"/>
                  <a:sym typeface="+mn-lt"/>
                </a:endParaRPr>
              </a:p>
              <a:p>
                <a:pPr marL="0" marR="0" lvl="0" indent="0" algn="ctr" defTabSz="914400" eaLnBrk="1" fontAlgn="auto" latinLnBrk="0" hangingPunct="1">
                  <a:lnSpc>
                    <a:spcPct val="130000"/>
                  </a:lnSpc>
                  <a:spcBef>
                    <a:spcPts val="0"/>
                  </a:spcBef>
                  <a:spcAft>
                    <a:spcPts val="0"/>
                  </a:spcAft>
                  <a:buClrTx/>
                  <a:buSzTx/>
                  <a:buFontTx/>
                  <a:buNone/>
                  <a:tabLst/>
                  <a:defRPr/>
                </a:pPr>
                <a:r>
                  <a:rPr kumimoji="0" lang="zh-CN" altLang="en-US" sz="1400" b="1"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ea"/>
                    <a:sym typeface="+mn-lt"/>
                  </a:rPr>
                  <a:t>    教学 </a:t>
                </a:r>
                <a:endParaRPr kumimoji="0" lang="en-US" altLang="zh-CN" sz="1400" b="1"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ea"/>
                  <a:sym typeface="+mn-lt"/>
                </a:endParaRPr>
              </a:p>
              <a:p>
                <a:pPr marL="0" marR="0" lvl="0" indent="0" algn="ctr" defTabSz="914400" eaLnBrk="1" fontAlgn="auto" latinLnBrk="0" hangingPunct="1">
                  <a:lnSpc>
                    <a:spcPct val="130000"/>
                  </a:lnSpc>
                  <a:spcBef>
                    <a:spcPts val="0"/>
                  </a:spcBef>
                  <a:spcAft>
                    <a:spcPts val="0"/>
                  </a:spcAft>
                  <a:buClrTx/>
                  <a:buSzTx/>
                  <a:buFontTx/>
                  <a:buNone/>
                  <a:tabLst/>
                  <a:defRPr/>
                </a:pPr>
                <a:r>
                  <a:rPr kumimoji="0" lang="zh-CN" altLang="en-US" sz="1400" b="1"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ea"/>
                    <a:sym typeface="+mn-lt"/>
                  </a:rPr>
                  <a:t>        资源</a:t>
                </a:r>
                <a:endParaRPr kumimoji="0" lang="en-US" altLang="zh-CN" sz="14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sym typeface="+mn-lt"/>
                </a:endParaRPr>
              </a:p>
            </p:txBody>
          </p:sp>
          <p:sp>
            <p:nvSpPr>
              <p:cNvPr id="101" name="03">
                <a:extLst>
                  <a:ext uri="{FF2B5EF4-FFF2-40B4-BE49-F238E27FC236}">
                    <a16:creationId xmlns:a16="http://schemas.microsoft.com/office/drawing/2014/main" id="{7753C4F7-6078-41A8-9AD7-884BDA6AA70D}"/>
                  </a:ext>
                </a:extLst>
              </p:cNvPr>
              <p:cNvSpPr txBox="1"/>
              <p:nvPr/>
            </p:nvSpPr>
            <p:spPr>
              <a:xfrm>
                <a:off x="8743100" y="3969311"/>
                <a:ext cx="1751595" cy="532838"/>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charset="-122"/>
                    <a:ea typeface="微软雅黑" panose="020B0503020204020204" charset="-122"/>
                  </a:defRPr>
                </a:lvl1pPr>
              </a:lstStyle>
              <a:p>
                <a:pPr marL="0" marR="0" lvl="0" indent="0" algn="ctr" defTabSz="914400" eaLnBrk="1" fontAlgn="auto" latinLnBrk="0" hangingPunct="1">
                  <a:lnSpc>
                    <a:spcPct val="130000"/>
                  </a:lnSpc>
                  <a:spcBef>
                    <a:spcPts val="0"/>
                  </a:spcBef>
                  <a:spcAft>
                    <a:spcPts val="0"/>
                  </a:spcAft>
                  <a:buClrTx/>
                  <a:buSzTx/>
                  <a:buFontTx/>
                  <a:buNone/>
                  <a:tabLst/>
                  <a:defRPr/>
                </a:pPr>
                <a:r>
                  <a:rPr kumimoji="0" lang="zh-CN" altLang="en-US" sz="1400" b="1"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ea"/>
                    <a:sym typeface="+mn-lt"/>
                  </a:rPr>
                  <a:t>联合授课、双向互聘</a:t>
                </a:r>
                <a:endParaRPr kumimoji="0" lang="en-US" altLang="zh-CN" sz="1400" b="1"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ea"/>
                  <a:sym typeface="+mn-lt"/>
                </a:endParaRPr>
              </a:p>
              <a:p>
                <a:pPr marL="0" marR="0" lvl="0" indent="0" algn="ctr" defTabSz="914400" eaLnBrk="1" fontAlgn="auto" latinLnBrk="0" hangingPunct="1">
                  <a:lnSpc>
                    <a:spcPct val="130000"/>
                  </a:lnSpc>
                  <a:spcBef>
                    <a:spcPts val="0"/>
                  </a:spcBef>
                  <a:spcAft>
                    <a:spcPts val="0"/>
                  </a:spcAft>
                  <a:buClrTx/>
                  <a:buSzTx/>
                  <a:buFontTx/>
                  <a:buNone/>
                  <a:tabLst/>
                  <a:defRPr/>
                </a:pPr>
                <a:r>
                  <a:rPr lang="zh-CN" altLang="en-US" sz="1400" b="1" kern="0">
                    <a:solidFill>
                      <a:srgbClr val="FFFFFF"/>
                    </a:solidFill>
                    <a:cs typeface="+mn-ea"/>
                    <a:sym typeface="+mn-lt"/>
                  </a:rPr>
                  <a:t>跨学科课程开发</a:t>
                </a:r>
                <a:endParaRPr kumimoji="0" lang="en-US" altLang="zh-CN" sz="14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sym typeface="+mn-lt"/>
                </a:endParaRPr>
              </a:p>
            </p:txBody>
          </p:sp>
          <p:sp>
            <p:nvSpPr>
              <p:cNvPr id="102" name="koppt-图标">
                <a:extLst>
                  <a:ext uri="{FF2B5EF4-FFF2-40B4-BE49-F238E27FC236}">
                    <a16:creationId xmlns:a16="http://schemas.microsoft.com/office/drawing/2014/main" id="{682CC206-6029-4868-8882-165720673937}"/>
                  </a:ext>
                </a:extLst>
              </p:cNvPr>
              <p:cNvSpPr>
                <a:spLocks noChangeAspect="1" noEditPoints="1"/>
              </p:cNvSpPr>
              <p:nvPr/>
            </p:nvSpPr>
            <p:spPr bwMode="auto">
              <a:xfrm>
                <a:off x="9136506" y="3528991"/>
                <a:ext cx="314927" cy="341303"/>
              </a:xfrm>
              <a:custGeom>
                <a:avLst/>
                <a:gdLst>
                  <a:gd name="T0" fmla="*/ 99 w 543"/>
                  <a:gd name="T1" fmla="*/ 226 h 588"/>
                  <a:gd name="T2" fmla="*/ 326 w 543"/>
                  <a:gd name="T3" fmla="*/ 484 h 588"/>
                  <a:gd name="T4" fmla="*/ 340 w 543"/>
                  <a:gd name="T5" fmla="*/ 508 h 588"/>
                  <a:gd name="T6" fmla="*/ 289 w 543"/>
                  <a:gd name="T7" fmla="*/ 587 h 588"/>
                  <a:gd name="T8" fmla="*/ 217 w 543"/>
                  <a:gd name="T9" fmla="*/ 566 h 588"/>
                  <a:gd name="T10" fmla="*/ 211 w 543"/>
                  <a:gd name="T11" fmla="*/ 496 h 588"/>
                  <a:gd name="T12" fmla="*/ 276 w 543"/>
                  <a:gd name="T13" fmla="*/ 450 h 588"/>
                  <a:gd name="T14" fmla="*/ 216 w 543"/>
                  <a:gd name="T15" fmla="*/ 247 h 588"/>
                  <a:gd name="T16" fmla="*/ 245 w 543"/>
                  <a:gd name="T17" fmla="*/ 263 h 588"/>
                  <a:gd name="T18" fmla="*/ 274 w 543"/>
                  <a:gd name="T19" fmla="*/ 239 h 588"/>
                  <a:gd name="T20" fmla="*/ 285 w 543"/>
                  <a:gd name="T21" fmla="*/ 259 h 588"/>
                  <a:gd name="T22" fmla="*/ 313 w 543"/>
                  <a:gd name="T23" fmla="*/ 258 h 588"/>
                  <a:gd name="T24" fmla="*/ 341 w 543"/>
                  <a:gd name="T25" fmla="*/ 244 h 588"/>
                  <a:gd name="T26" fmla="*/ 340 w 543"/>
                  <a:gd name="T27" fmla="*/ 299 h 588"/>
                  <a:gd name="T28" fmla="*/ 318 w 543"/>
                  <a:gd name="T29" fmla="*/ 315 h 588"/>
                  <a:gd name="T30" fmla="*/ 276 w 543"/>
                  <a:gd name="T31" fmla="*/ 450 h 588"/>
                  <a:gd name="T32" fmla="*/ 236 w 543"/>
                  <a:gd name="T33" fmla="*/ 299 h 588"/>
                  <a:gd name="T34" fmla="*/ 256 w 543"/>
                  <a:gd name="T35" fmla="*/ 285 h 588"/>
                  <a:gd name="T36" fmla="*/ 261 w 543"/>
                  <a:gd name="T37" fmla="*/ 264 h 588"/>
                  <a:gd name="T38" fmla="*/ 310 w 543"/>
                  <a:gd name="T39" fmla="*/ 280 h 588"/>
                  <a:gd name="T40" fmla="*/ 276 w 543"/>
                  <a:gd name="T41" fmla="*/ 416 h 588"/>
                  <a:gd name="T42" fmla="*/ 282 w 543"/>
                  <a:gd name="T43" fmla="*/ 49 h 588"/>
                  <a:gd name="T44" fmla="*/ 261 w 543"/>
                  <a:gd name="T45" fmla="*/ 13 h 588"/>
                  <a:gd name="T46" fmla="*/ 530 w 543"/>
                  <a:gd name="T47" fmla="*/ 255 h 588"/>
                  <a:gd name="T48" fmla="*/ 494 w 543"/>
                  <a:gd name="T49" fmla="*/ 234 h 588"/>
                  <a:gd name="T50" fmla="*/ 530 w 543"/>
                  <a:gd name="T51" fmla="*/ 255 h 588"/>
                  <a:gd name="T52" fmla="*/ 50 w 543"/>
                  <a:gd name="T53" fmla="*/ 255 h 588"/>
                  <a:gd name="T54" fmla="*/ 14 w 543"/>
                  <a:gd name="T55" fmla="*/ 234 h 588"/>
                  <a:gd name="T56" fmla="*/ 92 w 543"/>
                  <a:gd name="T57" fmla="*/ 414 h 588"/>
                  <a:gd name="T58" fmla="*/ 130 w 543"/>
                  <a:gd name="T59" fmla="*/ 396 h 588"/>
                  <a:gd name="T60" fmla="*/ 92 w 543"/>
                  <a:gd name="T61" fmla="*/ 414 h 588"/>
                  <a:gd name="T62" fmla="*/ 113 w 543"/>
                  <a:gd name="T63" fmla="*/ 113 h 588"/>
                  <a:gd name="T64" fmla="*/ 109 w 543"/>
                  <a:gd name="T65" fmla="*/ 72 h 588"/>
                  <a:gd name="T66" fmla="*/ 451 w 543"/>
                  <a:gd name="T67" fmla="*/ 414 h 588"/>
                  <a:gd name="T68" fmla="*/ 414 w 543"/>
                  <a:gd name="T69" fmla="*/ 396 h 588"/>
                  <a:gd name="T70" fmla="*/ 451 w 543"/>
                  <a:gd name="T71" fmla="*/ 414 h 588"/>
                  <a:gd name="T72" fmla="*/ 430 w 543"/>
                  <a:gd name="T73" fmla="*/ 113 h 588"/>
                  <a:gd name="T74" fmla="*/ 435 w 543"/>
                  <a:gd name="T75" fmla="*/ 72 h 5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43" h="588">
                    <a:moveTo>
                      <a:pt x="218" y="484"/>
                    </a:moveTo>
                    <a:cubicBezTo>
                      <a:pt x="213" y="368"/>
                      <a:pt x="90" y="324"/>
                      <a:pt x="99" y="226"/>
                    </a:cubicBezTo>
                    <a:cubicBezTo>
                      <a:pt x="115" y="52"/>
                      <a:pt x="429" y="52"/>
                      <a:pt x="444" y="226"/>
                    </a:cubicBezTo>
                    <a:cubicBezTo>
                      <a:pt x="453" y="324"/>
                      <a:pt x="331" y="368"/>
                      <a:pt x="326" y="484"/>
                    </a:cubicBezTo>
                    <a:cubicBezTo>
                      <a:pt x="325" y="489"/>
                      <a:pt x="328" y="494"/>
                      <a:pt x="333" y="496"/>
                    </a:cubicBezTo>
                    <a:cubicBezTo>
                      <a:pt x="337" y="498"/>
                      <a:pt x="340" y="502"/>
                      <a:pt x="340" y="508"/>
                    </a:cubicBezTo>
                    <a:cubicBezTo>
                      <a:pt x="340" y="536"/>
                      <a:pt x="337" y="548"/>
                      <a:pt x="326" y="566"/>
                    </a:cubicBezTo>
                    <a:cubicBezTo>
                      <a:pt x="318" y="579"/>
                      <a:pt x="305" y="587"/>
                      <a:pt x="289" y="587"/>
                    </a:cubicBezTo>
                    <a:cubicBezTo>
                      <a:pt x="276" y="588"/>
                      <a:pt x="267" y="588"/>
                      <a:pt x="254" y="587"/>
                    </a:cubicBezTo>
                    <a:cubicBezTo>
                      <a:pt x="239" y="587"/>
                      <a:pt x="225" y="579"/>
                      <a:pt x="217" y="566"/>
                    </a:cubicBezTo>
                    <a:cubicBezTo>
                      <a:pt x="205" y="548"/>
                      <a:pt x="204" y="536"/>
                      <a:pt x="204" y="508"/>
                    </a:cubicBezTo>
                    <a:cubicBezTo>
                      <a:pt x="203" y="502"/>
                      <a:pt x="206" y="498"/>
                      <a:pt x="211" y="496"/>
                    </a:cubicBezTo>
                    <a:cubicBezTo>
                      <a:pt x="215" y="494"/>
                      <a:pt x="218" y="489"/>
                      <a:pt x="218" y="484"/>
                    </a:cubicBezTo>
                    <a:close/>
                    <a:moveTo>
                      <a:pt x="276" y="450"/>
                    </a:moveTo>
                    <a:cubicBezTo>
                      <a:pt x="260" y="391"/>
                      <a:pt x="226" y="314"/>
                      <a:pt x="206" y="254"/>
                    </a:cubicBezTo>
                    <a:cubicBezTo>
                      <a:pt x="197" y="230"/>
                      <a:pt x="198" y="229"/>
                      <a:pt x="216" y="247"/>
                    </a:cubicBezTo>
                    <a:cubicBezTo>
                      <a:pt x="222" y="253"/>
                      <a:pt x="229" y="258"/>
                      <a:pt x="235" y="264"/>
                    </a:cubicBezTo>
                    <a:cubicBezTo>
                      <a:pt x="238" y="266"/>
                      <a:pt x="243" y="266"/>
                      <a:pt x="245" y="263"/>
                    </a:cubicBezTo>
                    <a:cubicBezTo>
                      <a:pt x="251" y="254"/>
                      <a:pt x="257" y="245"/>
                      <a:pt x="262" y="237"/>
                    </a:cubicBezTo>
                    <a:cubicBezTo>
                      <a:pt x="269" y="227"/>
                      <a:pt x="270" y="226"/>
                      <a:pt x="274" y="239"/>
                    </a:cubicBezTo>
                    <a:cubicBezTo>
                      <a:pt x="276" y="244"/>
                      <a:pt x="277" y="249"/>
                      <a:pt x="279" y="254"/>
                    </a:cubicBezTo>
                    <a:cubicBezTo>
                      <a:pt x="280" y="257"/>
                      <a:pt x="283" y="259"/>
                      <a:pt x="285" y="259"/>
                    </a:cubicBezTo>
                    <a:cubicBezTo>
                      <a:pt x="293" y="259"/>
                      <a:pt x="300" y="260"/>
                      <a:pt x="308" y="260"/>
                    </a:cubicBezTo>
                    <a:cubicBezTo>
                      <a:pt x="310" y="260"/>
                      <a:pt x="312" y="260"/>
                      <a:pt x="313" y="258"/>
                    </a:cubicBezTo>
                    <a:cubicBezTo>
                      <a:pt x="319" y="252"/>
                      <a:pt x="324" y="246"/>
                      <a:pt x="329" y="240"/>
                    </a:cubicBezTo>
                    <a:cubicBezTo>
                      <a:pt x="339" y="228"/>
                      <a:pt x="340" y="224"/>
                      <a:pt x="341" y="244"/>
                    </a:cubicBezTo>
                    <a:cubicBezTo>
                      <a:pt x="341" y="260"/>
                      <a:pt x="342" y="277"/>
                      <a:pt x="342" y="293"/>
                    </a:cubicBezTo>
                    <a:cubicBezTo>
                      <a:pt x="343" y="295"/>
                      <a:pt x="342" y="297"/>
                      <a:pt x="340" y="299"/>
                    </a:cubicBezTo>
                    <a:cubicBezTo>
                      <a:pt x="333" y="302"/>
                      <a:pt x="327" y="306"/>
                      <a:pt x="321" y="311"/>
                    </a:cubicBezTo>
                    <a:cubicBezTo>
                      <a:pt x="320" y="312"/>
                      <a:pt x="319" y="313"/>
                      <a:pt x="318" y="315"/>
                    </a:cubicBezTo>
                    <a:cubicBezTo>
                      <a:pt x="308" y="359"/>
                      <a:pt x="298" y="404"/>
                      <a:pt x="289" y="449"/>
                    </a:cubicBezTo>
                    <a:cubicBezTo>
                      <a:pt x="287" y="456"/>
                      <a:pt x="278" y="456"/>
                      <a:pt x="276" y="450"/>
                    </a:cubicBezTo>
                    <a:close/>
                    <a:moveTo>
                      <a:pt x="276" y="416"/>
                    </a:moveTo>
                    <a:cubicBezTo>
                      <a:pt x="262" y="377"/>
                      <a:pt x="250" y="338"/>
                      <a:pt x="236" y="299"/>
                    </a:cubicBezTo>
                    <a:cubicBezTo>
                      <a:pt x="231" y="284"/>
                      <a:pt x="233" y="285"/>
                      <a:pt x="246" y="292"/>
                    </a:cubicBezTo>
                    <a:cubicBezTo>
                      <a:pt x="257" y="297"/>
                      <a:pt x="258" y="298"/>
                      <a:pt x="256" y="285"/>
                    </a:cubicBezTo>
                    <a:cubicBezTo>
                      <a:pt x="255" y="281"/>
                      <a:pt x="254" y="276"/>
                      <a:pt x="254" y="271"/>
                    </a:cubicBezTo>
                    <a:cubicBezTo>
                      <a:pt x="252" y="263"/>
                      <a:pt x="253" y="262"/>
                      <a:pt x="261" y="264"/>
                    </a:cubicBezTo>
                    <a:cubicBezTo>
                      <a:pt x="276" y="267"/>
                      <a:pt x="290" y="270"/>
                      <a:pt x="305" y="273"/>
                    </a:cubicBezTo>
                    <a:cubicBezTo>
                      <a:pt x="310" y="274"/>
                      <a:pt x="311" y="274"/>
                      <a:pt x="310" y="280"/>
                    </a:cubicBezTo>
                    <a:cubicBezTo>
                      <a:pt x="303" y="325"/>
                      <a:pt x="294" y="370"/>
                      <a:pt x="288" y="415"/>
                    </a:cubicBezTo>
                    <a:cubicBezTo>
                      <a:pt x="285" y="438"/>
                      <a:pt x="284" y="440"/>
                      <a:pt x="276" y="416"/>
                    </a:cubicBezTo>
                    <a:close/>
                    <a:moveTo>
                      <a:pt x="282" y="13"/>
                    </a:moveTo>
                    <a:cubicBezTo>
                      <a:pt x="282" y="25"/>
                      <a:pt x="282" y="37"/>
                      <a:pt x="282" y="49"/>
                    </a:cubicBezTo>
                    <a:cubicBezTo>
                      <a:pt x="282" y="63"/>
                      <a:pt x="261" y="63"/>
                      <a:pt x="261" y="49"/>
                    </a:cubicBezTo>
                    <a:cubicBezTo>
                      <a:pt x="261" y="37"/>
                      <a:pt x="261" y="25"/>
                      <a:pt x="261" y="13"/>
                    </a:cubicBezTo>
                    <a:cubicBezTo>
                      <a:pt x="261" y="0"/>
                      <a:pt x="282" y="0"/>
                      <a:pt x="282" y="13"/>
                    </a:cubicBezTo>
                    <a:close/>
                    <a:moveTo>
                      <a:pt x="530" y="255"/>
                    </a:moveTo>
                    <a:cubicBezTo>
                      <a:pt x="518" y="255"/>
                      <a:pt x="506" y="255"/>
                      <a:pt x="494" y="255"/>
                    </a:cubicBezTo>
                    <a:cubicBezTo>
                      <a:pt x="480" y="255"/>
                      <a:pt x="480" y="234"/>
                      <a:pt x="494" y="234"/>
                    </a:cubicBezTo>
                    <a:cubicBezTo>
                      <a:pt x="506" y="234"/>
                      <a:pt x="518" y="234"/>
                      <a:pt x="530" y="234"/>
                    </a:cubicBezTo>
                    <a:cubicBezTo>
                      <a:pt x="543" y="234"/>
                      <a:pt x="543" y="255"/>
                      <a:pt x="530" y="255"/>
                    </a:cubicBezTo>
                    <a:close/>
                    <a:moveTo>
                      <a:pt x="14" y="255"/>
                    </a:moveTo>
                    <a:cubicBezTo>
                      <a:pt x="26" y="255"/>
                      <a:pt x="38" y="255"/>
                      <a:pt x="50" y="255"/>
                    </a:cubicBezTo>
                    <a:cubicBezTo>
                      <a:pt x="63" y="255"/>
                      <a:pt x="63" y="234"/>
                      <a:pt x="50" y="234"/>
                    </a:cubicBezTo>
                    <a:cubicBezTo>
                      <a:pt x="38" y="234"/>
                      <a:pt x="26" y="234"/>
                      <a:pt x="14" y="234"/>
                    </a:cubicBezTo>
                    <a:cubicBezTo>
                      <a:pt x="0" y="234"/>
                      <a:pt x="0" y="255"/>
                      <a:pt x="14" y="255"/>
                    </a:cubicBezTo>
                    <a:close/>
                    <a:moveTo>
                      <a:pt x="92" y="414"/>
                    </a:moveTo>
                    <a:cubicBezTo>
                      <a:pt x="99" y="404"/>
                      <a:pt x="106" y="394"/>
                      <a:pt x="113" y="385"/>
                    </a:cubicBezTo>
                    <a:cubicBezTo>
                      <a:pt x="121" y="373"/>
                      <a:pt x="137" y="385"/>
                      <a:pt x="130" y="396"/>
                    </a:cubicBezTo>
                    <a:cubicBezTo>
                      <a:pt x="123" y="406"/>
                      <a:pt x="116" y="416"/>
                      <a:pt x="109" y="426"/>
                    </a:cubicBezTo>
                    <a:cubicBezTo>
                      <a:pt x="101" y="437"/>
                      <a:pt x="85" y="425"/>
                      <a:pt x="92" y="414"/>
                    </a:cubicBezTo>
                    <a:close/>
                    <a:moveTo>
                      <a:pt x="92" y="84"/>
                    </a:moveTo>
                    <a:cubicBezTo>
                      <a:pt x="99" y="94"/>
                      <a:pt x="106" y="103"/>
                      <a:pt x="113" y="113"/>
                    </a:cubicBezTo>
                    <a:cubicBezTo>
                      <a:pt x="121" y="124"/>
                      <a:pt x="137" y="112"/>
                      <a:pt x="130" y="101"/>
                    </a:cubicBezTo>
                    <a:cubicBezTo>
                      <a:pt x="123" y="92"/>
                      <a:pt x="116" y="82"/>
                      <a:pt x="109" y="72"/>
                    </a:cubicBezTo>
                    <a:cubicBezTo>
                      <a:pt x="101" y="61"/>
                      <a:pt x="85" y="73"/>
                      <a:pt x="92" y="84"/>
                    </a:cubicBezTo>
                    <a:close/>
                    <a:moveTo>
                      <a:pt x="451" y="414"/>
                    </a:moveTo>
                    <a:cubicBezTo>
                      <a:pt x="444" y="404"/>
                      <a:pt x="437" y="394"/>
                      <a:pt x="430" y="385"/>
                    </a:cubicBezTo>
                    <a:cubicBezTo>
                      <a:pt x="422" y="373"/>
                      <a:pt x="406" y="385"/>
                      <a:pt x="414" y="396"/>
                    </a:cubicBezTo>
                    <a:cubicBezTo>
                      <a:pt x="421" y="406"/>
                      <a:pt x="428" y="416"/>
                      <a:pt x="435" y="426"/>
                    </a:cubicBezTo>
                    <a:cubicBezTo>
                      <a:pt x="442" y="437"/>
                      <a:pt x="459" y="425"/>
                      <a:pt x="451" y="414"/>
                    </a:cubicBezTo>
                    <a:close/>
                    <a:moveTo>
                      <a:pt x="451" y="84"/>
                    </a:moveTo>
                    <a:cubicBezTo>
                      <a:pt x="444" y="94"/>
                      <a:pt x="437" y="103"/>
                      <a:pt x="430" y="113"/>
                    </a:cubicBezTo>
                    <a:cubicBezTo>
                      <a:pt x="422" y="124"/>
                      <a:pt x="406" y="112"/>
                      <a:pt x="414" y="101"/>
                    </a:cubicBezTo>
                    <a:cubicBezTo>
                      <a:pt x="421" y="92"/>
                      <a:pt x="428" y="82"/>
                      <a:pt x="435" y="72"/>
                    </a:cubicBezTo>
                    <a:cubicBezTo>
                      <a:pt x="442" y="61"/>
                      <a:pt x="459" y="73"/>
                      <a:pt x="451" y="84"/>
                    </a:cubicBezTo>
                    <a:close/>
                  </a:path>
                </a:pathLst>
              </a:custGeom>
              <a:solidFill>
                <a:srgbClr val="4472C4">
                  <a:lumMod val="50000"/>
                </a:srgb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800" b="0" i="0" u="sng" strike="noStrike" kern="0" cap="none" spc="0" normalizeH="0" baseline="0" noProof="0">
                  <a:ln>
                    <a:noFill/>
                  </a:ln>
                  <a:solidFill>
                    <a:prstClr val="black"/>
                  </a:solidFill>
                  <a:effectLst/>
                  <a:uLnTx/>
                  <a:uFillTx/>
                  <a:latin typeface="微软雅黑" panose="020B0503020204020204" charset="-122"/>
                  <a:ea typeface="微软雅黑" panose="020B0503020204020204" charset="-122"/>
                  <a:cs typeface="+mn-ea"/>
                  <a:sym typeface="+mn-lt"/>
                </a:endParaRPr>
              </a:p>
            </p:txBody>
          </p:sp>
        </p:grpSp>
        <p:sp>
          <p:nvSpPr>
            <p:cNvPr id="93" name="02">
              <a:extLst>
                <a:ext uri="{FF2B5EF4-FFF2-40B4-BE49-F238E27FC236}">
                  <a16:creationId xmlns:a16="http://schemas.microsoft.com/office/drawing/2014/main" id="{3BB1933E-64B4-4042-AAA4-BF8DDA7E4FC8}"/>
                </a:ext>
              </a:extLst>
            </p:cNvPr>
            <p:cNvSpPr txBox="1"/>
            <p:nvPr/>
          </p:nvSpPr>
          <p:spPr>
            <a:xfrm>
              <a:off x="7627582" y="5023296"/>
              <a:ext cx="1714661" cy="812915"/>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charset="-122"/>
                  <a:ea typeface="微软雅黑" panose="020B0503020204020204" charset="-122"/>
                </a:defRPr>
              </a:lvl1pPr>
            </a:lstStyle>
            <a:p>
              <a:pPr algn="ctr">
                <a:lnSpc>
                  <a:spcPct val="130000"/>
                </a:lnSpc>
              </a:pPr>
              <a:r>
                <a:rPr lang="zh-CN" altLang="en-US" sz="1400" b="1">
                  <a:solidFill>
                    <a:srgbClr val="FFFFFF"/>
                  </a:solidFill>
                  <a:cs typeface="+mn-ea"/>
                  <a:sym typeface="+mn-lt"/>
                </a:rPr>
                <a:t>              优质</a:t>
              </a:r>
              <a:endParaRPr lang="en-US" altLang="zh-CN" sz="1400" b="1">
                <a:solidFill>
                  <a:srgbClr val="FFFFFF"/>
                </a:solidFill>
                <a:cs typeface="+mn-ea"/>
                <a:sym typeface="+mn-lt"/>
              </a:endParaRPr>
            </a:p>
            <a:p>
              <a:pPr algn="ctr">
                <a:lnSpc>
                  <a:spcPct val="130000"/>
                </a:lnSpc>
              </a:pPr>
              <a:r>
                <a:rPr lang="zh-CN" altLang="en-US" sz="1400" b="1">
                  <a:solidFill>
                    <a:srgbClr val="FFFFFF"/>
                  </a:solidFill>
                  <a:cs typeface="+mn-ea"/>
                  <a:sym typeface="+mn-lt"/>
                </a:rPr>
                <a:t>       师资</a:t>
              </a:r>
              <a:endParaRPr lang="en-US" altLang="zh-CN" sz="1400" b="1">
                <a:solidFill>
                  <a:srgbClr val="FFFFFF"/>
                </a:solidFill>
                <a:cs typeface="+mn-ea"/>
                <a:sym typeface="+mn-lt"/>
              </a:endParaRPr>
            </a:p>
            <a:p>
              <a:pPr algn="ctr">
                <a:lnSpc>
                  <a:spcPct val="130000"/>
                </a:lnSpc>
              </a:pPr>
              <a:r>
                <a:rPr lang="zh-CN" altLang="en-US" sz="1400" b="1">
                  <a:solidFill>
                    <a:srgbClr val="FFFFFF"/>
                  </a:solidFill>
                  <a:cs typeface="+mn-ea"/>
                  <a:sym typeface="+mn-lt"/>
                </a:rPr>
                <a:t>资源</a:t>
              </a:r>
              <a:endParaRPr lang="en-US" altLang="zh-CN" sz="1400" b="1" dirty="0">
                <a:solidFill>
                  <a:srgbClr val="FFFFFF"/>
                </a:solidFill>
                <a:cs typeface="+mn-ea"/>
                <a:sym typeface="+mn-lt"/>
              </a:endParaRPr>
            </a:p>
          </p:txBody>
        </p:sp>
      </p:grpSp>
      <p:sp>
        <p:nvSpPr>
          <p:cNvPr id="133" name="TextBox 31">
            <a:extLst>
              <a:ext uri="{FF2B5EF4-FFF2-40B4-BE49-F238E27FC236}">
                <a16:creationId xmlns:a16="http://schemas.microsoft.com/office/drawing/2014/main" id="{82D1D04F-8DB3-48C2-B0C0-757452B266C1}"/>
              </a:ext>
            </a:extLst>
          </p:cNvPr>
          <p:cNvSpPr txBox="1">
            <a:spLocks noChangeArrowheads="1"/>
          </p:cNvSpPr>
          <p:nvPr/>
        </p:nvSpPr>
        <p:spPr bwMode="auto">
          <a:xfrm>
            <a:off x="1444441" y="4920776"/>
            <a:ext cx="4125455" cy="1393074"/>
          </a:xfrm>
          <a:prstGeom prst="rect">
            <a:avLst/>
          </a:prstGeom>
          <a:noFill/>
          <a:ln w="9525">
            <a:noFill/>
            <a:miter lim="800000"/>
          </a:ln>
        </p:spPr>
        <p:txBody>
          <a:bodyPr wrap="square">
            <a:spAutoFit/>
          </a:bodyPr>
          <a:lstStyle/>
          <a:p>
            <a:pPr lvl="0" algn="ctr" defTabSz="457200">
              <a:lnSpc>
                <a:spcPct val="120000"/>
              </a:lnSpc>
              <a:defRPr/>
            </a:pPr>
            <a:r>
              <a:rPr lang="en-US" altLang="zh-CN" sz="2000" b="1" kern="0" dirty="0">
                <a:solidFill>
                  <a:srgbClr val="1F487C"/>
                </a:solidFill>
                <a:latin typeface="微软雅黑" panose="020B0503020204020204" charset="-122"/>
                <a:ea typeface="微软雅黑" panose="020B0503020204020204" charset="-122"/>
                <a:sym typeface="思源黑体 CN Bold" panose="020B0800000000000000" pitchFamily="34" charset="-122"/>
              </a:rPr>
              <a:t>   2.</a:t>
            </a:r>
            <a:r>
              <a:rPr lang="zh-CN" altLang="en-US" sz="2000" b="1" kern="0" dirty="0">
                <a:solidFill>
                  <a:srgbClr val="1F487C"/>
                </a:solidFill>
                <a:latin typeface="微软雅黑" panose="020B0503020204020204" charset="-122"/>
                <a:ea typeface="微软雅黑" panose="020B0503020204020204" charset="-122"/>
                <a:sym typeface="思源黑体 CN Bold" panose="020B0800000000000000" pitchFamily="34" charset="-122"/>
              </a:rPr>
              <a:t>人工智能学院教学团队</a:t>
            </a:r>
            <a:endParaRPr lang="en-US" altLang="zh-CN" sz="2000" b="1" kern="0" dirty="0">
              <a:solidFill>
                <a:srgbClr val="1F487C"/>
              </a:solidFill>
              <a:latin typeface="微软雅黑" panose="020B0503020204020204" charset="-122"/>
              <a:ea typeface="微软雅黑" panose="020B0503020204020204" charset="-122"/>
            </a:endParaRPr>
          </a:p>
          <a:p>
            <a:pPr lvl="0" defTabSz="457200">
              <a:lnSpc>
                <a:spcPct val="150000"/>
              </a:lnSpc>
              <a:defRPr/>
            </a:pPr>
            <a:r>
              <a:rPr lang="zh-CN" altLang="en-US" sz="1400" b="1" kern="0" dirty="0">
                <a:solidFill>
                  <a:srgbClr val="0F1115"/>
                </a:solidFill>
                <a:latin typeface="微软雅黑" panose="020B0503020204020204" charset="-122"/>
                <a:ea typeface="微软雅黑" panose="020B0503020204020204" charset="-122"/>
              </a:rPr>
              <a:t>人工智能学院科研方向聚焦鲜明，在</a:t>
            </a:r>
            <a:r>
              <a:rPr lang="zh-CN" altLang="en-US" sz="1400" b="1" kern="0" dirty="0">
                <a:solidFill>
                  <a:srgbClr val="C00000"/>
                </a:solidFill>
                <a:latin typeface="微软雅黑" panose="020B0503020204020204" charset="-122"/>
                <a:ea typeface="微软雅黑" panose="020B0503020204020204" charset="-122"/>
              </a:rPr>
              <a:t>数据智能、具身智能等领域</a:t>
            </a:r>
            <a:r>
              <a:rPr lang="zh-CN" altLang="en-US" sz="1400" b="1" kern="0" dirty="0">
                <a:solidFill>
                  <a:srgbClr val="0F1115"/>
                </a:solidFill>
                <a:latin typeface="微软雅黑" panose="020B0503020204020204" charset="-122"/>
                <a:ea typeface="微软雅黑" panose="020B0503020204020204" charset="-122"/>
              </a:rPr>
              <a:t>形成较强优势。高水平教学团队和完善课程体系，为项目建设提供了有力的技术基础。</a:t>
            </a:r>
            <a:endParaRPr lang="en-US" altLang="zh-CN" sz="1400" dirty="0">
              <a:solidFill>
                <a:srgbClr val="0F1115"/>
              </a:solidFill>
              <a:latin typeface="微软雅黑" panose="020B0503020204020204" pitchFamily="34" charset="-122"/>
              <a:ea typeface="微软雅黑" panose="020B0503020204020204" pitchFamily="34" charset="-122"/>
            </a:endParaRPr>
          </a:p>
        </p:txBody>
      </p:sp>
      <p:sp>
        <p:nvSpPr>
          <p:cNvPr id="135" name="TextBox 31">
            <a:extLst>
              <a:ext uri="{FF2B5EF4-FFF2-40B4-BE49-F238E27FC236}">
                <a16:creationId xmlns:a16="http://schemas.microsoft.com/office/drawing/2014/main" id="{BF98832E-6AF7-4F11-9623-FA415AE86BB7}"/>
              </a:ext>
            </a:extLst>
          </p:cNvPr>
          <p:cNvSpPr txBox="1">
            <a:spLocks noChangeArrowheads="1"/>
          </p:cNvSpPr>
          <p:nvPr/>
        </p:nvSpPr>
        <p:spPr bwMode="auto">
          <a:xfrm>
            <a:off x="1443125" y="2632828"/>
            <a:ext cx="4126772" cy="1554656"/>
          </a:xfrm>
          <a:prstGeom prst="rect">
            <a:avLst/>
          </a:prstGeom>
          <a:noFill/>
          <a:ln w="9525">
            <a:noFill/>
            <a:miter lim="800000"/>
          </a:ln>
        </p:spPr>
        <p:txBody>
          <a:bodyPr wrap="square">
            <a:spAutoFit/>
          </a:bodyPr>
          <a:lstStyle/>
          <a:p>
            <a:pPr lvl="0" algn="ctr" defTabSz="457200">
              <a:lnSpc>
                <a:spcPct val="120000"/>
              </a:lnSpc>
              <a:defRPr/>
            </a:pPr>
            <a:r>
              <a:rPr lang="en-US" altLang="zh-CN" sz="2000" b="1" kern="0">
                <a:latin typeface="微软雅黑" panose="020B0503020204020204" charset="-122"/>
                <a:ea typeface="微软雅黑" panose="020B0503020204020204" charset="-122"/>
                <a:sym typeface="思源黑体 CN Bold" panose="020B0800000000000000" pitchFamily="34" charset="-122"/>
              </a:rPr>
              <a:t>   </a:t>
            </a:r>
            <a:r>
              <a:rPr lang="en-US" altLang="zh-CN" sz="2000" b="1" kern="0">
                <a:solidFill>
                  <a:srgbClr val="1F487C"/>
                </a:solidFill>
                <a:latin typeface="微软雅黑" panose="020B0503020204020204" charset="-122"/>
                <a:ea typeface="微软雅黑" panose="020B0503020204020204" charset="-122"/>
                <a:sym typeface="思源黑体 CN Bold" panose="020B0800000000000000" pitchFamily="34" charset="-122"/>
              </a:rPr>
              <a:t>1.</a:t>
            </a:r>
            <a:r>
              <a:rPr lang="zh-CN" altLang="en-US" sz="2000" b="1" kern="0">
                <a:solidFill>
                  <a:srgbClr val="1F487C"/>
                </a:solidFill>
                <a:latin typeface="微软雅黑" panose="020B0503020204020204" charset="-122"/>
                <a:ea typeface="微软雅黑" panose="020B0503020204020204" charset="-122"/>
              </a:rPr>
              <a:t>教育学院教学团队</a:t>
            </a:r>
            <a:endParaRPr lang="en-US" altLang="zh-CN" sz="2000" b="1" kern="0">
              <a:solidFill>
                <a:srgbClr val="1F487C"/>
              </a:solidFill>
              <a:latin typeface="微软雅黑" panose="020B0503020204020204" charset="-122"/>
              <a:ea typeface="微软雅黑" panose="020B0503020204020204" charset="-122"/>
            </a:endParaRPr>
          </a:p>
          <a:p>
            <a:pPr lvl="0" algn="just" defTabSz="457200">
              <a:lnSpc>
                <a:spcPct val="130000"/>
              </a:lnSpc>
              <a:defRPr/>
            </a:pPr>
            <a:r>
              <a:rPr lang="zh-CN" altLang="en-US" sz="1400" b="1" i="0" kern="0">
                <a:solidFill>
                  <a:srgbClr val="0F1115"/>
                </a:solidFill>
                <a:effectLst/>
                <a:latin typeface="微软雅黑" panose="020B0503020204020204" charset="-122"/>
                <a:ea typeface="微软雅黑" panose="020B0503020204020204" charset="-122"/>
              </a:rPr>
              <a:t>教育学院学科积淀深厚，已形成本硕博贯通培养体系，在</a:t>
            </a:r>
            <a:r>
              <a:rPr lang="zh-CN" altLang="en-US" sz="1400" b="1" i="0" kern="0">
                <a:solidFill>
                  <a:srgbClr val="C00000"/>
                </a:solidFill>
                <a:effectLst/>
                <a:latin typeface="微软雅黑" panose="020B0503020204020204" charset="-122"/>
                <a:ea typeface="微软雅黑" panose="020B0503020204020204" charset="-122"/>
              </a:rPr>
              <a:t>教师教育等领域</a:t>
            </a:r>
            <a:r>
              <a:rPr lang="zh-CN" altLang="en-US" sz="1400" b="1" i="0" kern="0">
                <a:solidFill>
                  <a:srgbClr val="0F1115"/>
                </a:solidFill>
                <a:effectLst/>
                <a:latin typeface="微软雅黑" panose="020B0503020204020204" charset="-122"/>
                <a:ea typeface="微软雅黑" panose="020B0503020204020204" charset="-122"/>
              </a:rPr>
              <a:t>优势明显。</a:t>
            </a:r>
            <a:endParaRPr lang="en-US" altLang="zh-CN" sz="1400" b="1" i="0" kern="0">
              <a:solidFill>
                <a:srgbClr val="0F1115"/>
              </a:solidFill>
              <a:effectLst/>
              <a:latin typeface="微软雅黑" panose="020B0503020204020204" charset="-122"/>
              <a:ea typeface="微软雅黑" panose="020B0503020204020204" charset="-122"/>
            </a:endParaRPr>
          </a:p>
          <a:p>
            <a:pPr lvl="0" algn="just" defTabSz="457200">
              <a:lnSpc>
                <a:spcPct val="130000"/>
              </a:lnSpc>
              <a:defRPr/>
            </a:pPr>
            <a:r>
              <a:rPr lang="zh-CN" altLang="en-US" sz="1400" b="1" i="0" kern="0">
                <a:solidFill>
                  <a:srgbClr val="0F1115"/>
                </a:solidFill>
                <a:effectLst/>
                <a:latin typeface="微软雅黑" panose="020B0503020204020204" charset="-122"/>
                <a:ea typeface="微软雅黑" panose="020B0503020204020204" charset="-122"/>
              </a:rPr>
              <a:t>高水平师资与专家团队协同支撑，为项目建设提供了坚实的教育学基础。</a:t>
            </a:r>
            <a:endParaRPr lang="en-US" altLang="zh-CN" sz="1400" kern="0" dirty="0">
              <a:latin typeface="微软雅黑" panose="020B0503020204020204" pitchFamily="34" charset="-122"/>
              <a:ea typeface="微软雅黑" panose="020B0503020204020204" pitchFamily="34" charset="-122"/>
            </a:endParaRPr>
          </a:p>
        </p:txBody>
      </p:sp>
      <p:sp>
        <p:nvSpPr>
          <p:cNvPr id="138" name="箭头: V 形 137">
            <a:extLst>
              <a:ext uri="{FF2B5EF4-FFF2-40B4-BE49-F238E27FC236}">
                <a16:creationId xmlns:a16="http://schemas.microsoft.com/office/drawing/2014/main" id="{77F6608E-F258-4D4D-ABE3-45F4A49FA341}"/>
              </a:ext>
            </a:extLst>
          </p:cNvPr>
          <p:cNvSpPr/>
          <p:nvPr/>
        </p:nvSpPr>
        <p:spPr>
          <a:xfrm>
            <a:off x="6362837" y="4171768"/>
            <a:ext cx="462156" cy="749482"/>
          </a:xfrm>
          <a:prstGeom prst="chevron">
            <a:avLst/>
          </a:prstGeom>
          <a:solidFill>
            <a:srgbClr val="4472C4">
              <a:lumMod val="50000"/>
            </a:srgbClr>
          </a:solidFill>
          <a:ln w="12700" cap="flat" cmpd="sng" algn="ctr">
            <a:solidFill>
              <a:srgbClr val="4472C4">
                <a:lumMod val="50000"/>
              </a:srgbClr>
            </a:solidFill>
            <a:prstDash val="solid"/>
            <a:miter lim="800000"/>
          </a:ln>
          <a:effectLst>
            <a:outerShdw blurRad="63500" sx="102000" sy="102000" algn="ct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a:ea typeface="等线" panose="02010600030101010101" pitchFamily="2" charset="-122"/>
              <a:cs typeface="+mn-cs"/>
            </a:endParaRPr>
          </a:p>
        </p:txBody>
      </p:sp>
      <p:sp>
        <p:nvSpPr>
          <p:cNvPr id="139" name="箭头: V 形 138">
            <a:extLst>
              <a:ext uri="{FF2B5EF4-FFF2-40B4-BE49-F238E27FC236}">
                <a16:creationId xmlns:a16="http://schemas.microsoft.com/office/drawing/2014/main" id="{945CD4EF-9696-4DEE-B48F-D368A6C59F18}"/>
              </a:ext>
            </a:extLst>
          </p:cNvPr>
          <p:cNvSpPr/>
          <p:nvPr/>
        </p:nvSpPr>
        <p:spPr>
          <a:xfrm>
            <a:off x="5988071" y="4167141"/>
            <a:ext cx="462156" cy="749482"/>
          </a:xfrm>
          <a:prstGeom prst="chevron">
            <a:avLst/>
          </a:prstGeom>
          <a:solidFill>
            <a:srgbClr val="4472C4">
              <a:lumMod val="50000"/>
            </a:srgbClr>
          </a:solidFill>
          <a:ln w="12700" cap="flat" cmpd="sng" algn="ctr">
            <a:solidFill>
              <a:srgbClr val="4472C4">
                <a:lumMod val="50000"/>
              </a:srgbClr>
            </a:solidFill>
            <a:prstDash val="solid"/>
            <a:miter lim="800000"/>
          </a:ln>
          <a:effectLst>
            <a:outerShdw blurRad="63500" sx="102000" sy="102000" algn="ct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等线"/>
              <a:ea typeface="等线" panose="02010600030101010101" pitchFamily="2" charset="-122"/>
              <a:cs typeface="+mn-cs"/>
            </a:endParaRPr>
          </a:p>
        </p:txBody>
      </p:sp>
      <p:sp>
        <p:nvSpPr>
          <p:cNvPr id="4" name="矩形: 圆角 3">
            <a:extLst>
              <a:ext uri="{FF2B5EF4-FFF2-40B4-BE49-F238E27FC236}">
                <a16:creationId xmlns:a16="http://schemas.microsoft.com/office/drawing/2014/main" id="{0838384B-A89D-4F9B-9B64-DC7C4EB5EF2B}"/>
              </a:ext>
            </a:extLst>
          </p:cNvPr>
          <p:cNvSpPr/>
          <p:nvPr/>
        </p:nvSpPr>
        <p:spPr>
          <a:xfrm>
            <a:off x="1354873" y="2346689"/>
            <a:ext cx="4256539" cy="2111826"/>
          </a:xfrm>
          <a:prstGeom prst="roundRect">
            <a:avLst>
              <a:gd name="adj" fmla="val 12129"/>
            </a:avLst>
          </a:prstGeom>
          <a:noFill/>
          <a:ln w="285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0" name="矩形: 圆角 139">
            <a:extLst>
              <a:ext uri="{FF2B5EF4-FFF2-40B4-BE49-F238E27FC236}">
                <a16:creationId xmlns:a16="http://schemas.microsoft.com/office/drawing/2014/main" id="{3F0A68B8-1E07-4550-8867-0D43ACAB9347}"/>
              </a:ext>
            </a:extLst>
          </p:cNvPr>
          <p:cNvSpPr/>
          <p:nvPr/>
        </p:nvSpPr>
        <p:spPr>
          <a:xfrm>
            <a:off x="1354873" y="4689508"/>
            <a:ext cx="4256539" cy="1975577"/>
          </a:xfrm>
          <a:prstGeom prst="roundRect">
            <a:avLst>
              <a:gd name="adj" fmla="val 12129"/>
            </a:avLst>
          </a:prstGeom>
          <a:noFill/>
          <a:ln w="285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矩形: 圆角 141">
            <a:extLst>
              <a:ext uri="{FF2B5EF4-FFF2-40B4-BE49-F238E27FC236}">
                <a16:creationId xmlns:a16="http://schemas.microsoft.com/office/drawing/2014/main" id="{44088E69-122A-4587-9A0E-924D8B7583D6}"/>
              </a:ext>
            </a:extLst>
          </p:cNvPr>
          <p:cNvSpPr/>
          <p:nvPr/>
        </p:nvSpPr>
        <p:spPr>
          <a:xfrm>
            <a:off x="7108909" y="2037465"/>
            <a:ext cx="3323377" cy="4757860"/>
          </a:xfrm>
          <a:prstGeom prst="roundRect">
            <a:avLst>
              <a:gd name="adj" fmla="val 12129"/>
            </a:avLst>
          </a:prstGeom>
          <a:noFill/>
          <a:ln w="285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文本框 83">
            <a:extLst>
              <a:ext uri="{FF2B5EF4-FFF2-40B4-BE49-F238E27FC236}">
                <a16:creationId xmlns:a16="http://schemas.microsoft.com/office/drawing/2014/main" id="{E79E1424-A5BF-4DE1-989C-5A2417F59D10}"/>
              </a:ext>
            </a:extLst>
          </p:cNvPr>
          <p:cNvSpPr txBox="1"/>
          <p:nvPr/>
        </p:nvSpPr>
        <p:spPr>
          <a:xfrm>
            <a:off x="6269498" y="489744"/>
            <a:ext cx="6157730" cy="406971"/>
          </a:xfrm>
          <a:prstGeom prst="rect">
            <a:avLst/>
          </a:prstGeom>
          <a:noFill/>
        </p:spPr>
        <p:txBody>
          <a:bodyPr wrap="square">
            <a:spAutoFit/>
          </a:bodyPr>
          <a:lstStyle/>
          <a:p>
            <a:pPr algn="ctr" defTabSz="342900">
              <a:lnSpc>
                <a:spcPct val="125000"/>
              </a:lnSpc>
            </a:pPr>
            <a:r>
              <a:rPr lang="zh-CN" altLang="en-US" b="1">
                <a:latin typeface="微软雅黑" pitchFamily="34" charset="-122"/>
                <a:ea typeface="微软雅黑" pitchFamily="34" charset="-122"/>
                <a:cs typeface="Calibri" charset="0"/>
              </a:rPr>
              <a:t>“教育学</a:t>
            </a:r>
            <a:r>
              <a:rPr lang="en-US" altLang="zh-CN" b="1">
                <a:latin typeface="微软雅黑" pitchFamily="34" charset="-122"/>
                <a:ea typeface="微软雅黑" pitchFamily="34" charset="-122"/>
                <a:cs typeface="Calibri" charset="0"/>
              </a:rPr>
              <a:t>+</a:t>
            </a:r>
            <a:r>
              <a:rPr lang="zh-CN" altLang="en-US" b="1">
                <a:latin typeface="微软雅黑" pitchFamily="34" charset="-122"/>
                <a:ea typeface="微软雅黑" pitchFamily="34" charset="-122"/>
                <a:cs typeface="Calibri" charset="0"/>
              </a:rPr>
              <a:t>人工智能”双学士学位复合型人才培养项目</a:t>
            </a:r>
            <a:endParaRPr lang="en-US" altLang="zh-CN" b="1">
              <a:latin typeface="微软雅黑" pitchFamily="34" charset="-122"/>
              <a:ea typeface="微软雅黑" pitchFamily="34" charset="-122"/>
              <a:cs typeface="Calibri" charset="0"/>
            </a:endParaRPr>
          </a:p>
        </p:txBody>
      </p:sp>
      <p:sp>
        <p:nvSpPr>
          <p:cNvPr id="85" name="矩形 84">
            <a:extLst>
              <a:ext uri="{FF2B5EF4-FFF2-40B4-BE49-F238E27FC236}">
                <a16:creationId xmlns:a16="http://schemas.microsoft.com/office/drawing/2014/main" id="{93E6CC73-A44A-471F-9C09-D9F1AD89FA10}"/>
              </a:ext>
            </a:extLst>
          </p:cNvPr>
          <p:cNvSpPr/>
          <p:nvPr/>
        </p:nvSpPr>
        <p:spPr>
          <a:xfrm>
            <a:off x="0" y="924560"/>
            <a:ext cx="12192000" cy="665627"/>
          </a:xfrm>
          <a:prstGeom prst="rect">
            <a:avLst/>
          </a:prstGeom>
          <a:solidFill>
            <a:srgbClr val="4472C4">
              <a:lumMod val="50000"/>
            </a:srgbClr>
          </a:solidFill>
          <a:ln w="12700" cap="flat" cmpd="sng" algn="ctr">
            <a:solidFill>
              <a:srgbClr val="4472C4">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a:ea typeface="微软雅黑"/>
              <a:cs typeface="+mn-cs"/>
            </a:endParaRPr>
          </a:p>
        </p:txBody>
      </p:sp>
      <p:sp>
        <p:nvSpPr>
          <p:cNvPr id="86" name="矩形 85">
            <a:extLst>
              <a:ext uri="{FF2B5EF4-FFF2-40B4-BE49-F238E27FC236}">
                <a16:creationId xmlns:a16="http://schemas.microsoft.com/office/drawing/2014/main" id="{682B8FB2-6418-4B5D-9370-A779CD0C6F7D}"/>
              </a:ext>
            </a:extLst>
          </p:cNvPr>
          <p:cNvSpPr/>
          <p:nvPr/>
        </p:nvSpPr>
        <p:spPr>
          <a:xfrm>
            <a:off x="7365999" y="924560"/>
            <a:ext cx="2354070" cy="665627"/>
          </a:xfrm>
          <a:prstGeom prst="rect">
            <a:avLst/>
          </a:prstGeom>
          <a:solidFill>
            <a:srgbClr val="FF9900"/>
          </a:solidFill>
          <a:ln w="12700" cap="flat" cmpd="sng" algn="ctr">
            <a:solidFill>
              <a:srgbClr val="FF99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Arial"/>
              <a:ea typeface="微软雅黑"/>
              <a:cs typeface="+mn-cs"/>
            </a:endParaRPr>
          </a:p>
        </p:txBody>
      </p:sp>
      <p:sp>
        <p:nvSpPr>
          <p:cNvPr id="87" name="文本框 14">
            <a:extLst>
              <a:ext uri="{FF2B5EF4-FFF2-40B4-BE49-F238E27FC236}">
                <a16:creationId xmlns:a16="http://schemas.microsoft.com/office/drawing/2014/main" id="{65D335F4-CE13-4DA6-B1E4-8300D0556832}"/>
              </a:ext>
            </a:extLst>
          </p:cNvPr>
          <p:cNvSpPr txBox="1"/>
          <p:nvPr/>
        </p:nvSpPr>
        <p:spPr>
          <a:xfrm>
            <a:off x="359003" y="1107051"/>
            <a:ext cx="1793840" cy="369332"/>
          </a:xfrm>
          <a:prstGeom prst="rect">
            <a:avLst/>
          </a:prstGeom>
          <a:noFill/>
        </p:spPr>
        <p:txBody>
          <a:bodyPr wrap="square" rtlCol="0">
            <a:spAutoFit/>
          </a:bodyPr>
          <a:lstStyle/>
          <a:p>
            <a:pPr algn="just"/>
            <a:r>
              <a:rPr lang="zh-CN" altLang="en-US" b="1">
                <a:solidFill>
                  <a:prstClr val="white"/>
                </a:solidFill>
                <a:latin typeface="Arial"/>
                <a:ea typeface="微软雅黑"/>
              </a:rPr>
              <a:t>一  总体思路</a:t>
            </a:r>
            <a:endParaRPr lang="zh-CN" altLang="en-US" b="1" dirty="0">
              <a:solidFill>
                <a:prstClr val="white"/>
              </a:solidFill>
              <a:latin typeface="Arial"/>
              <a:ea typeface="微软雅黑"/>
            </a:endParaRPr>
          </a:p>
        </p:txBody>
      </p:sp>
      <p:sp>
        <p:nvSpPr>
          <p:cNvPr id="88" name="文本框 14">
            <a:extLst>
              <a:ext uri="{FF2B5EF4-FFF2-40B4-BE49-F238E27FC236}">
                <a16:creationId xmlns:a16="http://schemas.microsoft.com/office/drawing/2014/main" id="{7C237D9E-E4B2-4A00-BCAE-06EDA4BD1CF6}"/>
              </a:ext>
            </a:extLst>
          </p:cNvPr>
          <p:cNvSpPr txBox="1"/>
          <p:nvPr/>
        </p:nvSpPr>
        <p:spPr>
          <a:xfrm>
            <a:off x="2642427" y="1107051"/>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二  课程体系实施</a:t>
            </a:r>
            <a:endParaRPr lang="zh-CN" altLang="en-US" b="1" dirty="0">
              <a:solidFill>
                <a:prstClr val="white"/>
              </a:solidFill>
              <a:latin typeface="Arial"/>
              <a:ea typeface="微软雅黑"/>
            </a:endParaRPr>
          </a:p>
        </p:txBody>
      </p:sp>
      <p:sp>
        <p:nvSpPr>
          <p:cNvPr id="89" name="文本框 14">
            <a:extLst>
              <a:ext uri="{FF2B5EF4-FFF2-40B4-BE49-F238E27FC236}">
                <a16:creationId xmlns:a16="http://schemas.microsoft.com/office/drawing/2014/main" id="{92C8069E-42D6-49B4-8791-6DD38D3FDA21}"/>
              </a:ext>
            </a:extLst>
          </p:cNvPr>
          <p:cNvSpPr txBox="1"/>
          <p:nvPr/>
        </p:nvSpPr>
        <p:spPr>
          <a:xfrm>
            <a:off x="5054466" y="1071284"/>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三  实践体系实施</a:t>
            </a:r>
            <a:endParaRPr lang="zh-CN" altLang="en-US" b="1" dirty="0">
              <a:solidFill>
                <a:prstClr val="white"/>
              </a:solidFill>
              <a:latin typeface="Arial"/>
              <a:ea typeface="微软雅黑"/>
            </a:endParaRPr>
          </a:p>
        </p:txBody>
      </p:sp>
      <p:sp>
        <p:nvSpPr>
          <p:cNvPr id="106" name="文本框 14">
            <a:extLst>
              <a:ext uri="{FF2B5EF4-FFF2-40B4-BE49-F238E27FC236}">
                <a16:creationId xmlns:a16="http://schemas.microsoft.com/office/drawing/2014/main" id="{0818B98C-543F-4443-8E0A-B73939BD9AD7}"/>
              </a:ext>
            </a:extLst>
          </p:cNvPr>
          <p:cNvSpPr txBox="1"/>
          <p:nvPr/>
        </p:nvSpPr>
        <p:spPr>
          <a:xfrm>
            <a:off x="7338510" y="1071183"/>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四  导师制与学业指导</a:t>
            </a:r>
            <a:endParaRPr lang="zh-CN" altLang="en-US" b="1" dirty="0">
              <a:solidFill>
                <a:prstClr val="white"/>
              </a:solidFill>
              <a:latin typeface="Arial"/>
              <a:ea typeface="微软雅黑"/>
            </a:endParaRPr>
          </a:p>
        </p:txBody>
      </p:sp>
      <p:sp>
        <p:nvSpPr>
          <p:cNvPr id="107" name="文本框 14">
            <a:extLst>
              <a:ext uri="{FF2B5EF4-FFF2-40B4-BE49-F238E27FC236}">
                <a16:creationId xmlns:a16="http://schemas.microsoft.com/office/drawing/2014/main" id="{2C206975-BC9A-469F-B3FA-7A30B355687E}"/>
              </a:ext>
            </a:extLst>
          </p:cNvPr>
          <p:cNvSpPr txBox="1"/>
          <p:nvPr/>
        </p:nvSpPr>
        <p:spPr>
          <a:xfrm>
            <a:off x="10133884" y="1058701"/>
            <a:ext cx="2058115" cy="369332"/>
          </a:xfrm>
          <a:prstGeom prst="rect">
            <a:avLst/>
          </a:prstGeom>
          <a:noFill/>
        </p:spPr>
        <p:txBody>
          <a:bodyPr wrap="square" rtlCol="0">
            <a:spAutoFit/>
          </a:bodyPr>
          <a:lstStyle/>
          <a:p>
            <a:pPr algn="just"/>
            <a:r>
              <a:rPr lang="zh-CN" altLang="en-US" b="1">
                <a:solidFill>
                  <a:prstClr val="white"/>
                </a:solidFill>
                <a:latin typeface="Arial"/>
                <a:ea typeface="微软雅黑"/>
              </a:rPr>
              <a:t>五  保障机制</a:t>
            </a:r>
            <a:endParaRPr lang="zh-CN" altLang="en-US" b="1" dirty="0">
              <a:solidFill>
                <a:prstClr val="white"/>
              </a:solidFill>
              <a:latin typeface="Arial"/>
              <a:ea typeface="微软雅黑"/>
            </a:endParaRPr>
          </a:p>
        </p:txBody>
      </p:sp>
      <p:sp>
        <p:nvSpPr>
          <p:cNvPr id="74" name="文本框 12">
            <a:extLst>
              <a:ext uri="{FF2B5EF4-FFF2-40B4-BE49-F238E27FC236}">
                <a16:creationId xmlns:a16="http://schemas.microsoft.com/office/drawing/2014/main" id="{71CCA10C-D660-4E81-A544-033AE895B8AE}"/>
              </a:ext>
            </a:extLst>
          </p:cNvPr>
          <p:cNvSpPr txBox="1"/>
          <p:nvPr/>
        </p:nvSpPr>
        <p:spPr>
          <a:xfrm>
            <a:off x="359003" y="1760040"/>
            <a:ext cx="2800767" cy="461665"/>
          </a:xfrm>
          <a:prstGeom prst="rect">
            <a:avLst/>
          </a:prstGeom>
          <a:noFill/>
        </p:spPr>
        <p:txBody>
          <a:bodyPr wrap="none" rtlCol="0">
            <a:spAutoFit/>
          </a:bodyPr>
          <a:lstStyle/>
          <a:p>
            <a:pPr marL="457200" marR="0" lvl="0" indent="-457200" algn="l" defTabSz="914400" rtl="0" eaLnBrk="1" fontAlgn="auto" latinLnBrk="0" hangingPunct="1">
              <a:lnSpc>
                <a:spcPct val="100000"/>
              </a:lnSpc>
              <a:spcBef>
                <a:spcPts val="0"/>
              </a:spcBef>
              <a:spcAft>
                <a:spcPts val="0"/>
              </a:spcAft>
              <a:buClr>
                <a:srgbClr val="C00000"/>
              </a:buClr>
              <a:buSzTx/>
              <a:buFont typeface="Wingdings" panose="05000000000000000000" pitchFamily="2" charset="2"/>
              <a:buChar char="p"/>
              <a:tabLst/>
              <a:defRPr/>
            </a:pPr>
            <a:r>
              <a:rPr lang="zh-CN" altLang="en-US" sz="2400" b="1" kern="0">
                <a:solidFill>
                  <a:srgbClr val="004E86"/>
                </a:solidFill>
                <a:latin typeface="微软雅黑" panose="020B0503020204020204" pitchFamily="34" charset="-122"/>
                <a:ea typeface="微软雅黑" panose="020B0503020204020204" pitchFamily="34" charset="-122"/>
              </a:rPr>
              <a:t>坚实的学科基础</a:t>
            </a:r>
          </a:p>
        </p:txBody>
      </p:sp>
    </p:spTree>
    <p:extLst>
      <p:ext uri="{BB962C8B-B14F-4D97-AF65-F5344CB8AC3E}">
        <p14:creationId xmlns:p14="http://schemas.microsoft.com/office/powerpoint/2010/main" val="13220716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矩形 46">
            <a:extLst>
              <a:ext uri="{FF2B5EF4-FFF2-40B4-BE49-F238E27FC236}">
                <a16:creationId xmlns:a16="http://schemas.microsoft.com/office/drawing/2014/main" id="{D53FFECD-07C2-420B-9E17-B52BFA78CD12}"/>
              </a:ext>
            </a:extLst>
          </p:cNvPr>
          <p:cNvSpPr/>
          <p:nvPr/>
        </p:nvSpPr>
        <p:spPr>
          <a:xfrm>
            <a:off x="640080" y="2364524"/>
            <a:ext cx="7257285" cy="4258262"/>
          </a:xfrm>
          <a:prstGeom prst="rect">
            <a:avLst/>
          </a:prstGeom>
          <a:solidFill>
            <a:schemeClr val="bg1"/>
          </a:solidFill>
          <a:ln w="28575">
            <a:solidFill>
              <a:schemeClr val="accent1">
                <a:lumMod val="75000"/>
              </a:schemeClr>
            </a:solidFill>
            <a:prstDash val="lgDash"/>
          </a:ln>
          <a:effectLst>
            <a:outerShdw blurRad="63500" sx="102000" sy="102000" algn="c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23" name="图片 22">
            <a:extLst>
              <a:ext uri="{FF2B5EF4-FFF2-40B4-BE49-F238E27FC236}">
                <a16:creationId xmlns:a16="http://schemas.microsoft.com/office/drawing/2014/main" id="{39AF018C-BD1E-4D1C-A575-89BC7165FB5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189341" y="28710"/>
            <a:ext cx="881729" cy="881729"/>
          </a:xfrm>
          <a:prstGeom prst="rect">
            <a:avLst/>
          </a:prstGeom>
        </p:spPr>
      </p:pic>
      <p:pic>
        <p:nvPicPr>
          <p:cNvPr id="24" name="图片 23">
            <a:extLst>
              <a:ext uri="{FF2B5EF4-FFF2-40B4-BE49-F238E27FC236}">
                <a16:creationId xmlns:a16="http://schemas.microsoft.com/office/drawing/2014/main" id="{118A43A9-C67F-4CB1-B9F4-63E761CBC2D0}"/>
              </a:ext>
            </a:extLst>
          </p:cNvPr>
          <p:cNvPicPr>
            <a:picLocks noChangeAspect="1"/>
          </p:cNvPicPr>
          <p:nvPr/>
        </p:nvPicPr>
        <p:blipFill>
          <a:blip r:embed="rId4" cstate="print">
            <a:extLst>
              <a:ext uri="{28A0092B-C50C-407E-A947-70E740481C1C}">
                <a14:useLocalDpi xmlns:a14="http://schemas.microsoft.com/office/drawing/2010/main" val="0"/>
              </a:ext>
            </a:extLst>
          </a:blip>
          <a:srcRect l="1133" r="1133"/>
          <a:stretch/>
        </p:blipFill>
        <p:spPr>
          <a:xfrm>
            <a:off x="274100" y="75737"/>
            <a:ext cx="802225" cy="806727"/>
          </a:xfrm>
          <a:prstGeom prst="rect">
            <a:avLst/>
          </a:prstGeom>
        </p:spPr>
      </p:pic>
      <p:sp>
        <p:nvSpPr>
          <p:cNvPr id="25" name="文本框 24">
            <a:extLst>
              <a:ext uri="{FF2B5EF4-FFF2-40B4-BE49-F238E27FC236}">
                <a16:creationId xmlns:a16="http://schemas.microsoft.com/office/drawing/2014/main" id="{D2B29A73-493F-45ED-A593-8D7573299A30}"/>
              </a:ext>
            </a:extLst>
          </p:cNvPr>
          <p:cNvSpPr txBox="1"/>
          <p:nvPr/>
        </p:nvSpPr>
        <p:spPr>
          <a:xfrm>
            <a:off x="6313868" y="337344"/>
            <a:ext cx="6157730" cy="406971"/>
          </a:xfrm>
          <a:prstGeom prst="rect">
            <a:avLst/>
          </a:prstGeom>
          <a:noFill/>
        </p:spPr>
        <p:txBody>
          <a:bodyPr wrap="square">
            <a:spAutoFit/>
          </a:bodyPr>
          <a:lstStyle/>
          <a:p>
            <a:pPr algn="ctr" defTabSz="342900">
              <a:lnSpc>
                <a:spcPct val="125000"/>
              </a:lnSpc>
            </a:pPr>
            <a:endParaRPr lang="en-US" altLang="zh-CN" b="1">
              <a:latin typeface="微软雅黑" pitchFamily="34" charset="-122"/>
              <a:ea typeface="微软雅黑" pitchFamily="34" charset="-122"/>
              <a:cs typeface="Calibri" charset="0"/>
            </a:endParaRPr>
          </a:p>
        </p:txBody>
      </p:sp>
      <p:sp>
        <p:nvSpPr>
          <p:cNvPr id="26" name="文本框 11">
            <a:extLst>
              <a:ext uri="{FF2B5EF4-FFF2-40B4-BE49-F238E27FC236}">
                <a16:creationId xmlns:a16="http://schemas.microsoft.com/office/drawing/2014/main" id="{D7D3FDA0-EE55-4DA0-9A6C-9EE877927692}"/>
              </a:ext>
            </a:extLst>
          </p:cNvPr>
          <p:cNvSpPr txBox="1"/>
          <p:nvPr/>
        </p:nvSpPr>
        <p:spPr>
          <a:xfrm>
            <a:off x="1975284" y="1632283"/>
            <a:ext cx="498855"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400" b="0"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rPr>
              <a:t>1</a:t>
            </a:r>
            <a:endParaRPr kumimoji="0" lang="zh-CN" altLang="en-US" sz="4400" b="0"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27" name="文本框 12">
            <a:extLst>
              <a:ext uri="{FF2B5EF4-FFF2-40B4-BE49-F238E27FC236}">
                <a16:creationId xmlns:a16="http://schemas.microsoft.com/office/drawing/2014/main" id="{68A62499-6F06-4E26-845E-7CA94DC6CE82}"/>
              </a:ext>
            </a:extLst>
          </p:cNvPr>
          <p:cNvSpPr txBox="1"/>
          <p:nvPr/>
        </p:nvSpPr>
        <p:spPr>
          <a:xfrm>
            <a:off x="359003" y="1760040"/>
            <a:ext cx="6801862" cy="461665"/>
          </a:xfrm>
          <a:prstGeom prst="rect">
            <a:avLst/>
          </a:prstGeom>
          <a:noFill/>
        </p:spPr>
        <p:txBody>
          <a:bodyPr wrap="none" rtlCol="0">
            <a:spAutoFit/>
          </a:bodyPr>
          <a:lstStyle/>
          <a:p>
            <a:pPr marL="457200" marR="0" lvl="0" indent="-457200" algn="l" defTabSz="914400" rtl="0" eaLnBrk="1" fontAlgn="auto" latinLnBrk="0" hangingPunct="1">
              <a:lnSpc>
                <a:spcPct val="100000"/>
              </a:lnSpc>
              <a:spcBef>
                <a:spcPts val="0"/>
              </a:spcBef>
              <a:spcAft>
                <a:spcPts val="0"/>
              </a:spcAft>
              <a:buClr>
                <a:srgbClr val="C00000"/>
              </a:buClr>
              <a:buSzTx/>
              <a:buFont typeface="Wingdings" panose="05000000000000000000" pitchFamily="2" charset="2"/>
              <a:buChar char="p"/>
              <a:tabLst/>
              <a:defRPr/>
            </a:pPr>
            <a:r>
              <a:rPr lang="zh-CN" altLang="en-US" sz="2400" b="1" kern="0" dirty="0">
                <a:solidFill>
                  <a:srgbClr val="004E86"/>
                </a:solidFill>
                <a:latin typeface="微软雅黑" panose="020B0503020204020204" pitchFamily="34" charset="-122"/>
                <a:ea typeface="微软雅黑" panose="020B0503020204020204" pitchFamily="34" charset="-122"/>
              </a:rPr>
              <a:t>全员双导师制与本科生导师制贯穿培养全过程</a:t>
            </a:r>
          </a:p>
        </p:txBody>
      </p:sp>
      <p:sp>
        <p:nvSpPr>
          <p:cNvPr id="18" name="文本框 17">
            <a:extLst>
              <a:ext uri="{FF2B5EF4-FFF2-40B4-BE49-F238E27FC236}">
                <a16:creationId xmlns:a16="http://schemas.microsoft.com/office/drawing/2014/main" id="{4C0D621A-BA30-4D0D-AE75-F1251D29CFDC}"/>
              </a:ext>
            </a:extLst>
          </p:cNvPr>
          <p:cNvSpPr txBox="1"/>
          <p:nvPr/>
        </p:nvSpPr>
        <p:spPr>
          <a:xfrm>
            <a:off x="6269498" y="489744"/>
            <a:ext cx="6157730" cy="406971"/>
          </a:xfrm>
          <a:prstGeom prst="rect">
            <a:avLst/>
          </a:prstGeom>
          <a:noFill/>
        </p:spPr>
        <p:txBody>
          <a:bodyPr wrap="square">
            <a:spAutoFit/>
          </a:bodyPr>
          <a:lstStyle/>
          <a:p>
            <a:pPr algn="ctr" defTabSz="342900">
              <a:lnSpc>
                <a:spcPct val="125000"/>
              </a:lnSpc>
            </a:pPr>
            <a:r>
              <a:rPr lang="zh-CN" altLang="en-US" b="1">
                <a:latin typeface="微软雅黑" pitchFamily="34" charset="-122"/>
                <a:ea typeface="微软雅黑" pitchFamily="34" charset="-122"/>
                <a:cs typeface="Calibri" charset="0"/>
              </a:rPr>
              <a:t>“教育学</a:t>
            </a:r>
            <a:r>
              <a:rPr lang="en-US" altLang="zh-CN" b="1">
                <a:latin typeface="微软雅黑" pitchFamily="34" charset="-122"/>
                <a:ea typeface="微软雅黑" pitchFamily="34" charset="-122"/>
                <a:cs typeface="Calibri" charset="0"/>
              </a:rPr>
              <a:t>+</a:t>
            </a:r>
            <a:r>
              <a:rPr lang="zh-CN" altLang="en-US" b="1">
                <a:latin typeface="微软雅黑" pitchFamily="34" charset="-122"/>
                <a:ea typeface="微软雅黑" pitchFamily="34" charset="-122"/>
                <a:cs typeface="Calibri" charset="0"/>
              </a:rPr>
              <a:t>人工智能”双学士学位复合型人才培养项目</a:t>
            </a:r>
            <a:endParaRPr lang="en-US" altLang="zh-CN" b="1">
              <a:latin typeface="微软雅黑" pitchFamily="34" charset="-122"/>
              <a:ea typeface="微软雅黑" pitchFamily="34" charset="-122"/>
              <a:cs typeface="Calibri" charset="0"/>
            </a:endParaRPr>
          </a:p>
        </p:txBody>
      </p:sp>
      <p:sp>
        <p:nvSpPr>
          <p:cNvPr id="28" name="Shape">
            <a:extLst>
              <a:ext uri="{FF2B5EF4-FFF2-40B4-BE49-F238E27FC236}">
                <a16:creationId xmlns:a16="http://schemas.microsoft.com/office/drawing/2014/main" id="{3CC6EA9A-7EC3-450F-9BB5-C1D2ED9140A8}"/>
              </a:ext>
            </a:extLst>
          </p:cNvPr>
          <p:cNvSpPr/>
          <p:nvPr/>
        </p:nvSpPr>
        <p:spPr>
          <a:xfrm>
            <a:off x="800608" y="2417179"/>
            <a:ext cx="4800600" cy="1920240"/>
          </a:xfrm>
          <a:prstGeom prst="roundRect">
            <a:avLst/>
          </a:prstGeom>
          <a:solidFill>
            <a:srgbClr val="EAF3FB"/>
          </a:solidFill>
          <a:ln w="12700">
            <a:solidFill>
              <a:srgbClr val="1F6FB2"/>
            </a:solidFill>
          </a:ln>
        </p:spPr>
        <p:txBody>
          <a:bodyPr/>
          <a:lstStyle/>
          <a:p>
            <a:endParaRPr lang="zh-CN" altLang="en-US"/>
          </a:p>
        </p:txBody>
      </p:sp>
      <p:sp>
        <p:nvSpPr>
          <p:cNvPr id="31" name="Text">
            <a:extLst>
              <a:ext uri="{FF2B5EF4-FFF2-40B4-BE49-F238E27FC236}">
                <a16:creationId xmlns:a16="http://schemas.microsoft.com/office/drawing/2014/main" id="{54E712C0-4282-4962-88E2-514062467CB3}"/>
              </a:ext>
            </a:extLst>
          </p:cNvPr>
          <p:cNvSpPr txBox="1"/>
          <p:nvPr/>
        </p:nvSpPr>
        <p:spPr>
          <a:xfrm>
            <a:off x="1056083" y="2813162"/>
            <a:ext cx="4297680" cy="365760"/>
          </a:xfrm>
          <a:prstGeom prst="rect">
            <a:avLst/>
          </a:prstGeom>
          <a:noFill/>
          <a:ln>
            <a:noFill/>
          </a:ln>
        </p:spPr>
        <p:txBody>
          <a:bodyPr wrap="square" lIns="60000" tIns="40000" rIns="60000" bIns="40000" anchor="t"/>
          <a:lstStyle/>
          <a:p>
            <a:pPr algn="l"/>
            <a:r>
              <a:rPr lang="zh-CN" sz="2300" b="1">
                <a:solidFill>
                  <a:srgbClr val="1F6FB2"/>
                </a:solidFill>
                <a:latin typeface="Microsoft YaHei"/>
                <a:ea typeface="Microsoft YaHei"/>
                <a:cs typeface="Microsoft YaHei"/>
              </a:rPr>
              <a:t>1名教育学导师</a:t>
            </a:r>
          </a:p>
        </p:txBody>
      </p:sp>
      <p:sp>
        <p:nvSpPr>
          <p:cNvPr id="32" name="Text">
            <a:extLst>
              <a:ext uri="{FF2B5EF4-FFF2-40B4-BE49-F238E27FC236}">
                <a16:creationId xmlns:a16="http://schemas.microsoft.com/office/drawing/2014/main" id="{EB24CCD3-EC2C-40D3-9AA4-CEC42D5700B0}"/>
              </a:ext>
            </a:extLst>
          </p:cNvPr>
          <p:cNvSpPr txBox="1"/>
          <p:nvPr/>
        </p:nvSpPr>
        <p:spPr>
          <a:xfrm>
            <a:off x="1074371" y="3398378"/>
            <a:ext cx="4251960" cy="457200"/>
          </a:xfrm>
          <a:prstGeom prst="rect">
            <a:avLst/>
          </a:prstGeom>
          <a:noFill/>
          <a:ln>
            <a:noFill/>
          </a:ln>
        </p:spPr>
        <p:txBody>
          <a:bodyPr wrap="square" lIns="60000" tIns="40000" rIns="60000" bIns="40000" anchor="t"/>
          <a:lstStyle/>
          <a:p>
            <a:pPr algn="l"/>
            <a:r>
              <a:rPr lang="zh-CN" sz="1400" b="1">
                <a:solidFill>
                  <a:srgbClr val="5B677A"/>
                </a:solidFill>
                <a:latin typeface="Microsoft YaHei"/>
                <a:ea typeface="Microsoft YaHei"/>
                <a:cs typeface="Microsoft YaHei"/>
              </a:rPr>
              <a:t>负责教育理论、教学设计、教育研究与实践场景把关</a:t>
            </a:r>
          </a:p>
        </p:txBody>
      </p:sp>
      <p:sp>
        <p:nvSpPr>
          <p:cNvPr id="33" name="Shape">
            <a:extLst>
              <a:ext uri="{FF2B5EF4-FFF2-40B4-BE49-F238E27FC236}">
                <a16:creationId xmlns:a16="http://schemas.microsoft.com/office/drawing/2014/main" id="{59908BFD-031F-4064-A894-2DB3ABE07B26}"/>
              </a:ext>
            </a:extLst>
          </p:cNvPr>
          <p:cNvSpPr/>
          <p:nvPr/>
        </p:nvSpPr>
        <p:spPr>
          <a:xfrm>
            <a:off x="737108" y="4636296"/>
            <a:ext cx="4800600" cy="1920240"/>
          </a:xfrm>
          <a:prstGeom prst="roundRect">
            <a:avLst/>
          </a:prstGeom>
          <a:solidFill>
            <a:srgbClr val="E8F7F7"/>
          </a:solidFill>
          <a:ln w="12700">
            <a:solidFill>
              <a:srgbClr val="00A6A6"/>
            </a:solidFill>
          </a:ln>
        </p:spPr>
        <p:txBody>
          <a:bodyPr/>
          <a:lstStyle/>
          <a:p>
            <a:endParaRPr lang="zh-CN" altLang="en-US"/>
          </a:p>
        </p:txBody>
      </p:sp>
      <p:sp>
        <p:nvSpPr>
          <p:cNvPr id="34" name="Text">
            <a:extLst>
              <a:ext uri="{FF2B5EF4-FFF2-40B4-BE49-F238E27FC236}">
                <a16:creationId xmlns:a16="http://schemas.microsoft.com/office/drawing/2014/main" id="{1813D8AC-5511-415C-90A8-EFE172BC1EB8}"/>
              </a:ext>
            </a:extLst>
          </p:cNvPr>
          <p:cNvSpPr txBox="1"/>
          <p:nvPr/>
        </p:nvSpPr>
        <p:spPr>
          <a:xfrm>
            <a:off x="1010871" y="5032279"/>
            <a:ext cx="4251960" cy="365760"/>
          </a:xfrm>
          <a:prstGeom prst="rect">
            <a:avLst/>
          </a:prstGeom>
          <a:noFill/>
          <a:ln>
            <a:noFill/>
          </a:ln>
        </p:spPr>
        <p:txBody>
          <a:bodyPr wrap="square" lIns="60000" tIns="40000" rIns="60000" bIns="40000" anchor="t"/>
          <a:lstStyle/>
          <a:p>
            <a:pPr algn="l"/>
            <a:r>
              <a:rPr lang="zh-CN" sz="2300" b="1">
                <a:solidFill>
                  <a:srgbClr val="00A6A6"/>
                </a:solidFill>
                <a:latin typeface="Microsoft YaHei"/>
                <a:ea typeface="Microsoft YaHei"/>
                <a:cs typeface="Microsoft YaHei"/>
              </a:rPr>
              <a:t>1名人工智能导师</a:t>
            </a:r>
          </a:p>
        </p:txBody>
      </p:sp>
      <p:sp>
        <p:nvSpPr>
          <p:cNvPr id="35" name="Text">
            <a:extLst>
              <a:ext uri="{FF2B5EF4-FFF2-40B4-BE49-F238E27FC236}">
                <a16:creationId xmlns:a16="http://schemas.microsoft.com/office/drawing/2014/main" id="{4AEE6BD3-5B33-4CBA-8612-209C461AED9B}"/>
              </a:ext>
            </a:extLst>
          </p:cNvPr>
          <p:cNvSpPr txBox="1"/>
          <p:nvPr/>
        </p:nvSpPr>
        <p:spPr>
          <a:xfrm>
            <a:off x="1010871" y="5617495"/>
            <a:ext cx="4251960" cy="457200"/>
          </a:xfrm>
          <a:prstGeom prst="rect">
            <a:avLst/>
          </a:prstGeom>
          <a:noFill/>
          <a:ln>
            <a:noFill/>
          </a:ln>
        </p:spPr>
        <p:txBody>
          <a:bodyPr wrap="square" lIns="60000" tIns="40000" rIns="60000" bIns="40000" anchor="t"/>
          <a:lstStyle/>
          <a:p>
            <a:r>
              <a:rPr lang="zh-CN" altLang="en-US" sz="1400" b="1">
                <a:solidFill>
                  <a:srgbClr val="5B677A"/>
                </a:solidFill>
                <a:latin typeface="Microsoft YaHei"/>
                <a:ea typeface="Microsoft YaHei"/>
              </a:rPr>
              <a:t>负责技术路线、系统开发、数据治理与工程能力提升</a:t>
            </a:r>
          </a:p>
        </p:txBody>
      </p:sp>
      <p:sp>
        <p:nvSpPr>
          <p:cNvPr id="36" name="Shape">
            <a:extLst>
              <a:ext uri="{FF2B5EF4-FFF2-40B4-BE49-F238E27FC236}">
                <a16:creationId xmlns:a16="http://schemas.microsoft.com/office/drawing/2014/main" id="{D521847C-345F-4E94-A334-76FB7FA190D5}"/>
              </a:ext>
            </a:extLst>
          </p:cNvPr>
          <p:cNvSpPr/>
          <p:nvPr/>
        </p:nvSpPr>
        <p:spPr>
          <a:xfrm>
            <a:off x="4197116" y="4080874"/>
            <a:ext cx="1934972" cy="731520"/>
          </a:xfrm>
          <a:prstGeom prst="roundRect">
            <a:avLst/>
          </a:prstGeom>
          <a:solidFill>
            <a:srgbClr val="15385B"/>
          </a:solidFill>
          <a:ln>
            <a:noFill/>
          </a:ln>
        </p:spPr>
        <p:txBody>
          <a:bodyPr/>
          <a:lstStyle/>
          <a:p>
            <a:endParaRPr lang="zh-CN" altLang="en-US"/>
          </a:p>
        </p:txBody>
      </p:sp>
      <p:sp>
        <p:nvSpPr>
          <p:cNvPr id="37" name="Text">
            <a:extLst>
              <a:ext uri="{FF2B5EF4-FFF2-40B4-BE49-F238E27FC236}">
                <a16:creationId xmlns:a16="http://schemas.microsoft.com/office/drawing/2014/main" id="{E913DE5E-9A86-416A-AC93-316F6D4A3F56}"/>
              </a:ext>
            </a:extLst>
          </p:cNvPr>
          <p:cNvSpPr txBox="1"/>
          <p:nvPr/>
        </p:nvSpPr>
        <p:spPr>
          <a:xfrm>
            <a:off x="4372122" y="4137020"/>
            <a:ext cx="1511300" cy="274320"/>
          </a:xfrm>
          <a:prstGeom prst="rect">
            <a:avLst/>
          </a:prstGeom>
          <a:noFill/>
          <a:ln>
            <a:noFill/>
          </a:ln>
        </p:spPr>
        <p:txBody>
          <a:bodyPr wrap="square" lIns="60000" tIns="40000" rIns="60000" bIns="40000" anchor="t"/>
          <a:lstStyle/>
          <a:p>
            <a:pPr algn="ctr"/>
            <a:r>
              <a:rPr lang="zh-CN" sz="1800" b="1">
                <a:solidFill>
                  <a:srgbClr val="FFFFFF"/>
                </a:solidFill>
                <a:latin typeface="Microsoft YaHei"/>
                <a:ea typeface="Microsoft YaHei"/>
                <a:cs typeface="Microsoft YaHei"/>
              </a:rPr>
              <a:t>共同指导学生成长路径</a:t>
            </a:r>
          </a:p>
        </p:txBody>
      </p:sp>
      <p:sp>
        <p:nvSpPr>
          <p:cNvPr id="38" name="Shape">
            <a:extLst>
              <a:ext uri="{FF2B5EF4-FFF2-40B4-BE49-F238E27FC236}">
                <a16:creationId xmlns:a16="http://schemas.microsoft.com/office/drawing/2014/main" id="{B9241A5E-7CF2-443A-A425-2CF5871459CA}"/>
              </a:ext>
            </a:extLst>
          </p:cNvPr>
          <p:cNvSpPr/>
          <p:nvPr/>
        </p:nvSpPr>
        <p:spPr>
          <a:xfrm>
            <a:off x="6259007" y="2589597"/>
            <a:ext cx="1463040" cy="502920"/>
          </a:xfrm>
          <a:prstGeom prst="roundRect">
            <a:avLst/>
          </a:prstGeom>
          <a:solidFill>
            <a:srgbClr val="FFFFFF"/>
          </a:solidFill>
          <a:ln w="12700">
            <a:solidFill>
              <a:srgbClr val="D9E1EC"/>
            </a:solidFill>
          </a:ln>
        </p:spPr>
        <p:txBody>
          <a:bodyPr/>
          <a:lstStyle/>
          <a:p>
            <a:endParaRPr lang="zh-CN" altLang="en-US"/>
          </a:p>
        </p:txBody>
      </p:sp>
      <p:sp>
        <p:nvSpPr>
          <p:cNvPr id="39" name="Text">
            <a:extLst>
              <a:ext uri="{FF2B5EF4-FFF2-40B4-BE49-F238E27FC236}">
                <a16:creationId xmlns:a16="http://schemas.microsoft.com/office/drawing/2014/main" id="{2221E4ED-D74C-4085-A779-54E4754818DC}"/>
              </a:ext>
            </a:extLst>
          </p:cNvPr>
          <p:cNvSpPr txBox="1"/>
          <p:nvPr/>
        </p:nvSpPr>
        <p:spPr>
          <a:xfrm>
            <a:off x="6259007" y="2708469"/>
            <a:ext cx="1463040" cy="219456"/>
          </a:xfrm>
          <a:prstGeom prst="rect">
            <a:avLst/>
          </a:prstGeom>
          <a:noFill/>
          <a:ln>
            <a:noFill/>
          </a:ln>
        </p:spPr>
        <p:txBody>
          <a:bodyPr wrap="square" lIns="60000" tIns="40000" rIns="60000" bIns="40000" anchor="t"/>
          <a:lstStyle/>
          <a:p>
            <a:pPr algn="ctr"/>
            <a:r>
              <a:rPr lang="zh-CN" sz="1350" b="1">
                <a:solidFill>
                  <a:srgbClr val="C5282F"/>
                </a:solidFill>
                <a:latin typeface="Microsoft YaHei"/>
                <a:ea typeface="Microsoft YaHei"/>
                <a:cs typeface="Microsoft YaHei"/>
              </a:rPr>
              <a:t>选课</a:t>
            </a:r>
          </a:p>
        </p:txBody>
      </p:sp>
      <p:sp>
        <p:nvSpPr>
          <p:cNvPr id="40" name="Shape">
            <a:extLst>
              <a:ext uri="{FF2B5EF4-FFF2-40B4-BE49-F238E27FC236}">
                <a16:creationId xmlns:a16="http://schemas.microsoft.com/office/drawing/2014/main" id="{DE59A98C-C9CE-41E1-85C6-78F70D327511}"/>
              </a:ext>
            </a:extLst>
          </p:cNvPr>
          <p:cNvSpPr/>
          <p:nvPr/>
        </p:nvSpPr>
        <p:spPr>
          <a:xfrm>
            <a:off x="6269498" y="3424549"/>
            <a:ext cx="1463040" cy="502920"/>
          </a:xfrm>
          <a:prstGeom prst="roundRect">
            <a:avLst/>
          </a:prstGeom>
          <a:solidFill>
            <a:srgbClr val="FFFFFF"/>
          </a:solidFill>
          <a:ln w="12700">
            <a:solidFill>
              <a:srgbClr val="D9E1EC"/>
            </a:solidFill>
          </a:ln>
        </p:spPr>
        <p:txBody>
          <a:bodyPr/>
          <a:lstStyle/>
          <a:p>
            <a:endParaRPr lang="zh-CN" altLang="en-US"/>
          </a:p>
        </p:txBody>
      </p:sp>
      <p:sp>
        <p:nvSpPr>
          <p:cNvPr id="41" name="Text">
            <a:extLst>
              <a:ext uri="{FF2B5EF4-FFF2-40B4-BE49-F238E27FC236}">
                <a16:creationId xmlns:a16="http://schemas.microsoft.com/office/drawing/2014/main" id="{41C4D53C-AE43-4D59-9F7B-9277A8B6073A}"/>
              </a:ext>
            </a:extLst>
          </p:cNvPr>
          <p:cNvSpPr txBox="1"/>
          <p:nvPr/>
        </p:nvSpPr>
        <p:spPr>
          <a:xfrm>
            <a:off x="6269498" y="3543421"/>
            <a:ext cx="1463040" cy="219456"/>
          </a:xfrm>
          <a:prstGeom prst="rect">
            <a:avLst/>
          </a:prstGeom>
          <a:noFill/>
          <a:ln>
            <a:noFill/>
          </a:ln>
        </p:spPr>
        <p:txBody>
          <a:bodyPr wrap="square" lIns="60000" tIns="40000" rIns="60000" bIns="40000" anchor="t"/>
          <a:lstStyle/>
          <a:p>
            <a:pPr algn="ctr"/>
            <a:r>
              <a:rPr lang="zh-CN" sz="1350" b="1">
                <a:solidFill>
                  <a:srgbClr val="1F6FB2"/>
                </a:solidFill>
                <a:latin typeface="Microsoft YaHei"/>
                <a:ea typeface="Microsoft YaHei"/>
                <a:cs typeface="Microsoft YaHei"/>
              </a:rPr>
              <a:t>科研</a:t>
            </a:r>
          </a:p>
        </p:txBody>
      </p:sp>
      <p:sp>
        <p:nvSpPr>
          <p:cNvPr id="42" name="Shape">
            <a:extLst>
              <a:ext uri="{FF2B5EF4-FFF2-40B4-BE49-F238E27FC236}">
                <a16:creationId xmlns:a16="http://schemas.microsoft.com/office/drawing/2014/main" id="{62C9DBF7-13EB-466D-A99B-AB7DC18E5B41}"/>
              </a:ext>
            </a:extLst>
          </p:cNvPr>
          <p:cNvSpPr/>
          <p:nvPr/>
        </p:nvSpPr>
        <p:spPr>
          <a:xfrm>
            <a:off x="6287532" y="4141374"/>
            <a:ext cx="1463040" cy="502920"/>
          </a:xfrm>
          <a:prstGeom prst="roundRect">
            <a:avLst/>
          </a:prstGeom>
          <a:solidFill>
            <a:srgbClr val="FFFFFF"/>
          </a:solidFill>
          <a:ln w="12700">
            <a:solidFill>
              <a:srgbClr val="D9E1EC"/>
            </a:solidFill>
          </a:ln>
        </p:spPr>
        <p:txBody>
          <a:bodyPr/>
          <a:lstStyle/>
          <a:p>
            <a:endParaRPr lang="zh-CN" altLang="en-US"/>
          </a:p>
        </p:txBody>
      </p:sp>
      <p:sp>
        <p:nvSpPr>
          <p:cNvPr id="43" name="Text">
            <a:extLst>
              <a:ext uri="{FF2B5EF4-FFF2-40B4-BE49-F238E27FC236}">
                <a16:creationId xmlns:a16="http://schemas.microsoft.com/office/drawing/2014/main" id="{DA63AE1E-0BDA-45CC-B574-3091F4CA1A2C}"/>
              </a:ext>
            </a:extLst>
          </p:cNvPr>
          <p:cNvSpPr txBox="1"/>
          <p:nvPr/>
        </p:nvSpPr>
        <p:spPr>
          <a:xfrm>
            <a:off x="6287532" y="4260246"/>
            <a:ext cx="1463040" cy="219456"/>
          </a:xfrm>
          <a:prstGeom prst="rect">
            <a:avLst/>
          </a:prstGeom>
          <a:noFill/>
          <a:ln>
            <a:noFill/>
          </a:ln>
        </p:spPr>
        <p:txBody>
          <a:bodyPr wrap="square" lIns="60000" tIns="40000" rIns="60000" bIns="40000" anchor="t"/>
          <a:lstStyle/>
          <a:p>
            <a:pPr algn="ctr"/>
            <a:r>
              <a:rPr lang="zh-CN" sz="1350" b="1">
                <a:solidFill>
                  <a:srgbClr val="00A6A6"/>
                </a:solidFill>
                <a:latin typeface="Microsoft YaHei"/>
                <a:ea typeface="Microsoft YaHei"/>
                <a:cs typeface="Microsoft YaHei"/>
              </a:rPr>
              <a:t>竞赛</a:t>
            </a:r>
          </a:p>
        </p:txBody>
      </p:sp>
      <p:sp>
        <p:nvSpPr>
          <p:cNvPr id="44" name="Shape">
            <a:extLst>
              <a:ext uri="{FF2B5EF4-FFF2-40B4-BE49-F238E27FC236}">
                <a16:creationId xmlns:a16="http://schemas.microsoft.com/office/drawing/2014/main" id="{4F75A4FC-AE13-4B70-9D1B-DE2E1926B444}"/>
              </a:ext>
            </a:extLst>
          </p:cNvPr>
          <p:cNvSpPr/>
          <p:nvPr/>
        </p:nvSpPr>
        <p:spPr>
          <a:xfrm>
            <a:off x="6259007" y="4977070"/>
            <a:ext cx="1463040" cy="502920"/>
          </a:xfrm>
          <a:prstGeom prst="roundRect">
            <a:avLst/>
          </a:prstGeom>
          <a:solidFill>
            <a:srgbClr val="FFFFFF"/>
          </a:solidFill>
          <a:ln w="12700">
            <a:solidFill>
              <a:srgbClr val="D9E1EC"/>
            </a:solidFill>
          </a:ln>
        </p:spPr>
        <p:txBody>
          <a:bodyPr/>
          <a:lstStyle/>
          <a:p>
            <a:endParaRPr lang="zh-CN" altLang="en-US"/>
          </a:p>
        </p:txBody>
      </p:sp>
      <p:sp>
        <p:nvSpPr>
          <p:cNvPr id="45" name="Text">
            <a:extLst>
              <a:ext uri="{FF2B5EF4-FFF2-40B4-BE49-F238E27FC236}">
                <a16:creationId xmlns:a16="http://schemas.microsoft.com/office/drawing/2014/main" id="{731F5C85-6ADF-4352-BC54-A732E1AD3391}"/>
              </a:ext>
            </a:extLst>
          </p:cNvPr>
          <p:cNvSpPr txBox="1"/>
          <p:nvPr/>
        </p:nvSpPr>
        <p:spPr>
          <a:xfrm>
            <a:off x="6259007" y="5095942"/>
            <a:ext cx="1463040" cy="219456"/>
          </a:xfrm>
          <a:prstGeom prst="rect">
            <a:avLst/>
          </a:prstGeom>
          <a:noFill/>
          <a:ln>
            <a:noFill/>
          </a:ln>
        </p:spPr>
        <p:txBody>
          <a:bodyPr wrap="square" lIns="60000" tIns="40000" rIns="60000" bIns="40000" anchor="t"/>
          <a:lstStyle/>
          <a:p>
            <a:pPr algn="ctr"/>
            <a:r>
              <a:rPr lang="zh-CN" sz="1350" b="1">
                <a:solidFill>
                  <a:srgbClr val="3A8F5C"/>
                </a:solidFill>
                <a:latin typeface="Microsoft YaHei"/>
                <a:ea typeface="Microsoft YaHei"/>
                <a:cs typeface="Microsoft YaHei"/>
              </a:rPr>
              <a:t>实习</a:t>
            </a:r>
          </a:p>
        </p:txBody>
      </p:sp>
      <p:sp>
        <p:nvSpPr>
          <p:cNvPr id="46" name="Shape">
            <a:extLst>
              <a:ext uri="{FF2B5EF4-FFF2-40B4-BE49-F238E27FC236}">
                <a16:creationId xmlns:a16="http://schemas.microsoft.com/office/drawing/2014/main" id="{8619EFB1-9B7F-4F3A-A9B5-653B0C49D4A4}"/>
              </a:ext>
            </a:extLst>
          </p:cNvPr>
          <p:cNvSpPr/>
          <p:nvPr/>
        </p:nvSpPr>
        <p:spPr>
          <a:xfrm>
            <a:off x="6259007" y="5812767"/>
            <a:ext cx="1463040" cy="502920"/>
          </a:xfrm>
          <a:prstGeom prst="roundRect">
            <a:avLst/>
          </a:prstGeom>
          <a:solidFill>
            <a:srgbClr val="FFFFFF"/>
          </a:solidFill>
          <a:ln w="12700">
            <a:solidFill>
              <a:srgbClr val="D9E1EC"/>
            </a:solidFill>
          </a:ln>
        </p:spPr>
        <p:txBody>
          <a:bodyPr/>
          <a:lstStyle/>
          <a:p>
            <a:endParaRPr lang="zh-CN" altLang="en-US"/>
          </a:p>
        </p:txBody>
      </p:sp>
      <p:sp>
        <p:nvSpPr>
          <p:cNvPr id="54" name="Text">
            <a:extLst>
              <a:ext uri="{FF2B5EF4-FFF2-40B4-BE49-F238E27FC236}">
                <a16:creationId xmlns:a16="http://schemas.microsoft.com/office/drawing/2014/main" id="{A861712A-1FD3-4156-A50E-F6E74CF9F0D2}"/>
              </a:ext>
            </a:extLst>
          </p:cNvPr>
          <p:cNvSpPr txBox="1"/>
          <p:nvPr/>
        </p:nvSpPr>
        <p:spPr>
          <a:xfrm>
            <a:off x="6259007" y="5931639"/>
            <a:ext cx="1463040" cy="219456"/>
          </a:xfrm>
          <a:prstGeom prst="rect">
            <a:avLst/>
          </a:prstGeom>
          <a:noFill/>
          <a:ln>
            <a:noFill/>
          </a:ln>
        </p:spPr>
        <p:txBody>
          <a:bodyPr wrap="square" lIns="60000" tIns="40000" rIns="60000" bIns="40000" anchor="t"/>
          <a:lstStyle/>
          <a:p>
            <a:pPr algn="ctr"/>
            <a:r>
              <a:rPr lang="zh-CN" sz="1350" b="1">
                <a:solidFill>
                  <a:srgbClr val="D9A441"/>
                </a:solidFill>
                <a:latin typeface="Microsoft YaHei"/>
                <a:ea typeface="Microsoft YaHei"/>
                <a:cs typeface="Microsoft YaHei"/>
              </a:rPr>
              <a:t>毕业设计</a:t>
            </a:r>
          </a:p>
        </p:txBody>
      </p:sp>
      <p:sp>
        <p:nvSpPr>
          <p:cNvPr id="55" name="矩形 54">
            <a:extLst>
              <a:ext uri="{FF2B5EF4-FFF2-40B4-BE49-F238E27FC236}">
                <a16:creationId xmlns:a16="http://schemas.microsoft.com/office/drawing/2014/main" id="{574A9C4A-E406-4B98-87FF-11A98C487F37}"/>
              </a:ext>
            </a:extLst>
          </p:cNvPr>
          <p:cNvSpPr/>
          <p:nvPr/>
        </p:nvSpPr>
        <p:spPr>
          <a:xfrm>
            <a:off x="0" y="924560"/>
            <a:ext cx="12192000" cy="665627"/>
          </a:xfrm>
          <a:prstGeom prst="rect">
            <a:avLst/>
          </a:prstGeom>
          <a:solidFill>
            <a:srgbClr val="4472C4">
              <a:lumMod val="50000"/>
            </a:srgbClr>
          </a:solidFill>
          <a:ln w="12700" cap="flat" cmpd="sng" algn="ctr">
            <a:solidFill>
              <a:srgbClr val="4472C4">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a:ea typeface="微软雅黑"/>
              <a:cs typeface="+mn-cs"/>
            </a:endParaRPr>
          </a:p>
        </p:txBody>
      </p:sp>
      <p:sp>
        <p:nvSpPr>
          <p:cNvPr id="60" name="矩形 59">
            <a:extLst>
              <a:ext uri="{FF2B5EF4-FFF2-40B4-BE49-F238E27FC236}">
                <a16:creationId xmlns:a16="http://schemas.microsoft.com/office/drawing/2014/main" id="{B6EAB9E8-68EA-4C2A-AB92-6FCD1CE25A17}"/>
              </a:ext>
            </a:extLst>
          </p:cNvPr>
          <p:cNvSpPr/>
          <p:nvPr/>
        </p:nvSpPr>
        <p:spPr>
          <a:xfrm>
            <a:off x="7365999" y="924560"/>
            <a:ext cx="2354070" cy="665627"/>
          </a:xfrm>
          <a:prstGeom prst="rect">
            <a:avLst/>
          </a:prstGeom>
          <a:solidFill>
            <a:srgbClr val="FF9900"/>
          </a:solidFill>
          <a:ln w="12700" cap="flat" cmpd="sng" algn="ctr">
            <a:solidFill>
              <a:srgbClr val="FF99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Arial"/>
              <a:ea typeface="微软雅黑"/>
              <a:cs typeface="+mn-cs"/>
            </a:endParaRPr>
          </a:p>
        </p:txBody>
      </p:sp>
      <p:sp>
        <p:nvSpPr>
          <p:cNvPr id="61" name="文本框 14">
            <a:extLst>
              <a:ext uri="{FF2B5EF4-FFF2-40B4-BE49-F238E27FC236}">
                <a16:creationId xmlns:a16="http://schemas.microsoft.com/office/drawing/2014/main" id="{2C0D0049-C91F-4DBC-B5BF-F125C4D5BAD8}"/>
              </a:ext>
            </a:extLst>
          </p:cNvPr>
          <p:cNvSpPr txBox="1"/>
          <p:nvPr/>
        </p:nvSpPr>
        <p:spPr>
          <a:xfrm>
            <a:off x="359003" y="1107051"/>
            <a:ext cx="1793840" cy="369332"/>
          </a:xfrm>
          <a:prstGeom prst="rect">
            <a:avLst/>
          </a:prstGeom>
          <a:noFill/>
        </p:spPr>
        <p:txBody>
          <a:bodyPr wrap="square" rtlCol="0">
            <a:spAutoFit/>
          </a:bodyPr>
          <a:lstStyle/>
          <a:p>
            <a:pPr algn="just"/>
            <a:r>
              <a:rPr lang="zh-CN" altLang="en-US" b="1">
                <a:solidFill>
                  <a:prstClr val="white"/>
                </a:solidFill>
                <a:latin typeface="Arial"/>
                <a:ea typeface="微软雅黑"/>
              </a:rPr>
              <a:t>一  总体思路</a:t>
            </a:r>
            <a:endParaRPr lang="zh-CN" altLang="en-US" b="1" dirty="0">
              <a:solidFill>
                <a:prstClr val="white"/>
              </a:solidFill>
              <a:latin typeface="Arial"/>
              <a:ea typeface="微软雅黑"/>
            </a:endParaRPr>
          </a:p>
        </p:txBody>
      </p:sp>
      <p:sp>
        <p:nvSpPr>
          <p:cNvPr id="62" name="文本框 14">
            <a:extLst>
              <a:ext uri="{FF2B5EF4-FFF2-40B4-BE49-F238E27FC236}">
                <a16:creationId xmlns:a16="http://schemas.microsoft.com/office/drawing/2014/main" id="{01295CC8-9051-4F29-BE5F-862F7285D79B}"/>
              </a:ext>
            </a:extLst>
          </p:cNvPr>
          <p:cNvSpPr txBox="1"/>
          <p:nvPr/>
        </p:nvSpPr>
        <p:spPr>
          <a:xfrm>
            <a:off x="2642427" y="1107051"/>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二  课程体系实施</a:t>
            </a:r>
            <a:endParaRPr lang="zh-CN" altLang="en-US" b="1" dirty="0">
              <a:solidFill>
                <a:prstClr val="white"/>
              </a:solidFill>
              <a:latin typeface="Arial"/>
              <a:ea typeface="微软雅黑"/>
            </a:endParaRPr>
          </a:p>
        </p:txBody>
      </p:sp>
      <p:sp>
        <p:nvSpPr>
          <p:cNvPr id="63" name="文本框 14">
            <a:extLst>
              <a:ext uri="{FF2B5EF4-FFF2-40B4-BE49-F238E27FC236}">
                <a16:creationId xmlns:a16="http://schemas.microsoft.com/office/drawing/2014/main" id="{2BA20346-4551-4329-9F80-52A9F7341053}"/>
              </a:ext>
            </a:extLst>
          </p:cNvPr>
          <p:cNvSpPr txBox="1"/>
          <p:nvPr/>
        </p:nvSpPr>
        <p:spPr>
          <a:xfrm>
            <a:off x="5054466" y="1071284"/>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三  实践体系实施</a:t>
            </a:r>
            <a:endParaRPr lang="zh-CN" altLang="en-US" b="1" dirty="0">
              <a:solidFill>
                <a:prstClr val="white"/>
              </a:solidFill>
              <a:latin typeface="Arial"/>
              <a:ea typeface="微软雅黑"/>
            </a:endParaRPr>
          </a:p>
        </p:txBody>
      </p:sp>
      <p:sp>
        <p:nvSpPr>
          <p:cNvPr id="64" name="文本框 14">
            <a:extLst>
              <a:ext uri="{FF2B5EF4-FFF2-40B4-BE49-F238E27FC236}">
                <a16:creationId xmlns:a16="http://schemas.microsoft.com/office/drawing/2014/main" id="{F60137E4-5743-4FE3-A7AE-1CD5F62EF37A}"/>
              </a:ext>
            </a:extLst>
          </p:cNvPr>
          <p:cNvSpPr txBox="1"/>
          <p:nvPr/>
        </p:nvSpPr>
        <p:spPr>
          <a:xfrm>
            <a:off x="7338510" y="1071183"/>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四  导师制与学业指导</a:t>
            </a:r>
            <a:endParaRPr lang="zh-CN" altLang="en-US" b="1" dirty="0">
              <a:solidFill>
                <a:prstClr val="white"/>
              </a:solidFill>
              <a:latin typeface="Arial"/>
              <a:ea typeface="微软雅黑"/>
            </a:endParaRPr>
          </a:p>
        </p:txBody>
      </p:sp>
      <p:sp>
        <p:nvSpPr>
          <p:cNvPr id="65" name="文本框 14">
            <a:extLst>
              <a:ext uri="{FF2B5EF4-FFF2-40B4-BE49-F238E27FC236}">
                <a16:creationId xmlns:a16="http://schemas.microsoft.com/office/drawing/2014/main" id="{0CE9DCE2-5D22-4306-A6F0-AB96F4C87BE1}"/>
              </a:ext>
            </a:extLst>
          </p:cNvPr>
          <p:cNvSpPr txBox="1"/>
          <p:nvPr/>
        </p:nvSpPr>
        <p:spPr>
          <a:xfrm>
            <a:off x="10133884" y="1058701"/>
            <a:ext cx="2058115" cy="369332"/>
          </a:xfrm>
          <a:prstGeom prst="rect">
            <a:avLst/>
          </a:prstGeom>
          <a:noFill/>
        </p:spPr>
        <p:txBody>
          <a:bodyPr wrap="square" rtlCol="0">
            <a:spAutoFit/>
          </a:bodyPr>
          <a:lstStyle/>
          <a:p>
            <a:pPr algn="just"/>
            <a:r>
              <a:rPr lang="zh-CN" altLang="en-US" b="1">
                <a:solidFill>
                  <a:prstClr val="white"/>
                </a:solidFill>
                <a:latin typeface="Arial"/>
                <a:ea typeface="微软雅黑"/>
              </a:rPr>
              <a:t>五  保障机制</a:t>
            </a:r>
            <a:endParaRPr lang="zh-CN" altLang="en-US" b="1" dirty="0">
              <a:solidFill>
                <a:prstClr val="white"/>
              </a:solidFill>
              <a:latin typeface="Arial"/>
              <a:ea typeface="微软雅黑"/>
            </a:endParaRPr>
          </a:p>
        </p:txBody>
      </p:sp>
      <p:pic>
        <p:nvPicPr>
          <p:cNvPr id="3" name="图片 2">
            <a:extLst>
              <a:ext uri="{FF2B5EF4-FFF2-40B4-BE49-F238E27FC236}">
                <a16:creationId xmlns:a16="http://schemas.microsoft.com/office/drawing/2014/main" id="{099017A2-FDC6-4E96-9EC6-7DB319789251}"/>
              </a:ext>
            </a:extLst>
          </p:cNvPr>
          <p:cNvPicPr>
            <a:picLocks noChangeAspect="1"/>
          </p:cNvPicPr>
          <p:nvPr/>
        </p:nvPicPr>
        <p:blipFill>
          <a:blip r:embed="rId5"/>
          <a:stretch>
            <a:fillRect/>
          </a:stretch>
        </p:blipFill>
        <p:spPr>
          <a:xfrm>
            <a:off x="7897365" y="2245177"/>
            <a:ext cx="3283207" cy="4377609"/>
          </a:xfrm>
          <a:prstGeom prst="rect">
            <a:avLst/>
          </a:prstGeom>
        </p:spPr>
      </p:pic>
      <p:sp>
        <p:nvSpPr>
          <p:cNvPr id="4" name="箭头: 右 3">
            <a:extLst>
              <a:ext uri="{FF2B5EF4-FFF2-40B4-BE49-F238E27FC236}">
                <a16:creationId xmlns:a16="http://schemas.microsoft.com/office/drawing/2014/main" id="{39F6A5E5-4788-42DB-A557-E94D24631C74}"/>
              </a:ext>
            </a:extLst>
          </p:cNvPr>
          <p:cNvSpPr/>
          <p:nvPr/>
        </p:nvSpPr>
        <p:spPr>
          <a:xfrm>
            <a:off x="5349477" y="3124200"/>
            <a:ext cx="668290" cy="373501"/>
          </a:xfrm>
          <a:prstGeom prst="rightArrow">
            <a:avLst/>
          </a:prstGeom>
          <a:solidFill>
            <a:srgbClr val="1F487C"/>
          </a:solidFill>
          <a:ln>
            <a:solidFill>
              <a:srgbClr val="1F48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箭头: 右 47">
            <a:extLst>
              <a:ext uri="{FF2B5EF4-FFF2-40B4-BE49-F238E27FC236}">
                <a16:creationId xmlns:a16="http://schemas.microsoft.com/office/drawing/2014/main" id="{13D0CC38-8D2A-4966-8EB0-F90E2D19A938}"/>
              </a:ext>
            </a:extLst>
          </p:cNvPr>
          <p:cNvSpPr/>
          <p:nvPr/>
        </p:nvSpPr>
        <p:spPr>
          <a:xfrm>
            <a:off x="5378881" y="5417902"/>
            <a:ext cx="668290" cy="373501"/>
          </a:xfrm>
          <a:prstGeom prst="rightArrow">
            <a:avLst/>
          </a:prstGeom>
          <a:solidFill>
            <a:srgbClr val="1F487C"/>
          </a:solidFill>
          <a:ln>
            <a:solidFill>
              <a:srgbClr val="1F48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765068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a:extLst>
              <a:ext uri="{FF2B5EF4-FFF2-40B4-BE49-F238E27FC236}">
                <a16:creationId xmlns:a16="http://schemas.microsoft.com/office/drawing/2014/main" id="{39AF018C-BD1E-4D1C-A575-89BC7165FB5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189341" y="28710"/>
            <a:ext cx="881729" cy="881729"/>
          </a:xfrm>
          <a:prstGeom prst="rect">
            <a:avLst/>
          </a:prstGeom>
        </p:spPr>
      </p:pic>
      <p:pic>
        <p:nvPicPr>
          <p:cNvPr id="24" name="图片 23">
            <a:extLst>
              <a:ext uri="{FF2B5EF4-FFF2-40B4-BE49-F238E27FC236}">
                <a16:creationId xmlns:a16="http://schemas.microsoft.com/office/drawing/2014/main" id="{118A43A9-C67F-4CB1-B9F4-63E761CBC2D0}"/>
              </a:ext>
            </a:extLst>
          </p:cNvPr>
          <p:cNvPicPr>
            <a:picLocks noChangeAspect="1"/>
          </p:cNvPicPr>
          <p:nvPr/>
        </p:nvPicPr>
        <p:blipFill>
          <a:blip r:embed="rId4" cstate="print">
            <a:extLst>
              <a:ext uri="{28A0092B-C50C-407E-A947-70E740481C1C}">
                <a14:useLocalDpi xmlns:a14="http://schemas.microsoft.com/office/drawing/2010/main" val="0"/>
              </a:ext>
            </a:extLst>
          </a:blip>
          <a:srcRect l="1133" r="1133"/>
          <a:stretch/>
        </p:blipFill>
        <p:spPr>
          <a:xfrm>
            <a:off x="274100" y="75737"/>
            <a:ext cx="802225" cy="806727"/>
          </a:xfrm>
          <a:prstGeom prst="rect">
            <a:avLst/>
          </a:prstGeom>
        </p:spPr>
      </p:pic>
      <p:sp>
        <p:nvSpPr>
          <p:cNvPr id="25" name="文本框 24">
            <a:extLst>
              <a:ext uri="{FF2B5EF4-FFF2-40B4-BE49-F238E27FC236}">
                <a16:creationId xmlns:a16="http://schemas.microsoft.com/office/drawing/2014/main" id="{D2B29A73-493F-45ED-A593-8D7573299A30}"/>
              </a:ext>
            </a:extLst>
          </p:cNvPr>
          <p:cNvSpPr txBox="1"/>
          <p:nvPr/>
        </p:nvSpPr>
        <p:spPr>
          <a:xfrm>
            <a:off x="6313868" y="337344"/>
            <a:ext cx="6157730" cy="406971"/>
          </a:xfrm>
          <a:prstGeom prst="rect">
            <a:avLst/>
          </a:prstGeom>
          <a:noFill/>
        </p:spPr>
        <p:txBody>
          <a:bodyPr wrap="square">
            <a:spAutoFit/>
          </a:bodyPr>
          <a:lstStyle/>
          <a:p>
            <a:pPr algn="ctr" defTabSz="342900">
              <a:lnSpc>
                <a:spcPct val="125000"/>
              </a:lnSpc>
            </a:pPr>
            <a:endParaRPr lang="en-US" altLang="zh-CN" b="1">
              <a:latin typeface="微软雅黑" pitchFamily="34" charset="-122"/>
              <a:ea typeface="微软雅黑" pitchFamily="34" charset="-122"/>
              <a:cs typeface="Calibri" charset="0"/>
            </a:endParaRPr>
          </a:p>
        </p:txBody>
      </p:sp>
      <p:sp>
        <p:nvSpPr>
          <p:cNvPr id="26" name="文本框 11">
            <a:extLst>
              <a:ext uri="{FF2B5EF4-FFF2-40B4-BE49-F238E27FC236}">
                <a16:creationId xmlns:a16="http://schemas.microsoft.com/office/drawing/2014/main" id="{D7D3FDA0-EE55-4DA0-9A6C-9EE877927692}"/>
              </a:ext>
            </a:extLst>
          </p:cNvPr>
          <p:cNvSpPr txBox="1"/>
          <p:nvPr/>
        </p:nvSpPr>
        <p:spPr>
          <a:xfrm>
            <a:off x="1975284" y="1632283"/>
            <a:ext cx="498855"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400" b="0"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rPr>
              <a:t>1</a:t>
            </a:r>
            <a:endParaRPr kumimoji="0" lang="zh-CN" altLang="en-US" sz="4400" b="0"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27" name="文本框 12">
            <a:extLst>
              <a:ext uri="{FF2B5EF4-FFF2-40B4-BE49-F238E27FC236}">
                <a16:creationId xmlns:a16="http://schemas.microsoft.com/office/drawing/2014/main" id="{68A62499-6F06-4E26-845E-7CA94DC6CE82}"/>
              </a:ext>
            </a:extLst>
          </p:cNvPr>
          <p:cNvSpPr txBox="1"/>
          <p:nvPr/>
        </p:nvSpPr>
        <p:spPr>
          <a:xfrm>
            <a:off x="359003" y="1760040"/>
            <a:ext cx="4955203" cy="461665"/>
          </a:xfrm>
          <a:prstGeom prst="rect">
            <a:avLst/>
          </a:prstGeom>
          <a:noFill/>
        </p:spPr>
        <p:txBody>
          <a:bodyPr wrap="none" rtlCol="0">
            <a:spAutoFit/>
          </a:bodyPr>
          <a:lstStyle/>
          <a:p>
            <a:pPr marL="457200" marR="0" lvl="0" indent="-457200" algn="l" defTabSz="914400" rtl="0" eaLnBrk="1" fontAlgn="auto" latinLnBrk="0" hangingPunct="1">
              <a:lnSpc>
                <a:spcPct val="100000"/>
              </a:lnSpc>
              <a:spcBef>
                <a:spcPts val="0"/>
              </a:spcBef>
              <a:spcAft>
                <a:spcPts val="0"/>
              </a:spcAft>
              <a:buClr>
                <a:srgbClr val="C00000"/>
              </a:buClr>
              <a:buSzTx/>
              <a:buFont typeface="Wingdings" panose="05000000000000000000" pitchFamily="2" charset="2"/>
              <a:buChar char="p"/>
              <a:tabLst/>
              <a:defRPr/>
            </a:pPr>
            <a:r>
              <a:rPr lang="zh-CN" altLang="en-US" sz="2400" b="1" kern="0" dirty="0">
                <a:solidFill>
                  <a:srgbClr val="004E86"/>
                </a:solidFill>
                <a:latin typeface="微软雅黑" panose="020B0503020204020204" pitchFamily="34" charset="-122"/>
                <a:ea typeface="微软雅黑" panose="020B0503020204020204" pitchFamily="34" charset="-122"/>
              </a:rPr>
              <a:t>六项机制协同支撑项目长效运行</a:t>
            </a:r>
          </a:p>
        </p:txBody>
      </p:sp>
      <p:sp>
        <p:nvSpPr>
          <p:cNvPr id="18" name="文本框 17">
            <a:extLst>
              <a:ext uri="{FF2B5EF4-FFF2-40B4-BE49-F238E27FC236}">
                <a16:creationId xmlns:a16="http://schemas.microsoft.com/office/drawing/2014/main" id="{4C0D621A-BA30-4D0D-AE75-F1251D29CFDC}"/>
              </a:ext>
            </a:extLst>
          </p:cNvPr>
          <p:cNvSpPr txBox="1"/>
          <p:nvPr/>
        </p:nvSpPr>
        <p:spPr>
          <a:xfrm>
            <a:off x="6269498" y="489744"/>
            <a:ext cx="6157730" cy="406971"/>
          </a:xfrm>
          <a:prstGeom prst="rect">
            <a:avLst/>
          </a:prstGeom>
          <a:noFill/>
        </p:spPr>
        <p:txBody>
          <a:bodyPr wrap="square">
            <a:spAutoFit/>
          </a:bodyPr>
          <a:lstStyle/>
          <a:p>
            <a:pPr algn="ctr" defTabSz="342900">
              <a:lnSpc>
                <a:spcPct val="125000"/>
              </a:lnSpc>
            </a:pPr>
            <a:r>
              <a:rPr lang="zh-CN" altLang="en-US" b="1">
                <a:latin typeface="微软雅黑" pitchFamily="34" charset="-122"/>
                <a:ea typeface="微软雅黑" pitchFamily="34" charset="-122"/>
                <a:cs typeface="Calibri" charset="0"/>
              </a:rPr>
              <a:t>“教育学</a:t>
            </a:r>
            <a:r>
              <a:rPr lang="en-US" altLang="zh-CN" b="1">
                <a:latin typeface="微软雅黑" pitchFamily="34" charset="-122"/>
                <a:ea typeface="微软雅黑" pitchFamily="34" charset="-122"/>
                <a:cs typeface="Calibri" charset="0"/>
              </a:rPr>
              <a:t>+</a:t>
            </a:r>
            <a:r>
              <a:rPr lang="zh-CN" altLang="en-US" b="1">
                <a:latin typeface="微软雅黑" pitchFamily="34" charset="-122"/>
                <a:ea typeface="微软雅黑" pitchFamily="34" charset="-122"/>
                <a:cs typeface="Calibri" charset="0"/>
              </a:rPr>
              <a:t>人工智能”双学士学位复合型人才培养项目</a:t>
            </a:r>
            <a:endParaRPr lang="en-US" altLang="zh-CN" b="1">
              <a:latin typeface="微软雅黑" pitchFamily="34" charset="-122"/>
              <a:ea typeface="微软雅黑" pitchFamily="34" charset="-122"/>
              <a:cs typeface="Calibri" charset="0"/>
            </a:endParaRPr>
          </a:p>
        </p:txBody>
      </p:sp>
      <p:sp>
        <p:nvSpPr>
          <p:cNvPr id="55" name="矩形 54">
            <a:extLst>
              <a:ext uri="{FF2B5EF4-FFF2-40B4-BE49-F238E27FC236}">
                <a16:creationId xmlns:a16="http://schemas.microsoft.com/office/drawing/2014/main" id="{574A9C4A-E406-4B98-87FF-11A98C487F37}"/>
              </a:ext>
            </a:extLst>
          </p:cNvPr>
          <p:cNvSpPr/>
          <p:nvPr/>
        </p:nvSpPr>
        <p:spPr>
          <a:xfrm>
            <a:off x="0" y="924560"/>
            <a:ext cx="12192000" cy="665627"/>
          </a:xfrm>
          <a:prstGeom prst="rect">
            <a:avLst/>
          </a:prstGeom>
          <a:solidFill>
            <a:srgbClr val="4472C4">
              <a:lumMod val="50000"/>
            </a:srgbClr>
          </a:solidFill>
          <a:ln w="12700" cap="flat" cmpd="sng" algn="ctr">
            <a:solidFill>
              <a:srgbClr val="4472C4">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a:ea typeface="微软雅黑"/>
              <a:cs typeface="+mn-cs"/>
            </a:endParaRPr>
          </a:p>
        </p:txBody>
      </p:sp>
      <p:sp>
        <p:nvSpPr>
          <p:cNvPr id="60" name="矩形 59">
            <a:extLst>
              <a:ext uri="{FF2B5EF4-FFF2-40B4-BE49-F238E27FC236}">
                <a16:creationId xmlns:a16="http://schemas.microsoft.com/office/drawing/2014/main" id="{B6EAB9E8-68EA-4C2A-AB92-6FCD1CE25A17}"/>
              </a:ext>
            </a:extLst>
          </p:cNvPr>
          <p:cNvSpPr/>
          <p:nvPr/>
        </p:nvSpPr>
        <p:spPr>
          <a:xfrm>
            <a:off x="9837930" y="924560"/>
            <a:ext cx="2354070" cy="665627"/>
          </a:xfrm>
          <a:prstGeom prst="rect">
            <a:avLst/>
          </a:prstGeom>
          <a:solidFill>
            <a:srgbClr val="FF9900"/>
          </a:solidFill>
          <a:ln w="12700" cap="flat" cmpd="sng" algn="ctr">
            <a:solidFill>
              <a:srgbClr val="FF99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Arial"/>
              <a:ea typeface="微软雅黑"/>
              <a:cs typeface="+mn-cs"/>
            </a:endParaRPr>
          </a:p>
        </p:txBody>
      </p:sp>
      <p:sp>
        <p:nvSpPr>
          <p:cNvPr id="61" name="文本框 14">
            <a:extLst>
              <a:ext uri="{FF2B5EF4-FFF2-40B4-BE49-F238E27FC236}">
                <a16:creationId xmlns:a16="http://schemas.microsoft.com/office/drawing/2014/main" id="{2C0D0049-C91F-4DBC-B5BF-F125C4D5BAD8}"/>
              </a:ext>
            </a:extLst>
          </p:cNvPr>
          <p:cNvSpPr txBox="1"/>
          <p:nvPr/>
        </p:nvSpPr>
        <p:spPr>
          <a:xfrm>
            <a:off x="359003" y="1107051"/>
            <a:ext cx="1793840" cy="369332"/>
          </a:xfrm>
          <a:prstGeom prst="rect">
            <a:avLst/>
          </a:prstGeom>
          <a:noFill/>
        </p:spPr>
        <p:txBody>
          <a:bodyPr wrap="square" rtlCol="0">
            <a:spAutoFit/>
          </a:bodyPr>
          <a:lstStyle/>
          <a:p>
            <a:pPr algn="just"/>
            <a:r>
              <a:rPr lang="zh-CN" altLang="en-US" b="1">
                <a:solidFill>
                  <a:prstClr val="white"/>
                </a:solidFill>
                <a:latin typeface="Arial"/>
                <a:ea typeface="微软雅黑"/>
              </a:rPr>
              <a:t>一  总体思路</a:t>
            </a:r>
            <a:endParaRPr lang="zh-CN" altLang="en-US" b="1" dirty="0">
              <a:solidFill>
                <a:prstClr val="white"/>
              </a:solidFill>
              <a:latin typeface="Arial"/>
              <a:ea typeface="微软雅黑"/>
            </a:endParaRPr>
          </a:p>
        </p:txBody>
      </p:sp>
      <p:sp>
        <p:nvSpPr>
          <p:cNvPr id="62" name="文本框 14">
            <a:extLst>
              <a:ext uri="{FF2B5EF4-FFF2-40B4-BE49-F238E27FC236}">
                <a16:creationId xmlns:a16="http://schemas.microsoft.com/office/drawing/2014/main" id="{01295CC8-9051-4F29-BE5F-862F7285D79B}"/>
              </a:ext>
            </a:extLst>
          </p:cNvPr>
          <p:cNvSpPr txBox="1"/>
          <p:nvPr/>
        </p:nvSpPr>
        <p:spPr>
          <a:xfrm>
            <a:off x="2642427" y="1107051"/>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二  课程体系实施</a:t>
            </a:r>
            <a:endParaRPr lang="zh-CN" altLang="en-US" b="1" dirty="0">
              <a:solidFill>
                <a:prstClr val="white"/>
              </a:solidFill>
              <a:latin typeface="Arial"/>
              <a:ea typeface="微软雅黑"/>
            </a:endParaRPr>
          </a:p>
        </p:txBody>
      </p:sp>
      <p:sp>
        <p:nvSpPr>
          <p:cNvPr id="63" name="文本框 14">
            <a:extLst>
              <a:ext uri="{FF2B5EF4-FFF2-40B4-BE49-F238E27FC236}">
                <a16:creationId xmlns:a16="http://schemas.microsoft.com/office/drawing/2014/main" id="{2BA20346-4551-4329-9F80-52A9F7341053}"/>
              </a:ext>
            </a:extLst>
          </p:cNvPr>
          <p:cNvSpPr txBox="1"/>
          <p:nvPr/>
        </p:nvSpPr>
        <p:spPr>
          <a:xfrm>
            <a:off x="5054466" y="1071284"/>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三  实践体系实施</a:t>
            </a:r>
            <a:endParaRPr lang="zh-CN" altLang="en-US" b="1" dirty="0">
              <a:solidFill>
                <a:prstClr val="white"/>
              </a:solidFill>
              <a:latin typeface="Arial"/>
              <a:ea typeface="微软雅黑"/>
            </a:endParaRPr>
          </a:p>
        </p:txBody>
      </p:sp>
      <p:sp>
        <p:nvSpPr>
          <p:cNvPr id="64" name="文本框 14">
            <a:extLst>
              <a:ext uri="{FF2B5EF4-FFF2-40B4-BE49-F238E27FC236}">
                <a16:creationId xmlns:a16="http://schemas.microsoft.com/office/drawing/2014/main" id="{F60137E4-5743-4FE3-A7AE-1CD5F62EF37A}"/>
              </a:ext>
            </a:extLst>
          </p:cNvPr>
          <p:cNvSpPr txBox="1"/>
          <p:nvPr/>
        </p:nvSpPr>
        <p:spPr>
          <a:xfrm>
            <a:off x="7338510" y="1071183"/>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四  导师制与学业指导</a:t>
            </a:r>
            <a:endParaRPr lang="zh-CN" altLang="en-US" b="1" dirty="0">
              <a:solidFill>
                <a:prstClr val="white"/>
              </a:solidFill>
              <a:latin typeface="Arial"/>
              <a:ea typeface="微软雅黑"/>
            </a:endParaRPr>
          </a:p>
        </p:txBody>
      </p:sp>
      <p:sp>
        <p:nvSpPr>
          <p:cNvPr id="65" name="文本框 14">
            <a:extLst>
              <a:ext uri="{FF2B5EF4-FFF2-40B4-BE49-F238E27FC236}">
                <a16:creationId xmlns:a16="http://schemas.microsoft.com/office/drawing/2014/main" id="{0CE9DCE2-5D22-4306-A6F0-AB96F4C87BE1}"/>
              </a:ext>
            </a:extLst>
          </p:cNvPr>
          <p:cNvSpPr txBox="1"/>
          <p:nvPr/>
        </p:nvSpPr>
        <p:spPr>
          <a:xfrm>
            <a:off x="10133884" y="1058701"/>
            <a:ext cx="2058115" cy="369332"/>
          </a:xfrm>
          <a:prstGeom prst="rect">
            <a:avLst/>
          </a:prstGeom>
          <a:noFill/>
        </p:spPr>
        <p:txBody>
          <a:bodyPr wrap="square" rtlCol="0">
            <a:spAutoFit/>
          </a:bodyPr>
          <a:lstStyle/>
          <a:p>
            <a:pPr algn="just"/>
            <a:r>
              <a:rPr lang="zh-CN" altLang="en-US" b="1">
                <a:solidFill>
                  <a:prstClr val="white"/>
                </a:solidFill>
                <a:latin typeface="Arial"/>
                <a:ea typeface="微软雅黑"/>
              </a:rPr>
              <a:t>五  保障机制</a:t>
            </a:r>
            <a:endParaRPr lang="zh-CN" altLang="en-US" b="1" dirty="0">
              <a:solidFill>
                <a:prstClr val="white"/>
              </a:solidFill>
              <a:latin typeface="Arial"/>
              <a:ea typeface="微软雅黑"/>
            </a:endParaRPr>
          </a:p>
        </p:txBody>
      </p:sp>
      <p:sp>
        <p:nvSpPr>
          <p:cNvPr id="77" name="Shape">
            <a:extLst>
              <a:ext uri="{FF2B5EF4-FFF2-40B4-BE49-F238E27FC236}">
                <a16:creationId xmlns:a16="http://schemas.microsoft.com/office/drawing/2014/main" id="{7907C1C5-F890-4C56-A8C1-4C34841CBC24}"/>
              </a:ext>
            </a:extLst>
          </p:cNvPr>
          <p:cNvSpPr/>
          <p:nvPr/>
        </p:nvSpPr>
        <p:spPr>
          <a:xfrm>
            <a:off x="851678" y="2407357"/>
            <a:ext cx="3246120" cy="1143000"/>
          </a:xfrm>
          <a:prstGeom prst="roundRect">
            <a:avLst/>
          </a:prstGeom>
          <a:solidFill>
            <a:srgbClr val="FFFFFF"/>
          </a:solidFill>
          <a:ln w="12700">
            <a:solidFill>
              <a:srgbClr val="C5282F"/>
            </a:solidFill>
          </a:ln>
        </p:spPr>
        <p:txBody>
          <a:bodyPr/>
          <a:lstStyle/>
          <a:p>
            <a:endParaRPr lang="zh-CN" altLang="en-US"/>
          </a:p>
        </p:txBody>
      </p:sp>
      <p:sp>
        <p:nvSpPr>
          <p:cNvPr id="78" name="Text">
            <a:extLst>
              <a:ext uri="{FF2B5EF4-FFF2-40B4-BE49-F238E27FC236}">
                <a16:creationId xmlns:a16="http://schemas.microsoft.com/office/drawing/2014/main" id="{B55E692E-E85C-4B72-B163-E2E1ADADFD7F}"/>
              </a:ext>
            </a:extLst>
          </p:cNvPr>
          <p:cNvSpPr txBox="1"/>
          <p:nvPr/>
        </p:nvSpPr>
        <p:spPr>
          <a:xfrm>
            <a:off x="1016270" y="2571949"/>
            <a:ext cx="2834640" cy="274320"/>
          </a:xfrm>
          <a:prstGeom prst="rect">
            <a:avLst/>
          </a:prstGeom>
          <a:noFill/>
          <a:ln>
            <a:noFill/>
          </a:ln>
        </p:spPr>
        <p:txBody>
          <a:bodyPr wrap="square" lIns="60000" tIns="40000" rIns="60000" bIns="40000" anchor="t"/>
          <a:lstStyle/>
          <a:p>
            <a:pPr algn="l"/>
            <a:r>
              <a:rPr lang="zh-CN" sz="2000" b="1">
                <a:solidFill>
                  <a:srgbClr val="C5282F"/>
                </a:solidFill>
                <a:latin typeface="Microsoft YaHei"/>
                <a:ea typeface="Microsoft YaHei"/>
                <a:cs typeface="Microsoft YaHei"/>
              </a:rPr>
              <a:t>动态迭代</a:t>
            </a:r>
          </a:p>
        </p:txBody>
      </p:sp>
      <p:sp>
        <p:nvSpPr>
          <p:cNvPr id="79" name="Text">
            <a:extLst>
              <a:ext uri="{FF2B5EF4-FFF2-40B4-BE49-F238E27FC236}">
                <a16:creationId xmlns:a16="http://schemas.microsoft.com/office/drawing/2014/main" id="{1D2AED4A-7B90-4EC9-BE01-5B171557301D}"/>
              </a:ext>
            </a:extLst>
          </p:cNvPr>
          <p:cNvSpPr txBox="1"/>
          <p:nvPr/>
        </p:nvSpPr>
        <p:spPr>
          <a:xfrm>
            <a:off x="1016270" y="3008664"/>
            <a:ext cx="2834640" cy="292608"/>
          </a:xfrm>
          <a:prstGeom prst="rect">
            <a:avLst/>
          </a:prstGeom>
          <a:noFill/>
          <a:ln>
            <a:noFill/>
          </a:ln>
        </p:spPr>
        <p:txBody>
          <a:bodyPr wrap="square" lIns="60000" tIns="40000" rIns="60000" bIns="40000" anchor="t"/>
          <a:lstStyle/>
          <a:p>
            <a:pPr algn="l"/>
            <a:r>
              <a:rPr lang="zh-CN" sz="1200" dirty="0">
                <a:solidFill>
                  <a:srgbClr val="5B677A"/>
                </a:solidFill>
                <a:latin typeface="Microsoft YaHei"/>
                <a:ea typeface="Microsoft YaHei"/>
                <a:cs typeface="Microsoft YaHei"/>
              </a:rPr>
              <a:t>跨学科课程委员会年度更新</a:t>
            </a:r>
          </a:p>
        </p:txBody>
      </p:sp>
      <p:sp>
        <p:nvSpPr>
          <p:cNvPr id="80" name="Shape">
            <a:extLst>
              <a:ext uri="{FF2B5EF4-FFF2-40B4-BE49-F238E27FC236}">
                <a16:creationId xmlns:a16="http://schemas.microsoft.com/office/drawing/2014/main" id="{6793A3E5-A239-4177-87E7-80D4FC9956A0}"/>
              </a:ext>
            </a:extLst>
          </p:cNvPr>
          <p:cNvSpPr/>
          <p:nvPr/>
        </p:nvSpPr>
        <p:spPr>
          <a:xfrm>
            <a:off x="4646438" y="2407357"/>
            <a:ext cx="3246120" cy="1143000"/>
          </a:xfrm>
          <a:prstGeom prst="roundRect">
            <a:avLst/>
          </a:prstGeom>
          <a:solidFill>
            <a:srgbClr val="FFFFFF"/>
          </a:solidFill>
          <a:ln w="12700">
            <a:solidFill>
              <a:srgbClr val="1F6FB2"/>
            </a:solidFill>
          </a:ln>
        </p:spPr>
        <p:txBody>
          <a:bodyPr/>
          <a:lstStyle/>
          <a:p>
            <a:endParaRPr lang="zh-CN" altLang="en-US"/>
          </a:p>
        </p:txBody>
      </p:sp>
      <p:sp>
        <p:nvSpPr>
          <p:cNvPr id="81" name="Text">
            <a:extLst>
              <a:ext uri="{FF2B5EF4-FFF2-40B4-BE49-F238E27FC236}">
                <a16:creationId xmlns:a16="http://schemas.microsoft.com/office/drawing/2014/main" id="{689C6098-0050-4A87-866C-DC4FB649B971}"/>
              </a:ext>
            </a:extLst>
          </p:cNvPr>
          <p:cNvSpPr txBox="1"/>
          <p:nvPr/>
        </p:nvSpPr>
        <p:spPr>
          <a:xfrm>
            <a:off x="4811030" y="2571949"/>
            <a:ext cx="2834640" cy="274320"/>
          </a:xfrm>
          <a:prstGeom prst="rect">
            <a:avLst/>
          </a:prstGeom>
          <a:noFill/>
          <a:ln>
            <a:noFill/>
          </a:ln>
        </p:spPr>
        <p:txBody>
          <a:bodyPr wrap="square" lIns="60000" tIns="40000" rIns="60000" bIns="40000" anchor="t"/>
          <a:lstStyle/>
          <a:p>
            <a:pPr algn="l"/>
            <a:r>
              <a:rPr lang="zh-CN" sz="2000" b="1" dirty="0">
                <a:solidFill>
                  <a:srgbClr val="1F6FB2"/>
                </a:solidFill>
                <a:latin typeface="Microsoft YaHei"/>
                <a:ea typeface="Microsoft YaHei"/>
                <a:cs typeface="Microsoft YaHei"/>
              </a:rPr>
              <a:t>跨界师资</a:t>
            </a:r>
          </a:p>
        </p:txBody>
      </p:sp>
      <p:sp>
        <p:nvSpPr>
          <p:cNvPr id="82" name="Text">
            <a:extLst>
              <a:ext uri="{FF2B5EF4-FFF2-40B4-BE49-F238E27FC236}">
                <a16:creationId xmlns:a16="http://schemas.microsoft.com/office/drawing/2014/main" id="{AF284184-D67F-4FDA-8AB3-7DA55F447F0C}"/>
              </a:ext>
            </a:extLst>
          </p:cNvPr>
          <p:cNvSpPr txBox="1"/>
          <p:nvPr/>
        </p:nvSpPr>
        <p:spPr>
          <a:xfrm>
            <a:off x="4811030" y="3008664"/>
            <a:ext cx="2834640" cy="292608"/>
          </a:xfrm>
          <a:prstGeom prst="rect">
            <a:avLst/>
          </a:prstGeom>
          <a:noFill/>
          <a:ln>
            <a:noFill/>
          </a:ln>
        </p:spPr>
        <p:txBody>
          <a:bodyPr wrap="square" lIns="60000" tIns="40000" rIns="60000" bIns="40000" anchor="t"/>
          <a:lstStyle/>
          <a:p>
            <a:pPr algn="l"/>
            <a:r>
              <a:rPr lang="zh-CN" sz="1200" dirty="0">
                <a:solidFill>
                  <a:srgbClr val="5B677A"/>
                </a:solidFill>
                <a:latin typeface="Microsoft YaHei"/>
                <a:ea typeface="Microsoft YaHei"/>
                <a:cs typeface="Microsoft YaHei"/>
              </a:rPr>
              <a:t>教育学者+AI专家+教学名师+企业骨干</a:t>
            </a:r>
          </a:p>
        </p:txBody>
      </p:sp>
      <p:sp>
        <p:nvSpPr>
          <p:cNvPr id="83" name="Shape">
            <a:extLst>
              <a:ext uri="{FF2B5EF4-FFF2-40B4-BE49-F238E27FC236}">
                <a16:creationId xmlns:a16="http://schemas.microsoft.com/office/drawing/2014/main" id="{757C6D3F-6260-4353-A2E3-D9AB5C89CAB1}"/>
              </a:ext>
            </a:extLst>
          </p:cNvPr>
          <p:cNvSpPr/>
          <p:nvPr/>
        </p:nvSpPr>
        <p:spPr>
          <a:xfrm>
            <a:off x="8441198" y="2407357"/>
            <a:ext cx="3246120" cy="1143000"/>
          </a:xfrm>
          <a:prstGeom prst="roundRect">
            <a:avLst/>
          </a:prstGeom>
          <a:solidFill>
            <a:srgbClr val="FFFFFF"/>
          </a:solidFill>
          <a:ln w="12700">
            <a:solidFill>
              <a:srgbClr val="00A6A6"/>
            </a:solidFill>
          </a:ln>
        </p:spPr>
        <p:txBody>
          <a:bodyPr/>
          <a:lstStyle/>
          <a:p>
            <a:endParaRPr lang="zh-CN" altLang="en-US"/>
          </a:p>
        </p:txBody>
      </p:sp>
      <p:sp>
        <p:nvSpPr>
          <p:cNvPr id="84" name="Text">
            <a:extLst>
              <a:ext uri="{FF2B5EF4-FFF2-40B4-BE49-F238E27FC236}">
                <a16:creationId xmlns:a16="http://schemas.microsoft.com/office/drawing/2014/main" id="{D0A32315-8961-4AEA-83C5-1460276F77B4}"/>
              </a:ext>
            </a:extLst>
          </p:cNvPr>
          <p:cNvSpPr txBox="1"/>
          <p:nvPr/>
        </p:nvSpPr>
        <p:spPr>
          <a:xfrm>
            <a:off x="8605790" y="2571949"/>
            <a:ext cx="2834640" cy="274320"/>
          </a:xfrm>
          <a:prstGeom prst="rect">
            <a:avLst/>
          </a:prstGeom>
          <a:noFill/>
          <a:ln>
            <a:noFill/>
          </a:ln>
        </p:spPr>
        <p:txBody>
          <a:bodyPr wrap="square" lIns="60000" tIns="40000" rIns="60000" bIns="40000" anchor="t"/>
          <a:lstStyle/>
          <a:p>
            <a:pPr algn="l"/>
            <a:r>
              <a:rPr lang="zh-CN" sz="2000" b="1" dirty="0">
                <a:solidFill>
                  <a:srgbClr val="00A6A6"/>
                </a:solidFill>
                <a:latin typeface="Microsoft YaHei"/>
                <a:ea typeface="Microsoft YaHei"/>
                <a:cs typeface="Microsoft YaHei"/>
              </a:rPr>
              <a:t>资源保障</a:t>
            </a:r>
          </a:p>
        </p:txBody>
      </p:sp>
      <p:sp>
        <p:nvSpPr>
          <p:cNvPr id="85" name="Text">
            <a:extLst>
              <a:ext uri="{FF2B5EF4-FFF2-40B4-BE49-F238E27FC236}">
                <a16:creationId xmlns:a16="http://schemas.microsoft.com/office/drawing/2014/main" id="{90CE5D08-1664-4AFF-B298-B46E77E56AC0}"/>
              </a:ext>
            </a:extLst>
          </p:cNvPr>
          <p:cNvSpPr txBox="1"/>
          <p:nvPr/>
        </p:nvSpPr>
        <p:spPr>
          <a:xfrm>
            <a:off x="8605790" y="3008664"/>
            <a:ext cx="2834640" cy="292608"/>
          </a:xfrm>
          <a:prstGeom prst="rect">
            <a:avLst/>
          </a:prstGeom>
          <a:noFill/>
          <a:ln>
            <a:noFill/>
          </a:ln>
        </p:spPr>
        <p:txBody>
          <a:bodyPr wrap="square" lIns="60000" tIns="40000" rIns="60000" bIns="40000" anchor="t"/>
          <a:lstStyle/>
          <a:p>
            <a:pPr algn="l"/>
            <a:r>
              <a:rPr lang="zh-CN" sz="1200" dirty="0">
                <a:solidFill>
                  <a:srgbClr val="5B677A"/>
                </a:solidFill>
                <a:latin typeface="Microsoft YaHei"/>
                <a:ea typeface="Microsoft YaHei"/>
                <a:cs typeface="Microsoft YaHei"/>
              </a:rPr>
              <a:t>数智平台+科研反哺+基地共享</a:t>
            </a:r>
          </a:p>
        </p:txBody>
      </p:sp>
      <p:sp>
        <p:nvSpPr>
          <p:cNvPr id="86" name="Shape">
            <a:extLst>
              <a:ext uri="{FF2B5EF4-FFF2-40B4-BE49-F238E27FC236}">
                <a16:creationId xmlns:a16="http://schemas.microsoft.com/office/drawing/2014/main" id="{D655D24E-7FAE-4BA5-AE09-35BC2F54FB5F}"/>
              </a:ext>
            </a:extLst>
          </p:cNvPr>
          <p:cNvSpPr/>
          <p:nvPr/>
        </p:nvSpPr>
        <p:spPr>
          <a:xfrm>
            <a:off x="851678" y="4034989"/>
            <a:ext cx="3246120" cy="1143000"/>
          </a:xfrm>
          <a:prstGeom prst="roundRect">
            <a:avLst/>
          </a:prstGeom>
          <a:solidFill>
            <a:srgbClr val="FFFFFF"/>
          </a:solidFill>
          <a:ln w="12700">
            <a:solidFill>
              <a:srgbClr val="3A8F5C"/>
            </a:solidFill>
          </a:ln>
        </p:spPr>
        <p:txBody>
          <a:bodyPr/>
          <a:lstStyle/>
          <a:p>
            <a:endParaRPr lang="zh-CN" altLang="en-US"/>
          </a:p>
        </p:txBody>
      </p:sp>
      <p:sp>
        <p:nvSpPr>
          <p:cNvPr id="87" name="Text">
            <a:extLst>
              <a:ext uri="{FF2B5EF4-FFF2-40B4-BE49-F238E27FC236}">
                <a16:creationId xmlns:a16="http://schemas.microsoft.com/office/drawing/2014/main" id="{19B0169E-968A-4843-8F7C-4F4A78435A59}"/>
              </a:ext>
            </a:extLst>
          </p:cNvPr>
          <p:cNvSpPr txBox="1"/>
          <p:nvPr/>
        </p:nvSpPr>
        <p:spPr>
          <a:xfrm>
            <a:off x="1016270" y="4199581"/>
            <a:ext cx="2834640" cy="274320"/>
          </a:xfrm>
          <a:prstGeom prst="rect">
            <a:avLst/>
          </a:prstGeom>
          <a:noFill/>
          <a:ln>
            <a:noFill/>
          </a:ln>
        </p:spPr>
        <p:txBody>
          <a:bodyPr wrap="square" lIns="60000" tIns="40000" rIns="60000" bIns="40000" anchor="t"/>
          <a:lstStyle/>
          <a:p>
            <a:pPr algn="l"/>
            <a:r>
              <a:rPr lang="zh-CN" sz="2000" b="1">
                <a:solidFill>
                  <a:srgbClr val="3A8F5C"/>
                </a:solidFill>
                <a:latin typeface="Microsoft YaHei"/>
                <a:ea typeface="Microsoft YaHei"/>
                <a:cs typeface="Microsoft YaHei"/>
              </a:rPr>
              <a:t>质量监控</a:t>
            </a:r>
          </a:p>
        </p:txBody>
      </p:sp>
      <p:sp>
        <p:nvSpPr>
          <p:cNvPr id="88" name="Text">
            <a:extLst>
              <a:ext uri="{FF2B5EF4-FFF2-40B4-BE49-F238E27FC236}">
                <a16:creationId xmlns:a16="http://schemas.microsoft.com/office/drawing/2014/main" id="{73529BB1-AB46-438B-941D-C9C714042720}"/>
              </a:ext>
            </a:extLst>
          </p:cNvPr>
          <p:cNvSpPr txBox="1"/>
          <p:nvPr/>
        </p:nvSpPr>
        <p:spPr>
          <a:xfrm>
            <a:off x="1016270" y="4636296"/>
            <a:ext cx="2834640" cy="292608"/>
          </a:xfrm>
          <a:prstGeom prst="rect">
            <a:avLst/>
          </a:prstGeom>
          <a:noFill/>
          <a:ln>
            <a:noFill/>
          </a:ln>
        </p:spPr>
        <p:txBody>
          <a:bodyPr wrap="square" lIns="60000" tIns="40000" rIns="60000" bIns="40000" anchor="t"/>
          <a:lstStyle/>
          <a:p>
            <a:pPr algn="l"/>
            <a:r>
              <a:rPr lang="zh-CN" sz="1200" dirty="0">
                <a:solidFill>
                  <a:srgbClr val="5B677A"/>
                </a:solidFill>
                <a:latin typeface="Microsoft YaHei"/>
                <a:ea typeface="Microsoft YaHei"/>
                <a:cs typeface="Microsoft YaHei"/>
              </a:rPr>
              <a:t>督导、评价、毕业设计双把关</a:t>
            </a:r>
          </a:p>
        </p:txBody>
      </p:sp>
      <p:sp>
        <p:nvSpPr>
          <p:cNvPr id="89" name="Shape">
            <a:extLst>
              <a:ext uri="{FF2B5EF4-FFF2-40B4-BE49-F238E27FC236}">
                <a16:creationId xmlns:a16="http://schemas.microsoft.com/office/drawing/2014/main" id="{2EE0FA7B-EDFD-4DBE-9628-F7C183213EB4}"/>
              </a:ext>
            </a:extLst>
          </p:cNvPr>
          <p:cNvSpPr/>
          <p:nvPr/>
        </p:nvSpPr>
        <p:spPr>
          <a:xfrm>
            <a:off x="4646438" y="4034989"/>
            <a:ext cx="3246120" cy="1143000"/>
          </a:xfrm>
          <a:prstGeom prst="roundRect">
            <a:avLst/>
          </a:prstGeom>
          <a:solidFill>
            <a:srgbClr val="FFFFFF"/>
          </a:solidFill>
          <a:ln w="12700">
            <a:solidFill>
              <a:srgbClr val="D9A441"/>
            </a:solidFill>
          </a:ln>
        </p:spPr>
        <p:txBody>
          <a:bodyPr/>
          <a:lstStyle/>
          <a:p>
            <a:endParaRPr lang="zh-CN" altLang="en-US"/>
          </a:p>
        </p:txBody>
      </p:sp>
      <p:sp>
        <p:nvSpPr>
          <p:cNvPr id="90" name="Text">
            <a:extLst>
              <a:ext uri="{FF2B5EF4-FFF2-40B4-BE49-F238E27FC236}">
                <a16:creationId xmlns:a16="http://schemas.microsoft.com/office/drawing/2014/main" id="{A5413E88-8FD4-4F19-BDD1-133B0B116B21}"/>
              </a:ext>
            </a:extLst>
          </p:cNvPr>
          <p:cNvSpPr txBox="1"/>
          <p:nvPr/>
        </p:nvSpPr>
        <p:spPr>
          <a:xfrm>
            <a:off x="4811030" y="4199581"/>
            <a:ext cx="2834640" cy="274320"/>
          </a:xfrm>
          <a:prstGeom prst="rect">
            <a:avLst/>
          </a:prstGeom>
          <a:noFill/>
          <a:ln>
            <a:noFill/>
          </a:ln>
        </p:spPr>
        <p:txBody>
          <a:bodyPr wrap="square" lIns="60000" tIns="40000" rIns="60000" bIns="40000" anchor="t"/>
          <a:lstStyle/>
          <a:p>
            <a:pPr algn="l"/>
            <a:r>
              <a:rPr lang="zh-CN" sz="2000" b="1">
                <a:solidFill>
                  <a:srgbClr val="D9A441"/>
                </a:solidFill>
                <a:latin typeface="Microsoft YaHei"/>
                <a:ea typeface="Microsoft YaHei"/>
                <a:cs typeface="Microsoft YaHei"/>
              </a:rPr>
              <a:t>平台支撑</a:t>
            </a:r>
          </a:p>
        </p:txBody>
      </p:sp>
      <p:sp>
        <p:nvSpPr>
          <p:cNvPr id="91" name="Text">
            <a:extLst>
              <a:ext uri="{FF2B5EF4-FFF2-40B4-BE49-F238E27FC236}">
                <a16:creationId xmlns:a16="http://schemas.microsoft.com/office/drawing/2014/main" id="{C61E21AB-EF60-4687-B5FC-EA413E0830E7}"/>
              </a:ext>
            </a:extLst>
          </p:cNvPr>
          <p:cNvSpPr txBox="1"/>
          <p:nvPr/>
        </p:nvSpPr>
        <p:spPr>
          <a:xfrm>
            <a:off x="4811030" y="4636296"/>
            <a:ext cx="2834640" cy="292608"/>
          </a:xfrm>
          <a:prstGeom prst="rect">
            <a:avLst/>
          </a:prstGeom>
          <a:noFill/>
          <a:ln>
            <a:noFill/>
          </a:ln>
        </p:spPr>
        <p:txBody>
          <a:bodyPr wrap="square" lIns="60000" tIns="40000" rIns="60000" bIns="40000" anchor="t"/>
          <a:lstStyle/>
          <a:p>
            <a:pPr algn="l"/>
            <a:r>
              <a:rPr lang="zh-CN" sz="1200" dirty="0">
                <a:solidFill>
                  <a:srgbClr val="5B677A"/>
                </a:solidFill>
                <a:latin typeface="Microsoft YaHei"/>
                <a:ea typeface="Microsoft YaHei"/>
                <a:cs typeface="Microsoft YaHei"/>
              </a:rPr>
              <a:t>国优计划平台+校外协同</a:t>
            </a:r>
          </a:p>
        </p:txBody>
      </p:sp>
      <p:sp>
        <p:nvSpPr>
          <p:cNvPr id="92" name="Shape">
            <a:extLst>
              <a:ext uri="{FF2B5EF4-FFF2-40B4-BE49-F238E27FC236}">
                <a16:creationId xmlns:a16="http://schemas.microsoft.com/office/drawing/2014/main" id="{491DDECB-441C-4DBF-9BB6-94397292F2A2}"/>
              </a:ext>
            </a:extLst>
          </p:cNvPr>
          <p:cNvSpPr/>
          <p:nvPr/>
        </p:nvSpPr>
        <p:spPr>
          <a:xfrm>
            <a:off x="8441198" y="4034989"/>
            <a:ext cx="3246120" cy="1143000"/>
          </a:xfrm>
          <a:prstGeom prst="roundRect">
            <a:avLst/>
          </a:prstGeom>
          <a:solidFill>
            <a:srgbClr val="FFFFFF"/>
          </a:solidFill>
          <a:ln w="12700">
            <a:solidFill>
              <a:srgbClr val="15385B"/>
            </a:solidFill>
          </a:ln>
        </p:spPr>
        <p:txBody>
          <a:bodyPr/>
          <a:lstStyle/>
          <a:p>
            <a:endParaRPr lang="zh-CN" altLang="en-US"/>
          </a:p>
        </p:txBody>
      </p:sp>
      <p:sp>
        <p:nvSpPr>
          <p:cNvPr id="93" name="Text">
            <a:extLst>
              <a:ext uri="{FF2B5EF4-FFF2-40B4-BE49-F238E27FC236}">
                <a16:creationId xmlns:a16="http://schemas.microsoft.com/office/drawing/2014/main" id="{072BC858-2104-43F7-A63F-0EB7E1D4E803}"/>
              </a:ext>
            </a:extLst>
          </p:cNvPr>
          <p:cNvSpPr txBox="1"/>
          <p:nvPr/>
        </p:nvSpPr>
        <p:spPr>
          <a:xfrm>
            <a:off x="8605790" y="4199581"/>
            <a:ext cx="2834640" cy="274320"/>
          </a:xfrm>
          <a:prstGeom prst="rect">
            <a:avLst/>
          </a:prstGeom>
          <a:noFill/>
          <a:ln>
            <a:noFill/>
          </a:ln>
        </p:spPr>
        <p:txBody>
          <a:bodyPr wrap="square" lIns="60000" tIns="40000" rIns="60000" bIns="40000" anchor="t"/>
          <a:lstStyle/>
          <a:p>
            <a:pPr algn="l"/>
            <a:r>
              <a:rPr lang="zh-CN" sz="2000" b="1">
                <a:solidFill>
                  <a:srgbClr val="15385B"/>
                </a:solidFill>
                <a:latin typeface="Microsoft YaHei"/>
                <a:ea typeface="Microsoft YaHei"/>
                <a:cs typeface="Microsoft YaHei"/>
              </a:rPr>
              <a:t>协同运行</a:t>
            </a:r>
          </a:p>
        </p:txBody>
      </p:sp>
      <p:sp>
        <p:nvSpPr>
          <p:cNvPr id="94" name="Text">
            <a:extLst>
              <a:ext uri="{FF2B5EF4-FFF2-40B4-BE49-F238E27FC236}">
                <a16:creationId xmlns:a16="http://schemas.microsoft.com/office/drawing/2014/main" id="{634D5534-7252-495A-A454-E32611EF4428}"/>
              </a:ext>
            </a:extLst>
          </p:cNvPr>
          <p:cNvSpPr txBox="1"/>
          <p:nvPr/>
        </p:nvSpPr>
        <p:spPr>
          <a:xfrm>
            <a:off x="8605790" y="4636296"/>
            <a:ext cx="2834640" cy="292608"/>
          </a:xfrm>
          <a:prstGeom prst="rect">
            <a:avLst/>
          </a:prstGeom>
          <a:noFill/>
          <a:ln>
            <a:noFill/>
          </a:ln>
        </p:spPr>
        <p:txBody>
          <a:bodyPr wrap="square" lIns="60000" tIns="40000" rIns="60000" bIns="40000" anchor="t"/>
          <a:lstStyle/>
          <a:p>
            <a:pPr algn="l"/>
            <a:r>
              <a:rPr lang="zh-CN" sz="1200" dirty="0">
                <a:solidFill>
                  <a:srgbClr val="5B677A"/>
                </a:solidFill>
                <a:latin typeface="Microsoft YaHei"/>
                <a:ea typeface="Microsoft YaHei"/>
                <a:cs typeface="Microsoft YaHei"/>
              </a:rPr>
              <a:t>U-G-S-I-E协同与单列支持</a:t>
            </a:r>
          </a:p>
        </p:txBody>
      </p:sp>
      <p:sp>
        <p:nvSpPr>
          <p:cNvPr id="95" name="Text">
            <a:extLst>
              <a:ext uri="{FF2B5EF4-FFF2-40B4-BE49-F238E27FC236}">
                <a16:creationId xmlns:a16="http://schemas.microsoft.com/office/drawing/2014/main" id="{F0F3B266-BB74-4491-B07A-14CD7A64FD6B}"/>
              </a:ext>
            </a:extLst>
          </p:cNvPr>
          <p:cNvSpPr txBox="1"/>
          <p:nvPr/>
        </p:nvSpPr>
        <p:spPr>
          <a:xfrm>
            <a:off x="956565" y="5750949"/>
            <a:ext cx="10058400" cy="329184"/>
          </a:xfrm>
          <a:prstGeom prst="rect">
            <a:avLst/>
          </a:prstGeom>
          <a:noFill/>
          <a:ln>
            <a:noFill/>
          </a:ln>
        </p:spPr>
        <p:txBody>
          <a:bodyPr wrap="square" lIns="60000" tIns="40000" rIns="60000" bIns="40000" anchor="t"/>
          <a:lstStyle/>
          <a:p>
            <a:pPr algn="l"/>
            <a:r>
              <a:rPr lang="zh-CN" b="1" dirty="0">
                <a:solidFill>
                  <a:srgbClr val="1C2530"/>
                </a:solidFill>
                <a:latin typeface="Microsoft YaHei"/>
                <a:ea typeface="Microsoft YaHei"/>
                <a:cs typeface="Microsoft YaHei"/>
              </a:rPr>
              <a:t>保障思路：把“人、课、场、评、机制”纳入同一治理框架，避免项目依赖个别课程或临时资源。</a:t>
            </a:r>
          </a:p>
        </p:txBody>
      </p:sp>
    </p:spTree>
    <p:extLst>
      <p:ext uri="{BB962C8B-B14F-4D97-AF65-F5344CB8AC3E}">
        <p14:creationId xmlns:p14="http://schemas.microsoft.com/office/powerpoint/2010/main" val="10300100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a:extLst>
              <a:ext uri="{FF2B5EF4-FFF2-40B4-BE49-F238E27FC236}">
                <a16:creationId xmlns:a16="http://schemas.microsoft.com/office/drawing/2014/main" id="{39AF018C-BD1E-4D1C-A575-89BC7165FB5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189341" y="28710"/>
            <a:ext cx="881729" cy="881729"/>
          </a:xfrm>
          <a:prstGeom prst="rect">
            <a:avLst/>
          </a:prstGeom>
        </p:spPr>
      </p:pic>
      <p:pic>
        <p:nvPicPr>
          <p:cNvPr id="24" name="图片 23">
            <a:extLst>
              <a:ext uri="{FF2B5EF4-FFF2-40B4-BE49-F238E27FC236}">
                <a16:creationId xmlns:a16="http://schemas.microsoft.com/office/drawing/2014/main" id="{118A43A9-C67F-4CB1-B9F4-63E761CBC2D0}"/>
              </a:ext>
            </a:extLst>
          </p:cNvPr>
          <p:cNvPicPr>
            <a:picLocks noChangeAspect="1"/>
          </p:cNvPicPr>
          <p:nvPr/>
        </p:nvPicPr>
        <p:blipFill>
          <a:blip r:embed="rId4" cstate="print">
            <a:extLst>
              <a:ext uri="{28A0092B-C50C-407E-A947-70E740481C1C}">
                <a14:useLocalDpi xmlns:a14="http://schemas.microsoft.com/office/drawing/2010/main" val="0"/>
              </a:ext>
            </a:extLst>
          </a:blip>
          <a:srcRect l="1133" r="1133"/>
          <a:stretch/>
        </p:blipFill>
        <p:spPr>
          <a:xfrm>
            <a:off x="274100" y="75737"/>
            <a:ext cx="802225" cy="806727"/>
          </a:xfrm>
          <a:prstGeom prst="rect">
            <a:avLst/>
          </a:prstGeom>
        </p:spPr>
      </p:pic>
      <p:sp>
        <p:nvSpPr>
          <p:cNvPr id="25" name="文本框 24">
            <a:extLst>
              <a:ext uri="{FF2B5EF4-FFF2-40B4-BE49-F238E27FC236}">
                <a16:creationId xmlns:a16="http://schemas.microsoft.com/office/drawing/2014/main" id="{D2B29A73-493F-45ED-A593-8D7573299A30}"/>
              </a:ext>
            </a:extLst>
          </p:cNvPr>
          <p:cNvSpPr txBox="1"/>
          <p:nvPr/>
        </p:nvSpPr>
        <p:spPr>
          <a:xfrm>
            <a:off x="6313868" y="337344"/>
            <a:ext cx="6157730" cy="406971"/>
          </a:xfrm>
          <a:prstGeom prst="rect">
            <a:avLst/>
          </a:prstGeom>
          <a:noFill/>
        </p:spPr>
        <p:txBody>
          <a:bodyPr wrap="square">
            <a:spAutoFit/>
          </a:bodyPr>
          <a:lstStyle/>
          <a:p>
            <a:pPr algn="ctr" defTabSz="342900">
              <a:lnSpc>
                <a:spcPct val="125000"/>
              </a:lnSpc>
            </a:pPr>
            <a:endParaRPr lang="en-US" altLang="zh-CN" b="1">
              <a:latin typeface="微软雅黑" pitchFamily="34" charset="-122"/>
              <a:ea typeface="微软雅黑" pitchFamily="34" charset="-122"/>
              <a:cs typeface="Calibri" charset="0"/>
            </a:endParaRPr>
          </a:p>
        </p:txBody>
      </p:sp>
      <p:sp>
        <p:nvSpPr>
          <p:cNvPr id="26" name="文本框 11">
            <a:extLst>
              <a:ext uri="{FF2B5EF4-FFF2-40B4-BE49-F238E27FC236}">
                <a16:creationId xmlns:a16="http://schemas.microsoft.com/office/drawing/2014/main" id="{D7D3FDA0-EE55-4DA0-9A6C-9EE877927692}"/>
              </a:ext>
            </a:extLst>
          </p:cNvPr>
          <p:cNvSpPr txBox="1"/>
          <p:nvPr/>
        </p:nvSpPr>
        <p:spPr>
          <a:xfrm>
            <a:off x="1975284" y="1632283"/>
            <a:ext cx="498855"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400" b="0"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rPr>
              <a:t>1</a:t>
            </a:r>
            <a:endParaRPr kumimoji="0" lang="zh-CN" altLang="en-US" sz="4400" b="0" i="0" u="none" strike="noStrike" kern="1200" cap="none" spc="0" normalizeH="0" baseline="0" noProof="0" dirty="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27" name="文本框 12">
            <a:extLst>
              <a:ext uri="{FF2B5EF4-FFF2-40B4-BE49-F238E27FC236}">
                <a16:creationId xmlns:a16="http://schemas.microsoft.com/office/drawing/2014/main" id="{68A62499-6F06-4E26-845E-7CA94DC6CE82}"/>
              </a:ext>
            </a:extLst>
          </p:cNvPr>
          <p:cNvSpPr txBox="1"/>
          <p:nvPr/>
        </p:nvSpPr>
        <p:spPr>
          <a:xfrm>
            <a:off x="359003" y="1760040"/>
            <a:ext cx="6801862" cy="461665"/>
          </a:xfrm>
          <a:prstGeom prst="rect">
            <a:avLst/>
          </a:prstGeom>
          <a:noFill/>
        </p:spPr>
        <p:txBody>
          <a:bodyPr wrap="none" rtlCol="0">
            <a:spAutoFit/>
          </a:bodyPr>
          <a:lstStyle/>
          <a:p>
            <a:pPr marL="457200" marR="0" lvl="0" indent="-457200" algn="l" defTabSz="914400" rtl="0" eaLnBrk="1" fontAlgn="auto" latinLnBrk="0" hangingPunct="1">
              <a:lnSpc>
                <a:spcPct val="100000"/>
              </a:lnSpc>
              <a:spcBef>
                <a:spcPts val="0"/>
              </a:spcBef>
              <a:spcAft>
                <a:spcPts val="0"/>
              </a:spcAft>
              <a:buClr>
                <a:srgbClr val="C00000"/>
              </a:buClr>
              <a:buSzTx/>
              <a:buFont typeface="Wingdings" panose="05000000000000000000" pitchFamily="2" charset="2"/>
              <a:buChar char="p"/>
              <a:tabLst/>
              <a:defRPr/>
            </a:pPr>
            <a:r>
              <a:rPr lang="zh-CN" altLang="en-US" sz="2400" b="1" kern="0" dirty="0">
                <a:solidFill>
                  <a:srgbClr val="004E86"/>
                </a:solidFill>
                <a:latin typeface="微软雅黑" panose="020B0503020204020204" pitchFamily="34" charset="-122"/>
                <a:ea typeface="微软雅黑" panose="020B0503020204020204" pitchFamily="34" charset="-122"/>
              </a:rPr>
              <a:t>以双学位项目牵引教育学与人工智能深度融合</a:t>
            </a:r>
          </a:p>
        </p:txBody>
      </p:sp>
      <p:sp>
        <p:nvSpPr>
          <p:cNvPr id="18" name="文本框 17">
            <a:extLst>
              <a:ext uri="{FF2B5EF4-FFF2-40B4-BE49-F238E27FC236}">
                <a16:creationId xmlns:a16="http://schemas.microsoft.com/office/drawing/2014/main" id="{4C0D621A-BA30-4D0D-AE75-F1251D29CFDC}"/>
              </a:ext>
            </a:extLst>
          </p:cNvPr>
          <p:cNvSpPr txBox="1"/>
          <p:nvPr/>
        </p:nvSpPr>
        <p:spPr>
          <a:xfrm>
            <a:off x="6269498" y="489744"/>
            <a:ext cx="6157730" cy="406971"/>
          </a:xfrm>
          <a:prstGeom prst="rect">
            <a:avLst/>
          </a:prstGeom>
          <a:noFill/>
        </p:spPr>
        <p:txBody>
          <a:bodyPr wrap="square">
            <a:spAutoFit/>
          </a:bodyPr>
          <a:lstStyle/>
          <a:p>
            <a:pPr algn="ctr" defTabSz="342900">
              <a:lnSpc>
                <a:spcPct val="125000"/>
              </a:lnSpc>
            </a:pPr>
            <a:r>
              <a:rPr lang="zh-CN" altLang="en-US" b="1">
                <a:latin typeface="微软雅黑" pitchFamily="34" charset="-122"/>
                <a:ea typeface="微软雅黑" pitchFamily="34" charset="-122"/>
                <a:cs typeface="Calibri" charset="0"/>
              </a:rPr>
              <a:t>“教育学</a:t>
            </a:r>
            <a:r>
              <a:rPr lang="en-US" altLang="zh-CN" b="1">
                <a:latin typeface="微软雅黑" pitchFamily="34" charset="-122"/>
                <a:ea typeface="微软雅黑" pitchFamily="34" charset="-122"/>
                <a:cs typeface="Calibri" charset="0"/>
              </a:rPr>
              <a:t>+</a:t>
            </a:r>
            <a:r>
              <a:rPr lang="zh-CN" altLang="en-US" b="1">
                <a:latin typeface="微软雅黑" pitchFamily="34" charset="-122"/>
                <a:ea typeface="微软雅黑" pitchFamily="34" charset="-122"/>
                <a:cs typeface="Calibri" charset="0"/>
              </a:rPr>
              <a:t>人工智能”双学士学位复合型人才培养项目</a:t>
            </a:r>
            <a:endParaRPr lang="en-US" altLang="zh-CN" b="1">
              <a:latin typeface="微软雅黑" pitchFamily="34" charset="-122"/>
              <a:ea typeface="微软雅黑" pitchFamily="34" charset="-122"/>
              <a:cs typeface="Calibri" charset="0"/>
            </a:endParaRPr>
          </a:p>
        </p:txBody>
      </p:sp>
      <p:sp>
        <p:nvSpPr>
          <p:cNvPr id="55" name="矩形 54">
            <a:extLst>
              <a:ext uri="{FF2B5EF4-FFF2-40B4-BE49-F238E27FC236}">
                <a16:creationId xmlns:a16="http://schemas.microsoft.com/office/drawing/2014/main" id="{574A9C4A-E406-4B98-87FF-11A98C487F37}"/>
              </a:ext>
            </a:extLst>
          </p:cNvPr>
          <p:cNvSpPr/>
          <p:nvPr/>
        </p:nvSpPr>
        <p:spPr>
          <a:xfrm>
            <a:off x="0" y="924560"/>
            <a:ext cx="12192000" cy="665627"/>
          </a:xfrm>
          <a:prstGeom prst="rect">
            <a:avLst/>
          </a:prstGeom>
          <a:solidFill>
            <a:srgbClr val="4472C4">
              <a:lumMod val="50000"/>
            </a:srgbClr>
          </a:solidFill>
          <a:ln w="12700" cap="flat" cmpd="sng" algn="ctr">
            <a:solidFill>
              <a:srgbClr val="4472C4">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a:ea typeface="微软雅黑"/>
              <a:cs typeface="+mn-cs"/>
            </a:endParaRPr>
          </a:p>
        </p:txBody>
      </p:sp>
      <p:sp>
        <p:nvSpPr>
          <p:cNvPr id="60" name="矩形 59">
            <a:extLst>
              <a:ext uri="{FF2B5EF4-FFF2-40B4-BE49-F238E27FC236}">
                <a16:creationId xmlns:a16="http://schemas.microsoft.com/office/drawing/2014/main" id="{B6EAB9E8-68EA-4C2A-AB92-6FCD1CE25A17}"/>
              </a:ext>
            </a:extLst>
          </p:cNvPr>
          <p:cNvSpPr/>
          <p:nvPr/>
        </p:nvSpPr>
        <p:spPr>
          <a:xfrm>
            <a:off x="9837930" y="924560"/>
            <a:ext cx="2354070" cy="665627"/>
          </a:xfrm>
          <a:prstGeom prst="rect">
            <a:avLst/>
          </a:prstGeom>
          <a:solidFill>
            <a:srgbClr val="FF9900"/>
          </a:solidFill>
          <a:ln w="12700" cap="flat" cmpd="sng" algn="ctr">
            <a:solidFill>
              <a:srgbClr val="FF99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Arial"/>
              <a:ea typeface="微软雅黑"/>
              <a:cs typeface="+mn-cs"/>
            </a:endParaRPr>
          </a:p>
        </p:txBody>
      </p:sp>
      <p:sp>
        <p:nvSpPr>
          <p:cNvPr id="61" name="文本框 14">
            <a:extLst>
              <a:ext uri="{FF2B5EF4-FFF2-40B4-BE49-F238E27FC236}">
                <a16:creationId xmlns:a16="http://schemas.microsoft.com/office/drawing/2014/main" id="{2C0D0049-C91F-4DBC-B5BF-F125C4D5BAD8}"/>
              </a:ext>
            </a:extLst>
          </p:cNvPr>
          <p:cNvSpPr txBox="1"/>
          <p:nvPr/>
        </p:nvSpPr>
        <p:spPr>
          <a:xfrm>
            <a:off x="359003" y="1107051"/>
            <a:ext cx="1793840" cy="369332"/>
          </a:xfrm>
          <a:prstGeom prst="rect">
            <a:avLst/>
          </a:prstGeom>
          <a:noFill/>
        </p:spPr>
        <p:txBody>
          <a:bodyPr wrap="square" rtlCol="0">
            <a:spAutoFit/>
          </a:bodyPr>
          <a:lstStyle/>
          <a:p>
            <a:pPr algn="just"/>
            <a:r>
              <a:rPr lang="zh-CN" altLang="en-US" b="1">
                <a:solidFill>
                  <a:prstClr val="white"/>
                </a:solidFill>
                <a:latin typeface="Arial"/>
                <a:ea typeface="微软雅黑"/>
              </a:rPr>
              <a:t>一  总体思路</a:t>
            </a:r>
            <a:endParaRPr lang="zh-CN" altLang="en-US" b="1" dirty="0">
              <a:solidFill>
                <a:prstClr val="white"/>
              </a:solidFill>
              <a:latin typeface="Arial"/>
              <a:ea typeface="微软雅黑"/>
            </a:endParaRPr>
          </a:p>
        </p:txBody>
      </p:sp>
      <p:sp>
        <p:nvSpPr>
          <p:cNvPr id="62" name="文本框 14">
            <a:extLst>
              <a:ext uri="{FF2B5EF4-FFF2-40B4-BE49-F238E27FC236}">
                <a16:creationId xmlns:a16="http://schemas.microsoft.com/office/drawing/2014/main" id="{01295CC8-9051-4F29-BE5F-862F7285D79B}"/>
              </a:ext>
            </a:extLst>
          </p:cNvPr>
          <p:cNvSpPr txBox="1"/>
          <p:nvPr/>
        </p:nvSpPr>
        <p:spPr>
          <a:xfrm>
            <a:off x="2642427" y="1107051"/>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二  课程体系实施</a:t>
            </a:r>
            <a:endParaRPr lang="zh-CN" altLang="en-US" b="1" dirty="0">
              <a:solidFill>
                <a:prstClr val="white"/>
              </a:solidFill>
              <a:latin typeface="Arial"/>
              <a:ea typeface="微软雅黑"/>
            </a:endParaRPr>
          </a:p>
        </p:txBody>
      </p:sp>
      <p:sp>
        <p:nvSpPr>
          <p:cNvPr id="63" name="文本框 14">
            <a:extLst>
              <a:ext uri="{FF2B5EF4-FFF2-40B4-BE49-F238E27FC236}">
                <a16:creationId xmlns:a16="http://schemas.microsoft.com/office/drawing/2014/main" id="{2BA20346-4551-4329-9F80-52A9F7341053}"/>
              </a:ext>
            </a:extLst>
          </p:cNvPr>
          <p:cNvSpPr txBox="1"/>
          <p:nvPr/>
        </p:nvSpPr>
        <p:spPr>
          <a:xfrm>
            <a:off x="5054466" y="1071284"/>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三  实践体系实施</a:t>
            </a:r>
            <a:endParaRPr lang="zh-CN" altLang="en-US" b="1" dirty="0">
              <a:solidFill>
                <a:prstClr val="white"/>
              </a:solidFill>
              <a:latin typeface="Arial"/>
              <a:ea typeface="微软雅黑"/>
            </a:endParaRPr>
          </a:p>
        </p:txBody>
      </p:sp>
      <p:sp>
        <p:nvSpPr>
          <p:cNvPr id="64" name="文本框 14">
            <a:extLst>
              <a:ext uri="{FF2B5EF4-FFF2-40B4-BE49-F238E27FC236}">
                <a16:creationId xmlns:a16="http://schemas.microsoft.com/office/drawing/2014/main" id="{F60137E4-5743-4FE3-A7AE-1CD5F62EF37A}"/>
              </a:ext>
            </a:extLst>
          </p:cNvPr>
          <p:cNvSpPr txBox="1"/>
          <p:nvPr/>
        </p:nvSpPr>
        <p:spPr>
          <a:xfrm>
            <a:off x="7338510" y="1071183"/>
            <a:ext cx="3049915" cy="369332"/>
          </a:xfrm>
          <a:prstGeom prst="rect">
            <a:avLst/>
          </a:prstGeom>
          <a:noFill/>
        </p:spPr>
        <p:txBody>
          <a:bodyPr wrap="square" rtlCol="0">
            <a:spAutoFit/>
          </a:bodyPr>
          <a:lstStyle/>
          <a:p>
            <a:pPr algn="just"/>
            <a:r>
              <a:rPr lang="zh-CN" altLang="en-US" b="1">
                <a:solidFill>
                  <a:prstClr val="white"/>
                </a:solidFill>
                <a:latin typeface="Arial"/>
                <a:ea typeface="微软雅黑"/>
              </a:rPr>
              <a:t>四  导师制与学业指导</a:t>
            </a:r>
            <a:endParaRPr lang="zh-CN" altLang="en-US" b="1" dirty="0">
              <a:solidFill>
                <a:prstClr val="white"/>
              </a:solidFill>
              <a:latin typeface="Arial"/>
              <a:ea typeface="微软雅黑"/>
            </a:endParaRPr>
          </a:p>
        </p:txBody>
      </p:sp>
      <p:sp>
        <p:nvSpPr>
          <p:cNvPr id="65" name="文本框 14">
            <a:extLst>
              <a:ext uri="{FF2B5EF4-FFF2-40B4-BE49-F238E27FC236}">
                <a16:creationId xmlns:a16="http://schemas.microsoft.com/office/drawing/2014/main" id="{0CE9DCE2-5D22-4306-A6F0-AB96F4C87BE1}"/>
              </a:ext>
            </a:extLst>
          </p:cNvPr>
          <p:cNvSpPr txBox="1"/>
          <p:nvPr/>
        </p:nvSpPr>
        <p:spPr>
          <a:xfrm>
            <a:off x="10133884" y="1058701"/>
            <a:ext cx="2058115" cy="369332"/>
          </a:xfrm>
          <a:prstGeom prst="rect">
            <a:avLst/>
          </a:prstGeom>
          <a:noFill/>
        </p:spPr>
        <p:txBody>
          <a:bodyPr wrap="square" rtlCol="0">
            <a:spAutoFit/>
          </a:bodyPr>
          <a:lstStyle/>
          <a:p>
            <a:pPr algn="just"/>
            <a:r>
              <a:rPr lang="zh-CN" altLang="en-US" b="1">
                <a:solidFill>
                  <a:prstClr val="white"/>
                </a:solidFill>
                <a:latin typeface="Arial"/>
                <a:ea typeface="微软雅黑"/>
              </a:rPr>
              <a:t>五  保障机制</a:t>
            </a:r>
            <a:endParaRPr lang="zh-CN" altLang="en-US" b="1" dirty="0">
              <a:solidFill>
                <a:prstClr val="white"/>
              </a:solidFill>
              <a:latin typeface="Arial"/>
              <a:ea typeface="微软雅黑"/>
            </a:endParaRPr>
          </a:p>
        </p:txBody>
      </p:sp>
      <p:sp>
        <p:nvSpPr>
          <p:cNvPr id="34" name="Shape">
            <a:extLst>
              <a:ext uri="{FF2B5EF4-FFF2-40B4-BE49-F238E27FC236}">
                <a16:creationId xmlns:a16="http://schemas.microsoft.com/office/drawing/2014/main" id="{B52A2EFB-E209-4812-B3E7-9805825A9DDC}"/>
              </a:ext>
            </a:extLst>
          </p:cNvPr>
          <p:cNvSpPr/>
          <p:nvPr/>
        </p:nvSpPr>
        <p:spPr>
          <a:xfrm>
            <a:off x="742188" y="2401724"/>
            <a:ext cx="10378440" cy="2029968"/>
          </a:xfrm>
          <a:prstGeom prst="roundRect">
            <a:avLst/>
          </a:prstGeom>
          <a:solidFill>
            <a:srgbClr val="15385B"/>
          </a:solidFill>
          <a:ln>
            <a:noFill/>
          </a:ln>
        </p:spPr>
        <p:txBody>
          <a:bodyPr/>
          <a:lstStyle/>
          <a:p>
            <a:endParaRPr lang="zh-CN" altLang="en-US"/>
          </a:p>
        </p:txBody>
      </p:sp>
      <p:sp>
        <p:nvSpPr>
          <p:cNvPr id="35" name="Text">
            <a:extLst>
              <a:ext uri="{FF2B5EF4-FFF2-40B4-BE49-F238E27FC236}">
                <a16:creationId xmlns:a16="http://schemas.microsoft.com/office/drawing/2014/main" id="{2896FD56-B565-4512-9400-CB4451030B2C}"/>
              </a:ext>
            </a:extLst>
          </p:cNvPr>
          <p:cNvSpPr txBox="1"/>
          <p:nvPr/>
        </p:nvSpPr>
        <p:spPr>
          <a:xfrm>
            <a:off x="1043940" y="2694332"/>
            <a:ext cx="9784080" cy="384048"/>
          </a:xfrm>
          <a:prstGeom prst="rect">
            <a:avLst/>
          </a:prstGeom>
          <a:noFill/>
          <a:ln>
            <a:noFill/>
          </a:ln>
        </p:spPr>
        <p:txBody>
          <a:bodyPr wrap="square" lIns="60000" tIns="40000" rIns="60000" bIns="40000" anchor="t"/>
          <a:lstStyle/>
          <a:p>
            <a:pPr algn="l"/>
            <a:r>
              <a:rPr lang="zh-CN" sz="2200" b="1">
                <a:solidFill>
                  <a:srgbClr val="D9A441"/>
                </a:solidFill>
                <a:latin typeface="Microsoft YaHei"/>
                <a:ea typeface="Microsoft YaHei"/>
                <a:cs typeface="Microsoft YaHei"/>
              </a:rPr>
              <a:t>项目建设的核心价值</a:t>
            </a:r>
          </a:p>
        </p:txBody>
      </p:sp>
      <p:sp>
        <p:nvSpPr>
          <p:cNvPr id="36" name="Text">
            <a:extLst>
              <a:ext uri="{FF2B5EF4-FFF2-40B4-BE49-F238E27FC236}">
                <a16:creationId xmlns:a16="http://schemas.microsoft.com/office/drawing/2014/main" id="{A0DD28DF-F6B9-4F7C-8891-098FFE70E157}"/>
              </a:ext>
            </a:extLst>
          </p:cNvPr>
          <p:cNvSpPr txBox="1"/>
          <p:nvPr/>
        </p:nvSpPr>
        <p:spPr>
          <a:xfrm>
            <a:off x="1226820" y="3297836"/>
            <a:ext cx="9601200" cy="530352"/>
          </a:xfrm>
          <a:prstGeom prst="rect">
            <a:avLst/>
          </a:prstGeom>
          <a:noFill/>
          <a:ln>
            <a:noFill/>
          </a:ln>
        </p:spPr>
        <p:txBody>
          <a:bodyPr wrap="square" lIns="60000" tIns="40000" rIns="60000" bIns="40000" anchor="t"/>
          <a:lstStyle/>
          <a:p>
            <a:pPr algn="l"/>
            <a:r>
              <a:rPr lang="zh-CN" b="1" dirty="0">
                <a:solidFill>
                  <a:srgbClr val="FFFFFF"/>
                </a:solidFill>
                <a:latin typeface="Microsoft YaHei"/>
                <a:ea typeface="Microsoft YaHei"/>
                <a:cs typeface="Microsoft YaHei"/>
              </a:rPr>
              <a:t>以教育问题为牵引、以人工智能技术为支撑、以真实场景为训练场，培养能够服务教育数字化转型的复合型高端人才。</a:t>
            </a:r>
          </a:p>
        </p:txBody>
      </p:sp>
      <p:sp>
        <p:nvSpPr>
          <p:cNvPr id="37" name="Card 建设可行">
            <a:extLst>
              <a:ext uri="{FF2B5EF4-FFF2-40B4-BE49-F238E27FC236}">
                <a16:creationId xmlns:a16="http://schemas.microsoft.com/office/drawing/2014/main" id="{3EA563C9-791D-46A9-939B-776DE80CC9E6}"/>
              </a:ext>
            </a:extLst>
          </p:cNvPr>
          <p:cNvSpPr/>
          <p:nvPr/>
        </p:nvSpPr>
        <p:spPr>
          <a:xfrm>
            <a:off x="769620" y="4943756"/>
            <a:ext cx="3154680" cy="1280160"/>
          </a:xfrm>
          <a:prstGeom prst="roundRect">
            <a:avLst/>
          </a:prstGeom>
          <a:solidFill>
            <a:srgbClr val="FFFFFF"/>
          </a:solidFill>
          <a:ln w="12700">
            <a:solidFill>
              <a:srgbClr val="D9E1EC"/>
            </a:solidFill>
          </a:ln>
        </p:spPr>
        <p:txBody>
          <a:bodyPr/>
          <a:lstStyle/>
          <a:p>
            <a:endParaRPr lang="zh-CN" altLang="en-US"/>
          </a:p>
        </p:txBody>
      </p:sp>
      <p:sp>
        <p:nvSpPr>
          <p:cNvPr id="38" name="Line">
            <a:extLst>
              <a:ext uri="{FF2B5EF4-FFF2-40B4-BE49-F238E27FC236}">
                <a16:creationId xmlns:a16="http://schemas.microsoft.com/office/drawing/2014/main" id="{08D087A5-BC13-471F-AC72-99FF3508CA68}"/>
              </a:ext>
            </a:extLst>
          </p:cNvPr>
          <p:cNvSpPr/>
          <p:nvPr/>
        </p:nvSpPr>
        <p:spPr>
          <a:xfrm>
            <a:off x="769620" y="4943756"/>
            <a:ext cx="73152" cy="1280160"/>
          </a:xfrm>
          <a:prstGeom prst="rect">
            <a:avLst/>
          </a:prstGeom>
          <a:solidFill>
            <a:srgbClr val="1F6FB2"/>
          </a:solidFill>
          <a:ln>
            <a:noFill/>
          </a:ln>
        </p:spPr>
        <p:txBody>
          <a:bodyPr/>
          <a:lstStyle/>
          <a:p>
            <a:endParaRPr lang="zh-CN" altLang="en-US"/>
          </a:p>
        </p:txBody>
      </p:sp>
      <p:sp>
        <p:nvSpPr>
          <p:cNvPr id="39" name="Text">
            <a:extLst>
              <a:ext uri="{FF2B5EF4-FFF2-40B4-BE49-F238E27FC236}">
                <a16:creationId xmlns:a16="http://schemas.microsoft.com/office/drawing/2014/main" id="{137DF504-5E5B-4C13-BFF4-79817B086AB5}"/>
              </a:ext>
            </a:extLst>
          </p:cNvPr>
          <p:cNvSpPr txBox="1"/>
          <p:nvPr/>
        </p:nvSpPr>
        <p:spPr>
          <a:xfrm>
            <a:off x="934212" y="5053484"/>
            <a:ext cx="2862072" cy="292608"/>
          </a:xfrm>
          <a:prstGeom prst="rect">
            <a:avLst/>
          </a:prstGeom>
          <a:noFill/>
          <a:ln>
            <a:noFill/>
          </a:ln>
        </p:spPr>
        <p:txBody>
          <a:bodyPr wrap="square" lIns="60000" tIns="40000" rIns="60000" bIns="40000" anchor="t"/>
          <a:lstStyle/>
          <a:p>
            <a:pPr algn="l"/>
            <a:r>
              <a:rPr lang="zh-CN" sz="1750" b="1">
                <a:solidFill>
                  <a:srgbClr val="1F6FB2"/>
                </a:solidFill>
                <a:latin typeface="Microsoft YaHei"/>
                <a:ea typeface="Microsoft YaHei"/>
                <a:cs typeface="Microsoft YaHei"/>
              </a:rPr>
              <a:t>建设可行</a:t>
            </a:r>
          </a:p>
        </p:txBody>
      </p:sp>
      <p:sp>
        <p:nvSpPr>
          <p:cNvPr id="40" name="Text">
            <a:extLst>
              <a:ext uri="{FF2B5EF4-FFF2-40B4-BE49-F238E27FC236}">
                <a16:creationId xmlns:a16="http://schemas.microsoft.com/office/drawing/2014/main" id="{584240C1-2321-4E89-82A6-1AB0D33CC22E}"/>
              </a:ext>
            </a:extLst>
          </p:cNvPr>
          <p:cNvSpPr txBox="1"/>
          <p:nvPr/>
        </p:nvSpPr>
        <p:spPr>
          <a:xfrm>
            <a:off x="952500" y="5419244"/>
            <a:ext cx="2825496" cy="713232"/>
          </a:xfrm>
          <a:prstGeom prst="rect">
            <a:avLst/>
          </a:prstGeom>
          <a:noFill/>
          <a:ln>
            <a:noFill/>
          </a:ln>
        </p:spPr>
        <p:txBody>
          <a:bodyPr wrap="square" lIns="60000" tIns="40000" rIns="60000" bIns="40000" anchor="t"/>
          <a:lstStyle/>
          <a:p>
            <a:pPr marL="230000" indent="-120000" algn="l">
              <a:buFont typeface="Arial"/>
              <a:buChar char="•"/>
            </a:pPr>
            <a:r>
              <a:rPr lang="zh-CN" sz="1400" b="1" dirty="0">
                <a:solidFill>
                  <a:srgbClr val="5B677A"/>
                </a:solidFill>
                <a:latin typeface="Microsoft YaHei"/>
                <a:ea typeface="Microsoft YaHei"/>
                <a:cs typeface="Microsoft YaHei"/>
              </a:rPr>
              <a:t>双学院学科基础扎实</a:t>
            </a:r>
          </a:p>
          <a:p>
            <a:pPr marL="230000" indent="-120000" algn="l">
              <a:buFont typeface="Arial"/>
              <a:buChar char="•"/>
            </a:pPr>
            <a:r>
              <a:rPr lang="zh-CN" sz="1400" b="1" dirty="0">
                <a:solidFill>
                  <a:srgbClr val="5B677A"/>
                </a:solidFill>
                <a:latin typeface="Microsoft YaHei"/>
                <a:ea typeface="Microsoft YaHei"/>
                <a:cs typeface="Microsoft YaHei"/>
              </a:rPr>
              <a:t>平台与师资支撑明确</a:t>
            </a:r>
          </a:p>
        </p:txBody>
      </p:sp>
      <p:sp>
        <p:nvSpPr>
          <p:cNvPr id="41" name="Card 特色鲜明">
            <a:extLst>
              <a:ext uri="{FF2B5EF4-FFF2-40B4-BE49-F238E27FC236}">
                <a16:creationId xmlns:a16="http://schemas.microsoft.com/office/drawing/2014/main" id="{6AA76A94-665E-4285-84BD-3B79E59D92CD}"/>
              </a:ext>
            </a:extLst>
          </p:cNvPr>
          <p:cNvSpPr/>
          <p:nvPr/>
        </p:nvSpPr>
        <p:spPr>
          <a:xfrm>
            <a:off x="4472940" y="4943756"/>
            <a:ext cx="3154680" cy="1280160"/>
          </a:xfrm>
          <a:prstGeom prst="roundRect">
            <a:avLst/>
          </a:prstGeom>
          <a:solidFill>
            <a:srgbClr val="FFFFFF"/>
          </a:solidFill>
          <a:ln w="12700">
            <a:solidFill>
              <a:srgbClr val="D9E1EC"/>
            </a:solidFill>
          </a:ln>
        </p:spPr>
        <p:txBody>
          <a:bodyPr/>
          <a:lstStyle/>
          <a:p>
            <a:endParaRPr lang="zh-CN" altLang="en-US"/>
          </a:p>
        </p:txBody>
      </p:sp>
      <p:sp>
        <p:nvSpPr>
          <p:cNvPr id="42" name="Line">
            <a:extLst>
              <a:ext uri="{FF2B5EF4-FFF2-40B4-BE49-F238E27FC236}">
                <a16:creationId xmlns:a16="http://schemas.microsoft.com/office/drawing/2014/main" id="{8E7CC542-FB8D-4A81-889A-561ECB1CEC3A}"/>
              </a:ext>
            </a:extLst>
          </p:cNvPr>
          <p:cNvSpPr/>
          <p:nvPr/>
        </p:nvSpPr>
        <p:spPr>
          <a:xfrm>
            <a:off x="4472940" y="4943756"/>
            <a:ext cx="73152" cy="1280160"/>
          </a:xfrm>
          <a:prstGeom prst="rect">
            <a:avLst/>
          </a:prstGeom>
          <a:solidFill>
            <a:srgbClr val="00A6A6"/>
          </a:solidFill>
          <a:ln>
            <a:noFill/>
          </a:ln>
        </p:spPr>
        <p:txBody>
          <a:bodyPr/>
          <a:lstStyle/>
          <a:p>
            <a:endParaRPr lang="zh-CN" altLang="en-US"/>
          </a:p>
        </p:txBody>
      </p:sp>
      <p:sp>
        <p:nvSpPr>
          <p:cNvPr id="43" name="Text">
            <a:extLst>
              <a:ext uri="{FF2B5EF4-FFF2-40B4-BE49-F238E27FC236}">
                <a16:creationId xmlns:a16="http://schemas.microsoft.com/office/drawing/2014/main" id="{ADC1CD2C-D5A5-4AA5-9637-89C42562D96B}"/>
              </a:ext>
            </a:extLst>
          </p:cNvPr>
          <p:cNvSpPr txBox="1"/>
          <p:nvPr/>
        </p:nvSpPr>
        <p:spPr>
          <a:xfrm>
            <a:off x="4637532" y="5053484"/>
            <a:ext cx="2862072" cy="292608"/>
          </a:xfrm>
          <a:prstGeom prst="rect">
            <a:avLst/>
          </a:prstGeom>
          <a:noFill/>
          <a:ln>
            <a:noFill/>
          </a:ln>
        </p:spPr>
        <p:txBody>
          <a:bodyPr wrap="square" lIns="60000" tIns="40000" rIns="60000" bIns="40000" anchor="t"/>
          <a:lstStyle/>
          <a:p>
            <a:pPr algn="l"/>
            <a:r>
              <a:rPr lang="zh-CN" sz="1750" b="1">
                <a:solidFill>
                  <a:srgbClr val="00A6A6"/>
                </a:solidFill>
                <a:latin typeface="Microsoft YaHei"/>
                <a:ea typeface="Microsoft YaHei"/>
                <a:cs typeface="Microsoft YaHei"/>
              </a:rPr>
              <a:t>特色鲜明</a:t>
            </a:r>
          </a:p>
        </p:txBody>
      </p:sp>
      <p:sp>
        <p:nvSpPr>
          <p:cNvPr id="44" name="Text">
            <a:extLst>
              <a:ext uri="{FF2B5EF4-FFF2-40B4-BE49-F238E27FC236}">
                <a16:creationId xmlns:a16="http://schemas.microsoft.com/office/drawing/2014/main" id="{2A0BA953-E7AE-4D7B-8A40-B6274FA8048E}"/>
              </a:ext>
            </a:extLst>
          </p:cNvPr>
          <p:cNvSpPr txBox="1"/>
          <p:nvPr/>
        </p:nvSpPr>
        <p:spPr>
          <a:xfrm>
            <a:off x="4655820" y="5419244"/>
            <a:ext cx="2825496" cy="713232"/>
          </a:xfrm>
          <a:prstGeom prst="rect">
            <a:avLst/>
          </a:prstGeom>
          <a:noFill/>
          <a:ln>
            <a:noFill/>
          </a:ln>
        </p:spPr>
        <p:txBody>
          <a:bodyPr wrap="square" lIns="60000" tIns="40000" rIns="60000" bIns="40000" anchor="t"/>
          <a:lstStyle/>
          <a:p>
            <a:pPr marL="230000" indent="-120000">
              <a:buFont typeface="Arial"/>
              <a:buChar char="•"/>
            </a:pPr>
            <a:r>
              <a:rPr lang="zh-CN" altLang="en-US" sz="1400" b="1">
                <a:solidFill>
                  <a:srgbClr val="5B677A"/>
                </a:solidFill>
                <a:latin typeface="Microsoft YaHei"/>
                <a:ea typeface="Microsoft YaHei"/>
              </a:rPr>
              <a:t>双轨培养定位清晰</a:t>
            </a:r>
          </a:p>
          <a:p>
            <a:pPr marL="230000" indent="-120000">
              <a:buFont typeface="Arial"/>
              <a:buChar char="•"/>
            </a:pPr>
            <a:r>
              <a:rPr lang="zh-CN" altLang="en-US" sz="1400" b="1">
                <a:solidFill>
                  <a:srgbClr val="5B677A"/>
                </a:solidFill>
                <a:latin typeface="Microsoft YaHei"/>
                <a:ea typeface="Microsoft YaHei"/>
              </a:rPr>
              <a:t>课程与实践深度融合</a:t>
            </a:r>
          </a:p>
        </p:txBody>
      </p:sp>
      <p:sp>
        <p:nvSpPr>
          <p:cNvPr id="45" name="Card 质量可控">
            <a:extLst>
              <a:ext uri="{FF2B5EF4-FFF2-40B4-BE49-F238E27FC236}">
                <a16:creationId xmlns:a16="http://schemas.microsoft.com/office/drawing/2014/main" id="{AE19F8B6-6800-4A77-BEFF-DF163619A97F}"/>
              </a:ext>
            </a:extLst>
          </p:cNvPr>
          <p:cNvSpPr/>
          <p:nvPr/>
        </p:nvSpPr>
        <p:spPr>
          <a:xfrm>
            <a:off x="8176260" y="4943756"/>
            <a:ext cx="3154680" cy="1280160"/>
          </a:xfrm>
          <a:prstGeom prst="roundRect">
            <a:avLst/>
          </a:prstGeom>
          <a:solidFill>
            <a:srgbClr val="FFFFFF"/>
          </a:solidFill>
          <a:ln w="12700">
            <a:solidFill>
              <a:srgbClr val="D9E1EC"/>
            </a:solidFill>
          </a:ln>
        </p:spPr>
        <p:txBody>
          <a:bodyPr/>
          <a:lstStyle/>
          <a:p>
            <a:endParaRPr lang="zh-CN" altLang="en-US"/>
          </a:p>
        </p:txBody>
      </p:sp>
      <p:sp>
        <p:nvSpPr>
          <p:cNvPr id="46" name="Line">
            <a:extLst>
              <a:ext uri="{FF2B5EF4-FFF2-40B4-BE49-F238E27FC236}">
                <a16:creationId xmlns:a16="http://schemas.microsoft.com/office/drawing/2014/main" id="{C38DB9BB-CEA9-4399-B237-CC755E94DA3C}"/>
              </a:ext>
            </a:extLst>
          </p:cNvPr>
          <p:cNvSpPr/>
          <p:nvPr/>
        </p:nvSpPr>
        <p:spPr>
          <a:xfrm>
            <a:off x="8176260" y="4943756"/>
            <a:ext cx="73152" cy="1280160"/>
          </a:xfrm>
          <a:prstGeom prst="rect">
            <a:avLst/>
          </a:prstGeom>
          <a:solidFill>
            <a:srgbClr val="C5282F"/>
          </a:solidFill>
          <a:ln>
            <a:noFill/>
          </a:ln>
        </p:spPr>
        <p:txBody>
          <a:bodyPr/>
          <a:lstStyle/>
          <a:p>
            <a:endParaRPr lang="zh-CN" altLang="en-US"/>
          </a:p>
        </p:txBody>
      </p:sp>
      <p:sp>
        <p:nvSpPr>
          <p:cNvPr id="47" name="Text">
            <a:extLst>
              <a:ext uri="{FF2B5EF4-FFF2-40B4-BE49-F238E27FC236}">
                <a16:creationId xmlns:a16="http://schemas.microsoft.com/office/drawing/2014/main" id="{A82150A7-E5E7-45BD-AD30-D1A130C14B45}"/>
              </a:ext>
            </a:extLst>
          </p:cNvPr>
          <p:cNvSpPr txBox="1"/>
          <p:nvPr/>
        </p:nvSpPr>
        <p:spPr>
          <a:xfrm>
            <a:off x="8340852" y="5053484"/>
            <a:ext cx="2862072" cy="292608"/>
          </a:xfrm>
          <a:prstGeom prst="rect">
            <a:avLst/>
          </a:prstGeom>
          <a:noFill/>
          <a:ln>
            <a:noFill/>
          </a:ln>
        </p:spPr>
        <p:txBody>
          <a:bodyPr wrap="square" lIns="60000" tIns="40000" rIns="60000" bIns="40000" anchor="t"/>
          <a:lstStyle/>
          <a:p>
            <a:pPr algn="l"/>
            <a:r>
              <a:rPr lang="zh-CN" sz="1750" b="1">
                <a:solidFill>
                  <a:srgbClr val="C5282F"/>
                </a:solidFill>
                <a:latin typeface="Microsoft YaHei"/>
                <a:ea typeface="Microsoft YaHei"/>
                <a:cs typeface="Microsoft YaHei"/>
              </a:rPr>
              <a:t>质量可控</a:t>
            </a:r>
          </a:p>
        </p:txBody>
      </p:sp>
      <p:sp>
        <p:nvSpPr>
          <p:cNvPr id="48" name="Text">
            <a:extLst>
              <a:ext uri="{FF2B5EF4-FFF2-40B4-BE49-F238E27FC236}">
                <a16:creationId xmlns:a16="http://schemas.microsoft.com/office/drawing/2014/main" id="{CB2AC34C-BC17-4E3F-B838-BAAD9097A477}"/>
              </a:ext>
            </a:extLst>
          </p:cNvPr>
          <p:cNvSpPr txBox="1"/>
          <p:nvPr/>
        </p:nvSpPr>
        <p:spPr>
          <a:xfrm>
            <a:off x="8359140" y="5419244"/>
            <a:ext cx="2825496" cy="713232"/>
          </a:xfrm>
          <a:prstGeom prst="rect">
            <a:avLst/>
          </a:prstGeom>
          <a:noFill/>
          <a:ln>
            <a:noFill/>
          </a:ln>
        </p:spPr>
        <p:txBody>
          <a:bodyPr wrap="square" lIns="60000" tIns="40000" rIns="60000" bIns="40000" anchor="t"/>
          <a:lstStyle/>
          <a:p>
            <a:pPr marL="230000" indent="-120000">
              <a:buFont typeface="Arial"/>
              <a:buChar char="•"/>
            </a:pPr>
            <a:r>
              <a:rPr lang="zh-CN" altLang="en-US" sz="1400" b="1">
                <a:solidFill>
                  <a:srgbClr val="5B677A"/>
                </a:solidFill>
                <a:latin typeface="Microsoft YaHei"/>
                <a:ea typeface="Microsoft YaHei"/>
              </a:rPr>
              <a:t>动态迭代机制完善</a:t>
            </a:r>
          </a:p>
          <a:p>
            <a:pPr marL="230000" indent="-120000">
              <a:buFont typeface="Arial"/>
              <a:buChar char="•"/>
            </a:pPr>
            <a:r>
              <a:rPr lang="zh-CN" altLang="en-US" sz="1400" b="1">
                <a:solidFill>
                  <a:srgbClr val="5B677A"/>
                </a:solidFill>
                <a:latin typeface="Microsoft YaHei"/>
                <a:ea typeface="Microsoft YaHei"/>
              </a:rPr>
              <a:t>双导师与闭环评价保障</a:t>
            </a:r>
          </a:p>
        </p:txBody>
      </p:sp>
    </p:spTree>
    <p:extLst>
      <p:ext uri="{BB962C8B-B14F-4D97-AF65-F5344CB8AC3E}">
        <p14:creationId xmlns:p14="http://schemas.microsoft.com/office/powerpoint/2010/main" val="17805976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26E6147-0DB5-41FA-9088-DF67AF8D3630}"/>
              </a:ext>
            </a:extLst>
          </p:cNvPr>
          <p:cNvSpPr/>
          <p:nvPr/>
        </p:nvSpPr>
        <p:spPr>
          <a:xfrm>
            <a:off x="0" y="3363595"/>
            <a:ext cx="12192000" cy="187071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121884" tIns="60941" rIns="121884" bIns="60941" rtlCol="0" anchor="ctr"/>
          <a:lstStyle/>
          <a:p>
            <a:pPr algn="ctr"/>
            <a:endParaRPr lang="zh-CN" altLang="en-US" sz="2400" dirty="0">
              <a:latin typeface="inpin heiti" charset="-122"/>
              <a:ea typeface="inpin heiti" charset="-122"/>
            </a:endParaRPr>
          </a:p>
        </p:txBody>
      </p:sp>
      <p:sp>
        <p:nvSpPr>
          <p:cNvPr id="5" name="TextBox 1">
            <a:extLst>
              <a:ext uri="{FF2B5EF4-FFF2-40B4-BE49-F238E27FC236}">
                <a16:creationId xmlns:a16="http://schemas.microsoft.com/office/drawing/2014/main" id="{AF2631BF-ACC3-4F25-9880-866C27099EA0}"/>
              </a:ext>
            </a:extLst>
          </p:cNvPr>
          <p:cNvSpPr txBox="1"/>
          <p:nvPr/>
        </p:nvSpPr>
        <p:spPr>
          <a:xfrm>
            <a:off x="425797" y="3479033"/>
            <a:ext cx="11340406" cy="1242931"/>
          </a:xfrm>
          <a:prstGeom prst="rect">
            <a:avLst/>
          </a:prstGeom>
          <a:noFill/>
        </p:spPr>
        <p:txBody>
          <a:bodyPr wrap="square" lIns="121884" tIns="60941" rIns="121884" bIns="60941" rtlCol="0">
            <a:spAutoFit/>
          </a:bodyPr>
          <a:lstStyle/>
          <a:p>
            <a:pPr algn="ctr">
              <a:lnSpc>
                <a:spcPct val="150000"/>
              </a:lnSpc>
            </a:pPr>
            <a:r>
              <a:rPr lang="zh-CN" altLang="en-US" sz="5400" b="1" dirty="0">
                <a:solidFill>
                  <a:schemeClr val="bg1"/>
                </a:solidFill>
                <a:latin typeface="微软雅黑" panose="020B0503020204020204" pitchFamily="34" charset="-122"/>
                <a:ea typeface="微软雅黑" panose="020B0503020204020204" pitchFamily="34" charset="-122"/>
              </a:rPr>
              <a:t>欢迎报考！</a:t>
            </a:r>
          </a:p>
        </p:txBody>
      </p:sp>
      <p:sp>
        <p:nvSpPr>
          <p:cNvPr id="6" name="TextBox 1">
            <a:extLst>
              <a:ext uri="{FF2B5EF4-FFF2-40B4-BE49-F238E27FC236}">
                <a16:creationId xmlns:a16="http://schemas.microsoft.com/office/drawing/2014/main" id="{C8E664FD-5B45-4B9C-A452-F6AF7EEF1FC8}"/>
              </a:ext>
            </a:extLst>
          </p:cNvPr>
          <p:cNvSpPr txBox="1"/>
          <p:nvPr/>
        </p:nvSpPr>
        <p:spPr>
          <a:xfrm>
            <a:off x="4894769" y="6146229"/>
            <a:ext cx="3109860" cy="611796"/>
          </a:xfrm>
          <a:prstGeom prst="rect">
            <a:avLst/>
          </a:prstGeom>
          <a:noFill/>
        </p:spPr>
        <p:txBody>
          <a:bodyPr wrap="square" lIns="121884" tIns="60941" rIns="121884" bIns="60941" rtlCol="0">
            <a:spAutoFit/>
          </a:bodyPr>
          <a:lstStyle/>
          <a:p>
            <a:pPr algn="ctr">
              <a:lnSpc>
                <a:spcPct val="150000"/>
              </a:lnSpc>
            </a:pPr>
            <a:r>
              <a:rPr lang="en-US" altLang="zh-CN" sz="2400" b="1" dirty="0">
                <a:solidFill>
                  <a:schemeClr val="accent1">
                    <a:lumMod val="50000"/>
                  </a:schemeClr>
                </a:solidFill>
                <a:latin typeface="微软雅黑" panose="020B0503020204020204" charset="-122"/>
                <a:ea typeface="微软雅黑" panose="020B0503020204020204" charset="-122"/>
              </a:rPr>
              <a:t>2026 </a:t>
            </a:r>
            <a:r>
              <a:rPr lang="zh-CN" altLang="en-US" sz="2400" b="1" dirty="0">
                <a:solidFill>
                  <a:schemeClr val="accent1">
                    <a:lumMod val="50000"/>
                  </a:schemeClr>
                </a:solidFill>
                <a:latin typeface="微软雅黑" panose="020B0503020204020204" charset="-122"/>
                <a:ea typeface="微软雅黑" panose="020B0503020204020204" charset="-122"/>
              </a:rPr>
              <a:t>年 </a:t>
            </a:r>
            <a:r>
              <a:rPr lang="en-US" altLang="zh-CN" sz="2400" b="1" dirty="0">
                <a:solidFill>
                  <a:schemeClr val="accent1">
                    <a:lumMod val="50000"/>
                  </a:schemeClr>
                </a:solidFill>
                <a:latin typeface="微软雅黑" panose="020B0503020204020204" charset="-122"/>
                <a:ea typeface="微软雅黑" panose="020B0503020204020204" charset="-122"/>
              </a:rPr>
              <a:t>6 </a:t>
            </a:r>
            <a:r>
              <a:rPr lang="zh-CN" altLang="en-US" sz="2400" b="1" dirty="0">
                <a:solidFill>
                  <a:schemeClr val="accent1">
                    <a:lumMod val="50000"/>
                  </a:schemeClr>
                </a:solidFill>
                <a:latin typeface="微软雅黑" panose="020B0503020204020204" charset="-122"/>
                <a:ea typeface="微软雅黑" panose="020B0503020204020204" charset="-122"/>
              </a:rPr>
              <a:t>月 </a:t>
            </a:r>
            <a:r>
              <a:rPr lang="en-US" altLang="zh-CN" sz="2400" b="1" dirty="0">
                <a:solidFill>
                  <a:schemeClr val="accent1">
                    <a:lumMod val="50000"/>
                  </a:schemeClr>
                </a:solidFill>
                <a:latin typeface="微软雅黑" panose="020B0503020204020204" charset="-122"/>
                <a:ea typeface="微软雅黑" panose="020B0503020204020204" charset="-122"/>
              </a:rPr>
              <a:t>11 </a:t>
            </a:r>
            <a:r>
              <a:rPr lang="zh-CN" altLang="en-US" sz="2400" b="1" dirty="0">
                <a:solidFill>
                  <a:schemeClr val="accent1">
                    <a:lumMod val="50000"/>
                  </a:schemeClr>
                </a:solidFill>
                <a:latin typeface="微软雅黑" panose="020B0503020204020204" charset="-122"/>
                <a:ea typeface="微软雅黑" panose="020B0503020204020204" charset="-122"/>
              </a:rPr>
              <a:t>日</a:t>
            </a:r>
          </a:p>
        </p:txBody>
      </p:sp>
      <p:grpSp>
        <p:nvGrpSpPr>
          <p:cNvPr id="7" name="组合 6">
            <a:extLst>
              <a:ext uri="{FF2B5EF4-FFF2-40B4-BE49-F238E27FC236}">
                <a16:creationId xmlns:a16="http://schemas.microsoft.com/office/drawing/2014/main" id="{0286FEE1-8002-436B-8D7E-C622B3265755}"/>
              </a:ext>
            </a:extLst>
          </p:cNvPr>
          <p:cNvGrpSpPr/>
          <p:nvPr/>
        </p:nvGrpSpPr>
        <p:grpSpPr>
          <a:xfrm>
            <a:off x="2947452" y="0"/>
            <a:ext cx="6297095" cy="2998071"/>
            <a:chOff x="2813333" y="0"/>
            <a:chExt cx="6297095" cy="2998071"/>
          </a:xfrm>
        </p:grpSpPr>
        <p:grpSp>
          <p:nvGrpSpPr>
            <p:cNvPr id="8" name="组合 7">
              <a:extLst>
                <a:ext uri="{FF2B5EF4-FFF2-40B4-BE49-F238E27FC236}">
                  <a16:creationId xmlns:a16="http://schemas.microsoft.com/office/drawing/2014/main" id="{7B49FD54-5422-4908-89BA-8C81CA1C45A6}"/>
                </a:ext>
              </a:extLst>
            </p:cNvPr>
            <p:cNvGrpSpPr/>
            <p:nvPr/>
          </p:nvGrpSpPr>
          <p:grpSpPr>
            <a:xfrm>
              <a:off x="2813333" y="0"/>
              <a:ext cx="3355102" cy="2973644"/>
              <a:chOff x="4470683" y="-24427"/>
              <a:chExt cx="3355102" cy="2973644"/>
            </a:xfrm>
          </p:grpSpPr>
          <p:pic>
            <p:nvPicPr>
              <p:cNvPr id="14" name="Picture 2" descr="C:\Users\Administrator\Desktop\微立体创业计划\001.png">
                <a:extLst>
                  <a:ext uri="{FF2B5EF4-FFF2-40B4-BE49-F238E27FC236}">
                    <a16:creationId xmlns:a16="http://schemas.microsoft.com/office/drawing/2014/main" id="{2F1D78E2-17B1-45F8-B874-4A279E68EA55}"/>
                  </a:ext>
                </a:extLst>
              </p:cNvPr>
              <p:cNvPicPr>
                <a:picLocks noChangeAspect="1" noChangeArrowheads="1"/>
              </p:cNvPicPr>
              <p:nvPr/>
            </p:nvPicPr>
            <p:blipFill>
              <a:blip r:embed="rId3" cstate="screen">
                <a:extLst>
                  <a:ext uri="{BEBA8EAE-BF5A-486C-A8C5-ECC9F3942E4B}">
                    <a14:imgProps xmlns:a14="http://schemas.microsoft.com/office/drawing/2010/main">
                      <a14:imgLayer r:embed="rId4">
                        <a14:imgEffect>
                          <a14:brightnessContrast bright="-3000"/>
                        </a14:imgEffect>
                      </a14:imgLayer>
                    </a14:imgProps>
                  </a:ext>
                </a:extLst>
              </a:blip>
              <a:srcRect/>
              <a:stretch>
                <a:fillRect/>
              </a:stretch>
            </p:blipFill>
            <p:spPr bwMode="auto">
              <a:xfrm>
                <a:off x="4470683" y="75548"/>
                <a:ext cx="2622992" cy="2622637"/>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15" name="Picture 3" descr="C:\Users\Administrator\Desktop\微立体创业计划\002.png">
                <a:extLst>
                  <a:ext uri="{FF2B5EF4-FFF2-40B4-BE49-F238E27FC236}">
                    <a16:creationId xmlns:a16="http://schemas.microsoft.com/office/drawing/2014/main" id="{9C0313AA-9609-4EFE-8340-93147B6506D8}"/>
                  </a:ext>
                </a:extLst>
              </p:cNvPr>
              <p:cNvPicPr>
                <a:picLocks noChangeAspect="1" noChangeArrowheads="1"/>
              </p:cNvPicPr>
              <p:nvPr/>
            </p:nvPicPr>
            <p:blipFill>
              <a:blip r:embed="rId5" cstate="screen"/>
              <a:srcRect/>
              <a:stretch>
                <a:fillRect/>
              </a:stretch>
            </p:blipFill>
            <p:spPr bwMode="auto">
              <a:xfrm>
                <a:off x="4851738" y="-24427"/>
                <a:ext cx="2974047" cy="2973644"/>
              </a:xfrm>
              <a:prstGeom prst="rect">
                <a:avLst/>
              </a:prstGeom>
              <a:noFill/>
              <a:effectLst>
                <a:outerShdw blurRad="292100" dist="177800" dir="2460000" sx="99000" sy="99000" algn="l" rotWithShape="0">
                  <a:prstClr val="black">
                    <a:alpha val="39000"/>
                  </a:prstClr>
                </a:outerShdw>
              </a:effectLst>
              <a:extLst>
                <a:ext uri="{909E8E84-426E-40DD-AFC4-6F175D3DCCD1}">
                  <a14:hiddenFill xmlns:a14="http://schemas.microsoft.com/office/drawing/2010/main">
                    <a:solidFill>
                      <a:srgbClr val="FFFFFF"/>
                    </a:solidFill>
                  </a14:hiddenFill>
                </a:ext>
              </a:extLst>
            </p:spPr>
          </p:pic>
          <p:pic>
            <p:nvPicPr>
              <p:cNvPr id="16" name="图片 15">
                <a:extLst>
                  <a:ext uri="{FF2B5EF4-FFF2-40B4-BE49-F238E27FC236}">
                    <a16:creationId xmlns:a16="http://schemas.microsoft.com/office/drawing/2014/main" id="{601D6EF5-536C-4B49-A3F6-AEA0D3F9D8D4}"/>
                  </a:ext>
                </a:extLst>
              </p:cNvPr>
              <p:cNvPicPr>
                <a:picLocks noChangeAspect="1"/>
              </p:cNvPicPr>
              <p:nvPr/>
            </p:nvPicPr>
            <p:blipFill>
              <a:blip r:embed="rId6">
                <a:extLst>
                  <a:ext uri="{28A0092B-C50C-407E-A947-70E740481C1C}">
                    <a14:useLocalDpi xmlns:a14="http://schemas.microsoft.com/office/drawing/2010/main" val="0"/>
                  </a:ext>
                </a:extLst>
              </a:blip>
              <a:srcRect l="1133" r="1133"/>
              <a:stretch/>
            </p:blipFill>
            <p:spPr>
              <a:xfrm>
                <a:off x="5427832" y="548214"/>
                <a:ext cx="1818788" cy="1828995"/>
              </a:xfrm>
              <a:prstGeom prst="rect">
                <a:avLst/>
              </a:prstGeom>
            </p:spPr>
          </p:pic>
        </p:grpSp>
        <p:grpSp>
          <p:nvGrpSpPr>
            <p:cNvPr id="9" name="组合 8">
              <a:extLst>
                <a:ext uri="{FF2B5EF4-FFF2-40B4-BE49-F238E27FC236}">
                  <a16:creationId xmlns:a16="http://schemas.microsoft.com/office/drawing/2014/main" id="{644C1F43-05D9-4B08-8642-2807E8D25FBE}"/>
                </a:ext>
              </a:extLst>
            </p:cNvPr>
            <p:cNvGrpSpPr/>
            <p:nvPr/>
          </p:nvGrpSpPr>
          <p:grpSpPr>
            <a:xfrm>
              <a:off x="5755326" y="24427"/>
              <a:ext cx="3355102" cy="2973644"/>
              <a:chOff x="5755326" y="24427"/>
              <a:chExt cx="3355102" cy="2973644"/>
            </a:xfrm>
          </p:grpSpPr>
          <p:grpSp>
            <p:nvGrpSpPr>
              <p:cNvPr id="10" name="组合 9">
                <a:extLst>
                  <a:ext uri="{FF2B5EF4-FFF2-40B4-BE49-F238E27FC236}">
                    <a16:creationId xmlns:a16="http://schemas.microsoft.com/office/drawing/2014/main" id="{A6BDEFB0-227F-4864-8C25-1E7B67102829}"/>
                  </a:ext>
                </a:extLst>
              </p:cNvPr>
              <p:cNvGrpSpPr/>
              <p:nvPr/>
            </p:nvGrpSpPr>
            <p:grpSpPr>
              <a:xfrm>
                <a:off x="5755326" y="24427"/>
                <a:ext cx="3355102" cy="2973644"/>
                <a:chOff x="4470683" y="-24427"/>
                <a:chExt cx="3355102" cy="2973644"/>
              </a:xfrm>
            </p:grpSpPr>
            <p:pic>
              <p:nvPicPr>
                <p:cNvPr id="12" name="Picture 2" descr="C:\Users\Administrator\Desktop\微立体创业计划\001.png">
                  <a:extLst>
                    <a:ext uri="{FF2B5EF4-FFF2-40B4-BE49-F238E27FC236}">
                      <a16:creationId xmlns:a16="http://schemas.microsoft.com/office/drawing/2014/main" id="{D9DEBC79-BCBB-4118-ACB0-66A5FF646AEA}"/>
                    </a:ext>
                  </a:extLst>
                </p:cNvPr>
                <p:cNvPicPr>
                  <a:picLocks noChangeAspect="1" noChangeArrowheads="1"/>
                </p:cNvPicPr>
                <p:nvPr/>
              </p:nvPicPr>
              <p:blipFill>
                <a:blip r:embed="rId3" cstate="screen">
                  <a:extLst>
                    <a:ext uri="{BEBA8EAE-BF5A-486C-A8C5-ECC9F3942E4B}">
                      <a14:imgProps xmlns:a14="http://schemas.microsoft.com/office/drawing/2010/main">
                        <a14:imgLayer r:embed="rId4">
                          <a14:imgEffect>
                            <a14:brightnessContrast bright="-3000"/>
                          </a14:imgEffect>
                        </a14:imgLayer>
                      </a14:imgProps>
                    </a:ext>
                  </a:extLst>
                </a:blip>
                <a:srcRect/>
                <a:stretch>
                  <a:fillRect/>
                </a:stretch>
              </p:blipFill>
              <p:spPr bwMode="auto">
                <a:xfrm>
                  <a:off x="4470683" y="75548"/>
                  <a:ext cx="2622992" cy="2622637"/>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13" name="Picture 3" descr="C:\Users\Administrator\Desktop\微立体创业计划\002.png">
                  <a:extLst>
                    <a:ext uri="{FF2B5EF4-FFF2-40B4-BE49-F238E27FC236}">
                      <a16:creationId xmlns:a16="http://schemas.microsoft.com/office/drawing/2014/main" id="{391EDFA4-1BF1-4AE1-AE3F-D27D52186694}"/>
                    </a:ext>
                  </a:extLst>
                </p:cNvPr>
                <p:cNvPicPr>
                  <a:picLocks noChangeAspect="1" noChangeArrowheads="1"/>
                </p:cNvPicPr>
                <p:nvPr/>
              </p:nvPicPr>
              <p:blipFill>
                <a:blip r:embed="rId5" cstate="screen"/>
                <a:srcRect/>
                <a:stretch>
                  <a:fillRect/>
                </a:stretch>
              </p:blipFill>
              <p:spPr bwMode="auto">
                <a:xfrm>
                  <a:off x="4851738" y="-24427"/>
                  <a:ext cx="2974047" cy="2973644"/>
                </a:xfrm>
                <a:prstGeom prst="rect">
                  <a:avLst/>
                </a:prstGeom>
                <a:noFill/>
                <a:effectLst>
                  <a:outerShdw blurRad="292100" dist="177800" dir="2460000" sx="99000" sy="99000" algn="l" rotWithShape="0">
                    <a:prstClr val="black">
                      <a:alpha val="39000"/>
                    </a:prstClr>
                  </a:outerShdw>
                </a:effectLst>
                <a:extLst>
                  <a:ext uri="{909E8E84-426E-40DD-AFC4-6F175D3DCCD1}">
                    <a14:hiddenFill xmlns:a14="http://schemas.microsoft.com/office/drawing/2010/main">
                      <a:solidFill>
                        <a:srgbClr val="FFFFFF"/>
                      </a:solidFill>
                    </a14:hiddenFill>
                  </a:ext>
                </a:extLst>
              </p:spPr>
            </p:pic>
          </p:grpSp>
          <p:pic>
            <p:nvPicPr>
              <p:cNvPr id="11" name="图片 10">
                <a:extLst>
                  <a:ext uri="{FF2B5EF4-FFF2-40B4-BE49-F238E27FC236}">
                    <a16:creationId xmlns:a16="http://schemas.microsoft.com/office/drawing/2014/main" id="{7BA5CD4B-1FFA-45A0-A7DF-2E66A3856DDF}"/>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6658295" y="546140"/>
                <a:ext cx="1930217" cy="1930217"/>
              </a:xfrm>
              <a:prstGeom prst="rect">
                <a:avLst/>
              </a:prstGeom>
            </p:spPr>
          </p:pic>
        </p:grpSp>
      </p:grpSp>
    </p:spTree>
    <p:extLst>
      <p:ext uri="{BB962C8B-B14F-4D97-AF65-F5344CB8AC3E}">
        <p14:creationId xmlns:p14="http://schemas.microsoft.com/office/powerpoint/2010/main" val="155272267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286*232"/>
  <p:tag name="TABLE_ENDDRAG_RECT" val="618*294*286*232"/>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286*232"/>
  <p:tag name="TABLE_ENDDRAG_RECT" val="618*294*286*232"/>
</p:tagLst>
</file>

<file path=ppt/theme/theme1.xml><?xml version="1.0" encoding="utf-8"?>
<a:theme xmlns:a="http://schemas.openxmlformats.org/drawingml/2006/main" name="Office 主题​​">
  <a:themeElements>
    <a:clrScheme name="Office">
      <a:dk1>
        <a:sysClr val="windowText" lastClr="000000"/>
      </a:dk1>
      <a:lt1>
        <a:sysClr val="window" lastClr="CEEACA"/>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CEEACA"/>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965</TotalTime>
  <Words>2538</Words>
  <Application>Microsoft Office PowerPoint</Application>
  <PresentationFormat>宽屏</PresentationFormat>
  <Paragraphs>402</Paragraphs>
  <Slides>20</Slides>
  <Notes>20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20</vt:i4>
      </vt:variant>
    </vt:vector>
  </HeadingPairs>
  <TitlesOfParts>
    <vt:vector size="31" baseType="lpstr">
      <vt:lpstr>inpin heiti</vt:lpstr>
      <vt:lpstr>quote-cjk-patch</vt:lpstr>
      <vt:lpstr>等线</vt:lpstr>
      <vt:lpstr>等线 Light</vt:lpstr>
      <vt:lpstr>思源宋体 CN</vt:lpstr>
      <vt:lpstr>宋体</vt:lpstr>
      <vt:lpstr>Microsoft YaHei</vt:lpstr>
      <vt:lpstr>Microsoft YaHei</vt:lpstr>
      <vt:lpstr>Arial</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佳伟 王</dc:creator>
  <cp:lastModifiedBy>超 申</cp:lastModifiedBy>
  <cp:revision>1513</cp:revision>
  <dcterms:created xsi:type="dcterms:W3CDTF">2025-09-22T11:21:22Z</dcterms:created>
  <dcterms:modified xsi:type="dcterms:W3CDTF">2026-06-10T09:39:15Z</dcterms:modified>
</cp:coreProperties>
</file>