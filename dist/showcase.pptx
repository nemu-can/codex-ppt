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27a193c49e4674" /><Relationship Type="http://schemas.openxmlformats.org/officeDocument/2006/relationships/extended-properties" Target="/docProps/app.xml" Id="Rdfc118d5b8f043f2" /><Relationship Type="http://schemas.openxmlformats.org/officeDocument/2006/relationships/officeDocument" Target="/ppt/presentation.xml" Id="R46a68a8421314b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566522e3b24d18"/>
  </p:sldMasterIdLst>
  <p:notesMasterIdLst>
    <p:notesMasterId xmlns:r="http://schemas.openxmlformats.org/officeDocument/2006/relationships" r:id="R9ff5b1eb3b324097"/>
  </p:notesMasterIdLst>
  <p:sldIdLst>
    <p:sldId xmlns:r="http://schemas.openxmlformats.org/officeDocument/2006/relationships" id="256" r:id="Racc43091054e4618"/>
    <p:sldId xmlns:r="http://schemas.openxmlformats.org/officeDocument/2006/relationships" id="257" r:id="R8ed646ab9ef04adf"/>
    <p:sldId xmlns:r="http://schemas.openxmlformats.org/officeDocument/2006/relationships" id="258" r:id="Rbd5acefae153491e"/>
    <p:sldId xmlns:r="http://schemas.openxmlformats.org/officeDocument/2006/relationships" id="259" r:id="R81c039e46a7d4b74"/>
    <p:sldId xmlns:r="http://schemas.openxmlformats.org/officeDocument/2006/relationships" id="260" r:id="R6e38faf3405b4d74"/>
    <p:sldId xmlns:r="http://schemas.openxmlformats.org/officeDocument/2006/relationships" id="261" r:id="Rc8edaaab5be542de"/>
    <p:sldId xmlns:r="http://schemas.openxmlformats.org/officeDocument/2006/relationships" id="262" r:id="R0eb233dcfdaf4084"/>
    <p:sldId xmlns:r="http://schemas.openxmlformats.org/officeDocument/2006/relationships" id="263" r:id="Rf31a7ec264534fb2"/>
    <p:sldId xmlns:r="http://schemas.openxmlformats.org/officeDocument/2006/relationships" id="264" r:id="R8d172aa27c084d52"/>
    <p:sldId xmlns:r="http://schemas.openxmlformats.org/officeDocument/2006/relationships" id="265" r:id="Rec5b82248cfe4f79"/>
    <p:sldId xmlns:r="http://schemas.openxmlformats.org/officeDocument/2006/relationships" id="266" r:id="Rb02ea6ae4d2e4fb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75ce3249ee340d5" /><Relationship Type="http://schemas.openxmlformats.org/officeDocument/2006/relationships/slideMaster" Target="/ppt/slideMasters/slideMaster1.xml" Id="R76566522e3b24d18" /><Relationship Type="http://schemas.openxmlformats.org/officeDocument/2006/relationships/notesMaster" Target="/ppt/notesMasters/notesMaster1.xml" Id="R9ff5b1eb3b324097" /><Relationship Type="http://schemas.openxmlformats.org/officeDocument/2006/relationships/presProps" Target="/ppt/presProps.xml" Id="R5f90f74ea6fe44c3" /><Relationship Type="http://schemas.openxmlformats.org/officeDocument/2006/relationships/tableStyles" Target="/ppt/tableStyles.xml" Id="Rf0ec569d9329415f" /><Relationship Type="http://schemas.openxmlformats.org/officeDocument/2006/relationships/slide" Target="/ppt/slides/slide1.xml" Id="Racc43091054e4618" /><Relationship Type="http://schemas.openxmlformats.org/officeDocument/2006/relationships/slide" Target="/ppt/slides/slide2.xml" Id="R8ed646ab9ef04adf" /><Relationship Type="http://schemas.openxmlformats.org/officeDocument/2006/relationships/slide" Target="/ppt/slides/slide3.xml" Id="Rbd5acefae153491e" /><Relationship Type="http://schemas.openxmlformats.org/officeDocument/2006/relationships/slide" Target="/ppt/slides/slide4.xml" Id="R81c039e46a7d4b74" /><Relationship Type="http://schemas.openxmlformats.org/officeDocument/2006/relationships/slide" Target="/ppt/slides/slide5.xml" Id="R6e38faf3405b4d74" /><Relationship Type="http://schemas.openxmlformats.org/officeDocument/2006/relationships/slide" Target="/ppt/slides/slide6.xml" Id="Rc8edaaab5be542de" /><Relationship Type="http://schemas.openxmlformats.org/officeDocument/2006/relationships/slide" Target="/ppt/slides/slide7.xml" Id="R0eb233dcfdaf4084" /><Relationship Type="http://schemas.openxmlformats.org/officeDocument/2006/relationships/slide" Target="/ppt/slides/slide8.xml" Id="Rf31a7ec264534fb2" /><Relationship Type="http://schemas.openxmlformats.org/officeDocument/2006/relationships/slide" Target="/ppt/slides/slide9.xml" Id="R8d172aa27c084d52" /><Relationship Type="http://schemas.openxmlformats.org/officeDocument/2006/relationships/slide" Target="/ppt/slides/slide10.xml" Id="Rec5b82248cfe4f79" /><Relationship Type="http://schemas.openxmlformats.org/officeDocument/2006/relationships/slide" Target="/ppt/slides/slide11.xml" Id="Rb02ea6ae4d2e4fb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7cb73560c7492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d5173ab67f2410a" /><Relationship Type="http://schemas.openxmlformats.org/officeDocument/2006/relationships/notesMaster" Target="/ppt/notesMasters/notesMaster1.xml" Id="R9e45f51fae1c482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4cc9e3270e4043" /><Relationship Type="http://schemas.openxmlformats.org/officeDocument/2006/relationships/notesMaster" Target="/ppt/notesMasters/notesMaster1.xml" Id="Rddf79294e79d49e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e8d6dbf478c4d93" /><Relationship Type="http://schemas.openxmlformats.org/officeDocument/2006/relationships/notesMaster" Target="/ppt/notesMasters/notesMaster1.xml" Id="Rc6354b3f893e4ae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dc1f25bdfdd4974" /><Relationship Type="http://schemas.openxmlformats.org/officeDocument/2006/relationships/notesMaster" Target="/ppt/notesMasters/notesMaster1.xml" Id="R3d3ca2aba8ee46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b2b92d877034072" /><Relationship Type="http://schemas.openxmlformats.org/officeDocument/2006/relationships/notesMaster" Target="/ppt/notesMasters/notesMaster1.xml" Id="R442106ea8537493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0be1acff29468d" /><Relationship Type="http://schemas.openxmlformats.org/officeDocument/2006/relationships/notesMaster" Target="/ppt/notesMasters/notesMaster1.xml" Id="Rf64e1719a6a345d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edd49412f564560" /><Relationship Type="http://schemas.openxmlformats.org/officeDocument/2006/relationships/notesMaster" Target="/ppt/notesMasters/notesMaster1.xml" Id="R42f5ceebcdd3433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0e5aeb64db4931" /><Relationship Type="http://schemas.openxmlformats.org/officeDocument/2006/relationships/notesMaster" Target="/ppt/notesMasters/notesMaster1.xml" Id="R0f1d0ac263b548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f8eb1af978842b8" /><Relationship Type="http://schemas.openxmlformats.org/officeDocument/2006/relationships/notesMaster" Target="/ppt/notesMasters/notesMaster1.xml" Id="Ra415a3130ca24b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b70cb5cb98e4c1e" /><Relationship Type="http://schemas.openxmlformats.org/officeDocument/2006/relationships/notesMaster" Target="/ppt/notesMasters/notesMaster1.xml" Id="R3c923468d307453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ffe53def27f4540" /><Relationship Type="http://schemas.openxmlformats.org/officeDocument/2006/relationships/notesMaster" Target="/ppt/notesMasters/notesMaster1.xml" Id="Rdea931001da749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fef6fad394ca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4f025de57234db6" /><Relationship Type="http://schemas.openxmlformats.org/officeDocument/2006/relationships/slideLayout" Target="/ppt/slideLayouts/slideLayout1.xml" Id="R116274cbf5ca4d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16274cbf5ca4d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53affa28d414b" /><Relationship Type="http://schemas.openxmlformats.org/officeDocument/2006/relationships/notesSlide" Target="/ppt/notesSlides/notesSlide1.xml" Id="R5232c69e3ea34e6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f88c48e99e4107" /><Relationship Type="http://schemas.openxmlformats.org/officeDocument/2006/relationships/notesSlide" Target="/ppt/notesSlides/notesSlide2.xml" Id="R2cefaa2ccb6340b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fe92229594d36" /><Relationship Type="http://schemas.openxmlformats.org/officeDocument/2006/relationships/notesSlide" Target="/ppt/notesSlides/notesSlide3.xml" Id="R5c1276bc92544f9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b81db062b9426e" /><Relationship Type="http://schemas.openxmlformats.org/officeDocument/2006/relationships/notesSlide" Target="/ppt/notesSlides/notesSlide4.xml" Id="Ra72c924e30f445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b4dec665084509" /><Relationship Type="http://schemas.openxmlformats.org/officeDocument/2006/relationships/notesSlide" Target="/ppt/notesSlides/notesSlide5.xml" Id="R485aa10cb5b645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e9f32912f24645" /><Relationship Type="http://schemas.openxmlformats.org/officeDocument/2006/relationships/notesSlide" Target="/ppt/notesSlides/notesSlide6.xml" Id="Rf736c3c8d863457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4a19ae229e43a0" /><Relationship Type="http://schemas.openxmlformats.org/officeDocument/2006/relationships/notesSlide" Target="/ppt/notesSlides/notesSlide7.xml" Id="R497e1ce5f38946d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8212a63df3476a" /><Relationship Type="http://schemas.openxmlformats.org/officeDocument/2006/relationships/notesSlide" Target="/ppt/notesSlides/notesSlide8.xml" Id="Rf376e052bd924b2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2d4f2227b4311" /><Relationship Type="http://schemas.openxmlformats.org/officeDocument/2006/relationships/notesSlide" Target="/ppt/notesSlides/notesSlide9.xml" Id="Re292e795ffbd47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9419af3a84b2d" /><Relationship Type="http://schemas.openxmlformats.org/officeDocument/2006/relationships/notesSlide" Target="/ppt/notesSlides/notesSlide10.xml" Id="Rdbb17617c7cd458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e489cdbebb4a5d" /><Relationship Type="http://schemas.openxmlformats.org/officeDocument/2006/relationships/notesSlide" Target="/ppt/notesSlides/notesSlide11.xml" Id="R44b9cb69af5b410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3EFEF1-D0CB-4134-891F-ADF276250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12A4DB-CE7B-4686-AE6D-C6B2DDE0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24000-DDF7-43DA-A984-6A5FB961E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3F385F-EE29-4D87-9DE6-7E01B312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0"/>
            <a:ext cx="4438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A7921-1253-4232-8B1B-C93BA931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0"/>
            <a:ext cx="838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C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B40F8-5AD1-4681-9AAB-BCE28F0A0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047750"/>
            <a:ext cx="34290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7F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3E179-C686-47D7-B25E-859BF983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1447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E7F3F-1C5C-428E-BC8F-C0E2F631F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2573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LAUNCH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5B1FCE-97D7-4140-8294-B57EF8F9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6000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625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Bringing the next generation of analytics to your team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256385-A1FC-4895-A52E-D31CB40A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5334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One JSON brief drives an entire editable deck — no design tools required.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5BC54D-D70A-4B33-A7B2-A99E5451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2000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D6E56E-CEEE-4055-B039-853A1642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4572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0E7C8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E7C86"/>
                </a:solidFill>
                <a:latin typeface="Aptos"/>
                <a:ea typeface="Aptos"/>
                <a:cs typeface="Aptos"/>
              </a:rPr>
              <a:t>Brief -&gt; Node script -&gt; editable .pptx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A5C39A-71E6-4DD8-A944-BAB1C2B1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9817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5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Acme Analytics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AC2E7C-A96F-4717-AE25-07CB2337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229350"/>
            <a:ext cx="2476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DCCFBF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DCCFBF"/>
                </a:solidFill>
                <a:latin typeface="Aptos"/>
                <a:ea typeface="Aptos"/>
                <a:cs typeface="Aptos"/>
              </a:rPr>
              <a:t>Product Launch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019CCA-FC9E-49DC-8F14-1DC56F4A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C2C4F-D5B6-4BCD-B7C9-253487583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0F7A71-4F96-4ED9-97B2-9BA7315D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1/11</a:t>
            </a:r>
          </a:p>
        </p:txBody>
      </p:sp>
    </p:spTree>
    <p:extLst>
      <p:ext uri="{BB962C8B-B14F-4D97-AF65-F5344CB8AC3E}">
        <p14:creationId xmlns:p14="http://schemas.microsoft.com/office/powerpoint/2010/main" val="19734006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EB172F-AD5E-492B-88E3-6A4161D14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9E5AC0-DCBF-415C-976C-7BF2F890E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7C5FD6-ED0B-46BA-9DF7-3A7E2A67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8E749E-30C3-475A-B051-EDE408C4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AGENDA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1685D5-79A6-4677-91DE-CF133C8CD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What we will cover today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DCD4AE-9F3B-49D5-8C36-64D1C3627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7A60B8-92DF-4A1C-BED1-238505AE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384C5A-F5C2-42F0-8A22-815413610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381250"/>
            <a:ext cx="453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Why now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5A4C26-9D9D-4056-8E10-F3C1089D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743200"/>
            <a:ext cx="4533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Market shift and customer demand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DE60CE-C98F-4777-B539-E5D3F6FA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6EDAF2-806E-48EC-8D7E-454A111F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81250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DB02C8-340E-45DF-B82B-34CFE81B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81250"/>
            <a:ext cx="453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The product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6D7AFA-0636-4F52-932F-049ED94A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743200"/>
            <a:ext cx="4533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Core features and roadmap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CDF9E2-1E75-4019-B3B1-4D74B71C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24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57CC08-0991-4A86-AB1F-AE1215AE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05175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425943-6780-4B04-AB43-507596C86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05175"/>
            <a:ext cx="453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Proof points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E522CE-0F4C-4DA9-8D5E-C3FC415B8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67125"/>
            <a:ext cx="4533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Metrics from early access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95DDBB-EF95-4A35-A7B5-002D0D9F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24225"/>
            <a:ext cx="438150" cy="438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7FA5DD-5AA8-4C93-AC94-B2D0A4C4F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05175"/>
            <a:ext cx="438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1F9702-D399-448F-B012-0104B077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05175"/>
            <a:ext cx="4533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978512-B448-4F81-BB65-26759417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667125"/>
            <a:ext cx="45339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Pilot, pricing, and timeline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84B962-847A-47A0-90C0-EF3165D9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905975-2A13-48DE-BB7E-43292267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195D8E0-7B69-41E1-8530-145652F6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2/11</a:t>
            </a:r>
          </a:p>
        </p:txBody>
      </p:sp>
    </p:spTree>
    <p:extLst>
      <p:ext uri="{BB962C8B-B14F-4D97-AF65-F5344CB8AC3E}">
        <p14:creationId xmlns:p14="http://schemas.microsoft.com/office/powerpoint/2010/main" val="55793729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BF129F-4736-4AEC-B213-298D9A051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14EDE-1761-4EE8-A56E-9D5B1EC5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43D0D8-FFA0-450D-A40F-3BA5F8D9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619250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7932D3-0F95-4DE8-9007-0837B6B1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619250"/>
            <a:ext cx="13335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48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1B3FA7-602C-464B-88D4-B5DB6E2CF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29000"/>
            <a:ext cx="8763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30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300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8CFB2-BF37-44CD-BD0E-C5ED5861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476750"/>
            <a:ext cx="7620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7FC8D1"/>
                </a:solidFill>
                <a:latin typeface="Aptos"/>
                <a:ea typeface="Aptos"/>
                <a:cs typeface="Aptos"/>
              </a:rPr>
              <a:t>The market is ready for a simpler analytics 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A223ED-B393-4B41-8FC9-50B506100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C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6D4D0D-5CCE-4AD9-8574-A0C21869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FC8D1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769315-6FB1-4E17-B705-DE9F9C8D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FC8D1"/>
                </a:solidFill>
                <a:latin typeface="Aptos"/>
                <a:ea typeface="Aptos"/>
                <a:cs typeface="Aptos"/>
              </a:rPr>
              <a:t>3/11</a:t>
            </a:r>
          </a:p>
        </p:txBody>
      </p:sp>
    </p:spTree>
    <p:extLst>
      <p:ext uri="{BB962C8B-B14F-4D97-AF65-F5344CB8AC3E}">
        <p14:creationId xmlns:p14="http://schemas.microsoft.com/office/powerpoint/2010/main" val="16606309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F9D221-7173-4069-A263-61F24E009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9B810F-59A5-4671-9E5C-165D007AE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099DB1-3F4A-4BAA-9C89-5F7FBE6BA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8A8D5-8C06-4654-84E7-EF6C671F5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E94E75-6565-46C3-AAB3-3D6C0061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Teams are drowning in dashboards they no longer trust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0B4D3-AF2F-4D74-AFAF-911E5F34F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33600"/>
            <a:ext cx="5524500" cy="3314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810745-81EF-410E-87F3-5A7C4CE5E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485775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Analytics teams spend more than half their week maintaining reports instead of answering questions.</a:t>
            </a:r>
          </a:p>
          <a:p xmlns:a="http://schemas.openxmlformats.org/drawingml/2006/main">
            <a:pPr algn="l">
              <a:defRPr sz="127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Business users keep exporting data into spreadsheets because the dashboards do not answer their real questions.</a:t>
            </a:r>
          </a:p>
          <a:p xmlns:a="http://schemas.openxmlformats.org/drawingml/2006/main">
            <a:pPr algn="l">
              <a:defRPr sz="127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Every new metric takes weeks to ship because the data model is coupled to a single visualization tool.</a:t>
            </a:r>
          </a:p>
          <a:p xmlns:a="http://schemas.openxmlformats.org/drawingml/2006/main">
            <a:pPr algn="l">
              <a:defRPr sz="127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The result is slow decisions, duplicated numbers, and low confidence in the numbers that do get shared.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28018D-4BFF-4578-B866-6798A121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33600"/>
            <a:ext cx="497205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AAFD9B0-87C6-433E-A776-D7A4BF46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457450"/>
            <a:ext cx="1143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7FC8D1"/>
                </a:solidFill>
                <a:latin typeface="Aptos"/>
                <a:ea typeface="Aptos"/>
                <a:cs typeface="Aptos"/>
              </a:rPr>
              <a:t>THE SHIFT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2FC60B-D2E0-4961-95FE-B999CE8D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857500"/>
            <a:ext cx="40005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650" b="0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A semantic data layer decouples metrics from charts, so any tool can ask questions against one trusted source of truth.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EA79EF-6685-42B1-A941-A5219426F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76750"/>
            <a:ext cx="49720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02C49B-0E11-4EE0-BC22-B6861E68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744D4B-A0AA-4CF9-B85B-F1DE1B8AC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C32E36-1073-4A45-8F3D-D888708E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4/11</a:t>
            </a:r>
          </a:p>
        </p:txBody>
      </p:sp>
    </p:spTree>
    <p:extLst>
      <p:ext uri="{BB962C8B-B14F-4D97-AF65-F5344CB8AC3E}">
        <p14:creationId xmlns:p14="http://schemas.microsoft.com/office/powerpoint/2010/main" val="195331523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317BC3-8651-4965-915A-BDDDE3DF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2501C-0580-48A5-9D2F-DFA05C3F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E78785-5F75-4646-8996-936F03CF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831743-F84D-4DFF-B661-59457B7E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5800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PROOF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FA2317-209B-439A-AC26-4F8392623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78105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325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Early access shows measurable impact in weeks, not quarters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E05C42-6D95-41EB-AAAB-5B86D052E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4290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19050">
            <a:solidFill>
              <a:srgbClr val="7FC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42B3B-8C5D-4753-AECC-E0511A88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765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3F019D-B666-4656-AE3C-A14AB0AB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2971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rPr>
              <a:t>-62%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6FDADA-347E-4242-8DA4-8F9BE488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81400"/>
            <a:ext cx="2971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Report build time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A47C4C-3985-44F0-A026-8A9DFB585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2971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From weeks to days with a shared semantic layer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4D8BF1-C028-4F77-BF24-F0851AEB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76500"/>
            <a:ext cx="34290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19050">
            <a:solidFill>
              <a:srgbClr val="7FC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7BB68F-7344-4CD4-A01A-DE98587B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4765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FD8E1C-78D4-495C-B169-B71862D9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876550"/>
            <a:ext cx="2971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rPr>
              <a:t>3x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D4CB94-CC4F-4D86-9DB8-0628A102F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81400"/>
            <a:ext cx="2971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Self-serve questions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5F28E9-E0A5-497D-82FE-603F6170B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924300"/>
            <a:ext cx="2971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Business users answer their own questions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9EDD6E-AF78-4C86-B127-DB41B4F8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76500"/>
            <a:ext cx="3429000" cy="2362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19050">
            <a:solidFill>
              <a:srgbClr val="7FC8D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139F14-E8DD-435C-8D34-FFBCF2C7F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476500"/>
            <a:ext cx="3429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1FFB2DD-77C0-4668-B586-EE0596DE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76550"/>
            <a:ext cx="2971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100" b="1">
                <a:solidFill>
                  <a:srgbClr val="0E7C86"/>
                </a:solidFill>
                <a:latin typeface="Times New Roman"/>
                <a:ea typeface="Times New Roman"/>
                <a:cs typeface="Times New Roman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1EC413-FD0E-48E4-B1E2-FCEE94E5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581400"/>
            <a:ext cx="2971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Source of truth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82A58A-44EB-484D-B23E-C681F40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924300"/>
            <a:ext cx="2971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One metric definition used by every tool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1C9D57-2751-4D8D-AA46-D6871E6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C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70D998-3F53-4560-82A2-57913D778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93345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Faster answers, fewer conflicting numbers, and a data model the whole company can trust.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997E6D-2274-4D76-9116-E0E08C7F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C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E5EC5-9DFD-40A3-8D9A-B62A75D6C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FC8D1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BBE454-78F1-45A2-93CE-CDA06A311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7FC8D1"/>
                </a:solidFill>
                <a:latin typeface="Aptos"/>
                <a:ea typeface="Aptos"/>
                <a:cs typeface="Aptos"/>
              </a:rPr>
              <a:t>5/11</a:t>
            </a:r>
          </a:p>
        </p:txBody>
      </p:sp>
    </p:spTree>
    <p:extLst>
      <p:ext uri="{BB962C8B-B14F-4D97-AF65-F5344CB8AC3E}">
        <p14:creationId xmlns:p14="http://schemas.microsoft.com/office/powerpoint/2010/main" val="146547883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D9A02D-758B-4037-8AF4-76E4E667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E4D56-6A0D-4CFB-906B-379F3E7DC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A34336-6953-4B6A-9395-98FC8674C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227F1-F7BC-4F1D-8F9E-CC817982D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THE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1F15BF-35C4-4596-85DD-578A1E03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One semantic layer, every analytics tool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5A8E3-73AC-4594-AE27-DA8799C26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F22C27-9F87-4F08-BBF3-F7D15BE6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8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7C86"/>
                </a:solidFill>
                <a:latin typeface="Aptos"/>
                <a:ea typeface="Aptos"/>
                <a:cs typeface="Aptos"/>
              </a:rPr>
              <a:t>For data teams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C400BC-014D-4BC1-BDD0-0828A931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686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Define metrics once in version-controlled YAML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Reuse the same definitions in every dashboard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Ship new metrics in days, not weeks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D11042-3ACE-45B7-AA0D-ED535AFE6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8600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6E0A1E-5730-4A66-8EC3-C7F3631C0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8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7C86"/>
                </a:solidFill>
                <a:latin typeface="Aptos"/>
                <a:ea typeface="Aptos"/>
                <a:cs typeface="Aptos"/>
              </a:rPr>
              <a:t>For business users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F100A4-D15E-4872-A28B-0BF2BD02F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48000"/>
            <a:ext cx="4686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Ask questions in plain language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Trust that every number means the same thing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Stop exporting to spreadsheets for answers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43E26C-38D4-4FD9-9387-FCCF79E17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500F6E-0D27-472E-A088-95EEE7A7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B521C3-571A-4B38-836B-C47BAEE3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6/11</a:t>
            </a:r>
          </a:p>
        </p:txBody>
      </p:sp>
    </p:spTree>
    <p:extLst>
      <p:ext uri="{BB962C8B-B14F-4D97-AF65-F5344CB8AC3E}">
        <p14:creationId xmlns:p14="http://schemas.microsoft.com/office/powerpoint/2010/main" val="40749713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39270C-771F-4A26-98FE-AC1B6B26A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872C3B-E23C-4211-93A6-AEE42A56C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1A00CD-9FF6-4B9E-9C3E-66475D01A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2F0580-4906-4FEB-AFCD-B836EBC33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BEFORE / AFTER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910017-60F9-4C75-80A4-96858B71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What changes for your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BE7E5-1A8E-4702-B789-961F30FB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DF17AF-087A-49A9-9D1D-3FAD1CA7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E7C8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E7C86"/>
                </a:solidFill>
                <a:latin typeface="Aptos"/>
                <a:ea typeface="Aptos"/>
                <a:cs typeface="Aptos"/>
              </a:rPr>
              <a:t>Today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557BF-32DF-42E3-A649-AE46BF01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686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Dashboards hard-code one metric definition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Duplicate numbers across teams</a:t>
            </a:r>
          </a:p>
          <a:p xmlns:a="http://schemas.openxmlformats.org/drawingml/2006/main">
            <a:pPr algn="l">
              <a:defRPr sz="1350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• Slow, manual report maintenance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A4CB6-B1E2-4409-AA96-A8710DE2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86000"/>
            <a:ext cx="1905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0A768E-9AB7-4610-82D4-1FBB9C07A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86000"/>
            <a:ext cx="51435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1FDDCA-57A8-4CC4-92BF-67E3D1B1A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6863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7FC8D1"/>
                </a:solidFill>
                <a:latin typeface="Aptos"/>
                <a:ea typeface="Aptos"/>
                <a:cs typeface="Aptos"/>
              </a:rPr>
              <a:t>With Acme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239242-1E02-4C23-8E29-FA24C7F2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48000"/>
            <a:ext cx="4686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BFC"/>
                </a:solidFill>
                <a:latin typeface="Aptos"/>
                <a:ea typeface="Aptos"/>
                <a:cs typeface="Aptos"/>
              </a:rPr>
              <a:t>• Metrics defined once, everywhere</a:t>
            </a:r>
          </a:p>
          <a:p xmlns:a="http://schemas.openxmlformats.org/drawingml/2006/main">
            <a:pPr algn="l">
              <a:defRPr sz="1350" b="0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BFC"/>
                </a:solidFill>
                <a:latin typeface="Aptos"/>
                <a:ea typeface="Aptos"/>
                <a:cs typeface="Aptos"/>
              </a:rPr>
              <a:t>• One trusted source of truth</a:t>
            </a:r>
          </a:p>
          <a:p xmlns:a="http://schemas.openxmlformats.org/drawingml/2006/main">
            <a:pPr algn="l">
              <a:defRPr sz="1350" b="0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BFC"/>
                </a:solidFill>
                <a:latin typeface="Aptos"/>
                <a:ea typeface="Aptos"/>
                <a:cs typeface="Aptos"/>
              </a:rPr>
              <a:t>• Self-serve answers in minutes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C42CF-0702-469E-B2BE-DB0B2E85E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F634A0-5DD1-4D16-9D18-CEBF33BF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BA49E7-6A3E-49A5-B55F-69224DA2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7/11</a:t>
            </a:r>
          </a:p>
        </p:txBody>
      </p:sp>
    </p:spTree>
    <p:extLst>
      <p:ext uri="{BB962C8B-B14F-4D97-AF65-F5344CB8AC3E}">
        <p14:creationId xmlns:p14="http://schemas.microsoft.com/office/powerpoint/2010/main" val="3781501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E693B3-4595-46EE-A5AD-127C612F0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BA75EF-ED81-4264-BF3E-639BC078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B991D4-FB13-4033-9662-43A0912B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5804AC-84F2-426F-AF05-84CF5D8D5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85800"/>
            <a:ext cx="16002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CUSTOMER VOICE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13122C-6484-473D-92FC-5EE9AA411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What early users say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748CCA-C9AB-4AB7-9637-C696E29DF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F50EFB-5EE6-49FD-8BEC-A3EA82F6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14300" cy="381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74BBB0-1047-4138-9ABA-128C38908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57500"/>
            <a:ext cx="95250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2550" b="0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0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For the first time, our leadership and our data team are looking at the exact same numbers and trusting them.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2757F2-DD53-4890-8093-18790B166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34000"/>
            <a:ext cx="9525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E7C86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E7C86"/>
                </a:solidFill>
                <a:latin typeface="Aptos"/>
                <a:ea typeface="Aptos"/>
                <a:cs typeface="Aptos"/>
              </a:rPr>
              <a:t>— Head of Data, early-access customer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6A4EB-986B-4BC3-BA42-B99B5C42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FF663C-0E2C-47AC-B4E2-DEA5E26ED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8A672-4273-4BA0-BD40-4FED6B60D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8/11</a:t>
            </a:r>
          </a:p>
        </p:txBody>
      </p:sp>
    </p:spTree>
    <p:extLst>
      <p:ext uri="{BB962C8B-B14F-4D97-AF65-F5344CB8AC3E}">
        <p14:creationId xmlns:p14="http://schemas.microsoft.com/office/powerpoint/2010/main" val="194056548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6285A6B-337F-43F9-B30B-8E8536B4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AAB7A2-3FB6-4840-B92C-FBA5CC11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A2ABC-FA9A-4105-A161-F9B51939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BA0032-09C1-46CA-BB30-E6B65D888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PLANS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E48BB-B560-460D-BB7E-3A5925D59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Pricing that scales with your team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4AEEBF-E887-4752-AE55-A4D7F932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CFA950-7D35-43E4-B868-28D824B6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241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Plan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3BD4F3-9FA3-4F2E-AF48-6A17DC5F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8600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FA618-0B02-48BE-B732-EF62751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241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Price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B11B2-03A9-4BEF-AB2B-782A424AA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8600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B428ED-6F50-454D-9E47-FAE95F76F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241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Best for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C0D1FC-C1BF-46AF-B6A0-C41AA5BC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286000"/>
            <a:ext cx="2705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17E59-AA07-4A3C-BF09-0F933A85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324100"/>
            <a:ext cx="25527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Self-serve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AA58F-4764-481E-8051-292BE121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517A26-E110-4B8E-944B-F483A49C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Launch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70F211-7074-4B05-BB26-7D7340B60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813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BC4510-36A2-44FB-B69B-0B05C95C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8194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$99 / seat / mo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8A3C19-355D-40A8-9CBE-FD1BC6105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813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6611B1-E562-4BA5-93D3-9250A230D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8194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Small teams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6CCD3D-9A31-4957-A354-F29E7B85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7813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7CFD2E-9D15-4642-8C24-355EE1E6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8194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Basic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252DFA-6C1C-4DA7-84FB-56841D7F4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DB205ED-ED3B-4D15-836F-37600624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243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5718E4-79AA-4B04-B6F5-BD683255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8862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E034D0-825B-4230-9AC6-9486BB47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9243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$249 / seat / mo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DDBC2F-E567-4BFC-8734-BF0128BB0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8862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674B47-2130-404F-B08D-751C05C4C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243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Growing orgs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D62A70-4FE1-4210-8865-5D8CCA104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8862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4139EE-7786-4282-AB5F-CB2E30E89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9243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Full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4D25A72-6675-4007-AAA8-2B83D4B68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73C3374-DB64-4EC1-8056-75194C04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Enterprise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D6E742-92CF-48D4-ACC7-94CD577F7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9911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C4C5A7-EE97-455E-B685-E6321805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0292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Custom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F930822-B2DB-40C6-9F38-10321038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911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5CA319-ED89-47EC-AB1D-A928E9FCB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0292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Large orgs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6D4C656-8C99-48C3-B979-AD1E6DF9A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991100"/>
            <a:ext cx="27051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CFD"/>
          </a:solidFill>
          <a:ln xmlns:a="http://schemas.openxmlformats.org/drawingml/2006/main" w="9525">
            <a:solidFill>
              <a:srgbClr val="C7DCE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B3E8D7-0AB4-4AC6-A663-F4E742A70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5029200"/>
            <a:ext cx="25527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6242C"/>
                </a:solidFill>
                <a:latin typeface="Aptos"/>
                <a:ea typeface="Aptos"/>
                <a:cs typeface="Aptos"/>
              </a:rPr>
              <a:t>Full + SSO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75500E-0E8B-48EB-B33B-8DF47D32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06CFA5C-A657-48DA-A98E-271464D95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77972D3-AF32-484C-BF50-EE4AB598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9/11</a:t>
            </a:r>
          </a:p>
        </p:txBody>
      </p:sp>
    </p:spTree>
    <p:extLst>
      <p:ext uri="{BB962C8B-B14F-4D97-AF65-F5344CB8AC3E}">
        <p14:creationId xmlns:p14="http://schemas.microsoft.com/office/powerpoint/2010/main" val="9937124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D73AC6-27AB-4DA5-96CB-74E040E63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F02190-629B-4CAC-B949-27057A11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6A69F7-A1DD-46A9-B361-624FDA5A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13144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DCF220E-19EF-4EE7-AF38-6DBAAEA6E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28650"/>
            <a:ext cx="11239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9B9C30-B1F1-4EC1-BD68-71448584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800100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250" b="1">
                <a:solidFill>
                  <a:srgbClr val="16242C"/>
                </a:solidFill>
                <a:latin typeface="Times New Roman"/>
                <a:ea typeface="Times New Roman"/>
                <a:cs typeface="Times New Roman"/>
              </a:rPr>
              <a:t>From pilot to company-wide rollout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B7D7C4-BE17-492A-BF3E-D4989E37B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10820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7DB7B3-6AD0-40EE-8A38-7332D466D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9050">
            <a:solidFill>
              <a:srgbClr val="EDF4F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9B8F5F-C3AD-4BA9-9512-7BD53445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47700" y="28575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5A56AD-49E4-4971-8D3A-EC94CF6D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647700" y="384810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2 teams, 6 weeks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3D568A-F36A-4357-A6A7-20CB964A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6875" y="3543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9050">
            <a:solidFill>
              <a:srgbClr val="EDF4F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81B00-3EA8-4E42-9592-68EB8093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100" y="28575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Expand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47D4FA-0417-41CB-B041-169F5661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9100" y="384810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10 teams, quarter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E15A52-68D1-426B-BF6F-2409841E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3675" y="3543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9050">
            <a:solidFill>
              <a:srgbClr val="EDF4F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CA77AA-1B1C-458B-8623-614828A8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28575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Scale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A5A224-FB82-4301-A6AA-4985A6DCD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5900" y="384810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Company-wide, quarter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D25471-50C3-44EE-9725-71564A10B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0475" y="354330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19050">
            <a:solidFill>
              <a:srgbClr val="EDF4F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8CFAD4-CC25-4960-A151-5F2892B1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857500"/>
            <a:ext cx="266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242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242C"/>
                </a:solidFill>
                <a:latin typeface="Aptos"/>
                <a:ea typeface="Aptos"/>
                <a:cs typeface="Aptos"/>
              </a:rPr>
              <a:t>Extend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2348C4-B50B-4E82-99F8-1B5A99B63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848100"/>
            <a:ext cx="2667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New connectors, quarter 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049877-E799-431B-89B2-F28D3E96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66A179-FCBA-4B89-BE24-61C540F7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CF321D-CECA-4E5C-8952-B81B3ADC9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10/11</a:t>
            </a:r>
          </a:p>
        </p:txBody>
      </p:sp>
    </p:spTree>
    <p:extLst>
      <p:ext uri="{BB962C8B-B14F-4D97-AF65-F5344CB8AC3E}">
        <p14:creationId xmlns:p14="http://schemas.microsoft.com/office/powerpoint/2010/main" val="29163586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B3F6C4-D44B-4C3B-B3F9-2B9338AC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4F7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378874-1538-42AB-B998-7781CD85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9195F-D1A4-448C-8FBF-C3C00C4F3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3B4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8998FB-EE3C-48DF-ABFD-461C02B48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90500" cy="373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569F3-A97C-4497-8A49-4A2204729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714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7FC8D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7FC8D1"/>
                </a:solidFill>
                <a:latin typeface="Aptos"/>
                <a:ea typeface="Aptos"/>
                <a:cs typeface="Aptos"/>
              </a:rPr>
              <a:t>NEXT STEP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2E0E34-AAD4-4840-9502-924E3A80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86106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>
                <a:solidFill>
                  <a:srgbClr val="F6FBFC"/>
                </a:solidFill>
                <a:latin typeface="Times New Roman"/>
                <a:ea typeface="Times New Roman"/>
                <a:cs typeface="Times New Roman"/>
              </a:rPr>
              <a:t>Start a pilot and see the difference in six weeks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5F0627-5A47-4EDB-AA76-DB994629E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390900"/>
            <a:ext cx="8667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CE2D3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ECE2D3"/>
                </a:solidFill>
                <a:latin typeface="Aptos"/>
                <a:ea typeface="Aptos"/>
                <a:cs typeface="Aptos"/>
              </a:rPr>
              <a:t>Book a 30-minute walkthrough and bring one metric you want to trust.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61D86-3BB4-44B4-91CD-06A80794C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438650"/>
            <a:ext cx="1409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C8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E2FCE1-5AC1-48F1-A4E9-886FE081D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514850"/>
            <a:ext cx="1143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6FBFC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BFC"/>
                </a:solidFill>
                <a:latin typeface="Aptos"/>
                <a:ea typeface="Aptos"/>
                <a:cs typeface="Aptos"/>
              </a:rPr>
              <a:t>Book a demo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18248-E8A1-4637-A6D9-1CA9A21AB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38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CE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71751-74AD-484F-BCB6-CBF5D7F3C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43675"/>
            <a:ext cx="3048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Product Launch 2026  |  Your Team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F92C01-0FC5-48D0-B0C5-57F317F49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543675"/>
            <a:ext cx="5715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0">
                <a:solidFill>
                  <a:srgbClr val="5E7480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5E7480"/>
                </a:solidFill>
                <a:latin typeface="Aptos"/>
                <a:ea typeface="Aptos"/>
                <a:cs typeface="Aptos"/>
              </a:rPr>
              <a:t>11/11</a:t>
            </a:r>
          </a:p>
        </p:txBody>
      </p:sp>
    </p:spTree>
    <p:extLst>
      <p:ext uri="{BB962C8B-B14F-4D97-AF65-F5344CB8AC3E}">
        <p14:creationId xmlns:p14="http://schemas.microsoft.com/office/powerpoint/2010/main" val="8392950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2026-08-25T13:35:19.4190000Z</dcterms:created>
  <dcterms:modified xsi:type="dcterms:W3CDTF">2026-08-25T13:35:19.4190000Z</dcterms:modified>
</coreProperties>
</file>